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2D"/>
          </a:solidFill>
          <a:ln w="10160">
            <a:solidFill>
              <a:srgbClr val="0F0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glow-0"/>
          <p:cNvSpPr/>
          <p:nvPr/>
        </p:nvSpPr>
        <p:spPr>
          <a:xfrm>
            <a:off x="8046720" y="320040"/>
            <a:ext cx="2926080" cy="2926080"/>
          </a:xfrm>
          <a:prstGeom prst="ellipse">
            <a:avLst/>
          </a:prstGeom>
          <a:solidFill>
            <a:srgbClr val="67E8F9"/>
          </a:solidFill>
          <a:ln w="10160"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glow-1"/>
          <p:cNvSpPr/>
          <p:nvPr/>
        </p:nvSpPr>
        <p:spPr>
          <a:xfrm>
            <a:off x="9509760" y="3383280"/>
            <a:ext cx="2011680" cy="2011680"/>
          </a:xfrm>
          <a:prstGeom prst="ellipse">
            <a:avLst/>
          </a:prstGeom>
          <a:solidFill>
            <a:srgbClr val="A78BFA"/>
          </a:solidFill>
          <a:ln w="1016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glow-2"/>
          <p:cNvSpPr/>
          <p:nvPr/>
        </p:nvSpPr>
        <p:spPr>
          <a:xfrm>
            <a:off x="7132320" y="4663440"/>
            <a:ext cx="1645920" cy="1645920"/>
          </a:xfrm>
          <a:prstGeom prst="ellipse">
            <a:avLst/>
          </a:prstGeom>
          <a:solidFill>
            <a:srgbClr val="67E8F9"/>
          </a:solidFill>
          <a:ln w="10160"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op-band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67E8F9"/>
          </a:solidFill>
          <a:ln w="10160"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nav-shell"/>
          <p:cNvSpPr/>
          <p:nvPr/>
        </p:nvSpPr>
        <p:spPr>
          <a:xfrm>
            <a:off x="457200" y="1078992"/>
            <a:ext cx="1572768" cy="5102352"/>
          </a:xfrm>
          <a:prstGeom prst="roundRect">
            <a:avLst/>
          </a:prstGeom>
          <a:solidFill>
            <a:srgbClr val="42346D"/>
          </a:solidFill>
          <a:ln w="10160">
            <a:solidFill>
              <a:srgbClr val="8A7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metric-0-shell"/>
          <p:cNvSpPr/>
          <p:nvPr/>
        </p:nvSpPr>
        <p:spPr>
          <a:xfrm>
            <a:off x="2249424" y="1078992"/>
            <a:ext cx="1161288" cy="768096"/>
          </a:xfrm>
          <a:prstGeom prst="roundRect">
            <a:avLst/>
          </a:prstGeom>
          <a:solidFill>
            <a:srgbClr val="30265A"/>
          </a:solidFill>
          <a:ln w="10160">
            <a:solidFill>
              <a:srgbClr val="8A7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metric-1-shell"/>
          <p:cNvSpPr/>
          <p:nvPr/>
        </p:nvSpPr>
        <p:spPr>
          <a:xfrm>
            <a:off x="3557016" y="1078992"/>
            <a:ext cx="1161288" cy="768096"/>
          </a:xfrm>
          <a:prstGeom prst="roundRect">
            <a:avLst/>
          </a:prstGeom>
          <a:solidFill>
            <a:srgbClr val="30265A"/>
          </a:solidFill>
          <a:ln w="10160">
            <a:solidFill>
              <a:srgbClr val="8A7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metric-2-shell"/>
          <p:cNvSpPr/>
          <p:nvPr/>
        </p:nvSpPr>
        <p:spPr>
          <a:xfrm>
            <a:off x="4864608" y="1078992"/>
            <a:ext cx="1161288" cy="768096"/>
          </a:xfrm>
          <a:prstGeom prst="roundRect">
            <a:avLst/>
          </a:prstGeom>
          <a:solidFill>
            <a:srgbClr val="30265A"/>
          </a:solidFill>
          <a:ln w="10160">
            <a:solidFill>
              <a:srgbClr val="8A7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metric-3-shell"/>
          <p:cNvSpPr/>
          <p:nvPr/>
        </p:nvSpPr>
        <p:spPr>
          <a:xfrm>
            <a:off x="6172200" y="1078992"/>
            <a:ext cx="1161288" cy="768096"/>
          </a:xfrm>
          <a:prstGeom prst="roundRect">
            <a:avLst/>
          </a:prstGeom>
          <a:solidFill>
            <a:srgbClr val="30265A"/>
          </a:solidFill>
          <a:ln w="10160">
            <a:solidFill>
              <a:srgbClr val="8A7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metric-4-shell"/>
          <p:cNvSpPr/>
          <p:nvPr/>
        </p:nvSpPr>
        <p:spPr>
          <a:xfrm>
            <a:off x="7479792" y="1078992"/>
            <a:ext cx="1161288" cy="768096"/>
          </a:xfrm>
          <a:prstGeom prst="roundRect">
            <a:avLst/>
          </a:prstGeom>
          <a:solidFill>
            <a:srgbClr val="30265A"/>
          </a:solidFill>
          <a:ln w="10160">
            <a:solidFill>
              <a:srgbClr val="8A7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isk-rail-shell"/>
          <p:cNvSpPr/>
          <p:nvPr/>
        </p:nvSpPr>
        <p:spPr>
          <a:xfrm>
            <a:off x="9052560" y="1078992"/>
            <a:ext cx="2679192" cy="4389120"/>
          </a:xfrm>
          <a:prstGeom prst="roundRect">
            <a:avLst/>
          </a:prstGeom>
          <a:solidFill>
            <a:srgbClr val="42346D"/>
          </a:solidFill>
          <a:ln w="10160">
            <a:solidFill>
              <a:srgbClr val="8A7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nav-accent"/>
          <p:cNvSpPr/>
          <p:nvPr/>
        </p:nvSpPr>
        <p:spPr>
          <a:xfrm>
            <a:off x="457200" y="1078992"/>
            <a:ext cx="73152" cy="5102352"/>
          </a:xfrm>
          <a:prstGeom prst="rect">
            <a:avLst/>
          </a:prstGeom>
          <a:solidFill>
            <a:srgbClr val="67E8F9"/>
          </a:solidFill>
          <a:ln w="10160"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nav-0"/>
          <p:cNvSpPr/>
          <p:nvPr/>
        </p:nvSpPr>
        <p:spPr>
          <a:xfrm>
            <a:off x="658368" y="1874519"/>
            <a:ext cx="1143000" cy="329184"/>
          </a:xfrm>
          <a:prstGeom prst="roundRect">
            <a:avLst/>
          </a:prstGeom>
          <a:solidFill>
            <a:srgbClr val="67E8F9"/>
          </a:solidFill>
          <a:ln w="10160">
            <a:solidFill>
              <a:srgbClr val="8A7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nav-1"/>
          <p:cNvSpPr/>
          <p:nvPr/>
        </p:nvSpPr>
        <p:spPr>
          <a:xfrm>
            <a:off x="658368" y="2386584"/>
            <a:ext cx="1143000" cy="329184"/>
          </a:xfrm>
          <a:prstGeom prst="roundRect">
            <a:avLst/>
          </a:prstGeom>
          <a:solidFill>
            <a:srgbClr val="30265A"/>
          </a:solidFill>
          <a:ln w="10160">
            <a:solidFill>
              <a:srgbClr val="8A7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nav-2"/>
          <p:cNvSpPr/>
          <p:nvPr/>
        </p:nvSpPr>
        <p:spPr>
          <a:xfrm>
            <a:off x="658368" y="2898648"/>
            <a:ext cx="1143000" cy="329184"/>
          </a:xfrm>
          <a:prstGeom prst="roundRect">
            <a:avLst/>
          </a:prstGeom>
          <a:solidFill>
            <a:srgbClr val="30265A"/>
          </a:solidFill>
          <a:ln w="10160">
            <a:solidFill>
              <a:srgbClr val="8A7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nav-3"/>
          <p:cNvSpPr/>
          <p:nvPr/>
        </p:nvSpPr>
        <p:spPr>
          <a:xfrm>
            <a:off x="658368" y="3410712"/>
            <a:ext cx="1143000" cy="329184"/>
          </a:xfrm>
          <a:prstGeom prst="roundRect">
            <a:avLst/>
          </a:prstGeom>
          <a:solidFill>
            <a:srgbClr val="30265A"/>
          </a:solidFill>
          <a:ln w="10160">
            <a:solidFill>
              <a:srgbClr val="8A7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nav-4"/>
          <p:cNvSpPr/>
          <p:nvPr/>
        </p:nvSpPr>
        <p:spPr>
          <a:xfrm>
            <a:off x="658368" y="3922776"/>
            <a:ext cx="1143000" cy="329184"/>
          </a:xfrm>
          <a:prstGeom prst="roundRect">
            <a:avLst/>
          </a:prstGeom>
          <a:solidFill>
            <a:srgbClr val="30265A"/>
          </a:solidFill>
          <a:ln w="10160">
            <a:solidFill>
              <a:srgbClr val="8A7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nav-5"/>
          <p:cNvSpPr/>
          <p:nvPr/>
        </p:nvSpPr>
        <p:spPr>
          <a:xfrm>
            <a:off x="658368" y="4434840"/>
            <a:ext cx="1143000" cy="329184"/>
          </a:xfrm>
          <a:prstGeom prst="roundRect">
            <a:avLst/>
          </a:prstGeom>
          <a:solidFill>
            <a:srgbClr val="30265A"/>
          </a:solidFill>
          <a:ln w="10160">
            <a:solidFill>
              <a:srgbClr val="8A7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nav-6"/>
          <p:cNvSpPr/>
          <p:nvPr/>
        </p:nvSpPr>
        <p:spPr>
          <a:xfrm>
            <a:off x="658368" y="4946904"/>
            <a:ext cx="1143000" cy="329184"/>
          </a:xfrm>
          <a:prstGeom prst="roundRect">
            <a:avLst/>
          </a:prstGeom>
          <a:solidFill>
            <a:srgbClr val="30265A"/>
          </a:solidFill>
          <a:ln w="10160">
            <a:solidFill>
              <a:srgbClr val="8A7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metric-0-accent"/>
          <p:cNvSpPr/>
          <p:nvPr/>
        </p:nvSpPr>
        <p:spPr>
          <a:xfrm>
            <a:off x="2249424" y="1078992"/>
            <a:ext cx="73152" cy="768096"/>
          </a:xfrm>
          <a:prstGeom prst="rect">
            <a:avLst/>
          </a:prstGeom>
          <a:solidFill>
            <a:srgbClr val="67E8F9"/>
          </a:solidFill>
          <a:ln w="10160"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metric-1-accent"/>
          <p:cNvSpPr/>
          <p:nvPr/>
        </p:nvSpPr>
        <p:spPr>
          <a:xfrm>
            <a:off x="3557016" y="1078992"/>
            <a:ext cx="73152" cy="768096"/>
          </a:xfrm>
          <a:prstGeom prst="rect">
            <a:avLst/>
          </a:prstGeom>
          <a:solidFill>
            <a:srgbClr val="A78BFA"/>
          </a:solidFill>
          <a:ln w="1016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metric-2-accent"/>
          <p:cNvSpPr/>
          <p:nvPr/>
        </p:nvSpPr>
        <p:spPr>
          <a:xfrm>
            <a:off x="4864608" y="1078992"/>
            <a:ext cx="73152" cy="768096"/>
          </a:xfrm>
          <a:prstGeom prst="rect">
            <a:avLst/>
          </a:prstGeom>
          <a:solidFill>
            <a:srgbClr val="67E8F9"/>
          </a:solidFill>
          <a:ln w="10160"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metric-3-accent"/>
          <p:cNvSpPr/>
          <p:nvPr/>
        </p:nvSpPr>
        <p:spPr>
          <a:xfrm>
            <a:off x="6172200" y="1078992"/>
            <a:ext cx="73152" cy="768096"/>
          </a:xfrm>
          <a:prstGeom prst="rect">
            <a:avLst/>
          </a:prstGeom>
          <a:solidFill>
            <a:srgbClr val="FBBF24"/>
          </a:solidFill>
          <a:ln w="1016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metric-4-accent"/>
          <p:cNvSpPr/>
          <p:nvPr/>
        </p:nvSpPr>
        <p:spPr>
          <a:xfrm>
            <a:off x="7479792" y="1078992"/>
            <a:ext cx="73152" cy="768096"/>
          </a:xfrm>
          <a:prstGeom prst="rect">
            <a:avLst/>
          </a:prstGeom>
          <a:solidFill>
            <a:srgbClr val="67E8F9"/>
          </a:solidFill>
          <a:ln w="10160"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isk-rail-accent"/>
          <p:cNvSpPr/>
          <p:nvPr/>
        </p:nvSpPr>
        <p:spPr>
          <a:xfrm>
            <a:off x="9052560" y="1078992"/>
            <a:ext cx="73152" cy="4389120"/>
          </a:xfrm>
          <a:prstGeom prst="rect">
            <a:avLst/>
          </a:prstGeom>
          <a:solidFill>
            <a:srgbClr val="67E8F9"/>
          </a:solidFill>
          <a:ln w="10160"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progress-track"/>
          <p:cNvSpPr/>
          <p:nvPr/>
        </p:nvSpPr>
        <p:spPr>
          <a:xfrm>
            <a:off x="2249424" y="5687568"/>
            <a:ext cx="9482328" cy="384048"/>
          </a:xfrm>
          <a:prstGeom prst="roundRect">
            <a:avLst/>
          </a:prstGeom>
          <a:solidFill>
            <a:srgbClr val="42346D"/>
          </a:solidFill>
          <a:ln w="10160">
            <a:solidFill>
              <a:srgbClr val="8A7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29" name="signal-table"/>
          <p:cNvGraphicFramePr>
            <a:graphicFrameLocks noGrp="1"/>
          </p:cNvGraphicFramePr>
          <p:nvPr/>
        </p:nvGraphicFramePr>
        <p:xfrm>
          <a:off x="2249424" y="2066543"/>
          <a:ext cx="6537960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7592"/>
                <a:gridCol w="1307592"/>
                <a:gridCol w="1307592"/>
                <a:gridCol w="1307592"/>
                <a:gridCol w="1307592"/>
              </a:tblGrid>
              <a:tr h="425196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0F0F2D"/>
                          </a:solidFill>
                          <a:latin typeface="Aptos"/>
                        </a:rPr>
                        <a:t>Signal</a:t>
                      </a:r>
                    </a:p>
                  </a:txBody>
                  <a:tcPr marL="54864" marR="54864" marT="18288" marB="18288">
                    <a:solidFill>
                      <a:srgbClr val="67E8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0F0F2D"/>
                          </a:solidFill>
                          <a:latin typeface="Aptos"/>
                        </a:rPr>
                        <a:t>Owner</a:t>
                      </a:r>
                    </a:p>
                  </a:txBody>
                  <a:tcPr marL="54864" marR="54864" marT="18288" marB="18288">
                    <a:solidFill>
                      <a:srgbClr val="67E8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0F0F2D"/>
                          </a:solidFill>
                          <a:latin typeface="Aptos"/>
                        </a:rPr>
                        <a:t>State</a:t>
                      </a:r>
                    </a:p>
                  </a:txBody>
                  <a:tcPr marL="54864" marR="54864" marT="18288" marB="18288">
                    <a:solidFill>
                      <a:srgbClr val="67E8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0F0F2D"/>
                          </a:solidFill>
                          <a:latin typeface="Aptos"/>
                        </a:rPr>
                        <a:t>Gate</a:t>
                      </a:r>
                    </a:p>
                  </a:txBody>
                  <a:tcPr marL="54864" marR="54864" marT="18288" marB="18288">
                    <a:solidFill>
                      <a:srgbClr val="67E8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0F0F2D"/>
                          </a:solidFill>
                          <a:latin typeface="Aptos"/>
                        </a:rPr>
                        <a:t>Next</a:t>
                      </a:r>
                    </a:p>
                  </a:txBody>
                  <a:tcPr marL="54864" marR="54864" marT="18288" marB="18288">
                    <a:solidFill>
                      <a:srgbClr val="67E8F9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FFFFFF"/>
                          </a:solidFill>
                          <a:latin typeface="Aptos"/>
                        </a:rPr>
                        <a:t>S-01</a:t>
                      </a:r>
                    </a:p>
                  </a:txBody>
                  <a:tcPr marL="54864" marR="54864" marT="18288" marB="18288">
                    <a:solidFill>
                      <a:srgbClr val="30265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Aptos"/>
                        </a:rPr>
                        <a:t>Reviewer</a:t>
                      </a:r>
                    </a:p>
                  </a:txBody>
                  <a:tcPr marL="54864" marR="54864" marT="18288" marB="18288">
                    <a:solidFill>
                      <a:srgbClr val="30265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Aptos"/>
                        </a:rPr>
                        <a:t>Watch</a:t>
                      </a:r>
                    </a:p>
                  </a:txBody>
                  <a:tcPr marL="54864" marR="54864" marT="18288" marB="18288">
                    <a:solidFill>
                      <a:srgbClr val="30265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Aptos"/>
                        </a:rPr>
                        <a:t>Review</a:t>
                      </a:r>
                    </a:p>
                  </a:txBody>
                  <a:tcPr marL="54864" marR="54864" marT="18288" marB="18288">
                    <a:solidFill>
                      <a:srgbClr val="30265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Aptos"/>
                        </a:rPr>
                        <a:t>Check</a:t>
                      </a:r>
                    </a:p>
                  </a:txBody>
                  <a:tcPr marL="54864" marR="54864" marT="18288" marB="18288">
                    <a:solidFill>
                      <a:srgbClr val="30265A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FFFFFF"/>
                          </a:solidFill>
                          <a:latin typeface="Aptos"/>
                        </a:rPr>
                        <a:t>S-02</a:t>
                      </a:r>
                    </a:p>
                  </a:txBody>
                  <a:tcPr marL="54864" marR="54864" marT="18288" marB="18288">
                    <a:solidFill>
                      <a:srgbClr val="42346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Aptos"/>
                        </a:rPr>
                        <a:t>Auditor</a:t>
                      </a:r>
                    </a:p>
                  </a:txBody>
                  <a:tcPr marL="54864" marR="54864" marT="18288" marB="18288">
                    <a:solidFill>
                      <a:srgbClr val="42346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Aptos"/>
                        </a:rPr>
                        <a:t>Hold</a:t>
                      </a:r>
                    </a:p>
                  </a:txBody>
                  <a:tcPr marL="54864" marR="54864" marT="18288" marB="18288">
                    <a:solidFill>
                      <a:srgbClr val="42346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Aptos"/>
                        </a:rPr>
                        <a:t>Repair</a:t>
                      </a:r>
                    </a:p>
                  </a:txBody>
                  <a:tcPr marL="54864" marR="54864" marT="18288" marB="18288">
                    <a:solidFill>
                      <a:srgbClr val="42346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Aptos"/>
                        </a:rPr>
                        <a:t>Fix</a:t>
                      </a:r>
                    </a:p>
                  </a:txBody>
                  <a:tcPr marL="54864" marR="54864" marT="18288" marB="18288">
                    <a:solidFill>
                      <a:srgbClr val="42346D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FFFFFF"/>
                          </a:solidFill>
                          <a:latin typeface="Aptos"/>
                        </a:rPr>
                        <a:t>S-03</a:t>
                      </a:r>
                    </a:p>
                  </a:txBody>
                  <a:tcPr marL="54864" marR="54864" marT="18288" marB="18288">
                    <a:solidFill>
                      <a:srgbClr val="30265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Aptos"/>
                        </a:rPr>
                        <a:t>Author</a:t>
                      </a:r>
                    </a:p>
                  </a:txBody>
                  <a:tcPr marL="54864" marR="54864" marT="18288" marB="18288">
                    <a:solidFill>
                      <a:srgbClr val="30265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Aptos"/>
                        </a:rPr>
                        <a:t>Ready</a:t>
                      </a:r>
                    </a:p>
                  </a:txBody>
                  <a:tcPr marL="54864" marR="54864" marT="18288" marB="18288">
                    <a:solidFill>
                      <a:srgbClr val="30265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Aptos"/>
                        </a:rPr>
                        <a:t>Pass</a:t>
                      </a:r>
                    </a:p>
                  </a:txBody>
                  <a:tcPr marL="54864" marR="54864" marT="18288" marB="18288">
                    <a:solidFill>
                      <a:srgbClr val="30265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Aptos"/>
                        </a:rPr>
                        <a:t>Ship</a:t>
                      </a:r>
                    </a:p>
                  </a:txBody>
                  <a:tcPr marL="54864" marR="54864" marT="18288" marB="18288">
                    <a:solidFill>
                      <a:srgbClr val="30265A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FFFFFF"/>
                          </a:solidFill>
                          <a:latin typeface="Aptos"/>
                        </a:rPr>
                        <a:t>S-04</a:t>
                      </a:r>
                    </a:p>
                  </a:txBody>
                  <a:tcPr marL="54864" marR="54864" marT="18288" marB="18288">
                    <a:solidFill>
                      <a:srgbClr val="42346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Aptos"/>
                        </a:rPr>
                        <a:t>Reviewer</a:t>
                      </a:r>
                    </a:p>
                  </a:txBody>
                  <a:tcPr marL="54864" marR="54864" marT="18288" marB="18288">
                    <a:solidFill>
                      <a:srgbClr val="42346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Aptos"/>
                        </a:rPr>
                        <a:t>Watch</a:t>
                      </a:r>
                    </a:p>
                  </a:txBody>
                  <a:tcPr marL="54864" marR="54864" marT="18288" marB="18288">
                    <a:solidFill>
                      <a:srgbClr val="42346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Aptos"/>
                        </a:rPr>
                        <a:t>Review</a:t>
                      </a:r>
                    </a:p>
                  </a:txBody>
                  <a:tcPr marL="54864" marR="54864" marT="18288" marB="18288">
                    <a:solidFill>
                      <a:srgbClr val="42346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Aptos"/>
                        </a:rPr>
                        <a:t>Check</a:t>
                      </a:r>
                    </a:p>
                  </a:txBody>
                  <a:tcPr marL="54864" marR="54864" marT="18288" marB="18288">
                    <a:solidFill>
                      <a:srgbClr val="42346D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FFFFFF"/>
                          </a:solidFill>
                          <a:latin typeface="Aptos"/>
                        </a:rPr>
                        <a:t>S-05</a:t>
                      </a:r>
                    </a:p>
                  </a:txBody>
                  <a:tcPr marL="54864" marR="54864" marT="18288" marB="18288">
                    <a:solidFill>
                      <a:srgbClr val="30265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Aptos"/>
                        </a:rPr>
                        <a:t>Auditor</a:t>
                      </a:r>
                    </a:p>
                  </a:txBody>
                  <a:tcPr marL="54864" marR="54864" marT="18288" marB="18288">
                    <a:solidFill>
                      <a:srgbClr val="30265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Aptos"/>
                        </a:rPr>
                        <a:t>Hold</a:t>
                      </a:r>
                    </a:p>
                  </a:txBody>
                  <a:tcPr marL="54864" marR="54864" marT="18288" marB="18288">
                    <a:solidFill>
                      <a:srgbClr val="30265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Aptos"/>
                        </a:rPr>
                        <a:t>Repair</a:t>
                      </a:r>
                    </a:p>
                  </a:txBody>
                  <a:tcPr marL="54864" marR="54864" marT="18288" marB="18288">
                    <a:solidFill>
                      <a:srgbClr val="30265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Aptos"/>
                        </a:rPr>
                        <a:t>Fix</a:t>
                      </a:r>
                    </a:p>
                  </a:txBody>
                  <a:tcPr marL="54864" marR="54864" marT="18288" marB="18288">
                    <a:solidFill>
                      <a:srgbClr val="30265A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FFFFFF"/>
                          </a:solidFill>
                          <a:latin typeface="Aptos"/>
                        </a:rPr>
                        <a:t>S-06</a:t>
                      </a:r>
                    </a:p>
                  </a:txBody>
                  <a:tcPr marL="54864" marR="54864" marT="18288" marB="18288">
                    <a:solidFill>
                      <a:srgbClr val="42346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Aptos"/>
                        </a:rPr>
                        <a:t>Author</a:t>
                      </a:r>
                    </a:p>
                  </a:txBody>
                  <a:tcPr marL="54864" marR="54864" marT="18288" marB="18288">
                    <a:solidFill>
                      <a:srgbClr val="42346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Aptos"/>
                        </a:rPr>
                        <a:t>Ready</a:t>
                      </a:r>
                    </a:p>
                  </a:txBody>
                  <a:tcPr marL="54864" marR="54864" marT="18288" marB="18288">
                    <a:solidFill>
                      <a:srgbClr val="42346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Aptos"/>
                        </a:rPr>
                        <a:t>Pass</a:t>
                      </a:r>
                    </a:p>
                  </a:txBody>
                  <a:tcPr marL="54864" marR="54864" marT="18288" marB="18288">
                    <a:solidFill>
                      <a:srgbClr val="42346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Aptos"/>
                        </a:rPr>
                        <a:t>Ship</a:t>
                      </a:r>
                    </a:p>
                  </a:txBody>
                  <a:tcPr marL="54864" marR="54864" marT="18288" marB="18288">
                    <a:solidFill>
                      <a:srgbClr val="42346D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FFFFFF"/>
                          </a:solidFill>
                          <a:latin typeface="Aptos"/>
                        </a:rPr>
                        <a:t>S-07</a:t>
                      </a:r>
                    </a:p>
                  </a:txBody>
                  <a:tcPr marL="54864" marR="54864" marT="18288" marB="18288">
                    <a:solidFill>
                      <a:srgbClr val="30265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Aptos"/>
                        </a:rPr>
                        <a:t>Reviewer</a:t>
                      </a:r>
                    </a:p>
                  </a:txBody>
                  <a:tcPr marL="54864" marR="54864" marT="18288" marB="18288">
                    <a:solidFill>
                      <a:srgbClr val="30265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Aptos"/>
                        </a:rPr>
                        <a:t>Watch</a:t>
                      </a:r>
                    </a:p>
                  </a:txBody>
                  <a:tcPr marL="54864" marR="54864" marT="18288" marB="18288">
                    <a:solidFill>
                      <a:srgbClr val="30265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Aptos"/>
                        </a:rPr>
                        <a:t>Review</a:t>
                      </a:r>
                    </a:p>
                  </a:txBody>
                  <a:tcPr marL="54864" marR="54864" marT="18288" marB="18288">
                    <a:solidFill>
                      <a:srgbClr val="30265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Aptos"/>
                        </a:rPr>
                        <a:t>Check</a:t>
                      </a:r>
                    </a:p>
                  </a:txBody>
                  <a:tcPr marL="54864" marR="54864" marT="18288" marB="18288">
                    <a:solidFill>
                      <a:srgbClr val="30265A"/>
                    </a:solidFill>
                  </a:tcPr>
                </a:tc>
              </a:tr>
            </a:tbl>
          </a:graphicData>
        </a:graphic>
      </p:graphicFrame>
      <p:sp>
        <p:nvSpPr>
          <p:cNvPr id="30" name="risk-dot-0"/>
          <p:cNvSpPr/>
          <p:nvPr/>
        </p:nvSpPr>
        <p:spPr>
          <a:xfrm>
            <a:off x="9308592" y="1746504"/>
            <a:ext cx="164592" cy="164592"/>
          </a:xfrm>
          <a:prstGeom prst="ellipse">
            <a:avLst/>
          </a:prstGeom>
          <a:solidFill>
            <a:srgbClr val="67E8F9"/>
          </a:solidFill>
          <a:ln w="10160"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isk-dot-1"/>
          <p:cNvSpPr/>
          <p:nvPr/>
        </p:nvSpPr>
        <p:spPr>
          <a:xfrm>
            <a:off x="9308592" y="2276856"/>
            <a:ext cx="164592" cy="164592"/>
          </a:xfrm>
          <a:prstGeom prst="ellipse">
            <a:avLst/>
          </a:prstGeom>
          <a:solidFill>
            <a:srgbClr val="67E8F9"/>
          </a:solidFill>
          <a:ln w="10160"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isk-dot-2"/>
          <p:cNvSpPr/>
          <p:nvPr/>
        </p:nvSpPr>
        <p:spPr>
          <a:xfrm>
            <a:off x="9308592" y="2807208"/>
            <a:ext cx="164592" cy="164592"/>
          </a:xfrm>
          <a:prstGeom prst="ellipse">
            <a:avLst/>
          </a:prstGeom>
          <a:solidFill>
            <a:srgbClr val="FBBF24"/>
          </a:solidFill>
          <a:ln w="1016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isk-dot-3"/>
          <p:cNvSpPr/>
          <p:nvPr/>
        </p:nvSpPr>
        <p:spPr>
          <a:xfrm>
            <a:off x="9308592" y="3337560"/>
            <a:ext cx="164592" cy="164592"/>
          </a:xfrm>
          <a:prstGeom prst="ellipse">
            <a:avLst/>
          </a:prstGeom>
          <a:solidFill>
            <a:srgbClr val="67E8F9"/>
          </a:solidFill>
          <a:ln w="10160"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isk-dot-4"/>
          <p:cNvSpPr/>
          <p:nvPr/>
        </p:nvSpPr>
        <p:spPr>
          <a:xfrm>
            <a:off x="9308592" y="3867912"/>
            <a:ext cx="164592" cy="164592"/>
          </a:xfrm>
          <a:prstGeom prst="ellipse">
            <a:avLst/>
          </a:prstGeom>
          <a:solidFill>
            <a:srgbClr val="67E8F9"/>
          </a:solidFill>
          <a:ln w="10160"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isk-dot-5"/>
          <p:cNvSpPr/>
          <p:nvPr/>
        </p:nvSpPr>
        <p:spPr>
          <a:xfrm>
            <a:off x="9308592" y="4398264"/>
            <a:ext cx="164592" cy="164592"/>
          </a:xfrm>
          <a:prstGeom prst="ellipse">
            <a:avLst/>
          </a:prstGeom>
          <a:solidFill>
            <a:srgbClr val="67E8F9"/>
          </a:solidFill>
          <a:ln w="10160"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progress-fill"/>
          <p:cNvSpPr/>
          <p:nvPr/>
        </p:nvSpPr>
        <p:spPr>
          <a:xfrm>
            <a:off x="2249424" y="5687568"/>
            <a:ext cx="7406640" cy="384048"/>
          </a:xfrm>
          <a:prstGeom prst="roundRect">
            <a:avLst/>
          </a:prstGeom>
          <a:solidFill>
            <a:srgbClr val="67E8F9"/>
          </a:solidFill>
          <a:ln w="10160"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profile-tag"/>
          <p:cNvSpPr txBox="1"/>
          <p:nvPr/>
        </p:nvSpPr>
        <p:spPr>
          <a:xfrm>
            <a:off x="457200" y="201168"/>
            <a:ext cx="768096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1" lang="en-US">
                <a:solidFill>
                  <a:srgbClr val="67E8F9"/>
                </a:solidFill>
                <a:latin typeface="Aptos"/>
              </a:rPr>
              <a:t>V3 STRESS SUITE  ·  GLASSMORPHISM  ·  CONTROL ROOM</a:t>
            </a:r>
          </a:p>
        </p:txBody>
      </p:sp>
      <p:sp>
        <p:nvSpPr>
          <p:cNvPr id="38" name="slide-index"/>
          <p:cNvSpPr txBox="1"/>
          <p:nvPr/>
        </p:nvSpPr>
        <p:spPr>
          <a:xfrm>
            <a:off x="10808208" y="201168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00" b="1" lang="en-US">
                <a:solidFill>
                  <a:srgbClr val="E0E0F0"/>
                </a:solidFill>
                <a:latin typeface="Aptos"/>
              </a:rPr>
              <a:t>01/60</a:t>
            </a:r>
          </a:p>
        </p:txBody>
      </p:sp>
      <p:sp>
        <p:nvSpPr>
          <p:cNvPr id="39" name="title"/>
          <p:cNvSpPr txBox="1"/>
          <p:nvPr/>
        </p:nvSpPr>
        <p:spPr>
          <a:xfrm>
            <a:off x="457200" y="484632"/>
            <a:ext cx="11274552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200" b="1" lang="en-US">
                <a:solidFill>
                  <a:srgbClr val="FFFFFF"/>
                </a:solidFill>
                <a:latin typeface="Aptos Display"/>
              </a:rPr>
              <a:t>Control room layouts keep dense delivery signals governable</a:t>
            </a:r>
          </a:p>
        </p:txBody>
      </p:sp>
      <p:sp>
        <p:nvSpPr>
          <p:cNvPr id="40" name="footer"/>
          <p:cNvSpPr txBox="1"/>
          <p:nvPr/>
        </p:nvSpPr>
        <p:spPr>
          <a:xfrm>
            <a:off x="457200" y="6473952"/>
            <a:ext cx="1051560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0" lang="en-US">
                <a:solidFill>
                  <a:srgbClr val="E0E0F0"/>
                </a:solidFill>
                <a:latin typeface="Aptos"/>
              </a:rPr>
              <a:t>Native-object stress fixture · frosted glass cards, cyan-violet glow blobs, and layered depth · editable geometry and recorded style lock</a:t>
            </a:r>
          </a:p>
        </p:txBody>
      </p:sp>
      <p:sp>
        <p:nvSpPr>
          <p:cNvPr id="41" name="nav-title"/>
          <p:cNvSpPr txBox="1"/>
          <p:nvPr/>
        </p:nvSpPr>
        <p:spPr>
          <a:xfrm>
            <a:off x="667512" y="1298448"/>
            <a:ext cx="1078992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1" lang="en-US">
                <a:solidFill>
                  <a:srgbClr val="67E8F9"/>
                </a:solidFill>
                <a:latin typeface="Aptos"/>
              </a:rPr>
              <a:t>CONTROL
PLANES</a:t>
            </a:r>
          </a:p>
        </p:txBody>
      </p:sp>
      <p:sp>
        <p:nvSpPr>
          <p:cNvPr id="42" name="nav-label-0"/>
          <p:cNvSpPr txBox="1"/>
          <p:nvPr/>
        </p:nvSpPr>
        <p:spPr>
          <a:xfrm>
            <a:off x="749808" y="1965960"/>
            <a:ext cx="932688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1" lang="en-US">
                <a:solidFill>
                  <a:srgbClr val="111111"/>
                </a:solidFill>
                <a:latin typeface="Aptos"/>
              </a:rPr>
              <a:t>INBOX</a:t>
            </a:r>
          </a:p>
        </p:txBody>
      </p:sp>
      <p:sp>
        <p:nvSpPr>
          <p:cNvPr id="43" name="nav-label-1"/>
          <p:cNvSpPr txBox="1"/>
          <p:nvPr/>
        </p:nvSpPr>
        <p:spPr>
          <a:xfrm>
            <a:off x="749808" y="2478024"/>
            <a:ext cx="932688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0" lang="en-US">
                <a:solidFill>
                  <a:srgbClr val="FFFFFF"/>
                </a:solidFill>
                <a:latin typeface="Aptos"/>
              </a:rPr>
              <a:t>SIGNALS</a:t>
            </a:r>
          </a:p>
        </p:txBody>
      </p:sp>
      <p:sp>
        <p:nvSpPr>
          <p:cNvPr id="44" name="nav-label-2"/>
          <p:cNvSpPr txBox="1"/>
          <p:nvPr/>
        </p:nvSpPr>
        <p:spPr>
          <a:xfrm>
            <a:off x="749808" y="2990088"/>
            <a:ext cx="932688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0" lang="en-US">
                <a:solidFill>
                  <a:srgbClr val="FFFFFF"/>
                </a:solidFill>
                <a:latin typeface="Aptos"/>
              </a:rPr>
              <a:t>EVIDENCE</a:t>
            </a:r>
          </a:p>
        </p:txBody>
      </p:sp>
      <p:sp>
        <p:nvSpPr>
          <p:cNvPr id="45" name="nav-label-3"/>
          <p:cNvSpPr txBox="1"/>
          <p:nvPr/>
        </p:nvSpPr>
        <p:spPr>
          <a:xfrm>
            <a:off x="749808" y="3502152"/>
            <a:ext cx="932688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0" lang="en-US">
                <a:solidFill>
                  <a:srgbClr val="FFFFFF"/>
                </a:solidFill>
                <a:latin typeface="Aptos"/>
              </a:rPr>
              <a:t>POLICY</a:t>
            </a:r>
          </a:p>
        </p:txBody>
      </p:sp>
      <p:sp>
        <p:nvSpPr>
          <p:cNvPr id="46" name="nav-label-4"/>
          <p:cNvSpPr txBox="1"/>
          <p:nvPr/>
        </p:nvSpPr>
        <p:spPr>
          <a:xfrm>
            <a:off x="749808" y="4014215"/>
            <a:ext cx="932688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0" lang="en-US">
                <a:solidFill>
                  <a:srgbClr val="FFFFFF"/>
                </a:solidFill>
                <a:latin typeface="Aptos"/>
              </a:rPr>
              <a:t>REPAIR</a:t>
            </a:r>
          </a:p>
        </p:txBody>
      </p:sp>
      <p:sp>
        <p:nvSpPr>
          <p:cNvPr id="47" name="nav-label-5"/>
          <p:cNvSpPr txBox="1"/>
          <p:nvPr/>
        </p:nvSpPr>
        <p:spPr>
          <a:xfrm>
            <a:off x="749808" y="4526280"/>
            <a:ext cx="932688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0" lang="en-US">
                <a:solidFill>
                  <a:srgbClr val="FFFFFF"/>
                </a:solidFill>
                <a:latin typeface="Aptos"/>
              </a:rPr>
              <a:t>RELEASE</a:t>
            </a:r>
          </a:p>
        </p:txBody>
      </p:sp>
      <p:sp>
        <p:nvSpPr>
          <p:cNvPr id="48" name="nav-label-6"/>
          <p:cNvSpPr txBox="1"/>
          <p:nvPr/>
        </p:nvSpPr>
        <p:spPr>
          <a:xfrm>
            <a:off x="749808" y="5038344"/>
            <a:ext cx="932688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0" lang="en-US">
                <a:solidFill>
                  <a:srgbClr val="FFFFFF"/>
                </a:solidFill>
                <a:latin typeface="Aptos"/>
              </a:rPr>
              <a:t>ARCHIVE</a:t>
            </a:r>
          </a:p>
        </p:txBody>
      </p:sp>
      <p:sp>
        <p:nvSpPr>
          <p:cNvPr id="49" name="metric-v-0"/>
          <p:cNvSpPr txBox="1"/>
          <p:nvPr/>
        </p:nvSpPr>
        <p:spPr>
          <a:xfrm>
            <a:off x="2432304" y="1234440"/>
            <a:ext cx="80467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lang="en-US">
                <a:solidFill>
                  <a:srgbClr val="FFFFFF"/>
                </a:solidFill>
                <a:latin typeface="Aptos Display"/>
              </a:rPr>
              <a:t>48</a:t>
            </a:r>
          </a:p>
        </p:txBody>
      </p:sp>
      <p:sp>
        <p:nvSpPr>
          <p:cNvPr id="50" name="metric-l-0"/>
          <p:cNvSpPr txBox="1"/>
          <p:nvPr/>
        </p:nvSpPr>
        <p:spPr>
          <a:xfrm>
            <a:off x="2359152" y="1581912"/>
            <a:ext cx="932688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E0E0F0"/>
                </a:solidFill>
                <a:latin typeface="Aptos"/>
              </a:rPr>
              <a:t>WORK</a:t>
            </a:r>
          </a:p>
        </p:txBody>
      </p:sp>
      <p:sp>
        <p:nvSpPr>
          <p:cNvPr id="51" name="metric-v-1"/>
          <p:cNvSpPr txBox="1"/>
          <p:nvPr/>
        </p:nvSpPr>
        <p:spPr>
          <a:xfrm>
            <a:off x="3739896" y="1234440"/>
            <a:ext cx="80467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lang="en-US">
                <a:solidFill>
                  <a:srgbClr val="FFFFFF"/>
                </a:solidFill>
                <a:latin typeface="Aptos Display"/>
              </a:rPr>
              <a:t>06</a:t>
            </a:r>
          </a:p>
        </p:txBody>
      </p:sp>
      <p:sp>
        <p:nvSpPr>
          <p:cNvPr id="52" name="metric-l-1"/>
          <p:cNvSpPr txBox="1"/>
          <p:nvPr/>
        </p:nvSpPr>
        <p:spPr>
          <a:xfrm>
            <a:off x="3666744" y="1581912"/>
            <a:ext cx="932688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E0E0F0"/>
                </a:solidFill>
                <a:latin typeface="Aptos"/>
              </a:rPr>
              <a:t>FLAGS</a:t>
            </a:r>
          </a:p>
        </p:txBody>
      </p:sp>
      <p:sp>
        <p:nvSpPr>
          <p:cNvPr id="53" name="metric-v-2"/>
          <p:cNvSpPr txBox="1"/>
          <p:nvPr/>
        </p:nvSpPr>
        <p:spPr>
          <a:xfrm>
            <a:off x="5047488" y="1234440"/>
            <a:ext cx="80467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lang="en-US">
                <a:solidFill>
                  <a:srgbClr val="FFFFFF"/>
                </a:solidFill>
                <a:latin typeface="Aptos Display"/>
              </a:rPr>
              <a:t>31</a:t>
            </a:r>
          </a:p>
        </p:txBody>
      </p:sp>
      <p:sp>
        <p:nvSpPr>
          <p:cNvPr id="54" name="metric-l-2"/>
          <p:cNvSpPr txBox="1"/>
          <p:nvPr/>
        </p:nvSpPr>
        <p:spPr>
          <a:xfrm>
            <a:off x="4974336" y="1581912"/>
            <a:ext cx="932688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E0E0F0"/>
                </a:solidFill>
                <a:latin typeface="Aptos"/>
              </a:rPr>
              <a:t>READY</a:t>
            </a:r>
          </a:p>
        </p:txBody>
      </p:sp>
      <p:sp>
        <p:nvSpPr>
          <p:cNvPr id="55" name="metric-v-3"/>
          <p:cNvSpPr txBox="1"/>
          <p:nvPr/>
        </p:nvSpPr>
        <p:spPr>
          <a:xfrm>
            <a:off x="6355080" y="1234440"/>
            <a:ext cx="80467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lang="en-US">
                <a:solidFill>
                  <a:srgbClr val="FFFFFF"/>
                </a:solidFill>
                <a:latin typeface="Aptos Display"/>
              </a:rPr>
              <a:t>04</a:t>
            </a:r>
          </a:p>
        </p:txBody>
      </p:sp>
      <p:sp>
        <p:nvSpPr>
          <p:cNvPr id="56" name="metric-l-3"/>
          <p:cNvSpPr txBox="1"/>
          <p:nvPr/>
        </p:nvSpPr>
        <p:spPr>
          <a:xfrm>
            <a:off x="6281928" y="1581912"/>
            <a:ext cx="932688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E0E0F0"/>
                </a:solidFill>
                <a:latin typeface="Aptos"/>
              </a:rPr>
              <a:t>HOLD</a:t>
            </a:r>
          </a:p>
        </p:txBody>
      </p:sp>
      <p:sp>
        <p:nvSpPr>
          <p:cNvPr id="57" name="metric-v-4"/>
          <p:cNvSpPr txBox="1"/>
          <p:nvPr/>
        </p:nvSpPr>
        <p:spPr>
          <a:xfrm>
            <a:off x="7662672" y="1234440"/>
            <a:ext cx="80467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lang="en-US">
                <a:solidFill>
                  <a:srgbClr val="FFFFFF"/>
                </a:solidFill>
                <a:latin typeface="Aptos Display"/>
              </a:rPr>
              <a:t>12</a:t>
            </a:r>
          </a:p>
        </p:txBody>
      </p:sp>
      <p:sp>
        <p:nvSpPr>
          <p:cNvPr id="58" name="metric-l-4"/>
          <p:cNvSpPr txBox="1"/>
          <p:nvPr/>
        </p:nvSpPr>
        <p:spPr>
          <a:xfrm>
            <a:off x="7589520" y="1581912"/>
            <a:ext cx="932688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E0E0F0"/>
                </a:solidFill>
                <a:latin typeface="Aptos"/>
              </a:rPr>
              <a:t>STYLE</a:t>
            </a:r>
          </a:p>
        </p:txBody>
      </p:sp>
      <p:sp>
        <p:nvSpPr>
          <p:cNvPr id="59" name="risk-title"/>
          <p:cNvSpPr txBox="1"/>
          <p:nvPr/>
        </p:nvSpPr>
        <p:spPr>
          <a:xfrm>
            <a:off x="9308592" y="1298448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1" lang="en-US">
                <a:solidFill>
                  <a:srgbClr val="67E8F9"/>
                </a:solidFill>
                <a:latin typeface="Aptos"/>
              </a:rPr>
              <a:t>LIVE REVIEW QUEUE</a:t>
            </a:r>
          </a:p>
        </p:txBody>
      </p:sp>
      <p:sp>
        <p:nvSpPr>
          <p:cNvPr id="60" name="risk-label-0"/>
          <p:cNvSpPr txBox="1"/>
          <p:nvPr/>
        </p:nvSpPr>
        <p:spPr>
          <a:xfrm>
            <a:off x="9619488" y="1691640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50" b="1" lang="en-US">
                <a:solidFill>
                  <a:srgbClr val="FFFFFF"/>
                </a:solidFill>
                <a:latin typeface="Aptos"/>
              </a:rPr>
              <a:t>Scope stable</a:t>
            </a:r>
          </a:p>
        </p:txBody>
      </p:sp>
      <p:sp>
        <p:nvSpPr>
          <p:cNvPr id="61" name="risk-state-0"/>
          <p:cNvSpPr txBox="1"/>
          <p:nvPr/>
        </p:nvSpPr>
        <p:spPr>
          <a:xfrm>
            <a:off x="10972800" y="169164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00" b="1" lang="en-US">
                <a:solidFill>
                  <a:srgbClr val="67E8F9"/>
                </a:solidFill>
                <a:latin typeface="Aptos"/>
              </a:rPr>
              <a:t>PASS</a:t>
            </a:r>
          </a:p>
        </p:txBody>
      </p:sp>
      <p:sp>
        <p:nvSpPr>
          <p:cNvPr id="62" name="risk-label-1"/>
          <p:cNvSpPr txBox="1"/>
          <p:nvPr/>
        </p:nvSpPr>
        <p:spPr>
          <a:xfrm>
            <a:off x="9619488" y="2221992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50" b="1" lang="en-US">
                <a:solidFill>
                  <a:srgbClr val="FFFFFF"/>
                </a:solidFill>
                <a:latin typeface="Aptos"/>
              </a:rPr>
              <a:t>Text capacity</a:t>
            </a:r>
          </a:p>
        </p:txBody>
      </p:sp>
      <p:sp>
        <p:nvSpPr>
          <p:cNvPr id="63" name="risk-state-1"/>
          <p:cNvSpPr txBox="1"/>
          <p:nvPr/>
        </p:nvSpPr>
        <p:spPr>
          <a:xfrm>
            <a:off x="10972800" y="2221992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00" b="1" lang="en-US">
                <a:solidFill>
                  <a:srgbClr val="67E8F9"/>
                </a:solidFill>
                <a:latin typeface="Aptos"/>
              </a:rPr>
              <a:t>PASS</a:t>
            </a:r>
          </a:p>
        </p:txBody>
      </p:sp>
      <p:sp>
        <p:nvSpPr>
          <p:cNvPr id="64" name="risk-label-2"/>
          <p:cNvSpPr txBox="1"/>
          <p:nvPr/>
        </p:nvSpPr>
        <p:spPr>
          <a:xfrm>
            <a:off x="9619488" y="2752344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50" b="1" lang="en-US">
                <a:solidFill>
                  <a:srgbClr val="FFFFFF"/>
                </a:solidFill>
                <a:latin typeface="Aptos"/>
              </a:rPr>
              <a:t>Contrast check</a:t>
            </a:r>
          </a:p>
        </p:txBody>
      </p:sp>
      <p:sp>
        <p:nvSpPr>
          <p:cNvPr id="65" name="risk-state-2"/>
          <p:cNvSpPr txBox="1"/>
          <p:nvPr/>
        </p:nvSpPr>
        <p:spPr>
          <a:xfrm>
            <a:off x="10972800" y="275234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00" b="1" lang="en-US">
                <a:solidFill>
                  <a:srgbClr val="FBBF24"/>
                </a:solidFill>
                <a:latin typeface="Aptos"/>
              </a:rPr>
              <a:t>WATCH</a:t>
            </a:r>
          </a:p>
        </p:txBody>
      </p:sp>
      <p:sp>
        <p:nvSpPr>
          <p:cNvPr id="66" name="risk-label-3"/>
          <p:cNvSpPr txBox="1"/>
          <p:nvPr/>
        </p:nvSpPr>
        <p:spPr>
          <a:xfrm>
            <a:off x="9619488" y="3282696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50" b="1" lang="en-US">
                <a:solidFill>
                  <a:srgbClr val="FFFFFF"/>
                </a:solidFill>
                <a:latin typeface="Aptos"/>
              </a:rPr>
              <a:t>Table fit</a:t>
            </a:r>
          </a:p>
        </p:txBody>
      </p:sp>
      <p:sp>
        <p:nvSpPr>
          <p:cNvPr id="67" name="risk-state-3"/>
          <p:cNvSpPr txBox="1"/>
          <p:nvPr/>
        </p:nvSpPr>
        <p:spPr>
          <a:xfrm>
            <a:off x="10972800" y="3282696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00" b="1" lang="en-US">
                <a:solidFill>
                  <a:srgbClr val="67E8F9"/>
                </a:solidFill>
                <a:latin typeface="Aptos"/>
              </a:rPr>
              <a:t>PASS</a:t>
            </a:r>
          </a:p>
        </p:txBody>
      </p:sp>
      <p:sp>
        <p:nvSpPr>
          <p:cNvPr id="68" name="risk-label-4"/>
          <p:cNvSpPr txBox="1"/>
          <p:nvPr/>
        </p:nvSpPr>
        <p:spPr>
          <a:xfrm>
            <a:off x="9619488" y="3813048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50" b="1" lang="en-US">
                <a:solidFill>
                  <a:srgbClr val="FFFFFF"/>
                </a:solidFill>
                <a:latin typeface="Aptos"/>
              </a:rPr>
              <a:t>Read order</a:t>
            </a:r>
          </a:p>
        </p:txBody>
      </p:sp>
      <p:sp>
        <p:nvSpPr>
          <p:cNvPr id="69" name="risk-state-4"/>
          <p:cNvSpPr txBox="1"/>
          <p:nvPr/>
        </p:nvSpPr>
        <p:spPr>
          <a:xfrm>
            <a:off x="10972800" y="3813048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00" b="1" lang="en-US">
                <a:solidFill>
                  <a:srgbClr val="67E8F9"/>
                </a:solidFill>
                <a:latin typeface="Aptos"/>
              </a:rPr>
              <a:t>PASS</a:t>
            </a:r>
          </a:p>
        </p:txBody>
      </p:sp>
      <p:sp>
        <p:nvSpPr>
          <p:cNvPr id="70" name="risk-label-5"/>
          <p:cNvSpPr txBox="1"/>
          <p:nvPr/>
        </p:nvSpPr>
        <p:spPr>
          <a:xfrm>
            <a:off x="9619488" y="4343400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50" b="1" lang="en-US">
                <a:solidFill>
                  <a:srgbClr val="FFFFFF"/>
                </a:solidFill>
                <a:latin typeface="Aptos"/>
              </a:rPr>
              <a:t>Package</a:t>
            </a:r>
          </a:p>
        </p:txBody>
      </p:sp>
      <p:sp>
        <p:nvSpPr>
          <p:cNvPr id="71" name="risk-state-5"/>
          <p:cNvSpPr txBox="1"/>
          <p:nvPr/>
        </p:nvSpPr>
        <p:spPr>
          <a:xfrm>
            <a:off x="10972800" y="434340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00" b="1" lang="en-US">
                <a:solidFill>
                  <a:srgbClr val="67E8F9"/>
                </a:solidFill>
                <a:latin typeface="Aptos"/>
              </a:rPr>
              <a:t>PASS</a:t>
            </a:r>
          </a:p>
        </p:txBody>
      </p:sp>
      <p:sp>
        <p:nvSpPr>
          <p:cNvPr id="72" name="progress-label"/>
          <p:cNvSpPr txBox="1"/>
          <p:nvPr/>
        </p:nvSpPr>
        <p:spPr>
          <a:xfrm>
            <a:off x="2468880" y="5788152"/>
            <a:ext cx="886968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50" b="1" lang="en-US">
                <a:solidFill>
                  <a:srgbClr val="111111"/>
                </a:solidFill>
                <a:latin typeface="Aptos"/>
              </a:rPr>
              <a:t>Stress workload: 78% complete · 12 profiles locked · 0 geometry regressions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2D"/>
          </a:solidFill>
          <a:ln w="10160">
            <a:solidFill>
              <a:srgbClr val="0F0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glow-0"/>
          <p:cNvSpPr/>
          <p:nvPr/>
        </p:nvSpPr>
        <p:spPr>
          <a:xfrm>
            <a:off x="8046720" y="320040"/>
            <a:ext cx="2926080" cy="2926080"/>
          </a:xfrm>
          <a:prstGeom prst="ellipse">
            <a:avLst/>
          </a:prstGeom>
          <a:solidFill>
            <a:srgbClr val="67E8F9"/>
          </a:solidFill>
          <a:ln w="10160"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glow-1"/>
          <p:cNvSpPr/>
          <p:nvPr/>
        </p:nvSpPr>
        <p:spPr>
          <a:xfrm>
            <a:off x="9509760" y="3383280"/>
            <a:ext cx="2011680" cy="2011680"/>
          </a:xfrm>
          <a:prstGeom prst="ellipse">
            <a:avLst/>
          </a:prstGeom>
          <a:solidFill>
            <a:srgbClr val="A78BFA"/>
          </a:solidFill>
          <a:ln w="1016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glow-2"/>
          <p:cNvSpPr/>
          <p:nvPr/>
        </p:nvSpPr>
        <p:spPr>
          <a:xfrm>
            <a:off x="7132320" y="4663440"/>
            <a:ext cx="1645920" cy="1645920"/>
          </a:xfrm>
          <a:prstGeom prst="ellipse">
            <a:avLst/>
          </a:prstGeom>
          <a:solidFill>
            <a:srgbClr val="67E8F9"/>
          </a:solidFill>
          <a:ln w="10160"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op-band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67E8F9"/>
          </a:solidFill>
          <a:ln w="10160"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mesh-shell"/>
          <p:cNvSpPr/>
          <p:nvPr/>
        </p:nvSpPr>
        <p:spPr>
          <a:xfrm>
            <a:off x="457200" y="1078992"/>
            <a:ext cx="7360920" cy="5029200"/>
          </a:xfrm>
          <a:prstGeom prst="roundRect">
            <a:avLst/>
          </a:prstGeom>
          <a:solidFill>
            <a:srgbClr val="42346D"/>
          </a:solidFill>
          <a:ln w="10160">
            <a:solidFill>
              <a:srgbClr val="8A7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mesh-rail-shell"/>
          <p:cNvSpPr/>
          <p:nvPr/>
        </p:nvSpPr>
        <p:spPr>
          <a:xfrm>
            <a:off x="8092440" y="1078992"/>
            <a:ext cx="3639312" cy="5029200"/>
          </a:xfrm>
          <a:prstGeom prst="roundRect">
            <a:avLst/>
          </a:prstGeom>
          <a:solidFill>
            <a:srgbClr val="30265A"/>
          </a:solidFill>
          <a:ln w="10160">
            <a:solidFill>
              <a:srgbClr val="8A7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mesh-accent"/>
          <p:cNvSpPr/>
          <p:nvPr/>
        </p:nvSpPr>
        <p:spPr>
          <a:xfrm>
            <a:off x="457200" y="1078992"/>
            <a:ext cx="73152" cy="5029200"/>
          </a:xfrm>
          <a:prstGeom prst="rect">
            <a:avLst/>
          </a:prstGeom>
          <a:solidFill>
            <a:srgbClr val="67E8F9"/>
          </a:solidFill>
          <a:ln w="10160"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mesh-edge-0"/>
          <p:cNvCxnSpPr/>
          <p:nvPr/>
        </p:nvCxnSpPr>
        <p:spPr>
          <a:xfrm flipV="1">
            <a:off x="1618488" y="1920240"/>
            <a:ext cx="1828800" cy="320040"/>
          </a:xfrm>
          <a:prstGeom prst="line">
            <a:avLst/>
          </a:prstGeom>
          <a:ln w="13970">
            <a:solidFill>
              <a:srgbClr val="8A7D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mesh-edge-1"/>
          <p:cNvCxnSpPr/>
          <p:nvPr/>
        </p:nvCxnSpPr>
        <p:spPr>
          <a:xfrm>
            <a:off x="3447288" y="1920240"/>
            <a:ext cx="1920240" cy="320040"/>
          </a:xfrm>
          <a:prstGeom prst="line">
            <a:avLst/>
          </a:prstGeom>
          <a:ln w="13970">
            <a:solidFill>
              <a:srgbClr val="8A7D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mesh-edge-2"/>
          <p:cNvCxnSpPr/>
          <p:nvPr/>
        </p:nvCxnSpPr>
        <p:spPr>
          <a:xfrm>
            <a:off x="1618488" y="2240280"/>
            <a:ext cx="868680" cy="1325880"/>
          </a:xfrm>
          <a:prstGeom prst="line">
            <a:avLst/>
          </a:prstGeom>
          <a:ln w="13970">
            <a:solidFill>
              <a:srgbClr val="8A7D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mesh-edge-3"/>
          <p:cNvCxnSpPr/>
          <p:nvPr/>
        </p:nvCxnSpPr>
        <p:spPr>
          <a:xfrm flipH="1">
            <a:off x="2487168" y="1920240"/>
            <a:ext cx="960120" cy="1645920"/>
          </a:xfrm>
          <a:prstGeom prst="line">
            <a:avLst/>
          </a:prstGeom>
          <a:ln w="13970">
            <a:solidFill>
              <a:srgbClr val="8A7D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mesh-edge-4"/>
          <p:cNvCxnSpPr/>
          <p:nvPr/>
        </p:nvCxnSpPr>
        <p:spPr>
          <a:xfrm>
            <a:off x="3447288" y="1920240"/>
            <a:ext cx="1005840" cy="1307592"/>
          </a:xfrm>
          <a:prstGeom prst="line">
            <a:avLst/>
          </a:prstGeom>
          <a:ln w="13970">
            <a:solidFill>
              <a:srgbClr val="8A7D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mesh-edge-5"/>
          <p:cNvCxnSpPr/>
          <p:nvPr/>
        </p:nvCxnSpPr>
        <p:spPr>
          <a:xfrm flipH="1">
            <a:off x="4453128" y="2240280"/>
            <a:ext cx="914400" cy="987552"/>
          </a:xfrm>
          <a:prstGeom prst="line">
            <a:avLst/>
          </a:prstGeom>
          <a:ln w="13970">
            <a:solidFill>
              <a:srgbClr val="8A7D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mesh-edge-6"/>
          <p:cNvCxnSpPr/>
          <p:nvPr/>
        </p:nvCxnSpPr>
        <p:spPr>
          <a:xfrm>
            <a:off x="5367528" y="2240280"/>
            <a:ext cx="1005840" cy="1325880"/>
          </a:xfrm>
          <a:prstGeom prst="line">
            <a:avLst/>
          </a:prstGeom>
          <a:ln w="13970">
            <a:solidFill>
              <a:srgbClr val="8A7D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mesh-edge-7"/>
          <p:cNvCxnSpPr/>
          <p:nvPr/>
        </p:nvCxnSpPr>
        <p:spPr>
          <a:xfrm flipV="1">
            <a:off x="2487168" y="3227832"/>
            <a:ext cx="1965960" cy="338328"/>
          </a:xfrm>
          <a:prstGeom prst="line">
            <a:avLst/>
          </a:prstGeom>
          <a:ln w="13970">
            <a:solidFill>
              <a:srgbClr val="8A7D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mesh-edge-8"/>
          <p:cNvCxnSpPr/>
          <p:nvPr/>
        </p:nvCxnSpPr>
        <p:spPr>
          <a:xfrm>
            <a:off x="4453128" y="3227832"/>
            <a:ext cx="1920240" cy="338328"/>
          </a:xfrm>
          <a:prstGeom prst="line">
            <a:avLst/>
          </a:prstGeom>
          <a:ln w="13970">
            <a:solidFill>
              <a:srgbClr val="8A7D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mesh-edge-9"/>
          <p:cNvCxnSpPr/>
          <p:nvPr/>
        </p:nvCxnSpPr>
        <p:spPr>
          <a:xfrm>
            <a:off x="2487168" y="3566160"/>
            <a:ext cx="960120" cy="1325880"/>
          </a:xfrm>
          <a:prstGeom prst="line">
            <a:avLst/>
          </a:prstGeom>
          <a:ln w="13970">
            <a:solidFill>
              <a:srgbClr val="8A7D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mesh-edge-10"/>
          <p:cNvCxnSpPr/>
          <p:nvPr/>
        </p:nvCxnSpPr>
        <p:spPr>
          <a:xfrm flipH="1">
            <a:off x="3447288" y="3227832"/>
            <a:ext cx="1005840" cy="1664208"/>
          </a:xfrm>
          <a:prstGeom prst="line">
            <a:avLst/>
          </a:prstGeom>
          <a:ln w="13970">
            <a:solidFill>
              <a:srgbClr val="8A7D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mesh-edge-11"/>
          <p:cNvCxnSpPr/>
          <p:nvPr/>
        </p:nvCxnSpPr>
        <p:spPr>
          <a:xfrm>
            <a:off x="4453128" y="3227832"/>
            <a:ext cx="914400" cy="1664208"/>
          </a:xfrm>
          <a:prstGeom prst="line">
            <a:avLst/>
          </a:prstGeom>
          <a:ln w="13970">
            <a:solidFill>
              <a:srgbClr val="8A7D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mesh-edge-12"/>
          <p:cNvCxnSpPr/>
          <p:nvPr/>
        </p:nvCxnSpPr>
        <p:spPr>
          <a:xfrm flipH="1">
            <a:off x="5367528" y="3566160"/>
            <a:ext cx="1005840" cy="1325880"/>
          </a:xfrm>
          <a:prstGeom prst="line">
            <a:avLst/>
          </a:prstGeom>
          <a:ln w="13970">
            <a:solidFill>
              <a:srgbClr val="8A7D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mesh-edge-13"/>
          <p:cNvCxnSpPr/>
          <p:nvPr/>
        </p:nvCxnSpPr>
        <p:spPr>
          <a:xfrm>
            <a:off x="3447288" y="4892040"/>
            <a:ext cx="1920240" cy="0"/>
          </a:xfrm>
          <a:prstGeom prst="line">
            <a:avLst/>
          </a:prstGeom>
          <a:ln w="13970">
            <a:solidFill>
              <a:srgbClr val="8A7D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mesh-rail-accent"/>
          <p:cNvSpPr/>
          <p:nvPr/>
        </p:nvSpPr>
        <p:spPr>
          <a:xfrm>
            <a:off x="8092440" y="1078992"/>
            <a:ext cx="73152" cy="5029200"/>
          </a:xfrm>
          <a:prstGeom prst="rect">
            <a:avLst/>
          </a:prstGeom>
          <a:solidFill>
            <a:srgbClr val="67E8F9"/>
          </a:solidFill>
          <a:ln w="10160"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trace-line-0"/>
          <p:cNvCxnSpPr/>
          <p:nvPr/>
        </p:nvCxnSpPr>
        <p:spPr>
          <a:xfrm>
            <a:off x="8577072" y="2029968"/>
            <a:ext cx="0" cy="164592"/>
          </a:xfrm>
          <a:prstGeom prst="line">
            <a:avLst/>
          </a:prstGeom>
          <a:ln w="13970">
            <a:solidFill>
              <a:srgbClr val="67E8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trace-line-1"/>
          <p:cNvCxnSpPr/>
          <p:nvPr/>
        </p:nvCxnSpPr>
        <p:spPr>
          <a:xfrm>
            <a:off x="8577072" y="2596896"/>
            <a:ext cx="0" cy="164592"/>
          </a:xfrm>
          <a:prstGeom prst="line">
            <a:avLst/>
          </a:prstGeom>
          <a:ln w="13970">
            <a:solidFill>
              <a:srgbClr val="A78B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trace-line-2"/>
          <p:cNvCxnSpPr/>
          <p:nvPr/>
        </p:nvCxnSpPr>
        <p:spPr>
          <a:xfrm>
            <a:off x="8577072" y="3163824"/>
            <a:ext cx="0" cy="164592"/>
          </a:xfrm>
          <a:prstGeom prst="line">
            <a:avLst/>
          </a:prstGeom>
          <a:ln w="13970">
            <a:solidFill>
              <a:srgbClr val="67E8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trace-line-3"/>
          <p:cNvCxnSpPr/>
          <p:nvPr/>
        </p:nvCxnSpPr>
        <p:spPr>
          <a:xfrm>
            <a:off x="8577072" y="3730752"/>
            <a:ext cx="0" cy="164592"/>
          </a:xfrm>
          <a:prstGeom prst="line">
            <a:avLst/>
          </a:prstGeom>
          <a:ln w="13970">
            <a:solidFill>
              <a:srgbClr val="FBBF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trace-line-4"/>
          <p:cNvCxnSpPr/>
          <p:nvPr/>
        </p:nvCxnSpPr>
        <p:spPr>
          <a:xfrm>
            <a:off x="8577072" y="4297680"/>
            <a:ext cx="0" cy="164592"/>
          </a:xfrm>
          <a:prstGeom prst="line">
            <a:avLst/>
          </a:prstGeom>
          <a:ln w="13970">
            <a:solidFill>
              <a:srgbClr val="67E8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trace-line-5"/>
          <p:cNvCxnSpPr/>
          <p:nvPr/>
        </p:nvCxnSpPr>
        <p:spPr>
          <a:xfrm>
            <a:off x="8577072" y="4864608"/>
            <a:ext cx="0" cy="164592"/>
          </a:xfrm>
          <a:prstGeom prst="line">
            <a:avLst/>
          </a:prstGeom>
          <a:ln w="13970">
            <a:solidFill>
              <a:srgbClr val="FB71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mesh-node-0"/>
          <p:cNvSpPr/>
          <p:nvPr/>
        </p:nvSpPr>
        <p:spPr>
          <a:xfrm>
            <a:off x="1051560" y="1920240"/>
            <a:ext cx="1143000" cy="640080"/>
          </a:xfrm>
          <a:prstGeom prst="roundRect">
            <a:avLst/>
          </a:prstGeom>
          <a:solidFill>
            <a:srgbClr val="67E8F9"/>
          </a:solidFill>
          <a:ln w="10160"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mesh-node-1"/>
          <p:cNvSpPr/>
          <p:nvPr/>
        </p:nvSpPr>
        <p:spPr>
          <a:xfrm>
            <a:off x="2880360" y="1600200"/>
            <a:ext cx="1143000" cy="640080"/>
          </a:xfrm>
          <a:prstGeom prst="roundRect">
            <a:avLst/>
          </a:prstGeom>
          <a:solidFill>
            <a:srgbClr val="A78BFA"/>
          </a:solidFill>
          <a:ln w="1016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mesh-node-2"/>
          <p:cNvSpPr/>
          <p:nvPr/>
        </p:nvSpPr>
        <p:spPr>
          <a:xfrm>
            <a:off x="4800600" y="1920240"/>
            <a:ext cx="1143000" cy="640080"/>
          </a:xfrm>
          <a:prstGeom prst="roundRect">
            <a:avLst/>
          </a:prstGeom>
          <a:solidFill>
            <a:srgbClr val="67E8F9"/>
          </a:solidFill>
          <a:ln w="10160"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mesh-node-3"/>
          <p:cNvSpPr/>
          <p:nvPr/>
        </p:nvSpPr>
        <p:spPr>
          <a:xfrm>
            <a:off x="1920240" y="3246120"/>
            <a:ext cx="1143000" cy="640080"/>
          </a:xfrm>
          <a:prstGeom prst="roundRect">
            <a:avLst/>
          </a:prstGeom>
          <a:solidFill>
            <a:srgbClr val="67E8F9"/>
          </a:solidFill>
          <a:ln w="10160"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mesh-node-4"/>
          <p:cNvSpPr/>
          <p:nvPr/>
        </p:nvSpPr>
        <p:spPr>
          <a:xfrm>
            <a:off x="3886200" y="2907792"/>
            <a:ext cx="1143000" cy="640080"/>
          </a:xfrm>
          <a:prstGeom prst="roundRect">
            <a:avLst/>
          </a:prstGeom>
          <a:solidFill>
            <a:srgbClr val="FBBF24"/>
          </a:solidFill>
          <a:ln w="1016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mesh-node-5"/>
          <p:cNvSpPr/>
          <p:nvPr/>
        </p:nvSpPr>
        <p:spPr>
          <a:xfrm>
            <a:off x="5806440" y="3246120"/>
            <a:ext cx="1143000" cy="640080"/>
          </a:xfrm>
          <a:prstGeom prst="roundRect">
            <a:avLst/>
          </a:prstGeom>
          <a:solidFill>
            <a:srgbClr val="67E8F9"/>
          </a:solidFill>
          <a:ln w="10160"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mesh-node-6"/>
          <p:cNvSpPr/>
          <p:nvPr/>
        </p:nvSpPr>
        <p:spPr>
          <a:xfrm>
            <a:off x="2880360" y="4572000"/>
            <a:ext cx="1143000" cy="640080"/>
          </a:xfrm>
          <a:prstGeom prst="roundRect">
            <a:avLst/>
          </a:prstGeom>
          <a:solidFill>
            <a:srgbClr val="FB7185"/>
          </a:solidFill>
          <a:ln w="1016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mesh-node-7"/>
          <p:cNvSpPr/>
          <p:nvPr/>
        </p:nvSpPr>
        <p:spPr>
          <a:xfrm>
            <a:off x="4800600" y="4572000"/>
            <a:ext cx="1143000" cy="640080"/>
          </a:xfrm>
          <a:prstGeom prst="roundRect">
            <a:avLst/>
          </a:prstGeom>
          <a:solidFill>
            <a:srgbClr val="67E8F9"/>
          </a:solidFill>
          <a:ln w="10160"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race-badge-0"/>
          <p:cNvSpPr/>
          <p:nvPr/>
        </p:nvSpPr>
        <p:spPr>
          <a:xfrm>
            <a:off x="8357616" y="1682496"/>
            <a:ext cx="438912" cy="347472"/>
          </a:xfrm>
          <a:prstGeom prst="roundRect">
            <a:avLst/>
          </a:prstGeom>
          <a:solidFill>
            <a:srgbClr val="67E8F9"/>
          </a:solidFill>
          <a:ln w="10160"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race-badge-1"/>
          <p:cNvSpPr/>
          <p:nvPr/>
        </p:nvSpPr>
        <p:spPr>
          <a:xfrm>
            <a:off x="8357616" y="2249424"/>
            <a:ext cx="438912" cy="347472"/>
          </a:xfrm>
          <a:prstGeom prst="roundRect">
            <a:avLst/>
          </a:prstGeom>
          <a:solidFill>
            <a:srgbClr val="A78BFA"/>
          </a:solidFill>
          <a:ln w="1016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race-badge-2"/>
          <p:cNvSpPr/>
          <p:nvPr/>
        </p:nvSpPr>
        <p:spPr>
          <a:xfrm>
            <a:off x="8357616" y="2816352"/>
            <a:ext cx="438912" cy="347472"/>
          </a:xfrm>
          <a:prstGeom prst="roundRect">
            <a:avLst/>
          </a:prstGeom>
          <a:solidFill>
            <a:srgbClr val="67E8F9"/>
          </a:solidFill>
          <a:ln w="10160"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race-badge-3"/>
          <p:cNvSpPr/>
          <p:nvPr/>
        </p:nvSpPr>
        <p:spPr>
          <a:xfrm>
            <a:off x="8357616" y="3383280"/>
            <a:ext cx="438912" cy="347472"/>
          </a:xfrm>
          <a:prstGeom prst="roundRect">
            <a:avLst/>
          </a:prstGeom>
          <a:solidFill>
            <a:srgbClr val="FBBF24"/>
          </a:solidFill>
          <a:ln w="1016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race-badge-4"/>
          <p:cNvSpPr/>
          <p:nvPr/>
        </p:nvSpPr>
        <p:spPr>
          <a:xfrm>
            <a:off x="8357616" y="3950208"/>
            <a:ext cx="438912" cy="347472"/>
          </a:xfrm>
          <a:prstGeom prst="roundRect">
            <a:avLst/>
          </a:prstGeom>
          <a:solidFill>
            <a:srgbClr val="67E8F9"/>
          </a:solidFill>
          <a:ln w="10160"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race-badge-5"/>
          <p:cNvSpPr/>
          <p:nvPr/>
        </p:nvSpPr>
        <p:spPr>
          <a:xfrm>
            <a:off x="8357616" y="4517136"/>
            <a:ext cx="438912" cy="347472"/>
          </a:xfrm>
          <a:prstGeom prst="roundRect">
            <a:avLst/>
          </a:prstGeom>
          <a:solidFill>
            <a:srgbClr val="FB7185"/>
          </a:solidFill>
          <a:ln w="1016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profile-tag"/>
          <p:cNvSpPr txBox="1"/>
          <p:nvPr/>
        </p:nvSpPr>
        <p:spPr>
          <a:xfrm>
            <a:off x="457200" y="201168"/>
            <a:ext cx="768096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1" lang="en-US">
                <a:solidFill>
                  <a:srgbClr val="67E8F9"/>
                </a:solidFill>
                <a:latin typeface="Aptos"/>
              </a:rPr>
              <a:t>V3 STRESS SUITE  ·  GLASSMORPHISM  ·  EVIDENCE MESH</a:t>
            </a:r>
          </a:p>
        </p:txBody>
      </p:sp>
      <p:sp>
        <p:nvSpPr>
          <p:cNvPr id="46" name="slide-index"/>
          <p:cNvSpPr txBox="1"/>
          <p:nvPr/>
        </p:nvSpPr>
        <p:spPr>
          <a:xfrm>
            <a:off x="10808208" y="201168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00" b="1" lang="en-US">
                <a:solidFill>
                  <a:srgbClr val="E0E0F0"/>
                </a:solidFill>
                <a:latin typeface="Aptos"/>
              </a:rPr>
              <a:t>02/60</a:t>
            </a:r>
          </a:p>
        </p:txBody>
      </p:sp>
      <p:sp>
        <p:nvSpPr>
          <p:cNvPr id="47" name="title"/>
          <p:cNvSpPr txBox="1"/>
          <p:nvPr/>
        </p:nvSpPr>
        <p:spPr>
          <a:xfrm>
            <a:off x="457200" y="484632"/>
            <a:ext cx="11274552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200" b="1" lang="en-US">
                <a:solidFill>
                  <a:srgbClr val="FFFFFF"/>
                </a:solidFill>
                <a:latin typeface="Aptos Display"/>
              </a:rPr>
              <a:t>Evidence meshes preserve traceability across a dense editable graph</a:t>
            </a:r>
          </a:p>
        </p:txBody>
      </p:sp>
      <p:sp>
        <p:nvSpPr>
          <p:cNvPr id="48" name="footer"/>
          <p:cNvSpPr txBox="1"/>
          <p:nvPr/>
        </p:nvSpPr>
        <p:spPr>
          <a:xfrm>
            <a:off x="457200" y="6473952"/>
            <a:ext cx="1051560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0" lang="en-US">
                <a:solidFill>
                  <a:srgbClr val="E0E0F0"/>
                </a:solidFill>
                <a:latin typeface="Aptos"/>
              </a:rPr>
              <a:t>Native-object stress fixture · frosted glass cards, cyan-violet glow blobs, and layered depth · editable geometry and recorded style lock</a:t>
            </a:r>
          </a:p>
        </p:txBody>
      </p:sp>
      <p:sp>
        <p:nvSpPr>
          <p:cNvPr id="49" name="mesh-title"/>
          <p:cNvSpPr txBox="1"/>
          <p:nvPr/>
        </p:nvSpPr>
        <p:spPr>
          <a:xfrm>
            <a:off x="713232" y="1298448"/>
            <a:ext cx="320040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1" lang="en-US">
                <a:solidFill>
                  <a:srgbClr val="67E8F9"/>
                </a:solidFill>
                <a:latin typeface="Aptos"/>
              </a:rPr>
              <a:t>EVIDENCE ROUTING MESH</a:t>
            </a:r>
          </a:p>
        </p:txBody>
      </p:sp>
      <p:sp>
        <p:nvSpPr>
          <p:cNvPr id="50" name="mesh-label-0"/>
          <p:cNvSpPr txBox="1"/>
          <p:nvPr/>
        </p:nvSpPr>
        <p:spPr>
          <a:xfrm>
            <a:off x="1143000" y="2139696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lang="en-US">
                <a:solidFill>
                  <a:srgbClr val="111111"/>
                </a:solidFill>
                <a:latin typeface="Aptos"/>
              </a:rPr>
              <a:t>Request</a:t>
            </a:r>
          </a:p>
        </p:txBody>
      </p:sp>
      <p:sp>
        <p:nvSpPr>
          <p:cNvPr id="51" name="mesh-label-1"/>
          <p:cNvSpPr txBox="1"/>
          <p:nvPr/>
        </p:nvSpPr>
        <p:spPr>
          <a:xfrm>
            <a:off x="2971800" y="1819656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lang="en-US">
                <a:solidFill>
                  <a:srgbClr val="111111"/>
                </a:solidFill>
                <a:latin typeface="Aptos"/>
              </a:rPr>
              <a:t>Profile</a:t>
            </a:r>
          </a:p>
        </p:txBody>
      </p:sp>
      <p:sp>
        <p:nvSpPr>
          <p:cNvPr id="52" name="mesh-label-2"/>
          <p:cNvSpPr txBox="1"/>
          <p:nvPr/>
        </p:nvSpPr>
        <p:spPr>
          <a:xfrm>
            <a:off x="4892040" y="2139696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lang="en-US">
                <a:solidFill>
                  <a:srgbClr val="111111"/>
                </a:solidFill>
                <a:latin typeface="Aptos"/>
              </a:rPr>
              <a:t>Source</a:t>
            </a:r>
          </a:p>
        </p:txBody>
      </p:sp>
      <p:sp>
        <p:nvSpPr>
          <p:cNvPr id="53" name="mesh-label-3"/>
          <p:cNvSpPr txBox="1"/>
          <p:nvPr/>
        </p:nvSpPr>
        <p:spPr>
          <a:xfrm>
            <a:off x="2011680" y="3465576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lang="en-US">
                <a:solidFill>
                  <a:srgbClr val="111111"/>
                </a:solidFill>
                <a:latin typeface="Aptos"/>
              </a:rPr>
              <a:t>Spec</a:t>
            </a:r>
          </a:p>
        </p:txBody>
      </p:sp>
      <p:sp>
        <p:nvSpPr>
          <p:cNvPr id="54" name="mesh-label-4"/>
          <p:cNvSpPr txBox="1"/>
          <p:nvPr/>
        </p:nvSpPr>
        <p:spPr>
          <a:xfrm>
            <a:off x="3977639" y="3127248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lang="en-US">
                <a:solidFill>
                  <a:srgbClr val="111111"/>
                </a:solidFill>
                <a:latin typeface="Aptos"/>
              </a:rPr>
              <a:t>Audit</a:t>
            </a:r>
          </a:p>
        </p:txBody>
      </p:sp>
      <p:sp>
        <p:nvSpPr>
          <p:cNvPr id="55" name="mesh-label-5"/>
          <p:cNvSpPr txBox="1"/>
          <p:nvPr/>
        </p:nvSpPr>
        <p:spPr>
          <a:xfrm>
            <a:off x="5897880" y="3465576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lang="en-US">
                <a:solidFill>
                  <a:srgbClr val="111111"/>
                </a:solidFill>
                <a:latin typeface="Aptos"/>
              </a:rPr>
              <a:t>Render</a:t>
            </a:r>
          </a:p>
        </p:txBody>
      </p:sp>
      <p:sp>
        <p:nvSpPr>
          <p:cNvPr id="56" name="mesh-label-6"/>
          <p:cNvSpPr txBox="1"/>
          <p:nvPr/>
        </p:nvSpPr>
        <p:spPr>
          <a:xfrm>
            <a:off x="2971800" y="4791456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lang="en-US">
                <a:solidFill>
                  <a:srgbClr val="111111"/>
                </a:solidFill>
                <a:latin typeface="Aptos"/>
              </a:rPr>
              <a:t>Repair</a:t>
            </a:r>
          </a:p>
        </p:txBody>
      </p:sp>
      <p:sp>
        <p:nvSpPr>
          <p:cNvPr id="57" name="mesh-label-7"/>
          <p:cNvSpPr txBox="1"/>
          <p:nvPr/>
        </p:nvSpPr>
        <p:spPr>
          <a:xfrm>
            <a:off x="4892040" y="4791456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lang="en-US">
                <a:solidFill>
                  <a:srgbClr val="111111"/>
                </a:solidFill>
                <a:latin typeface="Aptos"/>
              </a:rPr>
              <a:t>Ship</a:t>
            </a:r>
          </a:p>
        </p:txBody>
      </p:sp>
      <p:sp>
        <p:nvSpPr>
          <p:cNvPr id="58" name="mesh-rail-title"/>
          <p:cNvSpPr txBox="1"/>
          <p:nvPr/>
        </p:nvSpPr>
        <p:spPr>
          <a:xfrm>
            <a:off x="8357616" y="1298448"/>
            <a:ext cx="265176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1" lang="en-US">
                <a:solidFill>
                  <a:srgbClr val="67E8F9"/>
                </a:solidFill>
                <a:latin typeface="Aptos"/>
              </a:rPr>
              <a:t>TRACEABILITY</a:t>
            </a:r>
          </a:p>
        </p:txBody>
      </p:sp>
      <p:sp>
        <p:nvSpPr>
          <p:cNvPr id="59" name="trace-number-0"/>
          <p:cNvSpPr txBox="1"/>
          <p:nvPr/>
        </p:nvSpPr>
        <p:spPr>
          <a:xfrm>
            <a:off x="8375904" y="1783080"/>
            <a:ext cx="402336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111111"/>
                </a:solidFill>
                <a:latin typeface="Aptos"/>
              </a:rPr>
              <a:t>01</a:t>
            </a:r>
          </a:p>
        </p:txBody>
      </p:sp>
      <p:sp>
        <p:nvSpPr>
          <p:cNvPr id="60" name="trace-label-0"/>
          <p:cNvSpPr txBox="1"/>
          <p:nvPr/>
        </p:nvSpPr>
        <p:spPr>
          <a:xfrm>
            <a:off x="8979408" y="173736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1" lang="en-US">
                <a:solidFill>
                  <a:srgbClr val="FFFFFF"/>
                </a:solidFill>
                <a:latin typeface="Aptos"/>
              </a:rPr>
              <a:t>Intent</a:t>
            </a:r>
          </a:p>
        </p:txBody>
      </p:sp>
      <p:sp>
        <p:nvSpPr>
          <p:cNvPr id="61" name="trace-number-1"/>
          <p:cNvSpPr txBox="1"/>
          <p:nvPr/>
        </p:nvSpPr>
        <p:spPr>
          <a:xfrm>
            <a:off x="8375904" y="2350008"/>
            <a:ext cx="402336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111111"/>
                </a:solidFill>
                <a:latin typeface="Aptos"/>
              </a:rPr>
              <a:t>02</a:t>
            </a:r>
          </a:p>
        </p:txBody>
      </p:sp>
      <p:sp>
        <p:nvSpPr>
          <p:cNvPr id="62" name="trace-label-1"/>
          <p:cNvSpPr txBox="1"/>
          <p:nvPr/>
        </p:nvSpPr>
        <p:spPr>
          <a:xfrm>
            <a:off x="8979408" y="2304288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1" lang="en-US">
                <a:solidFill>
                  <a:srgbClr val="FFFFFF"/>
                </a:solidFill>
                <a:latin typeface="Aptos"/>
              </a:rPr>
              <a:t>Profile lock</a:t>
            </a:r>
          </a:p>
        </p:txBody>
      </p:sp>
      <p:sp>
        <p:nvSpPr>
          <p:cNvPr id="63" name="trace-number-2"/>
          <p:cNvSpPr txBox="1"/>
          <p:nvPr/>
        </p:nvSpPr>
        <p:spPr>
          <a:xfrm>
            <a:off x="8375904" y="2916936"/>
            <a:ext cx="402336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111111"/>
                </a:solidFill>
                <a:latin typeface="Aptos"/>
              </a:rPr>
              <a:t>03</a:t>
            </a:r>
          </a:p>
        </p:txBody>
      </p:sp>
      <p:sp>
        <p:nvSpPr>
          <p:cNvPr id="64" name="trace-label-2"/>
          <p:cNvSpPr txBox="1"/>
          <p:nvPr/>
        </p:nvSpPr>
        <p:spPr>
          <a:xfrm>
            <a:off x="8979408" y="2871216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1" lang="en-US">
                <a:solidFill>
                  <a:srgbClr val="FFFFFF"/>
                </a:solidFill>
                <a:latin typeface="Aptos"/>
              </a:rPr>
              <a:t>Object spec</a:t>
            </a:r>
          </a:p>
        </p:txBody>
      </p:sp>
      <p:sp>
        <p:nvSpPr>
          <p:cNvPr id="65" name="trace-number-3"/>
          <p:cNvSpPr txBox="1"/>
          <p:nvPr/>
        </p:nvSpPr>
        <p:spPr>
          <a:xfrm>
            <a:off x="8375904" y="3483864"/>
            <a:ext cx="402336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111111"/>
                </a:solidFill>
                <a:latin typeface="Aptos"/>
              </a:rPr>
              <a:t>04</a:t>
            </a:r>
          </a:p>
        </p:txBody>
      </p:sp>
      <p:sp>
        <p:nvSpPr>
          <p:cNvPr id="66" name="trace-label-3"/>
          <p:cNvSpPr txBox="1"/>
          <p:nvPr/>
        </p:nvSpPr>
        <p:spPr>
          <a:xfrm>
            <a:off x="8979408" y="3438144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1" lang="en-US">
                <a:solidFill>
                  <a:srgbClr val="FFFFFF"/>
                </a:solidFill>
                <a:latin typeface="Aptos"/>
              </a:rPr>
              <a:t>Quality gate</a:t>
            </a:r>
          </a:p>
        </p:txBody>
      </p:sp>
      <p:sp>
        <p:nvSpPr>
          <p:cNvPr id="67" name="trace-number-4"/>
          <p:cNvSpPr txBox="1"/>
          <p:nvPr/>
        </p:nvSpPr>
        <p:spPr>
          <a:xfrm>
            <a:off x="8375904" y="4050791"/>
            <a:ext cx="402336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111111"/>
                </a:solidFill>
                <a:latin typeface="Aptos"/>
              </a:rPr>
              <a:t>05</a:t>
            </a:r>
          </a:p>
        </p:txBody>
      </p:sp>
      <p:sp>
        <p:nvSpPr>
          <p:cNvPr id="68" name="trace-label-4"/>
          <p:cNvSpPr txBox="1"/>
          <p:nvPr/>
        </p:nvSpPr>
        <p:spPr>
          <a:xfrm>
            <a:off x="8979408" y="400507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1" lang="en-US">
                <a:solidFill>
                  <a:srgbClr val="FFFFFF"/>
                </a:solidFill>
                <a:latin typeface="Aptos"/>
              </a:rPr>
              <a:t>Repair trace</a:t>
            </a:r>
          </a:p>
        </p:txBody>
      </p:sp>
      <p:sp>
        <p:nvSpPr>
          <p:cNvPr id="69" name="trace-number-5"/>
          <p:cNvSpPr txBox="1"/>
          <p:nvPr/>
        </p:nvSpPr>
        <p:spPr>
          <a:xfrm>
            <a:off x="8375904" y="4617720"/>
            <a:ext cx="402336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111111"/>
                </a:solidFill>
                <a:latin typeface="Aptos"/>
              </a:rPr>
              <a:t>06</a:t>
            </a:r>
          </a:p>
        </p:txBody>
      </p:sp>
      <p:sp>
        <p:nvSpPr>
          <p:cNvPr id="70" name="trace-label-5"/>
          <p:cNvSpPr txBox="1"/>
          <p:nvPr/>
        </p:nvSpPr>
        <p:spPr>
          <a:xfrm>
            <a:off x="8979408" y="457200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1" lang="en-US">
                <a:solidFill>
                  <a:srgbClr val="FFFFFF"/>
                </a:solidFill>
                <a:latin typeface="Aptos"/>
              </a:rPr>
              <a:t>Artifact</a:t>
            </a:r>
          </a:p>
        </p:txBody>
      </p:sp>
      <p:sp>
        <p:nvSpPr>
          <p:cNvPr id="71" name="mesh-note"/>
          <p:cNvSpPr txBox="1"/>
          <p:nvPr/>
        </p:nvSpPr>
        <p:spPr>
          <a:xfrm>
            <a:off x="8357616" y="5321808"/>
            <a:ext cx="2834640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00" b="0" lang="en-US">
                <a:solidFill>
                  <a:srgbClr val="E0E0F0"/>
                </a:solidFill>
                <a:latin typeface="Aptos"/>
              </a:rPr>
              <a:t>Fourteen editable links prove dense graph routing and layering.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2D"/>
          </a:solidFill>
          <a:ln w="10160">
            <a:solidFill>
              <a:srgbClr val="0F0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glow-0"/>
          <p:cNvSpPr/>
          <p:nvPr/>
        </p:nvSpPr>
        <p:spPr>
          <a:xfrm>
            <a:off x="8046720" y="320040"/>
            <a:ext cx="2926080" cy="2926080"/>
          </a:xfrm>
          <a:prstGeom prst="ellipse">
            <a:avLst/>
          </a:prstGeom>
          <a:solidFill>
            <a:srgbClr val="67E8F9"/>
          </a:solidFill>
          <a:ln w="10160"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glow-1"/>
          <p:cNvSpPr/>
          <p:nvPr/>
        </p:nvSpPr>
        <p:spPr>
          <a:xfrm>
            <a:off x="9509760" y="3383280"/>
            <a:ext cx="2011680" cy="2011680"/>
          </a:xfrm>
          <a:prstGeom prst="ellipse">
            <a:avLst/>
          </a:prstGeom>
          <a:solidFill>
            <a:srgbClr val="A78BFA"/>
          </a:solidFill>
          <a:ln w="1016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glow-2"/>
          <p:cNvSpPr/>
          <p:nvPr/>
        </p:nvSpPr>
        <p:spPr>
          <a:xfrm>
            <a:off x="7132320" y="4663440"/>
            <a:ext cx="1645920" cy="1645920"/>
          </a:xfrm>
          <a:prstGeom prst="ellipse">
            <a:avLst/>
          </a:prstGeom>
          <a:solidFill>
            <a:srgbClr val="67E8F9"/>
          </a:solidFill>
          <a:ln w="10160"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op-band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67E8F9"/>
          </a:solidFill>
          <a:ln w="10160"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matrix-rail-shell"/>
          <p:cNvSpPr/>
          <p:nvPr/>
        </p:nvSpPr>
        <p:spPr>
          <a:xfrm>
            <a:off x="8823960" y="1143000"/>
            <a:ext cx="2907792" cy="4443984"/>
          </a:xfrm>
          <a:prstGeom prst="roundRect">
            <a:avLst/>
          </a:prstGeom>
          <a:solidFill>
            <a:srgbClr val="42346D"/>
          </a:solidFill>
          <a:ln w="10160">
            <a:solidFill>
              <a:srgbClr val="8A7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matrix-rail-accent"/>
          <p:cNvSpPr/>
          <p:nvPr/>
        </p:nvSpPr>
        <p:spPr>
          <a:xfrm>
            <a:off x="8823960" y="1143000"/>
            <a:ext cx="73152" cy="4443984"/>
          </a:xfrm>
          <a:prstGeom prst="rect">
            <a:avLst/>
          </a:prstGeom>
          <a:solidFill>
            <a:srgbClr val="67E8F9"/>
          </a:solidFill>
          <a:ln w="10160"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adar-ring-0.45"/>
          <p:cNvSpPr/>
          <p:nvPr/>
        </p:nvSpPr>
        <p:spPr>
          <a:xfrm>
            <a:off x="9866376" y="2834640"/>
            <a:ext cx="822960" cy="822960"/>
          </a:xfrm>
          <a:prstGeom prst="ellipse">
            <a:avLst/>
          </a:prstGeom>
          <a:solidFill>
            <a:srgbClr val="42346D"/>
          </a:solidFill>
          <a:ln w="10160">
            <a:solidFill>
              <a:srgbClr val="8A7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adar-ring-0.85"/>
          <p:cNvSpPr/>
          <p:nvPr/>
        </p:nvSpPr>
        <p:spPr>
          <a:xfrm>
            <a:off x="9500616" y="2468880"/>
            <a:ext cx="1554480" cy="1554480"/>
          </a:xfrm>
          <a:prstGeom prst="ellipse">
            <a:avLst/>
          </a:prstGeom>
          <a:solidFill>
            <a:srgbClr val="42346D"/>
          </a:solidFill>
          <a:ln w="10160">
            <a:solidFill>
              <a:srgbClr val="8A7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adar-ring-1.25"/>
          <p:cNvSpPr/>
          <p:nvPr/>
        </p:nvSpPr>
        <p:spPr>
          <a:xfrm>
            <a:off x="9134856" y="2103120"/>
            <a:ext cx="2286000" cy="2286000"/>
          </a:xfrm>
          <a:prstGeom prst="ellipse">
            <a:avLst/>
          </a:prstGeom>
          <a:solidFill>
            <a:srgbClr val="42346D"/>
          </a:solidFill>
          <a:ln w="10160">
            <a:solidFill>
              <a:srgbClr val="8A7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radar-axis-0"/>
          <p:cNvCxnSpPr/>
          <p:nvPr/>
        </p:nvCxnSpPr>
        <p:spPr>
          <a:xfrm flipV="1">
            <a:off x="10277856" y="1828799"/>
            <a:ext cx="0" cy="1417321"/>
          </a:xfrm>
          <a:prstGeom prst="line">
            <a:avLst/>
          </a:prstGeom>
          <a:ln w="13970">
            <a:solidFill>
              <a:srgbClr val="8A7D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radar-axis-1"/>
          <p:cNvCxnSpPr/>
          <p:nvPr/>
        </p:nvCxnSpPr>
        <p:spPr>
          <a:xfrm flipV="1">
            <a:off x="10277856" y="2537460"/>
            <a:ext cx="1227435" cy="708660"/>
          </a:xfrm>
          <a:prstGeom prst="line">
            <a:avLst/>
          </a:prstGeom>
          <a:ln w="13970">
            <a:solidFill>
              <a:srgbClr val="8A7D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radar-axis-2"/>
          <p:cNvCxnSpPr/>
          <p:nvPr/>
        </p:nvCxnSpPr>
        <p:spPr>
          <a:xfrm>
            <a:off x="10277856" y="3246120"/>
            <a:ext cx="1227435" cy="708659"/>
          </a:xfrm>
          <a:prstGeom prst="line">
            <a:avLst/>
          </a:prstGeom>
          <a:ln w="13970">
            <a:solidFill>
              <a:srgbClr val="8A7D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radar-axis-3"/>
          <p:cNvCxnSpPr/>
          <p:nvPr/>
        </p:nvCxnSpPr>
        <p:spPr>
          <a:xfrm>
            <a:off x="10277856" y="3246120"/>
            <a:ext cx="0" cy="1417320"/>
          </a:xfrm>
          <a:prstGeom prst="line">
            <a:avLst/>
          </a:prstGeom>
          <a:ln w="13970">
            <a:solidFill>
              <a:srgbClr val="8A7D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radar-axis-4"/>
          <p:cNvCxnSpPr/>
          <p:nvPr/>
        </p:nvCxnSpPr>
        <p:spPr>
          <a:xfrm flipH="1">
            <a:off x="9050420" y="3246120"/>
            <a:ext cx="1227436" cy="708659"/>
          </a:xfrm>
          <a:prstGeom prst="line">
            <a:avLst/>
          </a:prstGeom>
          <a:ln w="13970">
            <a:solidFill>
              <a:srgbClr val="8A7D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radar-axis-5"/>
          <p:cNvCxnSpPr/>
          <p:nvPr/>
        </p:nvCxnSpPr>
        <p:spPr>
          <a:xfrm flipH="1" flipV="1">
            <a:off x="9050420" y="2537459"/>
            <a:ext cx="1227436" cy="708661"/>
          </a:xfrm>
          <a:prstGeom prst="line">
            <a:avLst/>
          </a:prstGeom>
          <a:ln w="13970">
            <a:solidFill>
              <a:srgbClr val="8A7D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flow-link-0"/>
          <p:cNvCxnSpPr/>
          <p:nvPr/>
        </p:nvCxnSpPr>
        <p:spPr>
          <a:xfrm>
            <a:off x="2066543" y="5934456"/>
            <a:ext cx="265177" cy="0"/>
          </a:xfrm>
          <a:prstGeom prst="line">
            <a:avLst/>
          </a:prstGeom>
          <a:ln w="13970">
            <a:solidFill>
              <a:srgbClr val="67E8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flow-link-1"/>
          <p:cNvCxnSpPr/>
          <p:nvPr/>
        </p:nvCxnSpPr>
        <p:spPr>
          <a:xfrm>
            <a:off x="3959352" y="5934456"/>
            <a:ext cx="265175" cy="0"/>
          </a:xfrm>
          <a:prstGeom prst="line">
            <a:avLst/>
          </a:prstGeom>
          <a:ln w="13970">
            <a:solidFill>
              <a:srgbClr val="A78B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flow-link-2"/>
          <p:cNvCxnSpPr/>
          <p:nvPr/>
        </p:nvCxnSpPr>
        <p:spPr>
          <a:xfrm>
            <a:off x="5852159" y="5934456"/>
            <a:ext cx="265177" cy="0"/>
          </a:xfrm>
          <a:prstGeom prst="line">
            <a:avLst/>
          </a:prstGeom>
          <a:ln w="13970">
            <a:solidFill>
              <a:srgbClr val="67E8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flow-link-3"/>
          <p:cNvCxnSpPr/>
          <p:nvPr/>
        </p:nvCxnSpPr>
        <p:spPr>
          <a:xfrm>
            <a:off x="7744967" y="5934456"/>
            <a:ext cx="265176" cy="0"/>
          </a:xfrm>
          <a:prstGeom prst="line">
            <a:avLst/>
          </a:prstGeom>
          <a:ln w="13970">
            <a:solidFill>
              <a:srgbClr val="FBBF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flow-link-4"/>
          <p:cNvCxnSpPr/>
          <p:nvPr/>
        </p:nvCxnSpPr>
        <p:spPr>
          <a:xfrm>
            <a:off x="9637776" y="5934456"/>
            <a:ext cx="265175" cy="0"/>
          </a:xfrm>
          <a:prstGeom prst="line">
            <a:avLst/>
          </a:prstGeom>
          <a:ln w="13970">
            <a:solidFill>
              <a:srgbClr val="67E8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operating-table"/>
          <p:cNvGraphicFramePr>
            <a:graphicFrameLocks noGrp="1"/>
          </p:cNvGraphicFramePr>
          <p:nvPr/>
        </p:nvGraphicFramePr>
        <p:xfrm>
          <a:off x="457200" y="1143000"/>
          <a:ext cx="8092440" cy="44439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8740"/>
                <a:gridCol w="1348740"/>
                <a:gridCol w="1348740"/>
                <a:gridCol w="1348740"/>
                <a:gridCol w="1348740"/>
                <a:gridCol w="1348740"/>
              </a:tblGrid>
              <a:tr h="444398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0F0F2D"/>
                          </a:solidFill>
                          <a:latin typeface="Aptos"/>
                        </a:rPr>
                        <a:t>Workstream</a:t>
                      </a:r>
                    </a:p>
                  </a:txBody>
                  <a:tcPr marL="54864" marR="54864" marT="18288" marB="18288">
                    <a:solidFill>
                      <a:srgbClr val="67E8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0F0F2D"/>
                          </a:solidFill>
                          <a:latin typeface="Aptos"/>
                        </a:rPr>
                        <a:t>Profile</a:t>
                      </a:r>
                    </a:p>
                  </a:txBody>
                  <a:tcPr marL="54864" marR="54864" marT="18288" marB="18288">
                    <a:solidFill>
                      <a:srgbClr val="67E8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0F0F2D"/>
                          </a:solidFill>
                          <a:latin typeface="Aptos"/>
                        </a:rPr>
                        <a:t>Structure</a:t>
                      </a:r>
                    </a:p>
                  </a:txBody>
                  <a:tcPr marL="54864" marR="54864" marT="18288" marB="18288">
                    <a:solidFill>
                      <a:srgbClr val="67E8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0F0F2D"/>
                          </a:solidFill>
                          <a:latin typeface="Aptos"/>
                        </a:rPr>
                        <a:t>Density</a:t>
                      </a:r>
                    </a:p>
                  </a:txBody>
                  <a:tcPr marL="54864" marR="54864" marT="18288" marB="18288">
                    <a:solidFill>
                      <a:srgbClr val="67E8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0F0F2D"/>
                          </a:solidFill>
                          <a:latin typeface="Aptos"/>
                        </a:rPr>
                        <a:t>Gate</a:t>
                      </a:r>
                    </a:p>
                  </a:txBody>
                  <a:tcPr marL="54864" marR="54864" marT="18288" marB="18288">
                    <a:solidFill>
                      <a:srgbClr val="67E8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0F0F2D"/>
                          </a:solidFill>
                          <a:latin typeface="Aptos"/>
                        </a:rPr>
                        <a:t>Owner</a:t>
                      </a:r>
                    </a:p>
                  </a:txBody>
                  <a:tcPr marL="54864" marR="54864" marT="18288" marB="18288">
                    <a:solidFill>
                      <a:srgbClr val="67E8F9"/>
                    </a:solidFill>
                  </a:tcPr>
                </a:tc>
              </a:tr>
              <a:tr h="444398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FFFFFF"/>
                          </a:solidFill>
                          <a:latin typeface="Aptos"/>
                        </a:rPr>
                        <a:t>W-01</a:t>
                      </a:r>
                    </a:p>
                  </a:txBody>
                  <a:tcPr marL="54864" marR="54864" marT="18288" marB="18288">
                    <a:solidFill>
                      <a:srgbClr val="30265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Aptos"/>
                        </a:rPr>
                        <a:t>Ember</a:t>
                      </a:r>
                    </a:p>
                  </a:txBody>
                  <a:tcPr marL="54864" marR="54864" marT="18288" marB="18288">
                    <a:solidFill>
                      <a:srgbClr val="30265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Aptos"/>
                        </a:rPr>
                        <a:t>Mesh</a:t>
                      </a:r>
                    </a:p>
                  </a:txBody>
                  <a:tcPr marL="54864" marR="54864" marT="18288" marB="18288">
                    <a:solidFill>
                      <a:srgbClr val="30265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Aptos"/>
                        </a:rPr>
                        <a:t>Dense</a:t>
                      </a:r>
                    </a:p>
                  </a:txBody>
                  <a:tcPr marL="54864" marR="54864" marT="18288" marB="18288">
                    <a:solidFill>
                      <a:srgbClr val="30265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Aptos"/>
                        </a:rPr>
                        <a:t>Watch</a:t>
                      </a:r>
                    </a:p>
                  </a:txBody>
                  <a:tcPr marL="54864" marR="54864" marT="18288" marB="18288">
                    <a:solidFill>
                      <a:srgbClr val="30265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Aptos"/>
                        </a:rPr>
                        <a:t>R</a:t>
                      </a:r>
                    </a:p>
                  </a:txBody>
                  <a:tcPr marL="54864" marR="54864" marT="18288" marB="18288">
                    <a:solidFill>
                      <a:srgbClr val="30265A"/>
                    </a:solidFill>
                  </a:tcPr>
                </a:tc>
              </a:tr>
              <a:tr h="444398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FFFFFF"/>
                          </a:solidFill>
                          <a:latin typeface="Aptos"/>
                        </a:rPr>
                        <a:t>W-02</a:t>
                      </a:r>
                    </a:p>
                  </a:txBody>
                  <a:tcPr marL="54864" marR="54864" marT="18288" marB="18288">
                    <a:solidFill>
                      <a:srgbClr val="42346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Aptos"/>
                        </a:rPr>
                        <a:t>Signal</a:t>
                      </a:r>
                    </a:p>
                  </a:txBody>
                  <a:tcPr marL="54864" marR="54864" marT="18288" marB="18288">
                    <a:solidFill>
                      <a:srgbClr val="42346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Aptos"/>
                        </a:rPr>
                        <a:t>Matrix</a:t>
                      </a:r>
                    </a:p>
                  </a:txBody>
                  <a:tcPr marL="54864" marR="54864" marT="18288" marB="18288">
                    <a:solidFill>
                      <a:srgbClr val="42346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Aptos"/>
                        </a:rPr>
                        <a:t>Layered</a:t>
                      </a:r>
                    </a:p>
                  </a:txBody>
                  <a:tcPr marL="54864" marR="54864" marT="18288" marB="18288">
                    <a:solidFill>
                      <a:srgbClr val="42346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Aptos"/>
                        </a:rPr>
                        <a:t>Repair</a:t>
                      </a:r>
                    </a:p>
                  </a:txBody>
                  <a:tcPr marL="54864" marR="54864" marT="18288" marB="18288">
                    <a:solidFill>
                      <a:srgbClr val="42346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Aptos"/>
                        </a:rPr>
                        <a:t>C</a:t>
                      </a:r>
                    </a:p>
                  </a:txBody>
                  <a:tcPr marL="54864" marR="54864" marT="18288" marB="18288">
                    <a:solidFill>
                      <a:srgbClr val="42346D"/>
                    </a:solidFill>
                  </a:tcPr>
                </a:tc>
              </a:tr>
              <a:tr h="444398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FFFFFF"/>
                          </a:solidFill>
                          <a:latin typeface="Aptos"/>
                        </a:rPr>
                        <a:t>W-03</a:t>
                      </a:r>
                    </a:p>
                  </a:txBody>
                  <a:tcPr marL="54864" marR="54864" marT="18288" marB="18288">
                    <a:solidFill>
                      <a:srgbClr val="30265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Aptos"/>
                        </a:rPr>
                        <a:t>Grove</a:t>
                      </a:r>
                    </a:p>
                  </a:txBody>
                  <a:tcPr marL="54864" marR="54864" marT="18288" marB="18288">
                    <a:solidFill>
                      <a:srgbClr val="30265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Aptos"/>
                        </a:rPr>
                        <a:t>Board</a:t>
                      </a:r>
                    </a:p>
                  </a:txBody>
                  <a:tcPr marL="54864" marR="54864" marT="18288" marB="18288">
                    <a:solidFill>
                      <a:srgbClr val="30265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Aptos"/>
                        </a:rPr>
                        <a:t>Packed</a:t>
                      </a:r>
                    </a:p>
                  </a:txBody>
                  <a:tcPr marL="54864" marR="54864" marT="18288" marB="18288">
                    <a:solidFill>
                      <a:srgbClr val="30265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Aptos"/>
                        </a:rPr>
                        <a:t>Pass</a:t>
                      </a:r>
                    </a:p>
                  </a:txBody>
                  <a:tcPr marL="54864" marR="54864" marT="18288" marB="18288">
                    <a:solidFill>
                      <a:srgbClr val="30265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Aptos"/>
                        </a:rPr>
                        <a:t>I</a:t>
                      </a:r>
                    </a:p>
                  </a:txBody>
                  <a:tcPr marL="54864" marR="54864" marT="18288" marB="18288">
                    <a:solidFill>
                      <a:srgbClr val="30265A"/>
                    </a:solidFill>
                  </a:tcPr>
                </a:tc>
              </a:tr>
              <a:tr h="444398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FFFFFF"/>
                          </a:solidFill>
                          <a:latin typeface="Aptos"/>
                        </a:rPr>
                        <a:t>W-04</a:t>
                      </a:r>
                    </a:p>
                  </a:txBody>
                  <a:tcPr marL="54864" marR="54864" marT="18288" marB="18288">
                    <a:solidFill>
                      <a:srgbClr val="42346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Aptos"/>
                        </a:rPr>
                        <a:t>Atlas</a:t>
                      </a:r>
                    </a:p>
                  </a:txBody>
                  <a:tcPr marL="54864" marR="54864" marT="18288" marB="18288">
                    <a:solidFill>
                      <a:srgbClr val="42346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Aptos"/>
                        </a:rPr>
                        <a:t>Cards</a:t>
                      </a:r>
                    </a:p>
                  </a:txBody>
                  <a:tcPr marL="54864" marR="54864" marT="18288" marB="18288">
                    <a:solidFill>
                      <a:srgbClr val="42346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Aptos"/>
                        </a:rPr>
                        <a:t>High</a:t>
                      </a:r>
                    </a:p>
                  </a:txBody>
                  <a:tcPr marL="54864" marR="54864" marT="18288" marB="18288">
                    <a:solidFill>
                      <a:srgbClr val="42346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Aptos"/>
                        </a:rPr>
                        <a:t>Pass</a:t>
                      </a:r>
                    </a:p>
                  </a:txBody>
                  <a:tcPr marL="54864" marR="54864" marT="18288" marB="18288">
                    <a:solidFill>
                      <a:srgbClr val="42346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Aptos"/>
                        </a:rPr>
                        <a:t>A</a:t>
                      </a:r>
                    </a:p>
                  </a:txBody>
                  <a:tcPr marL="54864" marR="54864" marT="18288" marB="18288">
                    <a:solidFill>
                      <a:srgbClr val="42346D"/>
                    </a:solidFill>
                  </a:tcPr>
                </a:tc>
              </a:tr>
              <a:tr h="444398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FFFFFF"/>
                          </a:solidFill>
                          <a:latin typeface="Aptos"/>
                        </a:rPr>
                        <a:t>W-05</a:t>
                      </a:r>
                    </a:p>
                  </a:txBody>
                  <a:tcPr marL="54864" marR="54864" marT="18288" marB="18288">
                    <a:solidFill>
                      <a:srgbClr val="30265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Aptos"/>
                        </a:rPr>
                        <a:t>Ember</a:t>
                      </a:r>
                    </a:p>
                  </a:txBody>
                  <a:tcPr marL="54864" marR="54864" marT="18288" marB="18288">
                    <a:solidFill>
                      <a:srgbClr val="30265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Aptos"/>
                        </a:rPr>
                        <a:t>Mesh</a:t>
                      </a:r>
                    </a:p>
                  </a:txBody>
                  <a:tcPr marL="54864" marR="54864" marT="18288" marB="18288">
                    <a:solidFill>
                      <a:srgbClr val="30265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Aptos"/>
                        </a:rPr>
                        <a:t>Dense</a:t>
                      </a:r>
                    </a:p>
                  </a:txBody>
                  <a:tcPr marL="54864" marR="54864" marT="18288" marB="18288">
                    <a:solidFill>
                      <a:srgbClr val="30265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Aptos"/>
                        </a:rPr>
                        <a:t>Watch</a:t>
                      </a:r>
                    </a:p>
                  </a:txBody>
                  <a:tcPr marL="54864" marR="54864" marT="18288" marB="18288">
                    <a:solidFill>
                      <a:srgbClr val="30265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Aptos"/>
                        </a:rPr>
                        <a:t>R</a:t>
                      </a:r>
                    </a:p>
                  </a:txBody>
                  <a:tcPr marL="54864" marR="54864" marT="18288" marB="18288">
                    <a:solidFill>
                      <a:srgbClr val="30265A"/>
                    </a:solidFill>
                  </a:tcPr>
                </a:tc>
              </a:tr>
              <a:tr h="444398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FFFFFF"/>
                          </a:solidFill>
                          <a:latin typeface="Aptos"/>
                        </a:rPr>
                        <a:t>W-06</a:t>
                      </a:r>
                    </a:p>
                  </a:txBody>
                  <a:tcPr marL="54864" marR="54864" marT="18288" marB="18288">
                    <a:solidFill>
                      <a:srgbClr val="42346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Aptos"/>
                        </a:rPr>
                        <a:t>Signal</a:t>
                      </a:r>
                    </a:p>
                  </a:txBody>
                  <a:tcPr marL="54864" marR="54864" marT="18288" marB="18288">
                    <a:solidFill>
                      <a:srgbClr val="42346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Aptos"/>
                        </a:rPr>
                        <a:t>Matrix</a:t>
                      </a:r>
                    </a:p>
                  </a:txBody>
                  <a:tcPr marL="54864" marR="54864" marT="18288" marB="18288">
                    <a:solidFill>
                      <a:srgbClr val="42346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Aptos"/>
                        </a:rPr>
                        <a:t>Layered</a:t>
                      </a:r>
                    </a:p>
                  </a:txBody>
                  <a:tcPr marL="54864" marR="54864" marT="18288" marB="18288">
                    <a:solidFill>
                      <a:srgbClr val="42346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Aptos"/>
                        </a:rPr>
                        <a:t>Repair</a:t>
                      </a:r>
                    </a:p>
                  </a:txBody>
                  <a:tcPr marL="54864" marR="54864" marT="18288" marB="18288">
                    <a:solidFill>
                      <a:srgbClr val="42346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Aptos"/>
                        </a:rPr>
                        <a:t>C</a:t>
                      </a:r>
                    </a:p>
                  </a:txBody>
                  <a:tcPr marL="54864" marR="54864" marT="18288" marB="18288">
                    <a:solidFill>
                      <a:srgbClr val="42346D"/>
                    </a:solidFill>
                  </a:tcPr>
                </a:tc>
              </a:tr>
              <a:tr h="444398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FFFFFF"/>
                          </a:solidFill>
                          <a:latin typeface="Aptos"/>
                        </a:rPr>
                        <a:t>W-07</a:t>
                      </a:r>
                    </a:p>
                  </a:txBody>
                  <a:tcPr marL="54864" marR="54864" marT="18288" marB="18288">
                    <a:solidFill>
                      <a:srgbClr val="30265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Aptos"/>
                        </a:rPr>
                        <a:t>Grove</a:t>
                      </a:r>
                    </a:p>
                  </a:txBody>
                  <a:tcPr marL="54864" marR="54864" marT="18288" marB="18288">
                    <a:solidFill>
                      <a:srgbClr val="30265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Aptos"/>
                        </a:rPr>
                        <a:t>Board</a:t>
                      </a:r>
                    </a:p>
                  </a:txBody>
                  <a:tcPr marL="54864" marR="54864" marT="18288" marB="18288">
                    <a:solidFill>
                      <a:srgbClr val="30265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Aptos"/>
                        </a:rPr>
                        <a:t>Packed</a:t>
                      </a:r>
                    </a:p>
                  </a:txBody>
                  <a:tcPr marL="54864" marR="54864" marT="18288" marB="18288">
                    <a:solidFill>
                      <a:srgbClr val="30265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Aptos"/>
                        </a:rPr>
                        <a:t>Pass</a:t>
                      </a:r>
                    </a:p>
                  </a:txBody>
                  <a:tcPr marL="54864" marR="54864" marT="18288" marB="18288">
                    <a:solidFill>
                      <a:srgbClr val="30265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Aptos"/>
                        </a:rPr>
                        <a:t>I</a:t>
                      </a:r>
                    </a:p>
                  </a:txBody>
                  <a:tcPr marL="54864" marR="54864" marT="18288" marB="18288">
                    <a:solidFill>
                      <a:srgbClr val="30265A"/>
                    </a:solidFill>
                  </a:tcPr>
                </a:tc>
              </a:tr>
              <a:tr h="444398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FFFFFF"/>
                          </a:solidFill>
                          <a:latin typeface="Aptos"/>
                        </a:rPr>
                        <a:t>W-08</a:t>
                      </a:r>
                    </a:p>
                  </a:txBody>
                  <a:tcPr marL="54864" marR="54864" marT="18288" marB="18288">
                    <a:solidFill>
                      <a:srgbClr val="42346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Aptos"/>
                        </a:rPr>
                        <a:t>Atlas</a:t>
                      </a:r>
                    </a:p>
                  </a:txBody>
                  <a:tcPr marL="54864" marR="54864" marT="18288" marB="18288">
                    <a:solidFill>
                      <a:srgbClr val="42346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Aptos"/>
                        </a:rPr>
                        <a:t>Cards</a:t>
                      </a:r>
                    </a:p>
                  </a:txBody>
                  <a:tcPr marL="54864" marR="54864" marT="18288" marB="18288">
                    <a:solidFill>
                      <a:srgbClr val="42346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Aptos"/>
                        </a:rPr>
                        <a:t>High</a:t>
                      </a:r>
                    </a:p>
                  </a:txBody>
                  <a:tcPr marL="54864" marR="54864" marT="18288" marB="18288">
                    <a:solidFill>
                      <a:srgbClr val="42346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Aptos"/>
                        </a:rPr>
                        <a:t>Pass</a:t>
                      </a:r>
                    </a:p>
                  </a:txBody>
                  <a:tcPr marL="54864" marR="54864" marT="18288" marB="18288">
                    <a:solidFill>
                      <a:srgbClr val="42346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Aptos"/>
                        </a:rPr>
                        <a:t>A</a:t>
                      </a:r>
                    </a:p>
                  </a:txBody>
                  <a:tcPr marL="54864" marR="54864" marT="18288" marB="18288">
                    <a:solidFill>
                      <a:srgbClr val="42346D"/>
                    </a:solidFill>
                  </a:tcPr>
                </a:tc>
              </a:tr>
              <a:tr h="444402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FFFFFF"/>
                          </a:solidFill>
                          <a:latin typeface="Aptos"/>
                        </a:rPr>
                        <a:t>W-09</a:t>
                      </a:r>
                    </a:p>
                  </a:txBody>
                  <a:tcPr marL="54864" marR="54864" marT="18288" marB="18288">
                    <a:solidFill>
                      <a:srgbClr val="30265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Aptos"/>
                        </a:rPr>
                        <a:t>Ember</a:t>
                      </a:r>
                    </a:p>
                  </a:txBody>
                  <a:tcPr marL="54864" marR="54864" marT="18288" marB="18288">
                    <a:solidFill>
                      <a:srgbClr val="30265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Aptos"/>
                        </a:rPr>
                        <a:t>Mesh</a:t>
                      </a:r>
                    </a:p>
                  </a:txBody>
                  <a:tcPr marL="54864" marR="54864" marT="18288" marB="18288">
                    <a:solidFill>
                      <a:srgbClr val="30265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Aptos"/>
                        </a:rPr>
                        <a:t>Dense</a:t>
                      </a:r>
                    </a:p>
                  </a:txBody>
                  <a:tcPr marL="54864" marR="54864" marT="18288" marB="18288">
                    <a:solidFill>
                      <a:srgbClr val="30265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Aptos"/>
                        </a:rPr>
                        <a:t>Watch</a:t>
                      </a:r>
                    </a:p>
                  </a:txBody>
                  <a:tcPr marL="54864" marR="54864" marT="18288" marB="18288">
                    <a:solidFill>
                      <a:srgbClr val="30265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Aptos"/>
                        </a:rPr>
                        <a:t>R</a:t>
                      </a:r>
                    </a:p>
                  </a:txBody>
                  <a:tcPr marL="54864" marR="54864" marT="18288" marB="18288">
                    <a:solidFill>
                      <a:srgbClr val="30265A"/>
                    </a:solidFill>
                  </a:tcPr>
                </a:tc>
              </a:tr>
            </a:tbl>
          </a:graphicData>
        </a:graphic>
      </p:graphicFrame>
      <p:sp>
        <p:nvSpPr>
          <p:cNvPr id="24" name="flow-0"/>
          <p:cNvSpPr/>
          <p:nvPr/>
        </p:nvSpPr>
        <p:spPr>
          <a:xfrm>
            <a:off x="457200" y="5742432"/>
            <a:ext cx="1600200" cy="384048"/>
          </a:xfrm>
          <a:prstGeom prst="roundRect">
            <a:avLst/>
          </a:prstGeom>
          <a:solidFill>
            <a:srgbClr val="30265A"/>
          </a:solidFill>
          <a:ln w="10160"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low-1"/>
          <p:cNvSpPr/>
          <p:nvPr/>
        </p:nvSpPr>
        <p:spPr>
          <a:xfrm>
            <a:off x="2350008" y="5742432"/>
            <a:ext cx="1600200" cy="384048"/>
          </a:xfrm>
          <a:prstGeom prst="roundRect">
            <a:avLst/>
          </a:prstGeom>
          <a:solidFill>
            <a:srgbClr val="30265A"/>
          </a:solidFill>
          <a:ln w="1016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low-2"/>
          <p:cNvSpPr/>
          <p:nvPr/>
        </p:nvSpPr>
        <p:spPr>
          <a:xfrm>
            <a:off x="4242816" y="5742432"/>
            <a:ext cx="1600200" cy="384048"/>
          </a:xfrm>
          <a:prstGeom prst="roundRect">
            <a:avLst/>
          </a:prstGeom>
          <a:solidFill>
            <a:srgbClr val="30265A"/>
          </a:solidFill>
          <a:ln w="10160"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low-3"/>
          <p:cNvSpPr/>
          <p:nvPr/>
        </p:nvSpPr>
        <p:spPr>
          <a:xfrm>
            <a:off x="6135624" y="5742432"/>
            <a:ext cx="1600200" cy="384048"/>
          </a:xfrm>
          <a:prstGeom prst="roundRect">
            <a:avLst/>
          </a:prstGeom>
          <a:solidFill>
            <a:srgbClr val="30265A"/>
          </a:solidFill>
          <a:ln w="1016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low-4"/>
          <p:cNvSpPr/>
          <p:nvPr/>
        </p:nvSpPr>
        <p:spPr>
          <a:xfrm>
            <a:off x="8028431" y="5742432"/>
            <a:ext cx="1600200" cy="384048"/>
          </a:xfrm>
          <a:prstGeom prst="roundRect">
            <a:avLst/>
          </a:prstGeom>
          <a:solidFill>
            <a:srgbClr val="30265A"/>
          </a:solidFill>
          <a:ln w="10160"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low-5"/>
          <p:cNvSpPr/>
          <p:nvPr/>
        </p:nvSpPr>
        <p:spPr>
          <a:xfrm>
            <a:off x="9921240" y="5742432"/>
            <a:ext cx="1600200" cy="384048"/>
          </a:xfrm>
          <a:prstGeom prst="roundRect">
            <a:avLst/>
          </a:prstGeom>
          <a:solidFill>
            <a:srgbClr val="30265A"/>
          </a:solidFill>
          <a:ln w="10160"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profile-tag"/>
          <p:cNvSpPr txBox="1"/>
          <p:nvPr/>
        </p:nvSpPr>
        <p:spPr>
          <a:xfrm>
            <a:off x="457200" y="201168"/>
            <a:ext cx="768096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1" lang="en-US">
                <a:solidFill>
                  <a:srgbClr val="67E8F9"/>
                </a:solidFill>
                <a:latin typeface="Aptos"/>
              </a:rPr>
              <a:t>V3 STRESS SUITE  ·  GLASSMORPHISM  ·  OPERATING MATRIX</a:t>
            </a:r>
          </a:p>
        </p:txBody>
      </p:sp>
      <p:sp>
        <p:nvSpPr>
          <p:cNvPr id="31" name="slide-index"/>
          <p:cNvSpPr txBox="1"/>
          <p:nvPr/>
        </p:nvSpPr>
        <p:spPr>
          <a:xfrm>
            <a:off x="10808208" y="201168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00" b="1" lang="en-US">
                <a:solidFill>
                  <a:srgbClr val="E0E0F0"/>
                </a:solidFill>
                <a:latin typeface="Aptos"/>
              </a:rPr>
              <a:t>03/60</a:t>
            </a:r>
          </a:p>
        </p:txBody>
      </p:sp>
      <p:sp>
        <p:nvSpPr>
          <p:cNvPr id="32" name="title"/>
          <p:cNvSpPr txBox="1"/>
          <p:nvPr/>
        </p:nvSpPr>
        <p:spPr>
          <a:xfrm>
            <a:off x="457200" y="484632"/>
            <a:ext cx="11274552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200" b="1" lang="en-US">
                <a:solidFill>
                  <a:srgbClr val="FFFFFF"/>
                </a:solidFill>
                <a:latin typeface="Aptos Display"/>
              </a:rPr>
              <a:t>Operating matrices make quality ownership visible at a glance</a:t>
            </a:r>
          </a:p>
        </p:txBody>
      </p:sp>
      <p:sp>
        <p:nvSpPr>
          <p:cNvPr id="33" name="footer"/>
          <p:cNvSpPr txBox="1"/>
          <p:nvPr/>
        </p:nvSpPr>
        <p:spPr>
          <a:xfrm>
            <a:off x="457200" y="6473952"/>
            <a:ext cx="1051560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0" lang="en-US">
                <a:solidFill>
                  <a:srgbClr val="E0E0F0"/>
                </a:solidFill>
                <a:latin typeface="Aptos"/>
              </a:rPr>
              <a:t>Native-object stress fixture · frosted glass cards, cyan-violet glow blobs, and layered depth · editable geometry and recorded style lock</a:t>
            </a:r>
          </a:p>
        </p:txBody>
      </p:sp>
      <p:sp>
        <p:nvSpPr>
          <p:cNvPr id="34" name="matrix-rail-title"/>
          <p:cNvSpPr txBox="1"/>
          <p:nvPr/>
        </p:nvSpPr>
        <p:spPr>
          <a:xfrm>
            <a:off x="9089136" y="1371600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1" lang="en-US">
                <a:solidFill>
                  <a:srgbClr val="67E8F9"/>
                </a:solidFill>
                <a:latin typeface="Aptos"/>
              </a:rPr>
              <a:t>QUALITY RADAR</a:t>
            </a:r>
          </a:p>
        </p:txBody>
      </p:sp>
      <p:sp>
        <p:nvSpPr>
          <p:cNvPr id="35" name="radar-label-0"/>
          <p:cNvSpPr txBox="1"/>
          <p:nvPr/>
        </p:nvSpPr>
        <p:spPr>
          <a:xfrm>
            <a:off x="9893808" y="1737360"/>
            <a:ext cx="768096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E0E0F0"/>
                </a:solidFill>
                <a:latin typeface="Aptos"/>
              </a:rPr>
              <a:t>Bounds</a:t>
            </a:r>
          </a:p>
        </p:txBody>
      </p:sp>
      <p:sp>
        <p:nvSpPr>
          <p:cNvPr id="36" name="radar-label-1"/>
          <p:cNvSpPr txBox="1"/>
          <p:nvPr/>
        </p:nvSpPr>
        <p:spPr>
          <a:xfrm>
            <a:off x="11120932" y="2446020"/>
            <a:ext cx="768096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E0E0F0"/>
                </a:solidFill>
                <a:latin typeface="Aptos"/>
              </a:rPr>
              <a:t>Fonts</a:t>
            </a:r>
          </a:p>
        </p:txBody>
      </p:sp>
      <p:sp>
        <p:nvSpPr>
          <p:cNvPr id="37" name="radar-label-2"/>
          <p:cNvSpPr txBox="1"/>
          <p:nvPr/>
        </p:nvSpPr>
        <p:spPr>
          <a:xfrm>
            <a:off x="11120932" y="3863339"/>
            <a:ext cx="768096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E0E0F0"/>
                </a:solidFill>
                <a:latin typeface="Aptos"/>
              </a:rPr>
              <a:t>Tables</a:t>
            </a:r>
          </a:p>
        </p:txBody>
      </p:sp>
      <p:sp>
        <p:nvSpPr>
          <p:cNvPr id="38" name="radar-label-3"/>
          <p:cNvSpPr txBox="1"/>
          <p:nvPr/>
        </p:nvSpPr>
        <p:spPr>
          <a:xfrm>
            <a:off x="9893808" y="4572000"/>
            <a:ext cx="768096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E0E0F0"/>
                </a:solidFill>
                <a:latin typeface="Aptos"/>
              </a:rPr>
              <a:t>Contrast</a:t>
            </a:r>
          </a:p>
        </p:txBody>
      </p:sp>
      <p:sp>
        <p:nvSpPr>
          <p:cNvPr id="39" name="radar-label-4"/>
          <p:cNvSpPr txBox="1"/>
          <p:nvPr/>
        </p:nvSpPr>
        <p:spPr>
          <a:xfrm>
            <a:off x="8666683" y="3863339"/>
            <a:ext cx="768096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E0E0F0"/>
                </a:solidFill>
                <a:latin typeface="Aptos"/>
              </a:rPr>
              <a:t>Order</a:t>
            </a:r>
          </a:p>
        </p:txBody>
      </p:sp>
      <p:sp>
        <p:nvSpPr>
          <p:cNvPr id="40" name="radar-label-5"/>
          <p:cNvSpPr txBox="1"/>
          <p:nvPr/>
        </p:nvSpPr>
        <p:spPr>
          <a:xfrm>
            <a:off x="8666683" y="2446020"/>
            <a:ext cx="768096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E0E0F0"/>
                </a:solidFill>
                <a:latin typeface="Aptos"/>
              </a:rPr>
              <a:t>Style</a:t>
            </a:r>
          </a:p>
        </p:txBody>
      </p:sp>
      <p:sp>
        <p:nvSpPr>
          <p:cNvPr id="41" name="radar-point-0"/>
          <p:cNvSpPr/>
          <p:nvPr/>
        </p:nvSpPr>
        <p:spPr>
          <a:xfrm>
            <a:off x="10204704" y="2258568"/>
            <a:ext cx="146304" cy="146304"/>
          </a:xfrm>
          <a:prstGeom prst="ellipse">
            <a:avLst/>
          </a:prstGeom>
          <a:solidFill>
            <a:srgbClr val="67E8F9"/>
          </a:solidFill>
          <a:ln w="10160"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adar-point-1"/>
          <p:cNvSpPr/>
          <p:nvPr/>
        </p:nvSpPr>
        <p:spPr>
          <a:xfrm>
            <a:off x="10806379" y="2825496"/>
            <a:ext cx="146304" cy="146304"/>
          </a:xfrm>
          <a:prstGeom prst="ellipse">
            <a:avLst/>
          </a:prstGeom>
          <a:solidFill>
            <a:srgbClr val="67E8F9"/>
          </a:solidFill>
          <a:ln w="10160"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adar-point-2"/>
          <p:cNvSpPr/>
          <p:nvPr/>
        </p:nvSpPr>
        <p:spPr>
          <a:xfrm>
            <a:off x="11139220" y="3712463"/>
            <a:ext cx="146304" cy="146304"/>
          </a:xfrm>
          <a:prstGeom prst="ellipse">
            <a:avLst/>
          </a:prstGeom>
          <a:solidFill>
            <a:srgbClr val="67E8F9"/>
          </a:solidFill>
          <a:ln w="10160"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adar-point-3"/>
          <p:cNvSpPr/>
          <p:nvPr/>
        </p:nvSpPr>
        <p:spPr>
          <a:xfrm>
            <a:off x="10204704" y="3995928"/>
            <a:ext cx="146304" cy="146304"/>
          </a:xfrm>
          <a:prstGeom prst="ellipse">
            <a:avLst/>
          </a:prstGeom>
          <a:solidFill>
            <a:srgbClr val="67E8F9"/>
          </a:solidFill>
          <a:ln w="10160"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adar-point-4"/>
          <p:cNvSpPr/>
          <p:nvPr/>
        </p:nvSpPr>
        <p:spPr>
          <a:xfrm>
            <a:off x="9317736" y="3685032"/>
            <a:ext cx="146304" cy="146304"/>
          </a:xfrm>
          <a:prstGeom prst="ellipse">
            <a:avLst/>
          </a:prstGeom>
          <a:solidFill>
            <a:srgbClr val="67E8F9"/>
          </a:solidFill>
          <a:ln w="10160"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adar-point-5"/>
          <p:cNvSpPr/>
          <p:nvPr/>
        </p:nvSpPr>
        <p:spPr>
          <a:xfrm>
            <a:off x="9650577" y="2852928"/>
            <a:ext cx="146304" cy="146304"/>
          </a:xfrm>
          <a:prstGeom prst="ellipse">
            <a:avLst/>
          </a:prstGeom>
          <a:solidFill>
            <a:srgbClr val="67E8F9"/>
          </a:solidFill>
          <a:ln w="10160"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matrix-note"/>
          <p:cNvSpPr txBox="1"/>
          <p:nvPr/>
        </p:nvSpPr>
        <p:spPr>
          <a:xfrm>
            <a:off x="9089136" y="4800600"/>
            <a:ext cx="2267712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00" b="0" lang="en-US">
                <a:solidFill>
                  <a:srgbClr val="E0E0F0"/>
                </a:solidFill>
                <a:latin typeface="Aptos"/>
              </a:rPr>
              <a:t>Editable table and quality geometry share one governed frame.</a:t>
            </a:r>
          </a:p>
        </p:txBody>
      </p:sp>
      <p:sp>
        <p:nvSpPr>
          <p:cNvPr id="48" name="flow-label-0"/>
          <p:cNvSpPr txBox="1"/>
          <p:nvPr/>
        </p:nvSpPr>
        <p:spPr>
          <a:xfrm>
            <a:off x="566928" y="5852160"/>
            <a:ext cx="137160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50" b="1" lang="en-US">
                <a:solidFill>
                  <a:srgbClr val="67E8F9"/>
                </a:solidFill>
                <a:latin typeface="Aptos"/>
              </a:rPr>
              <a:t>Lock</a:t>
            </a:r>
          </a:p>
        </p:txBody>
      </p:sp>
      <p:sp>
        <p:nvSpPr>
          <p:cNvPr id="49" name="flow-label-1"/>
          <p:cNvSpPr txBox="1"/>
          <p:nvPr/>
        </p:nvSpPr>
        <p:spPr>
          <a:xfrm>
            <a:off x="2459736" y="5852160"/>
            <a:ext cx="137160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50" b="1" lang="en-US">
                <a:solidFill>
                  <a:srgbClr val="A78BFA"/>
                </a:solidFill>
                <a:latin typeface="Aptos"/>
              </a:rPr>
              <a:t>Compose</a:t>
            </a:r>
          </a:p>
        </p:txBody>
      </p:sp>
      <p:sp>
        <p:nvSpPr>
          <p:cNvPr id="50" name="flow-label-2"/>
          <p:cNvSpPr txBox="1"/>
          <p:nvPr/>
        </p:nvSpPr>
        <p:spPr>
          <a:xfrm>
            <a:off x="4352544" y="5852160"/>
            <a:ext cx="137160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50" b="1" lang="en-US">
                <a:solidFill>
                  <a:srgbClr val="67E8F9"/>
                </a:solidFill>
                <a:latin typeface="Aptos"/>
              </a:rPr>
              <a:t>Validate</a:t>
            </a:r>
          </a:p>
        </p:txBody>
      </p:sp>
      <p:sp>
        <p:nvSpPr>
          <p:cNvPr id="51" name="flow-label-3"/>
          <p:cNvSpPr txBox="1"/>
          <p:nvPr/>
        </p:nvSpPr>
        <p:spPr>
          <a:xfrm>
            <a:off x="6245352" y="5852160"/>
            <a:ext cx="137160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50" b="1" lang="en-US">
                <a:solidFill>
                  <a:srgbClr val="FBBF24"/>
                </a:solidFill>
                <a:latin typeface="Aptos"/>
              </a:rPr>
              <a:t>Render</a:t>
            </a:r>
          </a:p>
        </p:txBody>
      </p:sp>
      <p:sp>
        <p:nvSpPr>
          <p:cNvPr id="52" name="flow-label-4"/>
          <p:cNvSpPr txBox="1"/>
          <p:nvPr/>
        </p:nvSpPr>
        <p:spPr>
          <a:xfrm>
            <a:off x="8138160" y="5852160"/>
            <a:ext cx="137160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50" b="1" lang="en-US">
                <a:solidFill>
                  <a:srgbClr val="67E8F9"/>
                </a:solidFill>
                <a:latin typeface="Aptos"/>
              </a:rPr>
              <a:t>Inspect</a:t>
            </a:r>
          </a:p>
        </p:txBody>
      </p:sp>
      <p:sp>
        <p:nvSpPr>
          <p:cNvPr id="53" name="flow-label-5"/>
          <p:cNvSpPr txBox="1"/>
          <p:nvPr/>
        </p:nvSpPr>
        <p:spPr>
          <a:xfrm>
            <a:off x="10030968" y="5852160"/>
            <a:ext cx="137160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50" b="1" lang="en-US">
                <a:solidFill>
                  <a:srgbClr val="67E8F9"/>
                </a:solidFill>
                <a:latin typeface="Aptos"/>
              </a:rPr>
              <a:t>Publish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2D"/>
          </a:solidFill>
          <a:ln w="10160">
            <a:solidFill>
              <a:srgbClr val="0F0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glow-0"/>
          <p:cNvSpPr/>
          <p:nvPr/>
        </p:nvSpPr>
        <p:spPr>
          <a:xfrm>
            <a:off x="8046720" y="320040"/>
            <a:ext cx="2926080" cy="2926080"/>
          </a:xfrm>
          <a:prstGeom prst="ellipse">
            <a:avLst/>
          </a:prstGeom>
          <a:solidFill>
            <a:srgbClr val="67E8F9"/>
          </a:solidFill>
          <a:ln w="10160"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glow-1"/>
          <p:cNvSpPr/>
          <p:nvPr/>
        </p:nvSpPr>
        <p:spPr>
          <a:xfrm>
            <a:off x="9509760" y="3383280"/>
            <a:ext cx="2011680" cy="2011680"/>
          </a:xfrm>
          <a:prstGeom prst="ellipse">
            <a:avLst/>
          </a:prstGeom>
          <a:solidFill>
            <a:srgbClr val="A78BFA"/>
          </a:solidFill>
          <a:ln w="1016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glow-2"/>
          <p:cNvSpPr/>
          <p:nvPr/>
        </p:nvSpPr>
        <p:spPr>
          <a:xfrm>
            <a:off x="7132320" y="4663440"/>
            <a:ext cx="1645920" cy="1645920"/>
          </a:xfrm>
          <a:prstGeom prst="ellipse">
            <a:avLst/>
          </a:prstGeom>
          <a:solidFill>
            <a:srgbClr val="67E8F9"/>
          </a:solidFill>
          <a:ln w="10160"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op-band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67E8F9"/>
          </a:solidFill>
          <a:ln w="10160"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ortfolio-0-shell"/>
          <p:cNvSpPr/>
          <p:nvPr/>
        </p:nvSpPr>
        <p:spPr>
          <a:xfrm>
            <a:off x="457200" y="1097280"/>
            <a:ext cx="2395728" cy="2057400"/>
          </a:xfrm>
          <a:prstGeom prst="roundRect">
            <a:avLst/>
          </a:prstGeom>
          <a:solidFill>
            <a:srgbClr val="30265A"/>
          </a:solidFill>
          <a:ln w="10160">
            <a:solidFill>
              <a:srgbClr val="8A7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ortfolio-1-shell"/>
          <p:cNvSpPr/>
          <p:nvPr/>
        </p:nvSpPr>
        <p:spPr>
          <a:xfrm>
            <a:off x="3054096" y="1097280"/>
            <a:ext cx="2395728" cy="2057400"/>
          </a:xfrm>
          <a:prstGeom prst="roundRect">
            <a:avLst/>
          </a:prstGeom>
          <a:solidFill>
            <a:srgbClr val="30265A"/>
          </a:solidFill>
          <a:ln w="10160">
            <a:solidFill>
              <a:srgbClr val="8A7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ortfolio-2-shell"/>
          <p:cNvSpPr/>
          <p:nvPr/>
        </p:nvSpPr>
        <p:spPr>
          <a:xfrm>
            <a:off x="5650992" y="1097280"/>
            <a:ext cx="2395728" cy="2057400"/>
          </a:xfrm>
          <a:prstGeom prst="roundRect">
            <a:avLst/>
          </a:prstGeom>
          <a:solidFill>
            <a:srgbClr val="30265A"/>
          </a:solidFill>
          <a:ln w="10160">
            <a:solidFill>
              <a:srgbClr val="8A7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ortfolio-3-shell"/>
          <p:cNvSpPr/>
          <p:nvPr/>
        </p:nvSpPr>
        <p:spPr>
          <a:xfrm>
            <a:off x="457200" y="3429000"/>
            <a:ext cx="2395728" cy="2057400"/>
          </a:xfrm>
          <a:prstGeom prst="roundRect">
            <a:avLst/>
          </a:prstGeom>
          <a:solidFill>
            <a:srgbClr val="30265A"/>
          </a:solidFill>
          <a:ln w="10160">
            <a:solidFill>
              <a:srgbClr val="8A7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portfolio-4-shell"/>
          <p:cNvSpPr/>
          <p:nvPr/>
        </p:nvSpPr>
        <p:spPr>
          <a:xfrm>
            <a:off x="3054096" y="3429000"/>
            <a:ext cx="2395728" cy="2057400"/>
          </a:xfrm>
          <a:prstGeom prst="roundRect">
            <a:avLst/>
          </a:prstGeom>
          <a:solidFill>
            <a:srgbClr val="30265A"/>
          </a:solidFill>
          <a:ln w="10160">
            <a:solidFill>
              <a:srgbClr val="8A7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portfolio-5-shell"/>
          <p:cNvSpPr/>
          <p:nvPr/>
        </p:nvSpPr>
        <p:spPr>
          <a:xfrm>
            <a:off x="5650992" y="3429000"/>
            <a:ext cx="2395728" cy="2057400"/>
          </a:xfrm>
          <a:prstGeom prst="roundRect">
            <a:avLst/>
          </a:prstGeom>
          <a:solidFill>
            <a:srgbClr val="30265A"/>
          </a:solidFill>
          <a:ln w="10160">
            <a:solidFill>
              <a:srgbClr val="8A7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ortfolio-rail-shell"/>
          <p:cNvSpPr/>
          <p:nvPr/>
        </p:nvSpPr>
        <p:spPr>
          <a:xfrm>
            <a:off x="8458200" y="1097280"/>
            <a:ext cx="3273552" cy="4892040"/>
          </a:xfrm>
          <a:prstGeom prst="roundRect">
            <a:avLst/>
          </a:prstGeom>
          <a:solidFill>
            <a:srgbClr val="42346D"/>
          </a:solidFill>
          <a:ln w="10160">
            <a:solidFill>
              <a:srgbClr val="8A7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ortfolio-0-accent"/>
          <p:cNvSpPr/>
          <p:nvPr/>
        </p:nvSpPr>
        <p:spPr>
          <a:xfrm>
            <a:off x="457200" y="1097280"/>
            <a:ext cx="73152" cy="2057400"/>
          </a:xfrm>
          <a:prstGeom prst="rect">
            <a:avLst/>
          </a:prstGeom>
          <a:solidFill>
            <a:srgbClr val="67E8F9"/>
          </a:solidFill>
          <a:ln w="10160"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portfolio-1-accent"/>
          <p:cNvSpPr/>
          <p:nvPr/>
        </p:nvSpPr>
        <p:spPr>
          <a:xfrm>
            <a:off x="3054096" y="1097280"/>
            <a:ext cx="73152" cy="2057400"/>
          </a:xfrm>
          <a:prstGeom prst="rect">
            <a:avLst/>
          </a:prstGeom>
          <a:solidFill>
            <a:srgbClr val="67E8F9"/>
          </a:solidFill>
          <a:ln w="10160"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portfolio-2-accent"/>
          <p:cNvSpPr/>
          <p:nvPr/>
        </p:nvSpPr>
        <p:spPr>
          <a:xfrm>
            <a:off x="5650992" y="1097280"/>
            <a:ext cx="73152" cy="2057400"/>
          </a:xfrm>
          <a:prstGeom prst="rect">
            <a:avLst/>
          </a:prstGeom>
          <a:solidFill>
            <a:srgbClr val="67E8F9"/>
          </a:solidFill>
          <a:ln w="10160"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portfolio-3-accent"/>
          <p:cNvSpPr/>
          <p:nvPr/>
        </p:nvSpPr>
        <p:spPr>
          <a:xfrm>
            <a:off x="457200" y="3429000"/>
            <a:ext cx="73152" cy="2057400"/>
          </a:xfrm>
          <a:prstGeom prst="rect">
            <a:avLst/>
          </a:prstGeom>
          <a:solidFill>
            <a:srgbClr val="67E8F9"/>
          </a:solidFill>
          <a:ln w="10160"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portfolio-4-accent"/>
          <p:cNvSpPr/>
          <p:nvPr/>
        </p:nvSpPr>
        <p:spPr>
          <a:xfrm>
            <a:off x="3054096" y="3429000"/>
            <a:ext cx="73152" cy="2057400"/>
          </a:xfrm>
          <a:prstGeom prst="rect">
            <a:avLst/>
          </a:prstGeom>
          <a:solidFill>
            <a:srgbClr val="67E8F9"/>
          </a:solidFill>
          <a:ln w="10160"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portfolio-5-accent"/>
          <p:cNvSpPr/>
          <p:nvPr/>
        </p:nvSpPr>
        <p:spPr>
          <a:xfrm>
            <a:off x="5650992" y="3429000"/>
            <a:ext cx="73152" cy="2057400"/>
          </a:xfrm>
          <a:prstGeom prst="rect">
            <a:avLst/>
          </a:prstGeom>
          <a:solidFill>
            <a:srgbClr val="67E8F9"/>
          </a:solidFill>
          <a:ln w="10160"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portfolio-rail-accent"/>
          <p:cNvSpPr/>
          <p:nvPr/>
        </p:nvSpPr>
        <p:spPr>
          <a:xfrm>
            <a:off x="8458200" y="1097280"/>
            <a:ext cx="73152" cy="4892040"/>
          </a:xfrm>
          <a:prstGeom prst="rect">
            <a:avLst/>
          </a:prstGeom>
          <a:solidFill>
            <a:srgbClr val="67E8F9"/>
          </a:solidFill>
          <a:ln w="10160"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portfolio-micro-0-0"/>
          <p:cNvSpPr/>
          <p:nvPr/>
        </p:nvSpPr>
        <p:spPr>
          <a:xfrm>
            <a:off x="676656" y="2139696"/>
            <a:ext cx="859536" cy="256032"/>
          </a:xfrm>
          <a:prstGeom prst="roundRect">
            <a:avLst/>
          </a:prstGeom>
          <a:solidFill>
            <a:srgbClr val="42346D"/>
          </a:solidFill>
          <a:ln w="10160"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portfolio-micro-0-1"/>
          <p:cNvSpPr/>
          <p:nvPr/>
        </p:nvSpPr>
        <p:spPr>
          <a:xfrm>
            <a:off x="1664208" y="2139696"/>
            <a:ext cx="859536" cy="256032"/>
          </a:xfrm>
          <a:prstGeom prst="roundRect">
            <a:avLst/>
          </a:prstGeom>
          <a:solidFill>
            <a:srgbClr val="42346D"/>
          </a:solidFill>
          <a:ln w="10160"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portfolio-micro-0-2"/>
          <p:cNvSpPr/>
          <p:nvPr/>
        </p:nvSpPr>
        <p:spPr>
          <a:xfrm>
            <a:off x="676656" y="2523744"/>
            <a:ext cx="859536" cy="256032"/>
          </a:xfrm>
          <a:prstGeom prst="roundRect">
            <a:avLst/>
          </a:prstGeom>
          <a:solidFill>
            <a:srgbClr val="42346D"/>
          </a:solidFill>
          <a:ln w="10160"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portfolio-micro-0-3"/>
          <p:cNvSpPr/>
          <p:nvPr/>
        </p:nvSpPr>
        <p:spPr>
          <a:xfrm>
            <a:off x="1664208" y="2523744"/>
            <a:ext cx="859536" cy="256032"/>
          </a:xfrm>
          <a:prstGeom prst="roundRect">
            <a:avLst/>
          </a:prstGeom>
          <a:solidFill>
            <a:srgbClr val="42346D"/>
          </a:solidFill>
          <a:ln w="10160"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portfolio-micro-1-0"/>
          <p:cNvSpPr/>
          <p:nvPr/>
        </p:nvSpPr>
        <p:spPr>
          <a:xfrm>
            <a:off x="3273552" y="2139696"/>
            <a:ext cx="859536" cy="256032"/>
          </a:xfrm>
          <a:prstGeom prst="roundRect">
            <a:avLst/>
          </a:prstGeom>
          <a:solidFill>
            <a:srgbClr val="42346D"/>
          </a:solidFill>
          <a:ln w="1016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portfolio-micro-1-1"/>
          <p:cNvSpPr/>
          <p:nvPr/>
        </p:nvSpPr>
        <p:spPr>
          <a:xfrm>
            <a:off x="4261104" y="2139696"/>
            <a:ext cx="859536" cy="256032"/>
          </a:xfrm>
          <a:prstGeom prst="roundRect">
            <a:avLst/>
          </a:prstGeom>
          <a:solidFill>
            <a:srgbClr val="42346D"/>
          </a:solidFill>
          <a:ln w="1016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portfolio-micro-1-2"/>
          <p:cNvSpPr/>
          <p:nvPr/>
        </p:nvSpPr>
        <p:spPr>
          <a:xfrm>
            <a:off x="3273552" y="2523744"/>
            <a:ext cx="859536" cy="256032"/>
          </a:xfrm>
          <a:prstGeom prst="roundRect">
            <a:avLst/>
          </a:prstGeom>
          <a:solidFill>
            <a:srgbClr val="42346D"/>
          </a:solidFill>
          <a:ln w="1016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portfolio-micro-1-3"/>
          <p:cNvSpPr/>
          <p:nvPr/>
        </p:nvSpPr>
        <p:spPr>
          <a:xfrm>
            <a:off x="4261104" y="2523744"/>
            <a:ext cx="859536" cy="256032"/>
          </a:xfrm>
          <a:prstGeom prst="roundRect">
            <a:avLst/>
          </a:prstGeom>
          <a:solidFill>
            <a:srgbClr val="42346D"/>
          </a:solidFill>
          <a:ln w="1016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portfolio-micro-2-0"/>
          <p:cNvSpPr/>
          <p:nvPr/>
        </p:nvSpPr>
        <p:spPr>
          <a:xfrm>
            <a:off x="5870448" y="2139696"/>
            <a:ext cx="859536" cy="256032"/>
          </a:xfrm>
          <a:prstGeom prst="roundRect">
            <a:avLst/>
          </a:prstGeom>
          <a:solidFill>
            <a:srgbClr val="42346D"/>
          </a:solidFill>
          <a:ln w="10160"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portfolio-micro-2-1"/>
          <p:cNvSpPr/>
          <p:nvPr/>
        </p:nvSpPr>
        <p:spPr>
          <a:xfrm>
            <a:off x="6858000" y="2139696"/>
            <a:ext cx="859536" cy="256032"/>
          </a:xfrm>
          <a:prstGeom prst="roundRect">
            <a:avLst/>
          </a:prstGeom>
          <a:solidFill>
            <a:srgbClr val="42346D"/>
          </a:solidFill>
          <a:ln w="10160"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portfolio-micro-2-2"/>
          <p:cNvSpPr/>
          <p:nvPr/>
        </p:nvSpPr>
        <p:spPr>
          <a:xfrm>
            <a:off x="5870448" y="2523744"/>
            <a:ext cx="859536" cy="256032"/>
          </a:xfrm>
          <a:prstGeom prst="roundRect">
            <a:avLst/>
          </a:prstGeom>
          <a:solidFill>
            <a:srgbClr val="42346D"/>
          </a:solidFill>
          <a:ln w="10160"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portfolio-micro-2-3"/>
          <p:cNvSpPr/>
          <p:nvPr/>
        </p:nvSpPr>
        <p:spPr>
          <a:xfrm>
            <a:off x="6858000" y="2523744"/>
            <a:ext cx="859536" cy="256032"/>
          </a:xfrm>
          <a:prstGeom prst="roundRect">
            <a:avLst/>
          </a:prstGeom>
          <a:solidFill>
            <a:srgbClr val="42346D"/>
          </a:solidFill>
          <a:ln w="10160"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portfolio-micro-3-0"/>
          <p:cNvSpPr/>
          <p:nvPr/>
        </p:nvSpPr>
        <p:spPr>
          <a:xfrm>
            <a:off x="676656" y="4471416"/>
            <a:ext cx="859536" cy="256032"/>
          </a:xfrm>
          <a:prstGeom prst="roundRect">
            <a:avLst/>
          </a:prstGeom>
          <a:solidFill>
            <a:srgbClr val="42346D"/>
          </a:solidFill>
          <a:ln w="10160"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portfolio-micro-3-1"/>
          <p:cNvSpPr/>
          <p:nvPr/>
        </p:nvSpPr>
        <p:spPr>
          <a:xfrm>
            <a:off x="1664208" y="4471416"/>
            <a:ext cx="859536" cy="256032"/>
          </a:xfrm>
          <a:prstGeom prst="roundRect">
            <a:avLst/>
          </a:prstGeom>
          <a:solidFill>
            <a:srgbClr val="42346D"/>
          </a:solidFill>
          <a:ln w="10160"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portfolio-micro-3-2"/>
          <p:cNvSpPr/>
          <p:nvPr/>
        </p:nvSpPr>
        <p:spPr>
          <a:xfrm>
            <a:off x="676656" y="4855464"/>
            <a:ext cx="859536" cy="256032"/>
          </a:xfrm>
          <a:prstGeom prst="roundRect">
            <a:avLst/>
          </a:prstGeom>
          <a:solidFill>
            <a:srgbClr val="42346D"/>
          </a:solidFill>
          <a:ln w="10160"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portfolio-micro-3-3"/>
          <p:cNvSpPr/>
          <p:nvPr/>
        </p:nvSpPr>
        <p:spPr>
          <a:xfrm>
            <a:off x="1664208" y="4855464"/>
            <a:ext cx="859536" cy="256032"/>
          </a:xfrm>
          <a:prstGeom prst="roundRect">
            <a:avLst/>
          </a:prstGeom>
          <a:solidFill>
            <a:srgbClr val="42346D"/>
          </a:solidFill>
          <a:ln w="10160"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portfolio-micro-4-0"/>
          <p:cNvSpPr/>
          <p:nvPr/>
        </p:nvSpPr>
        <p:spPr>
          <a:xfrm>
            <a:off x="3273552" y="4471416"/>
            <a:ext cx="859536" cy="256032"/>
          </a:xfrm>
          <a:prstGeom prst="roundRect">
            <a:avLst/>
          </a:prstGeom>
          <a:solidFill>
            <a:srgbClr val="42346D"/>
          </a:solidFill>
          <a:ln w="1016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portfolio-micro-4-1"/>
          <p:cNvSpPr/>
          <p:nvPr/>
        </p:nvSpPr>
        <p:spPr>
          <a:xfrm>
            <a:off x="4261104" y="4471416"/>
            <a:ext cx="859536" cy="256032"/>
          </a:xfrm>
          <a:prstGeom prst="roundRect">
            <a:avLst/>
          </a:prstGeom>
          <a:solidFill>
            <a:srgbClr val="42346D"/>
          </a:solidFill>
          <a:ln w="1016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portfolio-micro-4-2"/>
          <p:cNvSpPr/>
          <p:nvPr/>
        </p:nvSpPr>
        <p:spPr>
          <a:xfrm>
            <a:off x="3273552" y="4855464"/>
            <a:ext cx="859536" cy="256032"/>
          </a:xfrm>
          <a:prstGeom prst="roundRect">
            <a:avLst/>
          </a:prstGeom>
          <a:solidFill>
            <a:srgbClr val="42346D"/>
          </a:solidFill>
          <a:ln w="1016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portfolio-micro-4-3"/>
          <p:cNvSpPr/>
          <p:nvPr/>
        </p:nvSpPr>
        <p:spPr>
          <a:xfrm>
            <a:off x="4261104" y="4855464"/>
            <a:ext cx="859536" cy="256032"/>
          </a:xfrm>
          <a:prstGeom prst="roundRect">
            <a:avLst/>
          </a:prstGeom>
          <a:solidFill>
            <a:srgbClr val="42346D"/>
          </a:solidFill>
          <a:ln w="1016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portfolio-micro-5-0"/>
          <p:cNvSpPr/>
          <p:nvPr/>
        </p:nvSpPr>
        <p:spPr>
          <a:xfrm>
            <a:off x="5870448" y="4471416"/>
            <a:ext cx="859536" cy="256032"/>
          </a:xfrm>
          <a:prstGeom prst="roundRect">
            <a:avLst/>
          </a:prstGeom>
          <a:solidFill>
            <a:srgbClr val="42346D"/>
          </a:solidFill>
          <a:ln w="1016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portfolio-micro-5-1"/>
          <p:cNvSpPr/>
          <p:nvPr/>
        </p:nvSpPr>
        <p:spPr>
          <a:xfrm>
            <a:off x="6858000" y="4471416"/>
            <a:ext cx="859536" cy="256032"/>
          </a:xfrm>
          <a:prstGeom prst="roundRect">
            <a:avLst/>
          </a:prstGeom>
          <a:solidFill>
            <a:srgbClr val="42346D"/>
          </a:solidFill>
          <a:ln w="1016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portfolio-micro-5-2"/>
          <p:cNvSpPr/>
          <p:nvPr/>
        </p:nvSpPr>
        <p:spPr>
          <a:xfrm>
            <a:off x="5870448" y="4855464"/>
            <a:ext cx="859536" cy="256032"/>
          </a:xfrm>
          <a:prstGeom prst="roundRect">
            <a:avLst/>
          </a:prstGeom>
          <a:solidFill>
            <a:srgbClr val="42346D"/>
          </a:solidFill>
          <a:ln w="1016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portfolio-micro-5-3"/>
          <p:cNvSpPr/>
          <p:nvPr/>
        </p:nvSpPr>
        <p:spPr>
          <a:xfrm>
            <a:off x="6858000" y="4855464"/>
            <a:ext cx="859536" cy="256032"/>
          </a:xfrm>
          <a:prstGeom prst="roundRect">
            <a:avLst/>
          </a:prstGeom>
          <a:solidFill>
            <a:srgbClr val="42346D"/>
          </a:solidFill>
          <a:ln w="1016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lease-cell-0"/>
          <p:cNvSpPr/>
          <p:nvPr/>
        </p:nvSpPr>
        <p:spPr>
          <a:xfrm>
            <a:off x="8723376" y="1737360"/>
            <a:ext cx="2697480" cy="512064"/>
          </a:xfrm>
          <a:prstGeom prst="roundRect">
            <a:avLst/>
          </a:prstGeom>
          <a:solidFill>
            <a:srgbClr val="30265A"/>
          </a:solidFill>
          <a:ln w="10160">
            <a:solidFill>
              <a:srgbClr val="8A7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lease-cell-1"/>
          <p:cNvSpPr/>
          <p:nvPr/>
        </p:nvSpPr>
        <p:spPr>
          <a:xfrm>
            <a:off x="8723376" y="2432304"/>
            <a:ext cx="2697480" cy="512064"/>
          </a:xfrm>
          <a:prstGeom prst="roundRect">
            <a:avLst/>
          </a:prstGeom>
          <a:solidFill>
            <a:srgbClr val="30265A"/>
          </a:solidFill>
          <a:ln w="10160">
            <a:solidFill>
              <a:srgbClr val="8A7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lease-cell-2"/>
          <p:cNvSpPr/>
          <p:nvPr/>
        </p:nvSpPr>
        <p:spPr>
          <a:xfrm>
            <a:off x="8723376" y="3127248"/>
            <a:ext cx="2697480" cy="512064"/>
          </a:xfrm>
          <a:prstGeom prst="roundRect">
            <a:avLst/>
          </a:prstGeom>
          <a:solidFill>
            <a:srgbClr val="30265A"/>
          </a:solidFill>
          <a:ln w="10160">
            <a:solidFill>
              <a:srgbClr val="8A7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lease-cell-3"/>
          <p:cNvSpPr/>
          <p:nvPr/>
        </p:nvSpPr>
        <p:spPr>
          <a:xfrm>
            <a:off x="8723376" y="3822191"/>
            <a:ext cx="2697480" cy="512064"/>
          </a:xfrm>
          <a:prstGeom prst="roundRect">
            <a:avLst/>
          </a:prstGeom>
          <a:solidFill>
            <a:srgbClr val="30265A"/>
          </a:solidFill>
          <a:ln w="10160">
            <a:solidFill>
              <a:srgbClr val="8A7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lease-cell-4"/>
          <p:cNvSpPr/>
          <p:nvPr/>
        </p:nvSpPr>
        <p:spPr>
          <a:xfrm>
            <a:off x="8723376" y="4517136"/>
            <a:ext cx="2697480" cy="512064"/>
          </a:xfrm>
          <a:prstGeom prst="roundRect">
            <a:avLst/>
          </a:prstGeom>
          <a:solidFill>
            <a:srgbClr val="30265A"/>
          </a:solidFill>
          <a:ln w="10160">
            <a:solidFill>
              <a:srgbClr val="8A7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portfolio-banner"/>
          <p:cNvSpPr/>
          <p:nvPr/>
        </p:nvSpPr>
        <p:spPr>
          <a:xfrm>
            <a:off x="457200" y="5559552"/>
            <a:ext cx="7882127" cy="438912"/>
          </a:xfrm>
          <a:prstGeom prst="roundRect">
            <a:avLst/>
          </a:prstGeom>
          <a:solidFill>
            <a:srgbClr val="67E8F9"/>
          </a:solidFill>
          <a:ln w="10160"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profile-tag"/>
          <p:cNvSpPr txBox="1"/>
          <p:nvPr/>
        </p:nvSpPr>
        <p:spPr>
          <a:xfrm>
            <a:off x="457200" y="201168"/>
            <a:ext cx="768096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1" lang="en-US">
                <a:solidFill>
                  <a:srgbClr val="67E8F9"/>
                </a:solidFill>
                <a:latin typeface="Aptos"/>
              </a:rPr>
              <a:t>V3 STRESS SUITE  ·  GLASSMORPHISM  ·  PORTFOLIO GRID</a:t>
            </a:r>
          </a:p>
        </p:txBody>
      </p:sp>
      <p:sp>
        <p:nvSpPr>
          <p:cNvPr id="52" name="slide-index"/>
          <p:cNvSpPr txBox="1"/>
          <p:nvPr/>
        </p:nvSpPr>
        <p:spPr>
          <a:xfrm>
            <a:off x="10808208" y="201168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00" b="1" lang="en-US">
                <a:solidFill>
                  <a:srgbClr val="E0E0F0"/>
                </a:solidFill>
                <a:latin typeface="Aptos"/>
              </a:rPr>
              <a:t>04/60</a:t>
            </a:r>
          </a:p>
        </p:txBody>
      </p:sp>
      <p:sp>
        <p:nvSpPr>
          <p:cNvPr id="53" name="title"/>
          <p:cNvSpPr txBox="1"/>
          <p:nvPr/>
        </p:nvSpPr>
        <p:spPr>
          <a:xfrm>
            <a:off x="457200" y="484632"/>
            <a:ext cx="11274552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200" b="1" lang="en-US">
                <a:solidFill>
                  <a:srgbClr val="FFFFFF"/>
                </a:solidFill>
                <a:latin typeface="Aptos Display"/>
              </a:rPr>
              <a:t>Portfolio grids compress six validated capability views into one scan</a:t>
            </a:r>
          </a:p>
        </p:txBody>
      </p:sp>
      <p:sp>
        <p:nvSpPr>
          <p:cNvPr id="54" name="footer"/>
          <p:cNvSpPr txBox="1"/>
          <p:nvPr/>
        </p:nvSpPr>
        <p:spPr>
          <a:xfrm>
            <a:off x="457200" y="6473952"/>
            <a:ext cx="1051560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0" lang="en-US">
                <a:solidFill>
                  <a:srgbClr val="E0E0F0"/>
                </a:solidFill>
                <a:latin typeface="Aptos"/>
              </a:rPr>
              <a:t>Native-object stress fixture · frosted glass cards, cyan-violet glow blobs, and layered depth · editable geometry and recorded style lock</a:t>
            </a:r>
          </a:p>
        </p:txBody>
      </p:sp>
      <p:sp>
        <p:nvSpPr>
          <p:cNvPr id="55" name="portfolio-num-0"/>
          <p:cNvSpPr txBox="1"/>
          <p:nvPr/>
        </p:nvSpPr>
        <p:spPr>
          <a:xfrm>
            <a:off x="676656" y="1298448"/>
            <a:ext cx="566928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1" lang="en-US">
                <a:solidFill>
                  <a:srgbClr val="67E8F9"/>
                </a:solidFill>
                <a:latin typeface="Aptos Display"/>
              </a:rPr>
              <a:t>01</a:t>
            </a:r>
          </a:p>
        </p:txBody>
      </p:sp>
      <p:sp>
        <p:nvSpPr>
          <p:cNvPr id="56" name="portfolio-name-0"/>
          <p:cNvSpPr txBox="1"/>
          <p:nvPr/>
        </p:nvSpPr>
        <p:spPr>
          <a:xfrm>
            <a:off x="676656" y="1719072"/>
            <a:ext cx="192024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50" b="1" lang="en-US">
                <a:solidFill>
                  <a:srgbClr val="FFFFFF"/>
                </a:solidFill>
                <a:latin typeface="Aptos"/>
              </a:rPr>
              <a:t>Profile lock</a:t>
            </a:r>
          </a:p>
        </p:txBody>
      </p:sp>
      <p:sp>
        <p:nvSpPr>
          <p:cNvPr id="57" name="portfolio-micro-label-0-0"/>
          <p:cNvSpPr txBox="1"/>
          <p:nvPr/>
        </p:nvSpPr>
        <p:spPr>
          <a:xfrm>
            <a:off x="722376" y="2208276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67E8F9"/>
                </a:solidFill>
                <a:latin typeface="Aptos"/>
              </a:rPr>
              <a:t>spec</a:t>
            </a:r>
          </a:p>
        </p:txBody>
      </p:sp>
      <p:sp>
        <p:nvSpPr>
          <p:cNvPr id="58" name="portfolio-micro-label-0-1"/>
          <p:cNvSpPr txBox="1"/>
          <p:nvPr/>
        </p:nvSpPr>
        <p:spPr>
          <a:xfrm>
            <a:off x="1709928" y="2208276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67E8F9"/>
                </a:solidFill>
                <a:latin typeface="Aptos"/>
              </a:rPr>
              <a:t>audit</a:t>
            </a:r>
          </a:p>
        </p:txBody>
      </p:sp>
      <p:sp>
        <p:nvSpPr>
          <p:cNvPr id="59" name="portfolio-micro-label-0-2"/>
          <p:cNvSpPr txBox="1"/>
          <p:nvPr/>
        </p:nvSpPr>
        <p:spPr>
          <a:xfrm>
            <a:off x="722376" y="2592324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67E8F9"/>
                </a:solidFill>
                <a:latin typeface="Aptos"/>
              </a:rPr>
              <a:t>trace</a:t>
            </a:r>
          </a:p>
        </p:txBody>
      </p:sp>
      <p:sp>
        <p:nvSpPr>
          <p:cNvPr id="60" name="portfolio-micro-label-0-3"/>
          <p:cNvSpPr txBox="1"/>
          <p:nvPr/>
        </p:nvSpPr>
        <p:spPr>
          <a:xfrm>
            <a:off x="1709928" y="2592324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67E8F9"/>
                </a:solidFill>
                <a:latin typeface="Aptos"/>
              </a:rPr>
              <a:t>pass</a:t>
            </a:r>
          </a:p>
        </p:txBody>
      </p:sp>
      <p:sp>
        <p:nvSpPr>
          <p:cNvPr id="61" name="portfolio-num-1"/>
          <p:cNvSpPr txBox="1"/>
          <p:nvPr/>
        </p:nvSpPr>
        <p:spPr>
          <a:xfrm>
            <a:off x="3273552" y="1298448"/>
            <a:ext cx="566928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1" lang="en-US">
                <a:solidFill>
                  <a:srgbClr val="A78BFA"/>
                </a:solidFill>
                <a:latin typeface="Aptos Display"/>
              </a:rPr>
              <a:t>02</a:t>
            </a:r>
          </a:p>
        </p:txBody>
      </p:sp>
      <p:sp>
        <p:nvSpPr>
          <p:cNvPr id="62" name="portfolio-name-1"/>
          <p:cNvSpPr txBox="1"/>
          <p:nvPr/>
        </p:nvSpPr>
        <p:spPr>
          <a:xfrm>
            <a:off x="3273552" y="1719072"/>
            <a:ext cx="192024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50" b="1" lang="en-US">
                <a:solidFill>
                  <a:srgbClr val="FFFFFF"/>
                </a:solidFill>
                <a:latin typeface="Aptos"/>
              </a:rPr>
              <a:t>Narrative</a:t>
            </a:r>
          </a:p>
        </p:txBody>
      </p:sp>
      <p:sp>
        <p:nvSpPr>
          <p:cNvPr id="63" name="portfolio-micro-label-1-0"/>
          <p:cNvSpPr txBox="1"/>
          <p:nvPr/>
        </p:nvSpPr>
        <p:spPr>
          <a:xfrm>
            <a:off x="3319272" y="2208276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A78BFA"/>
                </a:solidFill>
                <a:latin typeface="Aptos"/>
              </a:rPr>
              <a:t>spec</a:t>
            </a:r>
          </a:p>
        </p:txBody>
      </p:sp>
      <p:sp>
        <p:nvSpPr>
          <p:cNvPr id="64" name="portfolio-micro-label-1-1"/>
          <p:cNvSpPr txBox="1"/>
          <p:nvPr/>
        </p:nvSpPr>
        <p:spPr>
          <a:xfrm>
            <a:off x="4306824" y="2208276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A78BFA"/>
                </a:solidFill>
                <a:latin typeface="Aptos"/>
              </a:rPr>
              <a:t>audit</a:t>
            </a:r>
          </a:p>
        </p:txBody>
      </p:sp>
      <p:sp>
        <p:nvSpPr>
          <p:cNvPr id="65" name="portfolio-micro-label-1-2"/>
          <p:cNvSpPr txBox="1"/>
          <p:nvPr/>
        </p:nvSpPr>
        <p:spPr>
          <a:xfrm>
            <a:off x="3319272" y="2592324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A78BFA"/>
                </a:solidFill>
                <a:latin typeface="Aptos"/>
              </a:rPr>
              <a:t>trace</a:t>
            </a:r>
          </a:p>
        </p:txBody>
      </p:sp>
      <p:sp>
        <p:nvSpPr>
          <p:cNvPr id="66" name="portfolio-micro-label-1-3"/>
          <p:cNvSpPr txBox="1"/>
          <p:nvPr/>
        </p:nvSpPr>
        <p:spPr>
          <a:xfrm>
            <a:off x="4306824" y="2592324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A78BFA"/>
                </a:solidFill>
                <a:latin typeface="Aptos"/>
              </a:rPr>
              <a:t>pass</a:t>
            </a:r>
          </a:p>
        </p:txBody>
      </p:sp>
      <p:sp>
        <p:nvSpPr>
          <p:cNvPr id="67" name="portfolio-num-2"/>
          <p:cNvSpPr txBox="1"/>
          <p:nvPr/>
        </p:nvSpPr>
        <p:spPr>
          <a:xfrm>
            <a:off x="5870448" y="1298448"/>
            <a:ext cx="566928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1" lang="en-US">
                <a:solidFill>
                  <a:srgbClr val="67E8F9"/>
                </a:solidFill>
                <a:latin typeface="Aptos Display"/>
              </a:rPr>
              <a:t>03</a:t>
            </a:r>
          </a:p>
        </p:txBody>
      </p:sp>
      <p:sp>
        <p:nvSpPr>
          <p:cNvPr id="68" name="portfolio-name-2"/>
          <p:cNvSpPr txBox="1"/>
          <p:nvPr/>
        </p:nvSpPr>
        <p:spPr>
          <a:xfrm>
            <a:off x="5870448" y="1719072"/>
            <a:ext cx="192024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50" b="1" lang="en-US">
                <a:solidFill>
                  <a:srgbClr val="FFFFFF"/>
                </a:solidFill>
                <a:latin typeface="Aptos"/>
              </a:rPr>
              <a:t>Geometry</a:t>
            </a:r>
          </a:p>
        </p:txBody>
      </p:sp>
      <p:sp>
        <p:nvSpPr>
          <p:cNvPr id="69" name="portfolio-micro-label-2-0"/>
          <p:cNvSpPr txBox="1"/>
          <p:nvPr/>
        </p:nvSpPr>
        <p:spPr>
          <a:xfrm>
            <a:off x="5916168" y="2208276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67E8F9"/>
                </a:solidFill>
                <a:latin typeface="Aptos"/>
              </a:rPr>
              <a:t>spec</a:t>
            </a:r>
          </a:p>
        </p:txBody>
      </p:sp>
      <p:sp>
        <p:nvSpPr>
          <p:cNvPr id="70" name="portfolio-micro-label-2-1"/>
          <p:cNvSpPr txBox="1"/>
          <p:nvPr/>
        </p:nvSpPr>
        <p:spPr>
          <a:xfrm>
            <a:off x="6903720" y="2208276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67E8F9"/>
                </a:solidFill>
                <a:latin typeface="Aptos"/>
              </a:rPr>
              <a:t>audit</a:t>
            </a:r>
          </a:p>
        </p:txBody>
      </p:sp>
      <p:sp>
        <p:nvSpPr>
          <p:cNvPr id="71" name="portfolio-micro-label-2-2"/>
          <p:cNvSpPr txBox="1"/>
          <p:nvPr/>
        </p:nvSpPr>
        <p:spPr>
          <a:xfrm>
            <a:off x="5916168" y="2592324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67E8F9"/>
                </a:solidFill>
                <a:latin typeface="Aptos"/>
              </a:rPr>
              <a:t>trace</a:t>
            </a:r>
          </a:p>
        </p:txBody>
      </p:sp>
      <p:sp>
        <p:nvSpPr>
          <p:cNvPr id="72" name="portfolio-micro-label-2-3"/>
          <p:cNvSpPr txBox="1"/>
          <p:nvPr/>
        </p:nvSpPr>
        <p:spPr>
          <a:xfrm>
            <a:off x="6903720" y="2592324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67E8F9"/>
                </a:solidFill>
                <a:latin typeface="Aptos"/>
              </a:rPr>
              <a:t>pass</a:t>
            </a:r>
          </a:p>
        </p:txBody>
      </p:sp>
      <p:sp>
        <p:nvSpPr>
          <p:cNvPr id="73" name="portfolio-num-3"/>
          <p:cNvSpPr txBox="1"/>
          <p:nvPr/>
        </p:nvSpPr>
        <p:spPr>
          <a:xfrm>
            <a:off x="676656" y="3630168"/>
            <a:ext cx="566928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1" lang="en-US">
                <a:solidFill>
                  <a:srgbClr val="67E8F9"/>
                </a:solidFill>
                <a:latin typeface="Aptos Display"/>
              </a:rPr>
              <a:t>04</a:t>
            </a:r>
          </a:p>
        </p:txBody>
      </p:sp>
      <p:sp>
        <p:nvSpPr>
          <p:cNvPr id="74" name="portfolio-name-3"/>
          <p:cNvSpPr txBox="1"/>
          <p:nvPr/>
        </p:nvSpPr>
        <p:spPr>
          <a:xfrm>
            <a:off x="676656" y="4050791"/>
            <a:ext cx="192024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50" b="1" lang="en-US">
                <a:solidFill>
                  <a:srgbClr val="FFFFFF"/>
                </a:solidFill>
                <a:latin typeface="Aptos"/>
              </a:rPr>
              <a:t>Visuals</a:t>
            </a:r>
          </a:p>
        </p:txBody>
      </p:sp>
      <p:sp>
        <p:nvSpPr>
          <p:cNvPr id="75" name="portfolio-micro-label-3-0"/>
          <p:cNvSpPr txBox="1"/>
          <p:nvPr/>
        </p:nvSpPr>
        <p:spPr>
          <a:xfrm>
            <a:off x="722376" y="4539996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67E8F9"/>
                </a:solidFill>
                <a:latin typeface="Aptos"/>
              </a:rPr>
              <a:t>spec</a:t>
            </a:r>
          </a:p>
        </p:txBody>
      </p:sp>
      <p:sp>
        <p:nvSpPr>
          <p:cNvPr id="76" name="portfolio-micro-label-3-1"/>
          <p:cNvSpPr txBox="1"/>
          <p:nvPr/>
        </p:nvSpPr>
        <p:spPr>
          <a:xfrm>
            <a:off x="1709928" y="4539996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67E8F9"/>
                </a:solidFill>
                <a:latin typeface="Aptos"/>
              </a:rPr>
              <a:t>audit</a:t>
            </a:r>
          </a:p>
        </p:txBody>
      </p:sp>
      <p:sp>
        <p:nvSpPr>
          <p:cNvPr id="77" name="portfolio-micro-label-3-2"/>
          <p:cNvSpPr txBox="1"/>
          <p:nvPr/>
        </p:nvSpPr>
        <p:spPr>
          <a:xfrm>
            <a:off x="722376" y="4924044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67E8F9"/>
                </a:solidFill>
                <a:latin typeface="Aptos"/>
              </a:rPr>
              <a:t>trace</a:t>
            </a:r>
          </a:p>
        </p:txBody>
      </p:sp>
      <p:sp>
        <p:nvSpPr>
          <p:cNvPr id="78" name="portfolio-micro-label-3-3"/>
          <p:cNvSpPr txBox="1"/>
          <p:nvPr/>
        </p:nvSpPr>
        <p:spPr>
          <a:xfrm>
            <a:off x="1709928" y="4924044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67E8F9"/>
                </a:solidFill>
                <a:latin typeface="Aptos"/>
              </a:rPr>
              <a:t>pass</a:t>
            </a:r>
          </a:p>
        </p:txBody>
      </p:sp>
      <p:sp>
        <p:nvSpPr>
          <p:cNvPr id="79" name="portfolio-num-4"/>
          <p:cNvSpPr txBox="1"/>
          <p:nvPr/>
        </p:nvSpPr>
        <p:spPr>
          <a:xfrm>
            <a:off x="3273552" y="3630168"/>
            <a:ext cx="566928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1" lang="en-US">
                <a:solidFill>
                  <a:srgbClr val="FBBF24"/>
                </a:solidFill>
                <a:latin typeface="Aptos Display"/>
              </a:rPr>
              <a:t>05</a:t>
            </a:r>
          </a:p>
        </p:txBody>
      </p:sp>
      <p:sp>
        <p:nvSpPr>
          <p:cNvPr id="80" name="portfolio-name-4"/>
          <p:cNvSpPr txBox="1"/>
          <p:nvPr/>
        </p:nvSpPr>
        <p:spPr>
          <a:xfrm>
            <a:off x="3273552" y="4050791"/>
            <a:ext cx="192024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50" b="1" lang="en-US">
                <a:solidFill>
                  <a:srgbClr val="FFFFFF"/>
                </a:solidFill>
                <a:latin typeface="Aptos"/>
              </a:rPr>
              <a:t>Accessibility</a:t>
            </a:r>
          </a:p>
        </p:txBody>
      </p:sp>
      <p:sp>
        <p:nvSpPr>
          <p:cNvPr id="81" name="portfolio-micro-label-4-0"/>
          <p:cNvSpPr txBox="1"/>
          <p:nvPr/>
        </p:nvSpPr>
        <p:spPr>
          <a:xfrm>
            <a:off x="3319272" y="4539996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FBBF24"/>
                </a:solidFill>
                <a:latin typeface="Aptos"/>
              </a:rPr>
              <a:t>spec</a:t>
            </a:r>
          </a:p>
        </p:txBody>
      </p:sp>
      <p:sp>
        <p:nvSpPr>
          <p:cNvPr id="82" name="portfolio-micro-label-4-1"/>
          <p:cNvSpPr txBox="1"/>
          <p:nvPr/>
        </p:nvSpPr>
        <p:spPr>
          <a:xfrm>
            <a:off x="4306824" y="4539996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FBBF24"/>
                </a:solidFill>
                <a:latin typeface="Aptos"/>
              </a:rPr>
              <a:t>audit</a:t>
            </a:r>
          </a:p>
        </p:txBody>
      </p:sp>
      <p:sp>
        <p:nvSpPr>
          <p:cNvPr id="83" name="portfolio-micro-label-4-2"/>
          <p:cNvSpPr txBox="1"/>
          <p:nvPr/>
        </p:nvSpPr>
        <p:spPr>
          <a:xfrm>
            <a:off x="3319272" y="4924044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FBBF24"/>
                </a:solidFill>
                <a:latin typeface="Aptos"/>
              </a:rPr>
              <a:t>trace</a:t>
            </a:r>
          </a:p>
        </p:txBody>
      </p:sp>
      <p:sp>
        <p:nvSpPr>
          <p:cNvPr id="84" name="portfolio-micro-label-4-3"/>
          <p:cNvSpPr txBox="1"/>
          <p:nvPr/>
        </p:nvSpPr>
        <p:spPr>
          <a:xfrm>
            <a:off x="4306824" y="4924044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FBBF24"/>
                </a:solidFill>
                <a:latin typeface="Aptos"/>
              </a:rPr>
              <a:t>pass</a:t>
            </a:r>
          </a:p>
        </p:txBody>
      </p:sp>
      <p:sp>
        <p:nvSpPr>
          <p:cNvPr id="85" name="portfolio-num-5"/>
          <p:cNvSpPr txBox="1"/>
          <p:nvPr/>
        </p:nvSpPr>
        <p:spPr>
          <a:xfrm>
            <a:off x="5870448" y="3630168"/>
            <a:ext cx="566928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1" lang="en-US">
                <a:solidFill>
                  <a:srgbClr val="FB7185"/>
                </a:solidFill>
                <a:latin typeface="Aptos Display"/>
              </a:rPr>
              <a:t>06</a:t>
            </a:r>
          </a:p>
        </p:txBody>
      </p:sp>
      <p:sp>
        <p:nvSpPr>
          <p:cNvPr id="86" name="portfolio-name-5"/>
          <p:cNvSpPr txBox="1"/>
          <p:nvPr/>
        </p:nvSpPr>
        <p:spPr>
          <a:xfrm>
            <a:off x="5870448" y="4050791"/>
            <a:ext cx="192024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50" b="1" lang="en-US">
                <a:solidFill>
                  <a:srgbClr val="FFFFFF"/>
                </a:solidFill>
                <a:latin typeface="Aptos"/>
              </a:rPr>
              <a:t>Package</a:t>
            </a:r>
          </a:p>
        </p:txBody>
      </p:sp>
      <p:sp>
        <p:nvSpPr>
          <p:cNvPr id="87" name="portfolio-micro-label-5-0"/>
          <p:cNvSpPr txBox="1"/>
          <p:nvPr/>
        </p:nvSpPr>
        <p:spPr>
          <a:xfrm>
            <a:off x="5916168" y="4539996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FB7185"/>
                </a:solidFill>
                <a:latin typeface="Aptos"/>
              </a:rPr>
              <a:t>spec</a:t>
            </a:r>
          </a:p>
        </p:txBody>
      </p:sp>
      <p:sp>
        <p:nvSpPr>
          <p:cNvPr id="88" name="portfolio-micro-label-5-1"/>
          <p:cNvSpPr txBox="1"/>
          <p:nvPr/>
        </p:nvSpPr>
        <p:spPr>
          <a:xfrm>
            <a:off x="6903720" y="4539996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FB7185"/>
                </a:solidFill>
                <a:latin typeface="Aptos"/>
              </a:rPr>
              <a:t>audit</a:t>
            </a:r>
          </a:p>
        </p:txBody>
      </p:sp>
      <p:sp>
        <p:nvSpPr>
          <p:cNvPr id="89" name="portfolio-micro-label-5-2"/>
          <p:cNvSpPr txBox="1"/>
          <p:nvPr/>
        </p:nvSpPr>
        <p:spPr>
          <a:xfrm>
            <a:off x="5916168" y="4924044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FB7185"/>
                </a:solidFill>
                <a:latin typeface="Aptos"/>
              </a:rPr>
              <a:t>trace</a:t>
            </a:r>
          </a:p>
        </p:txBody>
      </p:sp>
      <p:sp>
        <p:nvSpPr>
          <p:cNvPr id="90" name="portfolio-micro-label-5-3"/>
          <p:cNvSpPr txBox="1"/>
          <p:nvPr/>
        </p:nvSpPr>
        <p:spPr>
          <a:xfrm>
            <a:off x="6903720" y="4924044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FB7185"/>
                </a:solidFill>
                <a:latin typeface="Aptos"/>
              </a:rPr>
              <a:t>pass</a:t>
            </a:r>
          </a:p>
        </p:txBody>
      </p:sp>
      <p:sp>
        <p:nvSpPr>
          <p:cNvPr id="91" name="portfolio-rail-title"/>
          <p:cNvSpPr txBox="1"/>
          <p:nvPr/>
        </p:nvSpPr>
        <p:spPr>
          <a:xfrm>
            <a:off x="8723376" y="1325880"/>
            <a:ext cx="246888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1" lang="en-US">
                <a:solidFill>
                  <a:srgbClr val="67E8F9"/>
                </a:solidFill>
                <a:latin typeface="Aptos"/>
              </a:rPr>
              <a:t>RELEASE BOARD</a:t>
            </a:r>
          </a:p>
        </p:txBody>
      </p:sp>
      <p:sp>
        <p:nvSpPr>
          <p:cNvPr id="92" name="release-label-0"/>
          <p:cNvSpPr txBox="1"/>
          <p:nvPr/>
        </p:nvSpPr>
        <p:spPr>
          <a:xfrm>
            <a:off x="8906256" y="1847088"/>
            <a:ext cx="137160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50" b="1" lang="en-US">
                <a:solidFill>
                  <a:srgbClr val="E0E0F0"/>
                </a:solidFill>
                <a:latin typeface="Aptos"/>
              </a:rPr>
              <a:t>Layouts</a:t>
            </a:r>
          </a:p>
        </p:txBody>
      </p:sp>
      <p:sp>
        <p:nvSpPr>
          <p:cNvPr id="93" name="release-value-0"/>
          <p:cNvSpPr txBox="1"/>
          <p:nvPr/>
        </p:nvSpPr>
        <p:spPr>
          <a:xfrm>
            <a:off x="10378440" y="1828800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1100" b="1" lang="en-US">
                <a:solidFill>
                  <a:srgbClr val="67E8F9"/>
                </a:solidFill>
                <a:latin typeface="Aptos"/>
              </a:rPr>
              <a:t>60</a:t>
            </a:r>
          </a:p>
        </p:txBody>
      </p:sp>
      <p:sp>
        <p:nvSpPr>
          <p:cNvPr id="94" name="release-label-1"/>
          <p:cNvSpPr txBox="1"/>
          <p:nvPr/>
        </p:nvSpPr>
        <p:spPr>
          <a:xfrm>
            <a:off x="8906256" y="2542032"/>
            <a:ext cx="137160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50" b="1" lang="en-US">
                <a:solidFill>
                  <a:srgbClr val="E0E0F0"/>
                </a:solidFill>
                <a:latin typeface="Aptos"/>
              </a:rPr>
              <a:t>Profiles</a:t>
            </a:r>
          </a:p>
        </p:txBody>
      </p:sp>
      <p:sp>
        <p:nvSpPr>
          <p:cNvPr id="95" name="release-value-1"/>
          <p:cNvSpPr txBox="1"/>
          <p:nvPr/>
        </p:nvSpPr>
        <p:spPr>
          <a:xfrm>
            <a:off x="10378440" y="2523744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1100" b="1" lang="en-US">
                <a:solidFill>
                  <a:srgbClr val="A78BFA"/>
                </a:solidFill>
                <a:latin typeface="Aptos"/>
              </a:rPr>
              <a:t>12</a:t>
            </a:r>
          </a:p>
        </p:txBody>
      </p:sp>
      <p:sp>
        <p:nvSpPr>
          <p:cNvPr id="96" name="release-label-2"/>
          <p:cNvSpPr txBox="1"/>
          <p:nvPr/>
        </p:nvSpPr>
        <p:spPr>
          <a:xfrm>
            <a:off x="8906256" y="3236976"/>
            <a:ext cx="137160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50" b="1" lang="en-US">
                <a:solidFill>
                  <a:srgbClr val="E0E0F0"/>
                </a:solidFill>
                <a:latin typeface="Aptos"/>
              </a:rPr>
              <a:t>Gate checks</a:t>
            </a:r>
          </a:p>
        </p:txBody>
      </p:sp>
      <p:sp>
        <p:nvSpPr>
          <p:cNvPr id="97" name="release-value-2"/>
          <p:cNvSpPr txBox="1"/>
          <p:nvPr/>
        </p:nvSpPr>
        <p:spPr>
          <a:xfrm>
            <a:off x="10378440" y="3218688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1100" b="1" lang="en-US">
                <a:solidFill>
                  <a:srgbClr val="67E8F9"/>
                </a:solidFill>
                <a:latin typeface="Aptos"/>
              </a:rPr>
              <a:t>11</a:t>
            </a:r>
          </a:p>
        </p:txBody>
      </p:sp>
      <p:sp>
        <p:nvSpPr>
          <p:cNvPr id="98" name="release-label-3"/>
          <p:cNvSpPr txBox="1"/>
          <p:nvPr/>
        </p:nvSpPr>
        <p:spPr>
          <a:xfrm>
            <a:off x="8906256" y="3931920"/>
            <a:ext cx="137160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50" b="1" lang="en-US">
                <a:solidFill>
                  <a:srgbClr val="E0E0F0"/>
                </a:solidFill>
                <a:latin typeface="Aptos"/>
              </a:rPr>
              <a:t>Defects</a:t>
            </a:r>
          </a:p>
        </p:txBody>
      </p:sp>
      <p:sp>
        <p:nvSpPr>
          <p:cNvPr id="99" name="release-value-3"/>
          <p:cNvSpPr txBox="1"/>
          <p:nvPr/>
        </p:nvSpPr>
        <p:spPr>
          <a:xfrm>
            <a:off x="10378440" y="3913632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1100" b="1" lang="en-US">
                <a:solidFill>
                  <a:srgbClr val="67E8F9"/>
                </a:solidFill>
                <a:latin typeface="Aptos"/>
              </a:rPr>
              <a:t>00</a:t>
            </a:r>
          </a:p>
        </p:txBody>
      </p:sp>
      <p:sp>
        <p:nvSpPr>
          <p:cNvPr id="100" name="release-label-4"/>
          <p:cNvSpPr txBox="1"/>
          <p:nvPr/>
        </p:nvSpPr>
        <p:spPr>
          <a:xfrm>
            <a:off x="8906256" y="4626864"/>
            <a:ext cx="137160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50" b="1" lang="en-US">
                <a:solidFill>
                  <a:srgbClr val="E0E0F0"/>
                </a:solidFill>
                <a:latin typeface="Aptos"/>
              </a:rPr>
              <a:t>Evidence</a:t>
            </a:r>
          </a:p>
        </p:txBody>
      </p:sp>
      <p:sp>
        <p:nvSpPr>
          <p:cNvPr id="101" name="release-value-4"/>
          <p:cNvSpPr txBox="1"/>
          <p:nvPr/>
        </p:nvSpPr>
        <p:spPr>
          <a:xfrm>
            <a:off x="10378440" y="4608576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1100" b="1" lang="en-US">
                <a:solidFill>
                  <a:srgbClr val="FBBF24"/>
                </a:solidFill>
                <a:latin typeface="Aptos"/>
              </a:rPr>
              <a:t>native</a:t>
            </a:r>
          </a:p>
        </p:txBody>
      </p:sp>
      <p:sp>
        <p:nvSpPr>
          <p:cNvPr id="102" name="portfolio-banner-label"/>
          <p:cNvSpPr txBox="1"/>
          <p:nvPr/>
        </p:nvSpPr>
        <p:spPr>
          <a:xfrm>
            <a:off x="713232" y="5687568"/>
            <a:ext cx="740664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50" b="1" lang="en-US">
                <a:solidFill>
                  <a:srgbClr val="111111"/>
                </a:solidFill>
                <a:latin typeface="Aptos"/>
              </a:rPr>
              <a:t>Six dense tiles test nested cards, micro-labels, hierarchy, and high-information scanning.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2D"/>
          </a:solidFill>
          <a:ln w="10160">
            <a:solidFill>
              <a:srgbClr val="0F0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glow-0"/>
          <p:cNvSpPr/>
          <p:nvPr/>
        </p:nvSpPr>
        <p:spPr>
          <a:xfrm>
            <a:off x="8046720" y="320040"/>
            <a:ext cx="2926080" cy="2926080"/>
          </a:xfrm>
          <a:prstGeom prst="ellipse">
            <a:avLst/>
          </a:prstGeom>
          <a:solidFill>
            <a:srgbClr val="67E8F9"/>
          </a:solidFill>
          <a:ln w="10160"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glow-1"/>
          <p:cNvSpPr/>
          <p:nvPr/>
        </p:nvSpPr>
        <p:spPr>
          <a:xfrm>
            <a:off x="9509760" y="3383280"/>
            <a:ext cx="2011680" cy="2011680"/>
          </a:xfrm>
          <a:prstGeom prst="ellipse">
            <a:avLst/>
          </a:prstGeom>
          <a:solidFill>
            <a:srgbClr val="A78BFA"/>
          </a:solidFill>
          <a:ln w="1016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glow-2"/>
          <p:cNvSpPr/>
          <p:nvPr/>
        </p:nvSpPr>
        <p:spPr>
          <a:xfrm>
            <a:off x="7132320" y="4663440"/>
            <a:ext cx="1645920" cy="1645920"/>
          </a:xfrm>
          <a:prstGeom prst="ellipse">
            <a:avLst/>
          </a:prstGeom>
          <a:solidFill>
            <a:srgbClr val="67E8F9"/>
          </a:solidFill>
          <a:ln w="10160"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op-band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67E8F9"/>
          </a:solidFill>
          <a:ln w="10160"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lane-0"/>
          <p:cNvSpPr/>
          <p:nvPr/>
        </p:nvSpPr>
        <p:spPr>
          <a:xfrm>
            <a:off x="457200" y="1097280"/>
            <a:ext cx="8458200" cy="914400"/>
          </a:xfrm>
          <a:prstGeom prst="roundRect">
            <a:avLst/>
          </a:prstGeom>
          <a:solidFill>
            <a:srgbClr val="42346D"/>
          </a:solidFill>
          <a:ln w="10160">
            <a:solidFill>
              <a:srgbClr val="8A7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lane-1"/>
          <p:cNvSpPr/>
          <p:nvPr/>
        </p:nvSpPr>
        <p:spPr>
          <a:xfrm>
            <a:off x="457200" y="2267712"/>
            <a:ext cx="8458200" cy="914400"/>
          </a:xfrm>
          <a:prstGeom prst="roundRect">
            <a:avLst/>
          </a:prstGeom>
          <a:solidFill>
            <a:srgbClr val="42346D"/>
          </a:solidFill>
          <a:ln w="10160">
            <a:solidFill>
              <a:srgbClr val="8A7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lane-2"/>
          <p:cNvSpPr/>
          <p:nvPr/>
        </p:nvSpPr>
        <p:spPr>
          <a:xfrm>
            <a:off x="457200" y="3438144"/>
            <a:ext cx="8458200" cy="914400"/>
          </a:xfrm>
          <a:prstGeom prst="roundRect">
            <a:avLst/>
          </a:prstGeom>
          <a:solidFill>
            <a:srgbClr val="42346D"/>
          </a:solidFill>
          <a:ln w="10160">
            <a:solidFill>
              <a:srgbClr val="8A7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lane-3"/>
          <p:cNvSpPr/>
          <p:nvPr/>
        </p:nvSpPr>
        <p:spPr>
          <a:xfrm>
            <a:off x="457200" y="4608576"/>
            <a:ext cx="8458200" cy="914400"/>
          </a:xfrm>
          <a:prstGeom prst="roundRect">
            <a:avLst/>
          </a:prstGeom>
          <a:solidFill>
            <a:srgbClr val="42346D"/>
          </a:solidFill>
          <a:ln w="10160">
            <a:solidFill>
              <a:srgbClr val="8A7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workbench-rail-shell"/>
          <p:cNvSpPr/>
          <p:nvPr/>
        </p:nvSpPr>
        <p:spPr>
          <a:xfrm>
            <a:off x="9189720" y="1097280"/>
            <a:ext cx="2542032" cy="4892040"/>
          </a:xfrm>
          <a:prstGeom prst="roundRect">
            <a:avLst/>
          </a:prstGeom>
          <a:solidFill>
            <a:srgbClr val="30265A"/>
          </a:solidFill>
          <a:ln w="10160">
            <a:solidFill>
              <a:srgbClr val="8A7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lane-label-0"/>
          <p:cNvSpPr/>
          <p:nvPr/>
        </p:nvSpPr>
        <p:spPr>
          <a:xfrm>
            <a:off x="457200" y="1097280"/>
            <a:ext cx="1097280" cy="914400"/>
          </a:xfrm>
          <a:prstGeom prst="rect">
            <a:avLst/>
          </a:prstGeom>
          <a:solidFill>
            <a:srgbClr val="67E8F9"/>
          </a:solidFill>
          <a:ln w="10160"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lane-label-1"/>
          <p:cNvSpPr/>
          <p:nvPr/>
        </p:nvSpPr>
        <p:spPr>
          <a:xfrm>
            <a:off x="457200" y="2267712"/>
            <a:ext cx="1097280" cy="914400"/>
          </a:xfrm>
          <a:prstGeom prst="rect">
            <a:avLst/>
          </a:prstGeom>
          <a:solidFill>
            <a:srgbClr val="A78BFA"/>
          </a:solidFill>
          <a:ln w="1016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lane-label-2"/>
          <p:cNvSpPr/>
          <p:nvPr/>
        </p:nvSpPr>
        <p:spPr>
          <a:xfrm>
            <a:off x="457200" y="3438144"/>
            <a:ext cx="1097280" cy="914400"/>
          </a:xfrm>
          <a:prstGeom prst="rect">
            <a:avLst/>
          </a:prstGeom>
          <a:solidFill>
            <a:srgbClr val="67E8F9"/>
          </a:solidFill>
          <a:ln w="10160"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lane-label-3"/>
          <p:cNvSpPr/>
          <p:nvPr/>
        </p:nvSpPr>
        <p:spPr>
          <a:xfrm>
            <a:off x="457200" y="4608576"/>
            <a:ext cx="1097280" cy="914400"/>
          </a:xfrm>
          <a:prstGeom prst="rect">
            <a:avLst/>
          </a:prstGeom>
          <a:solidFill>
            <a:srgbClr val="67E8F9"/>
          </a:solidFill>
          <a:ln w="10160"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workbench-rail-accent"/>
          <p:cNvSpPr/>
          <p:nvPr/>
        </p:nvSpPr>
        <p:spPr>
          <a:xfrm>
            <a:off x="9189720" y="1097280"/>
            <a:ext cx="73152" cy="4892040"/>
          </a:xfrm>
          <a:prstGeom prst="rect">
            <a:avLst/>
          </a:prstGeom>
          <a:solidFill>
            <a:srgbClr val="67E8F9"/>
          </a:solidFill>
          <a:ln w="10160"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hart-axis"/>
          <p:cNvCxnSpPr/>
          <p:nvPr/>
        </p:nvCxnSpPr>
        <p:spPr>
          <a:xfrm>
            <a:off x="9400032" y="4718304"/>
            <a:ext cx="2048256" cy="0"/>
          </a:xfrm>
          <a:prstGeom prst="line">
            <a:avLst/>
          </a:prstGeom>
          <a:ln w="13970">
            <a:solidFill>
              <a:srgbClr val="8A7D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ask-0-0"/>
          <p:cNvSpPr/>
          <p:nvPr/>
        </p:nvSpPr>
        <p:spPr>
          <a:xfrm>
            <a:off x="1773936" y="1234440"/>
            <a:ext cx="1161288" cy="621792"/>
          </a:xfrm>
          <a:prstGeom prst="roundRect">
            <a:avLst/>
          </a:prstGeom>
          <a:solidFill>
            <a:srgbClr val="30265A"/>
          </a:solidFill>
          <a:ln w="10160"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ask-0-1"/>
          <p:cNvSpPr/>
          <p:nvPr/>
        </p:nvSpPr>
        <p:spPr>
          <a:xfrm>
            <a:off x="3127248" y="1234440"/>
            <a:ext cx="1161288" cy="621792"/>
          </a:xfrm>
          <a:prstGeom prst="roundRect">
            <a:avLst/>
          </a:prstGeom>
          <a:solidFill>
            <a:srgbClr val="30265A"/>
          </a:solidFill>
          <a:ln w="10160"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ask-0-2"/>
          <p:cNvSpPr/>
          <p:nvPr/>
        </p:nvSpPr>
        <p:spPr>
          <a:xfrm>
            <a:off x="4480560" y="1234440"/>
            <a:ext cx="1161288" cy="621792"/>
          </a:xfrm>
          <a:prstGeom prst="roundRect">
            <a:avLst/>
          </a:prstGeom>
          <a:solidFill>
            <a:srgbClr val="30265A"/>
          </a:solidFill>
          <a:ln w="10160"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ask-0-3"/>
          <p:cNvSpPr/>
          <p:nvPr/>
        </p:nvSpPr>
        <p:spPr>
          <a:xfrm>
            <a:off x="5833872" y="1234440"/>
            <a:ext cx="1161288" cy="621792"/>
          </a:xfrm>
          <a:prstGeom prst="roundRect">
            <a:avLst/>
          </a:prstGeom>
          <a:solidFill>
            <a:srgbClr val="30265A"/>
          </a:solidFill>
          <a:ln w="10160"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ask-0-4"/>
          <p:cNvSpPr/>
          <p:nvPr/>
        </p:nvSpPr>
        <p:spPr>
          <a:xfrm>
            <a:off x="7187184" y="1234440"/>
            <a:ext cx="1161288" cy="621792"/>
          </a:xfrm>
          <a:prstGeom prst="roundRect">
            <a:avLst/>
          </a:prstGeom>
          <a:solidFill>
            <a:srgbClr val="30265A"/>
          </a:solidFill>
          <a:ln w="10160"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ask-1-0"/>
          <p:cNvSpPr/>
          <p:nvPr/>
        </p:nvSpPr>
        <p:spPr>
          <a:xfrm>
            <a:off x="1773936" y="2404872"/>
            <a:ext cx="1161288" cy="621792"/>
          </a:xfrm>
          <a:prstGeom prst="roundRect">
            <a:avLst/>
          </a:prstGeom>
          <a:solidFill>
            <a:srgbClr val="30265A"/>
          </a:solidFill>
          <a:ln w="1016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ask-1-1"/>
          <p:cNvSpPr/>
          <p:nvPr/>
        </p:nvSpPr>
        <p:spPr>
          <a:xfrm>
            <a:off x="3127248" y="2404872"/>
            <a:ext cx="1161288" cy="621792"/>
          </a:xfrm>
          <a:prstGeom prst="roundRect">
            <a:avLst/>
          </a:prstGeom>
          <a:solidFill>
            <a:srgbClr val="30265A"/>
          </a:solidFill>
          <a:ln w="1016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ask-1-2"/>
          <p:cNvSpPr/>
          <p:nvPr/>
        </p:nvSpPr>
        <p:spPr>
          <a:xfrm>
            <a:off x="4480560" y="2404872"/>
            <a:ext cx="1161288" cy="621792"/>
          </a:xfrm>
          <a:prstGeom prst="roundRect">
            <a:avLst/>
          </a:prstGeom>
          <a:solidFill>
            <a:srgbClr val="30265A"/>
          </a:solidFill>
          <a:ln w="1016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ask-1-3"/>
          <p:cNvSpPr/>
          <p:nvPr/>
        </p:nvSpPr>
        <p:spPr>
          <a:xfrm>
            <a:off x="5833872" y="2404872"/>
            <a:ext cx="1161288" cy="621792"/>
          </a:xfrm>
          <a:prstGeom prst="roundRect">
            <a:avLst/>
          </a:prstGeom>
          <a:solidFill>
            <a:srgbClr val="30265A"/>
          </a:solidFill>
          <a:ln w="1016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ask-1-4"/>
          <p:cNvSpPr/>
          <p:nvPr/>
        </p:nvSpPr>
        <p:spPr>
          <a:xfrm>
            <a:off x="7187184" y="2404872"/>
            <a:ext cx="1161288" cy="621792"/>
          </a:xfrm>
          <a:prstGeom prst="roundRect">
            <a:avLst/>
          </a:prstGeom>
          <a:solidFill>
            <a:srgbClr val="30265A"/>
          </a:solidFill>
          <a:ln w="1016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ask-2-0"/>
          <p:cNvSpPr/>
          <p:nvPr/>
        </p:nvSpPr>
        <p:spPr>
          <a:xfrm>
            <a:off x="1773936" y="3575304"/>
            <a:ext cx="1161288" cy="621792"/>
          </a:xfrm>
          <a:prstGeom prst="roundRect">
            <a:avLst/>
          </a:prstGeom>
          <a:solidFill>
            <a:srgbClr val="30265A"/>
          </a:solidFill>
          <a:ln w="10160"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ask-2-1"/>
          <p:cNvSpPr/>
          <p:nvPr/>
        </p:nvSpPr>
        <p:spPr>
          <a:xfrm>
            <a:off x="3127248" y="3575304"/>
            <a:ext cx="1161288" cy="621792"/>
          </a:xfrm>
          <a:prstGeom prst="roundRect">
            <a:avLst/>
          </a:prstGeom>
          <a:solidFill>
            <a:srgbClr val="30265A"/>
          </a:solidFill>
          <a:ln w="10160"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ask-2-2"/>
          <p:cNvSpPr/>
          <p:nvPr/>
        </p:nvSpPr>
        <p:spPr>
          <a:xfrm>
            <a:off x="4480560" y="3575304"/>
            <a:ext cx="1161288" cy="621792"/>
          </a:xfrm>
          <a:prstGeom prst="roundRect">
            <a:avLst/>
          </a:prstGeom>
          <a:solidFill>
            <a:srgbClr val="30265A"/>
          </a:solidFill>
          <a:ln w="10160"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ask-2-3"/>
          <p:cNvSpPr/>
          <p:nvPr/>
        </p:nvSpPr>
        <p:spPr>
          <a:xfrm>
            <a:off x="5833872" y="3575304"/>
            <a:ext cx="1161288" cy="621792"/>
          </a:xfrm>
          <a:prstGeom prst="roundRect">
            <a:avLst/>
          </a:prstGeom>
          <a:solidFill>
            <a:srgbClr val="30265A"/>
          </a:solidFill>
          <a:ln w="10160"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ask-2-4"/>
          <p:cNvSpPr/>
          <p:nvPr/>
        </p:nvSpPr>
        <p:spPr>
          <a:xfrm>
            <a:off x="7187184" y="3575304"/>
            <a:ext cx="1161288" cy="621792"/>
          </a:xfrm>
          <a:prstGeom prst="roundRect">
            <a:avLst/>
          </a:prstGeom>
          <a:solidFill>
            <a:srgbClr val="30265A"/>
          </a:solidFill>
          <a:ln w="10160"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ask-3-0"/>
          <p:cNvSpPr/>
          <p:nvPr/>
        </p:nvSpPr>
        <p:spPr>
          <a:xfrm>
            <a:off x="1773936" y="4745736"/>
            <a:ext cx="1161288" cy="621792"/>
          </a:xfrm>
          <a:prstGeom prst="roundRect">
            <a:avLst/>
          </a:prstGeom>
          <a:solidFill>
            <a:srgbClr val="30265A"/>
          </a:solidFill>
          <a:ln w="10160"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ask-3-1"/>
          <p:cNvSpPr/>
          <p:nvPr/>
        </p:nvSpPr>
        <p:spPr>
          <a:xfrm>
            <a:off x="3127248" y="4745736"/>
            <a:ext cx="1161288" cy="621792"/>
          </a:xfrm>
          <a:prstGeom prst="roundRect">
            <a:avLst/>
          </a:prstGeom>
          <a:solidFill>
            <a:srgbClr val="30265A"/>
          </a:solidFill>
          <a:ln w="10160"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ask-3-2"/>
          <p:cNvSpPr/>
          <p:nvPr/>
        </p:nvSpPr>
        <p:spPr>
          <a:xfrm>
            <a:off x="4480560" y="4745736"/>
            <a:ext cx="1161288" cy="621792"/>
          </a:xfrm>
          <a:prstGeom prst="roundRect">
            <a:avLst/>
          </a:prstGeom>
          <a:solidFill>
            <a:srgbClr val="30265A"/>
          </a:solidFill>
          <a:ln w="10160"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ask-3-3"/>
          <p:cNvSpPr/>
          <p:nvPr/>
        </p:nvSpPr>
        <p:spPr>
          <a:xfrm>
            <a:off x="5833872" y="4745736"/>
            <a:ext cx="1161288" cy="621792"/>
          </a:xfrm>
          <a:prstGeom prst="roundRect">
            <a:avLst/>
          </a:prstGeom>
          <a:solidFill>
            <a:srgbClr val="30265A"/>
          </a:solidFill>
          <a:ln w="10160"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ask-3-4"/>
          <p:cNvSpPr/>
          <p:nvPr/>
        </p:nvSpPr>
        <p:spPr>
          <a:xfrm>
            <a:off x="7187184" y="4745736"/>
            <a:ext cx="1161288" cy="621792"/>
          </a:xfrm>
          <a:prstGeom prst="roundRect">
            <a:avLst/>
          </a:prstGeom>
          <a:solidFill>
            <a:srgbClr val="30265A"/>
          </a:solidFill>
          <a:ln w="10160"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bar-0"/>
          <p:cNvSpPr/>
          <p:nvPr/>
        </p:nvSpPr>
        <p:spPr>
          <a:xfrm>
            <a:off x="9454896" y="3771900"/>
            <a:ext cx="155448" cy="946403"/>
          </a:xfrm>
          <a:prstGeom prst="roundRect">
            <a:avLst/>
          </a:prstGeom>
          <a:solidFill>
            <a:srgbClr val="67E8F9"/>
          </a:solidFill>
          <a:ln w="10160"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bar-1"/>
          <p:cNvSpPr/>
          <p:nvPr/>
        </p:nvSpPr>
        <p:spPr>
          <a:xfrm>
            <a:off x="9701784" y="3204057"/>
            <a:ext cx="155448" cy="1514246"/>
          </a:xfrm>
          <a:prstGeom prst="roundRect">
            <a:avLst/>
          </a:prstGeom>
          <a:solidFill>
            <a:srgbClr val="A78BFA"/>
          </a:solidFill>
          <a:ln w="1016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bar-2"/>
          <p:cNvSpPr/>
          <p:nvPr/>
        </p:nvSpPr>
        <p:spPr>
          <a:xfrm>
            <a:off x="9948672" y="3498494"/>
            <a:ext cx="155448" cy="1219809"/>
          </a:xfrm>
          <a:prstGeom prst="roundRect">
            <a:avLst/>
          </a:prstGeom>
          <a:solidFill>
            <a:srgbClr val="67E8F9"/>
          </a:solidFill>
          <a:ln w="10160"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bar-3"/>
          <p:cNvSpPr/>
          <p:nvPr/>
        </p:nvSpPr>
        <p:spPr>
          <a:xfrm>
            <a:off x="10195560" y="2909620"/>
            <a:ext cx="155448" cy="1808683"/>
          </a:xfrm>
          <a:prstGeom prst="roundRect">
            <a:avLst/>
          </a:prstGeom>
          <a:solidFill>
            <a:srgbClr val="67E8F9"/>
          </a:solidFill>
          <a:ln w="10160"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bar-4"/>
          <p:cNvSpPr/>
          <p:nvPr/>
        </p:nvSpPr>
        <p:spPr>
          <a:xfrm>
            <a:off x="10442448" y="3330244"/>
            <a:ext cx="155448" cy="1388059"/>
          </a:xfrm>
          <a:prstGeom prst="roundRect">
            <a:avLst/>
          </a:prstGeom>
          <a:solidFill>
            <a:srgbClr val="67E8F9"/>
          </a:solidFill>
          <a:ln w="10160"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bar-5"/>
          <p:cNvSpPr/>
          <p:nvPr/>
        </p:nvSpPr>
        <p:spPr>
          <a:xfrm>
            <a:off x="10689336" y="2783433"/>
            <a:ext cx="155448" cy="1934870"/>
          </a:xfrm>
          <a:prstGeom prst="roundRect">
            <a:avLst/>
          </a:prstGeom>
          <a:solidFill>
            <a:srgbClr val="A78BFA"/>
          </a:solidFill>
          <a:ln w="1016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bar-6"/>
          <p:cNvSpPr/>
          <p:nvPr/>
        </p:nvSpPr>
        <p:spPr>
          <a:xfrm>
            <a:off x="10936224" y="3119932"/>
            <a:ext cx="155448" cy="1598371"/>
          </a:xfrm>
          <a:prstGeom prst="roundRect">
            <a:avLst/>
          </a:prstGeom>
          <a:solidFill>
            <a:srgbClr val="67E8F9"/>
          </a:solidFill>
          <a:ln w="10160"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bar-7"/>
          <p:cNvSpPr/>
          <p:nvPr/>
        </p:nvSpPr>
        <p:spPr>
          <a:xfrm>
            <a:off x="11183112" y="3603650"/>
            <a:ext cx="155448" cy="1114653"/>
          </a:xfrm>
          <a:prstGeom prst="roundRect">
            <a:avLst/>
          </a:prstGeom>
          <a:solidFill>
            <a:srgbClr val="67E8F9"/>
          </a:solidFill>
          <a:ln w="10160"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check-dot-0"/>
          <p:cNvSpPr/>
          <p:nvPr/>
        </p:nvSpPr>
        <p:spPr>
          <a:xfrm>
            <a:off x="9436608" y="5321808"/>
            <a:ext cx="91440" cy="91440"/>
          </a:xfrm>
          <a:prstGeom prst="ellipse">
            <a:avLst/>
          </a:prstGeom>
          <a:solidFill>
            <a:srgbClr val="67E8F9"/>
          </a:solidFill>
          <a:ln w="10160"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check-dot-1"/>
          <p:cNvSpPr/>
          <p:nvPr/>
        </p:nvSpPr>
        <p:spPr>
          <a:xfrm>
            <a:off x="9436608" y="5486400"/>
            <a:ext cx="91440" cy="91440"/>
          </a:xfrm>
          <a:prstGeom prst="ellipse">
            <a:avLst/>
          </a:prstGeom>
          <a:solidFill>
            <a:srgbClr val="67E8F9"/>
          </a:solidFill>
          <a:ln w="10160"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check-dot-2"/>
          <p:cNvSpPr/>
          <p:nvPr/>
        </p:nvSpPr>
        <p:spPr>
          <a:xfrm>
            <a:off x="9436608" y="5650992"/>
            <a:ext cx="91440" cy="91440"/>
          </a:xfrm>
          <a:prstGeom prst="ellipse">
            <a:avLst/>
          </a:prstGeom>
          <a:solidFill>
            <a:srgbClr val="67E8F9"/>
          </a:solidFill>
          <a:ln w="10160"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check-dot-3"/>
          <p:cNvSpPr/>
          <p:nvPr/>
        </p:nvSpPr>
        <p:spPr>
          <a:xfrm>
            <a:off x="9436608" y="5815584"/>
            <a:ext cx="91440" cy="91440"/>
          </a:xfrm>
          <a:prstGeom prst="ellipse">
            <a:avLst/>
          </a:prstGeom>
          <a:solidFill>
            <a:srgbClr val="67E8F9"/>
          </a:solidFill>
          <a:ln w="10160"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profile-tag"/>
          <p:cNvSpPr txBox="1"/>
          <p:nvPr/>
        </p:nvSpPr>
        <p:spPr>
          <a:xfrm>
            <a:off x="457200" y="201168"/>
            <a:ext cx="768096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1" lang="en-US">
                <a:solidFill>
                  <a:srgbClr val="67E8F9"/>
                </a:solidFill>
                <a:latin typeface="Aptos"/>
              </a:rPr>
              <a:t>V3 STRESS SUITE  ·  GLASSMORPHISM  ·  DELIVERY WORKBENCH</a:t>
            </a:r>
          </a:p>
        </p:txBody>
      </p:sp>
      <p:sp>
        <p:nvSpPr>
          <p:cNvPr id="51" name="slide-index"/>
          <p:cNvSpPr txBox="1"/>
          <p:nvPr/>
        </p:nvSpPr>
        <p:spPr>
          <a:xfrm>
            <a:off x="10808208" y="201168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00" b="1" lang="en-US">
                <a:solidFill>
                  <a:srgbClr val="E0E0F0"/>
                </a:solidFill>
                <a:latin typeface="Aptos"/>
              </a:rPr>
              <a:t>05/60</a:t>
            </a:r>
          </a:p>
        </p:txBody>
      </p:sp>
      <p:sp>
        <p:nvSpPr>
          <p:cNvPr id="52" name="title"/>
          <p:cNvSpPr txBox="1"/>
          <p:nvPr/>
        </p:nvSpPr>
        <p:spPr>
          <a:xfrm>
            <a:off x="457200" y="484632"/>
            <a:ext cx="11274552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200" b="1" lang="en-US">
                <a:solidFill>
                  <a:srgbClr val="FFFFFF"/>
                </a:solidFill>
                <a:latin typeface="Aptos Display"/>
              </a:rPr>
              <a:t>Delivery workbenches keep parallel work lanes legible under load</a:t>
            </a:r>
          </a:p>
        </p:txBody>
      </p:sp>
      <p:sp>
        <p:nvSpPr>
          <p:cNvPr id="53" name="footer"/>
          <p:cNvSpPr txBox="1"/>
          <p:nvPr/>
        </p:nvSpPr>
        <p:spPr>
          <a:xfrm>
            <a:off x="457200" y="6473952"/>
            <a:ext cx="1051560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0" lang="en-US">
                <a:solidFill>
                  <a:srgbClr val="E0E0F0"/>
                </a:solidFill>
                <a:latin typeface="Aptos"/>
              </a:rPr>
              <a:t>Native-object stress fixture · frosted glass cards, cyan-violet glow blobs, and layered depth · editable geometry and recorded style lock</a:t>
            </a:r>
          </a:p>
        </p:txBody>
      </p:sp>
      <p:sp>
        <p:nvSpPr>
          <p:cNvPr id="54" name="lane-name-0"/>
          <p:cNvSpPr txBox="1"/>
          <p:nvPr/>
        </p:nvSpPr>
        <p:spPr>
          <a:xfrm>
            <a:off x="566928" y="1444752"/>
            <a:ext cx="868680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lang="en-US">
                <a:solidFill>
                  <a:srgbClr val="111111"/>
                </a:solidFill>
                <a:latin typeface="Aptos"/>
              </a:rPr>
              <a:t>INTAKE</a:t>
            </a:r>
          </a:p>
        </p:txBody>
      </p:sp>
      <p:sp>
        <p:nvSpPr>
          <p:cNvPr id="55" name="task-title-0-0"/>
          <p:cNvSpPr txBox="1"/>
          <p:nvPr/>
        </p:nvSpPr>
        <p:spPr>
          <a:xfrm>
            <a:off x="1847088" y="1362456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FFFFFF"/>
                </a:solidFill>
                <a:latin typeface="Aptos"/>
              </a:rPr>
              <a:t>Scope</a:t>
            </a:r>
          </a:p>
        </p:txBody>
      </p:sp>
      <p:sp>
        <p:nvSpPr>
          <p:cNvPr id="56" name="task-state-0-0"/>
          <p:cNvSpPr txBox="1"/>
          <p:nvPr/>
        </p:nvSpPr>
        <p:spPr>
          <a:xfrm>
            <a:off x="1847088" y="1545336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67E8F9"/>
                </a:solidFill>
                <a:latin typeface="Aptos"/>
              </a:rPr>
              <a:t>new</a:t>
            </a:r>
          </a:p>
        </p:txBody>
      </p:sp>
      <p:sp>
        <p:nvSpPr>
          <p:cNvPr id="57" name="task-title-0-1"/>
          <p:cNvSpPr txBox="1"/>
          <p:nvPr/>
        </p:nvSpPr>
        <p:spPr>
          <a:xfrm>
            <a:off x="3200400" y="1362456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FFFFFF"/>
                </a:solidFill>
                <a:latin typeface="Aptos"/>
              </a:rPr>
              <a:t>Profile</a:t>
            </a:r>
          </a:p>
        </p:txBody>
      </p:sp>
      <p:sp>
        <p:nvSpPr>
          <p:cNvPr id="58" name="task-state-0-1"/>
          <p:cNvSpPr txBox="1"/>
          <p:nvPr/>
        </p:nvSpPr>
        <p:spPr>
          <a:xfrm>
            <a:off x="3200400" y="1545336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67E8F9"/>
                </a:solidFill>
                <a:latin typeface="Aptos"/>
              </a:rPr>
              <a:t>locked</a:t>
            </a:r>
          </a:p>
        </p:txBody>
      </p:sp>
      <p:sp>
        <p:nvSpPr>
          <p:cNvPr id="59" name="task-title-0-2"/>
          <p:cNvSpPr txBox="1"/>
          <p:nvPr/>
        </p:nvSpPr>
        <p:spPr>
          <a:xfrm>
            <a:off x="4553712" y="1362456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FFFFFF"/>
                </a:solidFill>
                <a:latin typeface="Aptos"/>
              </a:rPr>
              <a:t>Spec</a:t>
            </a:r>
          </a:p>
        </p:txBody>
      </p:sp>
      <p:sp>
        <p:nvSpPr>
          <p:cNvPr id="60" name="task-state-0-2"/>
          <p:cNvSpPr txBox="1"/>
          <p:nvPr/>
        </p:nvSpPr>
        <p:spPr>
          <a:xfrm>
            <a:off x="4553712" y="1545336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67E8F9"/>
                </a:solidFill>
                <a:latin typeface="Aptos"/>
              </a:rPr>
              <a:t>ready</a:t>
            </a:r>
          </a:p>
        </p:txBody>
      </p:sp>
      <p:sp>
        <p:nvSpPr>
          <p:cNvPr id="61" name="task-title-0-3"/>
          <p:cNvSpPr txBox="1"/>
          <p:nvPr/>
        </p:nvSpPr>
        <p:spPr>
          <a:xfrm>
            <a:off x="5907024" y="1362456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FFFFFF"/>
                </a:solidFill>
                <a:latin typeface="Aptos"/>
              </a:rPr>
              <a:t>Audit</a:t>
            </a:r>
          </a:p>
        </p:txBody>
      </p:sp>
      <p:sp>
        <p:nvSpPr>
          <p:cNvPr id="62" name="task-state-0-3"/>
          <p:cNvSpPr txBox="1"/>
          <p:nvPr/>
        </p:nvSpPr>
        <p:spPr>
          <a:xfrm>
            <a:off x="5907024" y="1545336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67E8F9"/>
                </a:solidFill>
                <a:latin typeface="Aptos"/>
              </a:rPr>
              <a:t>pass</a:t>
            </a:r>
          </a:p>
        </p:txBody>
      </p:sp>
      <p:sp>
        <p:nvSpPr>
          <p:cNvPr id="63" name="task-title-0-4"/>
          <p:cNvSpPr txBox="1"/>
          <p:nvPr/>
        </p:nvSpPr>
        <p:spPr>
          <a:xfrm>
            <a:off x="7260336" y="1362456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FFFFFF"/>
                </a:solidFill>
                <a:latin typeface="Aptos"/>
              </a:rPr>
              <a:t>Owner</a:t>
            </a:r>
          </a:p>
        </p:txBody>
      </p:sp>
      <p:sp>
        <p:nvSpPr>
          <p:cNvPr id="64" name="task-state-0-4"/>
          <p:cNvSpPr txBox="1"/>
          <p:nvPr/>
        </p:nvSpPr>
        <p:spPr>
          <a:xfrm>
            <a:off x="7260336" y="1545336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67E8F9"/>
                </a:solidFill>
                <a:latin typeface="Aptos"/>
              </a:rPr>
              <a:t>assigned</a:t>
            </a:r>
          </a:p>
        </p:txBody>
      </p:sp>
      <p:sp>
        <p:nvSpPr>
          <p:cNvPr id="65" name="lane-name-1"/>
          <p:cNvSpPr txBox="1"/>
          <p:nvPr/>
        </p:nvSpPr>
        <p:spPr>
          <a:xfrm>
            <a:off x="566928" y="2615184"/>
            <a:ext cx="868680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lang="en-US">
                <a:solidFill>
                  <a:srgbClr val="111111"/>
                </a:solidFill>
                <a:latin typeface="Aptos"/>
              </a:rPr>
              <a:t>AUTHOR</a:t>
            </a:r>
          </a:p>
        </p:txBody>
      </p:sp>
      <p:sp>
        <p:nvSpPr>
          <p:cNvPr id="66" name="task-title-1-0"/>
          <p:cNvSpPr txBox="1"/>
          <p:nvPr/>
        </p:nvSpPr>
        <p:spPr>
          <a:xfrm>
            <a:off x="1847088" y="2532888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FFFFFF"/>
                </a:solidFill>
                <a:latin typeface="Aptos"/>
              </a:rPr>
              <a:t>Scope</a:t>
            </a:r>
          </a:p>
        </p:txBody>
      </p:sp>
      <p:sp>
        <p:nvSpPr>
          <p:cNvPr id="67" name="task-state-1-0"/>
          <p:cNvSpPr txBox="1"/>
          <p:nvPr/>
        </p:nvSpPr>
        <p:spPr>
          <a:xfrm>
            <a:off x="1847088" y="2715768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A78BFA"/>
                </a:solidFill>
                <a:latin typeface="Aptos"/>
              </a:rPr>
              <a:t>locked</a:t>
            </a:r>
          </a:p>
        </p:txBody>
      </p:sp>
      <p:sp>
        <p:nvSpPr>
          <p:cNvPr id="68" name="task-title-1-1"/>
          <p:cNvSpPr txBox="1"/>
          <p:nvPr/>
        </p:nvSpPr>
        <p:spPr>
          <a:xfrm>
            <a:off x="3200400" y="2532888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FFFFFF"/>
                </a:solidFill>
                <a:latin typeface="Aptos"/>
              </a:rPr>
              <a:t>Profile</a:t>
            </a:r>
          </a:p>
        </p:txBody>
      </p:sp>
      <p:sp>
        <p:nvSpPr>
          <p:cNvPr id="69" name="task-state-1-1"/>
          <p:cNvSpPr txBox="1"/>
          <p:nvPr/>
        </p:nvSpPr>
        <p:spPr>
          <a:xfrm>
            <a:off x="3200400" y="2715768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A78BFA"/>
                </a:solidFill>
                <a:latin typeface="Aptos"/>
              </a:rPr>
              <a:t>ready</a:t>
            </a:r>
          </a:p>
        </p:txBody>
      </p:sp>
      <p:sp>
        <p:nvSpPr>
          <p:cNvPr id="70" name="task-title-1-2"/>
          <p:cNvSpPr txBox="1"/>
          <p:nvPr/>
        </p:nvSpPr>
        <p:spPr>
          <a:xfrm>
            <a:off x="4553712" y="2532888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FFFFFF"/>
                </a:solidFill>
                <a:latin typeface="Aptos"/>
              </a:rPr>
              <a:t>Spec</a:t>
            </a:r>
          </a:p>
        </p:txBody>
      </p:sp>
      <p:sp>
        <p:nvSpPr>
          <p:cNvPr id="71" name="task-state-1-2"/>
          <p:cNvSpPr txBox="1"/>
          <p:nvPr/>
        </p:nvSpPr>
        <p:spPr>
          <a:xfrm>
            <a:off x="4553712" y="2715768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A78BFA"/>
                </a:solidFill>
                <a:latin typeface="Aptos"/>
              </a:rPr>
              <a:t>pass</a:t>
            </a:r>
          </a:p>
        </p:txBody>
      </p:sp>
      <p:sp>
        <p:nvSpPr>
          <p:cNvPr id="72" name="task-title-1-3"/>
          <p:cNvSpPr txBox="1"/>
          <p:nvPr/>
        </p:nvSpPr>
        <p:spPr>
          <a:xfrm>
            <a:off x="5907024" y="2532888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FFFFFF"/>
                </a:solidFill>
                <a:latin typeface="Aptos"/>
              </a:rPr>
              <a:t>Audit</a:t>
            </a:r>
          </a:p>
        </p:txBody>
      </p:sp>
      <p:sp>
        <p:nvSpPr>
          <p:cNvPr id="73" name="task-state-1-3"/>
          <p:cNvSpPr txBox="1"/>
          <p:nvPr/>
        </p:nvSpPr>
        <p:spPr>
          <a:xfrm>
            <a:off x="5907024" y="2715768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A78BFA"/>
                </a:solidFill>
                <a:latin typeface="Aptos"/>
              </a:rPr>
              <a:t>assigned</a:t>
            </a:r>
          </a:p>
        </p:txBody>
      </p:sp>
      <p:sp>
        <p:nvSpPr>
          <p:cNvPr id="74" name="task-title-1-4"/>
          <p:cNvSpPr txBox="1"/>
          <p:nvPr/>
        </p:nvSpPr>
        <p:spPr>
          <a:xfrm>
            <a:off x="7260336" y="2532888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FFFFFF"/>
                </a:solidFill>
                <a:latin typeface="Aptos"/>
              </a:rPr>
              <a:t>Owner</a:t>
            </a:r>
          </a:p>
        </p:txBody>
      </p:sp>
      <p:sp>
        <p:nvSpPr>
          <p:cNvPr id="75" name="task-state-1-4"/>
          <p:cNvSpPr txBox="1"/>
          <p:nvPr/>
        </p:nvSpPr>
        <p:spPr>
          <a:xfrm>
            <a:off x="7260336" y="2715768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A78BFA"/>
                </a:solidFill>
                <a:latin typeface="Aptos"/>
              </a:rPr>
              <a:t>new</a:t>
            </a:r>
          </a:p>
        </p:txBody>
      </p:sp>
      <p:sp>
        <p:nvSpPr>
          <p:cNvPr id="76" name="lane-name-2"/>
          <p:cNvSpPr txBox="1"/>
          <p:nvPr/>
        </p:nvSpPr>
        <p:spPr>
          <a:xfrm>
            <a:off x="566928" y="3785615"/>
            <a:ext cx="868680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lang="en-US">
                <a:solidFill>
                  <a:srgbClr val="111111"/>
                </a:solidFill>
                <a:latin typeface="Aptos"/>
              </a:rPr>
              <a:t>VERIFY</a:t>
            </a:r>
          </a:p>
        </p:txBody>
      </p:sp>
      <p:sp>
        <p:nvSpPr>
          <p:cNvPr id="77" name="task-title-2-0"/>
          <p:cNvSpPr txBox="1"/>
          <p:nvPr/>
        </p:nvSpPr>
        <p:spPr>
          <a:xfrm>
            <a:off x="1847088" y="3703320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FFFFFF"/>
                </a:solidFill>
                <a:latin typeface="Aptos"/>
              </a:rPr>
              <a:t>Scope</a:t>
            </a:r>
          </a:p>
        </p:txBody>
      </p:sp>
      <p:sp>
        <p:nvSpPr>
          <p:cNvPr id="78" name="task-state-2-0"/>
          <p:cNvSpPr txBox="1"/>
          <p:nvPr/>
        </p:nvSpPr>
        <p:spPr>
          <a:xfrm>
            <a:off x="1847088" y="3886200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67E8F9"/>
                </a:solidFill>
                <a:latin typeface="Aptos"/>
              </a:rPr>
              <a:t>ready</a:t>
            </a:r>
          </a:p>
        </p:txBody>
      </p:sp>
      <p:sp>
        <p:nvSpPr>
          <p:cNvPr id="79" name="task-title-2-1"/>
          <p:cNvSpPr txBox="1"/>
          <p:nvPr/>
        </p:nvSpPr>
        <p:spPr>
          <a:xfrm>
            <a:off x="3200400" y="3703320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FFFFFF"/>
                </a:solidFill>
                <a:latin typeface="Aptos"/>
              </a:rPr>
              <a:t>Profile</a:t>
            </a:r>
          </a:p>
        </p:txBody>
      </p:sp>
      <p:sp>
        <p:nvSpPr>
          <p:cNvPr id="80" name="task-state-2-1"/>
          <p:cNvSpPr txBox="1"/>
          <p:nvPr/>
        </p:nvSpPr>
        <p:spPr>
          <a:xfrm>
            <a:off x="3200400" y="3886200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67E8F9"/>
                </a:solidFill>
                <a:latin typeface="Aptos"/>
              </a:rPr>
              <a:t>pass</a:t>
            </a:r>
          </a:p>
        </p:txBody>
      </p:sp>
      <p:sp>
        <p:nvSpPr>
          <p:cNvPr id="81" name="task-title-2-2"/>
          <p:cNvSpPr txBox="1"/>
          <p:nvPr/>
        </p:nvSpPr>
        <p:spPr>
          <a:xfrm>
            <a:off x="4553712" y="3703320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FFFFFF"/>
                </a:solidFill>
                <a:latin typeface="Aptos"/>
              </a:rPr>
              <a:t>Spec</a:t>
            </a:r>
          </a:p>
        </p:txBody>
      </p:sp>
      <p:sp>
        <p:nvSpPr>
          <p:cNvPr id="82" name="task-state-2-2"/>
          <p:cNvSpPr txBox="1"/>
          <p:nvPr/>
        </p:nvSpPr>
        <p:spPr>
          <a:xfrm>
            <a:off x="4553712" y="3886200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67E8F9"/>
                </a:solidFill>
                <a:latin typeface="Aptos"/>
              </a:rPr>
              <a:t>assigned</a:t>
            </a:r>
          </a:p>
        </p:txBody>
      </p:sp>
      <p:sp>
        <p:nvSpPr>
          <p:cNvPr id="83" name="task-title-2-3"/>
          <p:cNvSpPr txBox="1"/>
          <p:nvPr/>
        </p:nvSpPr>
        <p:spPr>
          <a:xfrm>
            <a:off x="5907024" y="3703320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FFFFFF"/>
                </a:solidFill>
                <a:latin typeface="Aptos"/>
              </a:rPr>
              <a:t>Audit</a:t>
            </a:r>
          </a:p>
        </p:txBody>
      </p:sp>
      <p:sp>
        <p:nvSpPr>
          <p:cNvPr id="84" name="task-state-2-3"/>
          <p:cNvSpPr txBox="1"/>
          <p:nvPr/>
        </p:nvSpPr>
        <p:spPr>
          <a:xfrm>
            <a:off x="5907024" y="3886200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67E8F9"/>
                </a:solidFill>
                <a:latin typeface="Aptos"/>
              </a:rPr>
              <a:t>new</a:t>
            </a:r>
          </a:p>
        </p:txBody>
      </p:sp>
      <p:sp>
        <p:nvSpPr>
          <p:cNvPr id="85" name="task-title-2-4"/>
          <p:cNvSpPr txBox="1"/>
          <p:nvPr/>
        </p:nvSpPr>
        <p:spPr>
          <a:xfrm>
            <a:off x="7260336" y="3703320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FFFFFF"/>
                </a:solidFill>
                <a:latin typeface="Aptos"/>
              </a:rPr>
              <a:t>Owner</a:t>
            </a:r>
          </a:p>
        </p:txBody>
      </p:sp>
      <p:sp>
        <p:nvSpPr>
          <p:cNvPr id="86" name="task-state-2-4"/>
          <p:cNvSpPr txBox="1"/>
          <p:nvPr/>
        </p:nvSpPr>
        <p:spPr>
          <a:xfrm>
            <a:off x="7260336" y="3886200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67E8F9"/>
                </a:solidFill>
                <a:latin typeface="Aptos"/>
              </a:rPr>
              <a:t>locked</a:t>
            </a:r>
          </a:p>
        </p:txBody>
      </p:sp>
      <p:sp>
        <p:nvSpPr>
          <p:cNvPr id="87" name="lane-name-3"/>
          <p:cNvSpPr txBox="1"/>
          <p:nvPr/>
        </p:nvSpPr>
        <p:spPr>
          <a:xfrm>
            <a:off x="566928" y="4956048"/>
            <a:ext cx="868680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lang="en-US">
                <a:solidFill>
                  <a:srgbClr val="111111"/>
                </a:solidFill>
                <a:latin typeface="Aptos"/>
              </a:rPr>
              <a:t>SHIP</a:t>
            </a:r>
          </a:p>
        </p:txBody>
      </p:sp>
      <p:sp>
        <p:nvSpPr>
          <p:cNvPr id="88" name="task-title-3-0"/>
          <p:cNvSpPr txBox="1"/>
          <p:nvPr/>
        </p:nvSpPr>
        <p:spPr>
          <a:xfrm>
            <a:off x="1847088" y="4873752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FFFFFF"/>
                </a:solidFill>
                <a:latin typeface="Aptos"/>
              </a:rPr>
              <a:t>Scope</a:t>
            </a:r>
          </a:p>
        </p:txBody>
      </p:sp>
      <p:sp>
        <p:nvSpPr>
          <p:cNvPr id="89" name="task-state-3-0"/>
          <p:cNvSpPr txBox="1"/>
          <p:nvPr/>
        </p:nvSpPr>
        <p:spPr>
          <a:xfrm>
            <a:off x="1847088" y="5056632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67E8F9"/>
                </a:solidFill>
                <a:latin typeface="Aptos"/>
              </a:rPr>
              <a:t>pass</a:t>
            </a:r>
          </a:p>
        </p:txBody>
      </p:sp>
      <p:sp>
        <p:nvSpPr>
          <p:cNvPr id="90" name="task-title-3-1"/>
          <p:cNvSpPr txBox="1"/>
          <p:nvPr/>
        </p:nvSpPr>
        <p:spPr>
          <a:xfrm>
            <a:off x="3200400" y="4873752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FFFFFF"/>
                </a:solidFill>
                <a:latin typeface="Aptos"/>
              </a:rPr>
              <a:t>Profile</a:t>
            </a:r>
          </a:p>
        </p:txBody>
      </p:sp>
      <p:sp>
        <p:nvSpPr>
          <p:cNvPr id="91" name="task-state-3-1"/>
          <p:cNvSpPr txBox="1"/>
          <p:nvPr/>
        </p:nvSpPr>
        <p:spPr>
          <a:xfrm>
            <a:off x="3200400" y="5056632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67E8F9"/>
                </a:solidFill>
                <a:latin typeface="Aptos"/>
              </a:rPr>
              <a:t>assigned</a:t>
            </a:r>
          </a:p>
        </p:txBody>
      </p:sp>
      <p:sp>
        <p:nvSpPr>
          <p:cNvPr id="92" name="task-title-3-2"/>
          <p:cNvSpPr txBox="1"/>
          <p:nvPr/>
        </p:nvSpPr>
        <p:spPr>
          <a:xfrm>
            <a:off x="4553712" y="4873752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FFFFFF"/>
                </a:solidFill>
                <a:latin typeface="Aptos"/>
              </a:rPr>
              <a:t>Spec</a:t>
            </a:r>
          </a:p>
        </p:txBody>
      </p:sp>
      <p:sp>
        <p:nvSpPr>
          <p:cNvPr id="93" name="task-state-3-2"/>
          <p:cNvSpPr txBox="1"/>
          <p:nvPr/>
        </p:nvSpPr>
        <p:spPr>
          <a:xfrm>
            <a:off x="4553712" y="5056632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67E8F9"/>
                </a:solidFill>
                <a:latin typeface="Aptos"/>
              </a:rPr>
              <a:t>new</a:t>
            </a:r>
          </a:p>
        </p:txBody>
      </p:sp>
      <p:sp>
        <p:nvSpPr>
          <p:cNvPr id="94" name="task-title-3-3"/>
          <p:cNvSpPr txBox="1"/>
          <p:nvPr/>
        </p:nvSpPr>
        <p:spPr>
          <a:xfrm>
            <a:off x="5907024" y="4873752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FFFFFF"/>
                </a:solidFill>
                <a:latin typeface="Aptos"/>
              </a:rPr>
              <a:t>Audit</a:t>
            </a:r>
          </a:p>
        </p:txBody>
      </p:sp>
      <p:sp>
        <p:nvSpPr>
          <p:cNvPr id="95" name="task-state-3-3"/>
          <p:cNvSpPr txBox="1"/>
          <p:nvPr/>
        </p:nvSpPr>
        <p:spPr>
          <a:xfrm>
            <a:off x="5907024" y="5056632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67E8F9"/>
                </a:solidFill>
                <a:latin typeface="Aptos"/>
              </a:rPr>
              <a:t>locked</a:t>
            </a:r>
          </a:p>
        </p:txBody>
      </p:sp>
      <p:sp>
        <p:nvSpPr>
          <p:cNvPr id="96" name="task-title-3-4"/>
          <p:cNvSpPr txBox="1"/>
          <p:nvPr/>
        </p:nvSpPr>
        <p:spPr>
          <a:xfrm>
            <a:off x="7260336" y="4873752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FFFFFF"/>
                </a:solidFill>
                <a:latin typeface="Aptos"/>
              </a:rPr>
              <a:t>Owner</a:t>
            </a:r>
          </a:p>
        </p:txBody>
      </p:sp>
      <p:sp>
        <p:nvSpPr>
          <p:cNvPr id="97" name="task-state-3-4"/>
          <p:cNvSpPr txBox="1"/>
          <p:nvPr/>
        </p:nvSpPr>
        <p:spPr>
          <a:xfrm>
            <a:off x="7260336" y="5056632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67E8F9"/>
                </a:solidFill>
                <a:latin typeface="Aptos"/>
              </a:rPr>
              <a:t>ready</a:t>
            </a:r>
          </a:p>
        </p:txBody>
      </p:sp>
      <p:sp>
        <p:nvSpPr>
          <p:cNvPr id="98" name="workbench-rail-title"/>
          <p:cNvSpPr txBox="1"/>
          <p:nvPr/>
        </p:nvSpPr>
        <p:spPr>
          <a:xfrm>
            <a:off x="9436608" y="1325880"/>
            <a:ext cx="196596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1" lang="en-US">
                <a:solidFill>
                  <a:srgbClr val="67E8F9"/>
                </a:solidFill>
                <a:latin typeface="Aptos"/>
              </a:rPr>
              <a:t>BUILD SIGNALS</a:t>
            </a:r>
          </a:p>
        </p:txBody>
      </p:sp>
      <p:sp>
        <p:nvSpPr>
          <p:cNvPr id="99" name="chart-label"/>
          <p:cNvSpPr txBox="1"/>
          <p:nvPr/>
        </p:nvSpPr>
        <p:spPr>
          <a:xfrm>
            <a:off x="9436608" y="4956048"/>
            <a:ext cx="192024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0" lang="en-US">
                <a:solidFill>
                  <a:srgbClr val="E0E0F0"/>
                </a:solidFill>
                <a:latin typeface="Aptos"/>
              </a:rPr>
              <a:t>completion by work lane</a:t>
            </a:r>
          </a:p>
        </p:txBody>
      </p:sp>
      <p:sp>
        <p:nvSpPr>
          <p:cNvPr id="100" name="check-label-0"/>
          <p:cNvSpPr txBox="1"/>
          <p:nvPr/>
        </p:nvSpPr>
        <p:spPr>
          <a:xfrm>
            <a:off x="9619488" y="5303520"/>
            <a:ext cx="141732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1" lang="en-US">
                <a:solidFill>
                  <a:srgbClr val="FFFFFF"/>
                </a:solidFill>
                <a:latin typeface="Aptos"/>
              </a:rPr>
              <a:t>bounds</a:t>
            </a:r>
          </a:p>
        </p:txBody>
      </p:sp>
      <p:sp>
        <p:nvSpPr>
          <p:cNvPr id="101" name="check-label-1"/>
          <p:cNvSpPr txBox="1"/>
          <p:nvPr/>
        </p:nvSpPr>
        <p:spPr>
          <a:xfrm>
            <a:off x="9619488" y="5468112"/>
            <a:ext cx="141732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1" lang="en-US">
                <a:solidFill>
                  <a:srgbClr val="FFFFFF"/>
                </a:solidFill>
                <a:latin typeface="Aptos"/>
              </a:rPr>
              <a:t>content</a:t>
            </a:r>
          </a:p>
        </p:txBody>
      </p:sp>
      <p:sp>
        <p:nvSpPr>
          <p:cNvPr id="102" name="check-label-2"/>
          <p:cNvSpPr txBox="1"/>
          <p:nvPr/>
        </p:nvSpPr>
        <p:spPr>
          <a:xfrm>
            <a:off x="9619488" y="5632704"/>
            <a:ext cx="141732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1" lang="en-US">
                <a:solidFill>
                  <a:srgbClr val="FFFFFF"/>
                </a:solidFill>
                <a:latin typeface="Aptos"/>
              </a:rPr>
              <a:t>tables</a:t>
            </a:r>
          </a:p>
        </p:txBody>
      </p:sp>
      <p:sp>
        <p:nvSpPr>
          <p:cNvPr id="103" name="check-label-3"/>
          <p:cNvSpPr txBox="1"/>
          <p:nvPr/>
        </p:nvSpPr>
        <p:spPr>
          <a:xfrm>
            <a:off x="9619488" y="5797296"/>
            <a:ext cx="141732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1" lang="en-US">
                <a:solidFill>
                  <a:srgbClr val="FFFFFF"/>
                </a:solidFill>
                <a:latin typeface="Aptos"/>
              </a:rPr>
              <a:t>order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00"/>
          </a:solidFill>
          <a:ln w="10160">
            <a:solidFill>
              <a:srgbClr val="F5F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op-band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0000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nav-shadow"/>
          <p:cNvSpPr/>
          <p:nvPr/>
        </p:nvSpPr>
        <p:spPr>
          <a:xfrm>
            <a:off x="539496" y="1161288"/>
            <a:ext cx="1572768" cy="5102352"/>
          </a:xfrm>
          <a:prstGeom prst="rect">
            <a:avLst/>
          </a:prstGeom>
          <a:solidFill>
            <a:srgbClr val="000000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nav-shell"/>
          <p:cNvSpPr/>
          <p:nvPr/>
        </p:nvSpPr>
        <p:spPr>
          <a:xfrm>
            <a:off x="457200" y="1078992"/>
            <a:ext cx="1572768" cy="5102352"/>
          </a:xfrm>
          <a:prstGeom prst="rect">
            <a:avLst/>
          </a:prstGeom>
          <a:solidFill>
            <a:srgbClr val="CCFF00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metric-0-shadow"/>
          <p:cNvSpPr/>
          <p:nvPr/>
        </p:nvSpPr>
        <p:spPr>
          <a:xfrm>
            <a:off x="2331720" y="1161288"/>
            <a:ext cx="1161288" cy="768096"/>
          </a:xfrm>
          <a:prstGeom prst="rect">
            <a:avLst/>
          </a:prstGeom>
          <a:solidFill>
            <a:srgbClr val="000000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metric-0-shell"/>
          <p:cNvSpPr/>
          <p:nvPr/>
        </p:nvSpPr>
        <p:spPr>
          <a:xfrm>
            <a:off x="2249424" y="1078992"/>
            <a:ext cx="1161288" cy="768096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metric-1-shadow"/>
          <p:cNvSpPr/>
          <p:nvPr/>
        </p:nvSpPr>
        <p:spPr>
          <a:xfrm>
            <a:off x="3639312" y="1161288"/>
            <a:ext cx="1161288" cy="768096"/>
          </a:xfrm>
          <a:prstGeom prst="rect">
            <a:avLst/>
          </a:prstGeom>
          <a:solidFill>
            <a:srgbClr val="000000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metric-1-shell"/>
          <p:cNvSpPr/>
          <p:nvPr/>
        </p:nvSpPr>
        <p:spPr>
          <a:xfrm>
            <a:off x="3557016" y="1078992"/>
            <a:ext cx="1161288" cy="768096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metric-2-shadow"/>
          <p:cNvSpPr/>
          <p:nvPr/>
        </p:nvSpPr>
        <p:spPr>
          <a:xfrm>
            <a:off x="4946904" y="1161288"/>
            <a:ext cx="1161288" cy="768096"/>
          </a:xfrm>
          <a:prstGeom prst="rect">
            <a:avLst/>
          </a:prstGeom>
          <a:solidFill>
            <a:srgbClr val="000000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metric-2-shell"/>
          <p:cNvSpPr/>
          <p:nvPr/>
        </p:nvSpPr>
        <p:spPr>
          <a:xfrm>
            <a:off x="4864608" y="1078992"/>
            <a:ext cx="1161288" cy="768096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metric-3-shadow"/>
          <p:cNvSpPr/>
          <p:nvPr/>
        </p:nvSpPr>
        <p:spPr>
          <a:xfrm>
            <a:off x="6254496" y="1161288"/>
            <a:ext cx="1161288" cy="768096"/>
          </a:xfrm>
          <a:prstGeom prst="rect">
            <a:avLst/>
          </a:prstGeom>
          <a:solidFill>
            <a:srgbClr val="000000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metric-3-shell"/>
          <p:cNvSpPr/>
          <p:nvPr/>
        </p:nvSpPr>
        <p:spPr>
          <a:xfrm>
            <a:off x="6172200" y="1078992"/>
            <a:ext cx="1161288" cy="768096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metric-4-shadow"/>
          <p:cNvSpPr/>
          <p:nvPr/>
        </p:nvSpPr>
        <p:spPr>
          <a:xfrm>
            <a:off x="7562088" y="1161288"/>
            <a:ext cx="1161288" cy="768096"/>
          </a:xfrm>
          <a:prstGeom prst="rect">
            <a:avLst/>
          </a:prstGeom>
          <a:solidFill>
            <a:srgbClr val="000000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metric-4-shell"/>
          <p:cNvSpPr/>
          <p:nvPr/>
        </p:nvSpPr>
        <p:spPr>
          <a:xfrm>
            <a:off x="7479792" y="1078992"/>
            <a:ext cx="1161288" cy="768096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isk-rail-shadow"/>
          <p:cNvSpPr/>
          <p:nvPr/>
        </p:nvSpPr>
        <p:spPr>
          <a:xfrm>
            <a:off x="9134856" y="1161288"/>
            <a:ext cx="2679192" cy="4389120"/>
          </a:xfrm>
          <a:prstGeom prst="rect">
            <a:avLst/>
          </a:prstGeom>
          <a:solidFill>
            <a:srgbClr val="000000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isk-rail-shell"/>
          <p:cNvSpPr/>
          <p:nvPr/>
        </p:nvSpPr>
        <p:spPr>
          <a:xfrm>
            <a:off x="9052560" y="1078992"/>
            <a:ext cx="2679192" cy="4389120"/>
          </a:xfrm>
          <a:prstGeom prst="rect">
            <a:avLst/>
          </a:prstGeom>
          <a:solidFill>
            <a:srgbClr val="CCFF00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nav-accent"/>
          <p:cNvSpPr/>
          <p:nvPr/>
        </p:nvSpPr>
        <p:spPr>
          <a:xfrm>
            <a:off x="457200" y="1078992"/>
            <a:ext cx="73152" cy="5102352"/>
          </a:xfrm>
          <a:prstGeom prst="rect">
            <a:avLst/>
          </a:prstGeom>
          <a:solidFill>
            <a:srgbClr val="000000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nav-0"/>
          <p:cNvSpPr/>
          <p:nvPr/>
        </p:nvSpPr>
        <p:spPr>
          <a:xfrm>
            <a:off x="658368" y="1874519"/>
            <a:ext cx="1143000" cy="329184"/>
          </a:xfrm>
          <a:prstGeom prst="roundRect">
            <a:avLst/>
          </a:prstGeom>
          <a:solidFill>
            <a:srgbClr val="000000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nav-1"/>
          <p:cNvSpPr/>
          <p:nvPr/>
        </p:nvSpPr>
        <p:spPr>
          <a:xfrm>
            <a:off x="658368" y="2386584"/>
            <a:ext cx="1143000" cy="3291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nav-2"/>
          <p:cNvSpPr/>
          <p:nvPr/>
        </p:nvSpPr>
        <p:spPr>
          <a:xfrm>
            <a:off x="658368" y="2898648"/>
            <a:ext cx="1143000" cy="3291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nav-3"/>
          <p:cNvSpPr/>
          <p:nvPr/>
        </p:nvSpPr>
        <p:spPr>
          <a:xfrm>
            <a:off x="658368" y="3410712"/>
            <a:ext cx="1143000" cy="3291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nav-4"/>
          <p:cNvSpPr/>
          <p:nvPr/>
        </p:nvSpPr>
        <p:spPr>
          <a:xfrm>
            <a:off x="658368" y="3922776"/>
            <a:ext cx="1143000" cy="3291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nav-5"/>
          <p:cNvSpPr/>
          <p:nvPr/>
        </p:nvSpPr>
        <p:spPr>
          <a:xfrm>
            <a:off x="658368" y="4434840"/>
            <a:ext cx="1143000" cy="3291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nav-6"/>
          <p:cNvSpPr/>
          <p:nvPr/>
        </p:nvSpPr>
        <p:spPr>
          <a:xfrm>
            <a:off x="658368" y="4946904"/>
            <a:ext cx="1143000" cy="3291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metric-0-accent"/>
          <p:cNvSpPr/>
          <p:nvPr/>
        </p:nvSpPr>
        <p:spPr>
          <a:xfrm>
            <a:off x="2249424" y="1078992"/>
            <a:ext cx="73152" cy="768096"/>
          </a:xfrm>
          <a:prstGeom prst="rect">
            <a:avLst/>
          </a:prstGeom>
          <a:solidFill>
            <a:srgbClr val="000000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metric-1-accent"/>
          <p:cNvSpPr/>
          <p:nvPr/>
        </p:nvSpPr>
        <p:spPr>
          <a:xfrm>
            <a:off x="3557016" y="1078992"/>
            <a:ext cx="73152" cy="768096"/>
          </a:xfrm>
          <a:prstGeom prst="rect">
            <a:avLst/>
          </a:prstGeom>
          <a:solidFill>
            <a:srgbClr val="FF3B30"/>
          </a:solidFill>
          <a:ln w="10160">
            <a:solidFill>
              <a:srgbClr val="FF3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metric-2-accent"/>
          <p:cNvSpPr/>
          <p:nvPr/>
        </p:nvSpPr>
        <p:spPr>
          <a:xfrm>
            <a:off x="4864608" y="1078992"/>
            <a:ext cx="73152" cy="768096"/>
          </a:xfrm>
          <a:prstGeom prst="rect">
            <a:avLst/>
          </a:prstGeom>
          <a:solidFill>
            <a:srgbClr val="0000FF"/>
          </a:solidFill>
          <a:ln w="10160">
            <a:solidFill>
              <a:srgbClr val="00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metric-3-accent"/>
          <p:cNvSpPr/>
          <p:nvPr/>
        </p:nvSpPr>
        <p:spPr>
          <a:xfrm>
            <a:off x="6172200" y="1078992"/>
            <a:ext cx="73152" cy="768096"/>
          </a:xfrm>
          <a:prstGeom prst="rect">
            <a:avLst/>
          </a:prstGeom>
          <a:solidFill>
            <a:srgbClr val="FF3B30"/>
          </a:solidFill>
          <a:ln w="10160">
            <a:solidFill>
              <a:srgbClr val="FF3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metric-4-accent"/>
          <p:cNvSpPr/>
          <p:nvPr/>
        </p:nvSpPr>
        <p:spPr>
          <a:xfrm>
            <a:off x="7479792" y="1078992"/>
            <a:ext cx="73152" cy="768096"/>
          </a:xfrm>
          <a:prstGeom prst="rect">
            <a:avLst/>
          </a:prstGeom>
          <a:solidFill>
            <a:srgbClr val="000000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isk-rail-accent"/>
          <p:cNvSpPr/>
          <p:nvPr/>
        </p:nvSpPr>
        <p:spPr>
          <a:xfrm>
            <a:off x="9052560" y="1078992"/>
            <a:ext cx="73152" cy="4389120"/>
          </a:xfrm>
          <a:prstGeom prst="rect">
            <a:avLst/>
          </a:prstGeom>
          <a:solidFill>
            <a:srgbClr val="000000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progress-track"/>
          <p:cNvSpPr/>
          <p:nvPr/>
        </p:nvSpPr>
        <p:spPr>
          <a:xfrm>
            <a:off x="2249424" y="5687568"/>
            <a:ext cx="9482328" cy="384048"/>
          </a:xfrm>
          <a:prstGeom prst="roundRect">
            <a:avLst/>
          </a:prstGeom>
          <a:solidFill>
            <a:srgbClr val="CCFF00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3" name="signal-table"/>
          <p:cNvGraphicFramePr>
            <a:graphicFrameLocks noGrp="1"/>
          </p:cNvGraphicFramePr>
          <p:nvPr/>
        </p:nvGraphicFramePr>
        <p:xfrm>
          <a:off x="2249424" y="2066543"/>
          <a:ext cx="6537960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7592"/>
                <a:gridCol w="1307592"/>
                <a:gridCol w="1307592"/>
                <a:gridCol w="1307592"/>
                <a:gridCol w="1307592"/>
              </a:tblGrid>
              <a:tr h="425196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FFFFFF"/>
                          </a:solidFill>
                          <a:latin typeface="Consolas"/>
                        </a:rPr>
                        <a:t>Signal</a:t>
                      </a:r>
                    </a:p>
                  </a:txBody>
                  <a:tcPr marL="54864" marR="54864" marT="18288" marB="18288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FFFFFF"/>
                          </a:solidFill>
                          <a:latin typeface="Consolas"/>
                        </a:rPr>
                        <a:t>Owner</a:t>
                      </a:r>
                    </a:p>
                  </a:txBody>
                  <a:tcPr marL="54864" marR="54864" marT="18288" marB="18288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FFFFFF"/>
                          </a:solidFill>
                          <a:latin typeface="Consolas"/>
                        </a:rPr>
                        <a:t>State</a:t>
                      </a:r>
                    </a:p>
                  </a:txBody>
                  <a:tcPr marL="54864" marR="54864" marT="18288" marB="18288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FFFFFF"/>
                          </a:solidFill>
                          <a:latin typeface="Consolas"/>
                        </a:rPr>
                        <a:t>Gate</a:t>
                      </a:r>
                    </a:p>
                  </a:txBody>
                  <a:tcPr marL="54864" marR="54864" marT="18288" marB="18288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FFFFFF"/>
                          </a:solidFill>
                          <a:latin typeface="Consolas"/>
                        </a:rPr>
                        <a:t>Next</a:t>
                      </a:r>
                    </a:p>
                  </a:txBody>
                  <a:tcPr marL="54864" marR="54864" marT="18288" marB="18288">
                    <a:solidFill>
                      <a:srgbClr val="000000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000000"/>
                          </a:solidFill>
                          <a:latin typeface="Consolas"/>
                        </a:rPr>
                        <a:t>S-01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000000"/>
                          </a:solidFill>
                          <a:latin typeface="Consolas"/>
                        </a:rPr>
                        <a:t>Reviewer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000000"/>
                          </a:solidFill>
                          <a:latin typeface="Consolas"/>
                        </a:rPr>
                        <a:t>Watch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000000"/>
                          </a:solidFill>
                          <a:latin typeface="Consolas"/>
                        </a:rPr>
                        <a:t>Review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000000"/>
                          </a:solidFill>
                          <a:latin typeface="Consolas"/>
                        </a:rPr>
                        <a:t>Check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000000"/>
                          </a:solidFill>
                          <a:latin typeface="Consolas"/>
                        </a:rPr>
                        <a:t>S-02</a:t>
                      </a:r>
                    </a:p>
                  </a:txBody>
                  <a:tcPr marL="54864" marR="54864" marT="18288" marB="18288">
                    <a:solidFill>
                      <a:srgbClr val="CCFF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000000"/>
                          </a:solidFill>
                          <a:latin typeface="Consolas"/>
                        </a:rPr>
                        <a:t>Auditor</a:t>
                      </a:r>
                    </a:p>
                  </a:txBody>
                  <a:tcPr marL="54864" marR="54864" marT="18288" marB="18288">
                    <a:solidFill>
                      <a:srgbClr val="CCFF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000000"/>
                          </a:solidFill>
                          <a:latin typeface="Consolas"/>
                        </a:rPr>
                        <a:t>Hold</a:t>
                      </a:r>
                    </a:p>
                  </a:txBody>
                  <a:tcPr marL="54864" marR="54864" marT="18288" marB="18288">
                    <a:solidFill>
                      <a:srgbClr val="CCFF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000000"/>
                          </a:solidFill>
                          <a:latin typeface="Consolas"/>
                        </a:rPr>
                        <a:t>Repair</a:t>
                      </a:r>
                    </a:p>
                  </a:txBody>
                  <a:tcPr marL="54864" marR="54864" marT="18288" marB="18288">
                    <a:solidFill>
                      <a:srgbClr val="CCFF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000000"/>
                          </a:solidFill>
                          <a:latin typeface="Consolas"/>
                        </a:rPr>
                        <a:t>Fix</a:t>
                      </a:r>
                    </a:p>
                  </a:txBody>
                  <a:tcPr marL="54864" marR="54864" marT="18288" marB="18288">
                    <a:solidFill>
                      <a:srgbClr val="CCFF00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000000"/>
                          </a:solidFill>
                          <a:latin typeface="Consolas"/>
                        </a:rPr>
                        <a:t>S-03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000000"/>
                          </a:solidFill>
                          <a:latin typeface="Consolas"/>
                        </a:rPr>
                        <a:t>Author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000000"/>
                          </a:solidFill>
                          <a:latin typeface="Consolas"/>
                        </a:rPr>
                        <a:t>Ready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000000"/>
                          </a:solidFill>
                          <a:latin typeface="Consolas"/>
                        </a:rPr>
                        <a:t>Pass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000000"/>
                          </a:solidFill>
                          <a:latin typeface="Consolas"/>
                        </a:rPr>
                        <a:t>Ship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000000"/>
                          </a:solidFill>
                          <a:latin typeface="Consolas"/>
                        </a:rPr>
                        <a:t>S-04</a:t>
                      </a:r>
                    </a:p>
                  </a:txBody>
                  <a:tcPr marL="54864" marR="54864" marT="18288" marB="18288">
                    <a:solidFill>
                      <a:srgbClr val="CCFF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000000"/>
                          </a:solidFill>
                          <a:latin typeface="Consolas"/>
                        </a:rPr>
                        <a:t>Reviewer</a:t>
                      </a:r>
                    </a:p>
                  </a:txBody>
                  <a:tcPr marL="54864" marR="54864" marT="18288" marB="18288">
                    <a:solidFill>
                      <a:srgbClr val="CCFF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000000"/>
                          </a:solidFill>
                          <a:latin typeface="Consolas"/>
                        </a:rPr>
                        <a:t>Watch</a:t>
                      </a:r>
                    </a:p>
                  </a:txBody>
                  <a:tcPr marL="54864" marR="54864" marT="18288" marB="18288">
                    <a:solidFill>
                      <a:srgbClr val="CCFF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000000"/>
                          </a:solidFill>
                          <a:latin typeface="Consolas"/>
                        </a:rPr>
                        <a:t>Review</a:t>
                      </a:r>
                    </a:p>
                  </a:txBody>
                  <a:tcPr marL="54864" marR="54864" marT="18288" marB="18288">
                    <a:solidFill>
                      <a:srgbClr val="CCFF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000000"/>
                          </a:solidFill>
                          <a:latin typeface="Consolas"/>
                        </a:rPr>
                        <a:t>Check</a:t>
                      </a:r>
                    </a:p>
                  </a:txBody>
                  <a:tcPr marL="54864" marR="54864" marT="18288" marB="18288">
                    <a:solidFill>
                      <a:srgbClr val="CCFF00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000000"/>
                          </a:solidFill>
                          <a:latin typeface="Consolas"/>
                        </a:rPr>
                        <a:t>S-05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000000"/>
                          </a:solidFill>
                          <a:latin typeface="Consolas"/>
                        </a:rPr>
                        <a:t>Auditor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000000"/>
                          </a:solidFill>
                          <a:latin typeface="Consolas"/>
                        </a:rPr>
                        <a:t>Hold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000000"/>
                          </a:solidFill>
                          <a:latin typeface="Consolas"/>
                        </a:rPr>
                        <a:t>Repair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000000"/>
                          </a:solidFill>
                          <a:latin typeface="Consolas"/>
                        </a:rPr>
                        <a:t>Fix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000000"/>
                          </a:solidFill>
                          <a:latin typeface="Consolas"/>
                        </a:rPr>
                        <a:t>S-06</a:t>
                      </a:r>
                    </a:p>
                  </a:txBody>
                  <a:tcPr marL="54864" marR="54864" marT="18288" marB="18288">
                    <a:solidFill>
                      <a:srgbClr val="CCFF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000000"/>
                          </a:solidFill>
                          <a:latin typeface="Consolas"/>
                        </a:rPr>
                        <a:t>Author</a:t>
                      </a:r>
                    </a:p>
                  </a:txBody>
                  <a:tcPr marL="54864" marR="54864" marT="18288" marB="18288">
                    <a:solidFill>
                      <a:srgbClr val="CCFF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000000"/>
                          </a:solidFill>
                          <a:latin typeface="Consolas"/>
                        </a:rPr>
                        <a:t>Ready</a:t>
                      </a:r>
                    </a:p>
                  </a:txBody>
                  <a:tcPr marL="54864" marR="54864" marT="18288" marB="18288">
                    <a:solidFill>
                      <a:srgbClr val="CCFF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000000"/>
                          </a:solidFill>
                          <a:latin typeface="Consolas"/>
                        </a:rPr>
                        <a:t>Pass</a:t>
                      </a:r>
                    </a:p>
                  </a:txBody>
                  <a:tcPr marL="54864" marR="54864" marT="18288" marB="18288">
                    <a:solidFill>
                      <a:srgbClr val="CCFF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000000"/>
                          </a:solidFill>
                          <a:latin typeface="Consolas"/>
                        </a:rPr>
                        <a:t>Ship</a:t>
                      </a:r>
                    </a:p>
                  </a:txBody>
                  <a:tcPr marL="54864" marR="54864" marT="18288" marB="18288">
                    <a:solidFill>
                      <a:srgbClr val="CCFF00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000000"/>
                          </a:solidFill>
                          <a:latin typeface="Consolas"/>
                        </a:rPr>
                        <a:t>S-07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000000"/>
                          </a:solidFill>
                          <a:latin typeface="Consolas"/>
                        </a:rPr>
                        <a:t>Reviewer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000000"/>
                          </a:solidFill>
                          <a:latin typeface="Consolas"/>
                        </a:rPr>
                        <a:t>Watch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000000"/>
                          </a:solidFill>
                          <a:latin typeface="Consolas"/>
                        </a:rPr>
                        <a:t>Review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000000"/>
                          </a:solidFill>
                          <a:latin typeface="Consolas"/>
                        </a:rPr>
                        <a:t>Check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" name="risk-dot-0"/>
          <p:cNvSpPr/>
          <p:nvPr/>
        </p:nvSpPr>
        <p:spPr>
          <a:xfrm>
            <a:off x="9308592" y="1746504"/>
            <a:ext cx="164592" cy="164592"/>
          </a:xfrm>
          <a:prstGeom prst="ellipse">
            <a:avLst/>
          </a:prstGeom>
          <a:solidFill>
            <a:srgbClr val="000000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isk-dot-1"/>
          <p:cNvSpPr/>
          <p:nvPr/>
        </p:nvSpPr>
        <p:spPr>
          <a:xfrm>
            <a:off x="9308592" y="2276856"/>
            <a:ext cx="164592" cy="164592"/>
          </a:xfrm>
          <a:prstGeom prst="ellipse">
            <a:avLst/>
          </a:prstGeom>
          <a:solidFill>
            <a:srgbClr val="000000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isk-dot-2"/>
          <p:cNvSpPr/>
          <p:nvPr/>
        </p:nvSpPr>
        <p:spPr>
          <a:xfrm>
            <a:off x="9308592" y="2807208"/>
            <a:ext cx="164592" cy="164592"/>
          </a:xfrm>
          <a:prstGeom prst="ellipse">
            <a:avLst/>
          </a:prstGeom>
          <a:solidFill>
            <a:srgbClr val="FF3B30"/>
          </a:solidFill>
          <a:ln w="10160">
            <a:solidFill>
              <a:srgbClr val="FF3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isk-dot-3"/>
          <p:cNvSpPr/>
          <p:nvPr/>
        </p:nvSpPr>
        <p:spPr>
          <a:xfrm>
            <a:off x="9308592" y="3337560"/>
            <a:ext cx="164592" cy="164592"/>
          </a:xfrm>
          <a:prstGeom prst="ellipse">
            <a:avLst/>
          </a:prstGeom>
          <a:solidFill>
            <a:srgbClr val="000000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isk-dot-4"/>
          <p:cNvSpPr/>
          <p:nvPr/>
        </p:nvSpPr>
        <p:spPr>
          <a:xfrm>
            <a:off x="9308592" y="3867912"/>
            <a:ext cx="164592" cy="164592"/>
          </a:xfrm>
          <a:prstGeom prst="ellipse">
            <a:avLst/>
          </a:prstGeom>
          <a:solidFill>
            <a:srgbClr val="0000FF"/>
          </a:solidFill>
          <a:ln w="10160">
            <a:solidFill>
              <a:srgbClr val="00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isk-dot-5"/>
          <p:cNvSpPr/>
          <p:nvPr/>
        </p:nvSpPr>
        <p:spPr>
          <a:xfrm>
            <a:off x="9308592" y="4398264"/>
            <a:ext cx="164592" cy="164592"/>
          </a:xfrm>
          <a:prstGeom prst="ellipse">
            <a:avLst/>
          </a:prstGeom>
          <a:solidFill>
            <a:srgbClr val="000000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progress-fill"/>
          <p:cNvSpPr/>
          <p:nvPr/>
        </p:nvSpPr>
        <p:spPr>
          <a:xfrm>
            <a:off x="2249424" y="5687568"/>
            <a:ext cx="7406640" cy="384048"/>
          </a:xfrm>
          <a:prstGeom prst="roundRect">
            <a:avLst/>
          </a:prstGeom>
          <a:solidFill>
            <a:srgbClr val="000000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profile-tag"/>
          <p:cNvSpPr txBox="1"/>
          <p:nvPr/>
        </p:nvSpPr>
        <p:spPr>
          <a:xfrm>
            <a:off x="457200" y="201168"/>
            <a:ext cx="768096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1" lang="en-US">
                <a:solidFill>
                  <a:srgbClr val="000000"/>
                </a:solidFill>
                <a:latin typeface="Consolas"/>
              </a:rPr>
              <a:t>V3 STRESS SUITE  ·  NEO-BRUTALISM  ·  CONTROL ROOM</a:t>
            </a:r>
          </a:p>
        </p:txBody>
      </p:sp>
      <p:sp>
        <p:nvSpPr>
          <p:cNvPr id="42" name="slide-index"/>
          <p:cNvSpPr txBox="1"/>
          <p:nvPr/>
        </p:nvSpPr>
        <p:spPr>
          <a:xfrm>
            <a:off x="10808208" y="201168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00" b="1" lang="en-US">
                <a:solidFill>
                  <a:srgbClr val="222222"/>
                </a:solidFill>
                <a:latin typeface="Consolas"/>
              </a:rPr>
              <a:t>06/60</a:t>
            </a:r>
          </a:p>
        </p:txBody>
      </p:sp>
      <p:sp>
        <p:nvSpPr>
          <p:cNvPr id="43" name="title"/>
          <p:cNvSpPr txBox="1"/>
          <p:nvPr/>
        </p:nvSpPr>
        <p:spPr>
          <a:xfrm>
            <a:off x="457200" y="484632"/>
            <a:ext cx="11274552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200" b="1" lang="en-US">
                <a:solidFill>
                  <a:srgbClr val="000000"/>
                </a:solidFill>
                <a:latin typeface="Arial Black"/>
              </a:rPr>
              <a:t>Control room layouts keep dense delivery signals governable</a:t>
            </a:r>
          </a:p>
        </p:txBody>
      </p:sp>
      <p:sp>
        <p:nvSpPr>
          <p:cNvPr id="44" name="footer"/>
          <p:cNvSpPr txBox="1"/>
          <p:nvPr/>
        </p:nvSpPr>
        <p:spPr>
          <a:xfrm>
            <a:off x="457200" y="6473952"/>
            <a:ext cx="1051560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0" lang="en-US">
                <a:solidFill>
                  <a:srgbClr val="222222"/>
                </a:solidFill>
                <a:latin typeface="Consolas"/>
              </a:rPr>
              <a:t>Native-object stress fixture · thick black outlines, hard shadows, and deliberate offset geometry · editable geometry and recorded style lock</a:t>
            </a:r>
          </a:p>
        </p:txBody>
      </p:sp>
      <p:sp>
        <p:nvSpPr>
          <p:cNvPr id="45" name="nav-title"/>
          <p:cNvSpPr txBox="1"/>
          <p:nvPr/>
        </p:nvSpPr>
        <p:spPr>
          <a:xfrm>
            <a:off x="667512" y="1298448"/>
            <a:ext cx="1078992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1" lang="en-US">
                <a:solidFill>
                  <a:srgbClr val="000000"/>
                </a:solidFill>
                <a:latin typeface="Consolas"/>
              </a:rPr>
              <a:t>CONTROL
PLANES</a:t>
            </a:r>
          </a:p>
        </p:txBody>
      </p:sp>
      <p:sp>
        <p:nvSpPr>
          <p:cNvPr id="46" name="nav-label-0"/>
          <p:cNvSpPr txBox="1"/>
          <p:nvPr/>
        </p:nvSpPr>
        <p:spPr>
          <a:xfrm>
            <a:off x="749808" y="1965960"/>
            <a:ext cx="932688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1" lang="en-US">
                <a:solidFill>
                  <a:srgbClr val="FFFFFF"/>
                </a:solidFill>
                <a:latin typeface="Consolas"/>
              </a:rPr>
              <a:t>INBOX</a:t>
            </a:r>
          </a:p>
        </p:txBody>
      </p:sp>
      <p:sp>
        <p:nvSpPr>
          <p:cNvPr id="47" name="nav-label-1"/>
          <p:cNvSpPr txBox="1"/>
          <p:nvPr/>
        </p:nvSpPr>
        <p:spPr>
          <a:xfrm>
            <a:off x="749808" y="2478024"/>
            <a:ext cx="932688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0" lang="en-US">
                <a:solidFill>
                  <a:srgbClr val="000000"/>
                </a:solidFill>
                <a:latin typeface="Consolas"/>
              </a:rPr>
              <a:t>SIGNALS</a:t>
            </a:r>
          </a:p>
        </p:txBody>
      </p:sp>
      <p:sp>
        <p:nvSpPr>
          <p:cNvPr id="48" name="nav-label-2"/>
          <p:cNvSpPr txBox="1"/>
          <p:nvPr/>
        </p:nvSpPr>
        <p:spPr>
          <a:xfrm>
            <a:off x="749808" y="2990088"/>
            <a:ext cx="932688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0" lang="en-US">
                <a:solidFill>
                  <a:srgbClr val="000000"/>
                </a:solidFill>
                <a:latin typeface="Consolas"/>
              </a:rPr>
              <a:t>EVIDENCE</a:t>
            </a:r>
          </a:p>
        </p:txBody>
      </p:sp>
      <p:sp>
        <p:nvSpPr>
          <p:cNvPr id="49" name="nav-label-3"/>
          <p:cNvSpPr txBox="1"/>
          <p:nvPr/>
        </p:nvSpPr>
        <p:spPr>
          <a:xfrm>
            <a:off x="749808" y="3502152"/>
            <a:ext cx="932688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0" lang="en-US">
                <a:solidFill>
                  <a:srgbClr val="000000"/>
                </a:solidFill>
                <a:latin typeface="Consolas"/>
              </a:rPr>
              <a:t>POLICY</a:t>
            </a:r>
          </a:p>
        </p:txBody>
      </p:sp>
      <p:sp>
        <p:nvSpPr>
          <p:cNvPr id="50" name="nav-label-4"/>
          <p:cNvSpPr txBox="1"/>
          <p:nvPr/>
        </p:nvSpPr>
        <p:spPr>
          <a:xfrm>
            <a:off x="749808" y="4014215"/>
            <a:ext cx="932688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0" lang="en-US">
                <a:solidFill>
                  <a:srgbClr val="000000"/>
                </a:solidFill>
                <a:latin typeface="Consolas"/>
              </a:rPr>
              <a:t>REPAIR</a:t>
            </a:r>
          </a:p>
        </p:txBody>
      </p:sp>
      <p:sp>
        <p:nvSpPr>
          <p:cNvPr id="51" name="nav-label-5"/>
          <p:cNvSpPr txBox="1"/>
          <p:nvPr/>
        </p:nvSpPr>
        <p:spPr>
          <a:xfrm>
            <a:off x="749808" y="4526280"/>
            <a:ext cx="932688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0" lang="en-US">
                <a:solidFill>
                  <a:srgbClr val="000000"/>
                </a:solidFill>
                <a:latin typeface="Consolas"/>
              </a:rPr>
              <a:t>RELEASE</a:t>
            </a:r>
          </a:p>
        </p:txBody>
      </p:sp>
      <p:sp>
        <p:nvSpPr>
          <p:cNvPr id="52" name="nav-label-6"/>
          <p:cNvSpPr txBox="1"/>
          <p:nvPr/>
        </p:nvSpPr>
        <p:spPr>
          <a:xfrm>
            <a:off x="749808" y="5038344"/>
            <a:ext cx="932688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0" lang="en-US">
                <a:solidFill>
                  <a:srgbClr val="000000"/>
                </a:solidFill>
                <a:latin typeface="Consolas"/>
              </a:rPr>
              <a:t>ARCHIVE</a:t>
            </a:r>
          </a:p>
        </p:txBody>
      </p:sp>
      <p:sp>
        <p:nvSpPr>
          <p:cNvPr id="53" name="metric-v-0"/>
          <p:cNvSpPr txBox="1"/>
          <p:nvPr/>
        </p:nvSpPr>
        <p:spPr>
          <a:xfrm>
            <a:off x="2432304" y="1234440"/>
            <a:ext cx="80467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lang="en-US">
                <a:solidFill>
                  <a:srgbClr val="000000"/>
                </a:solidFill>
                <a:latin typeface="Arial Black"/>
              </a:rPr>
              <a:t>48</a:t>
            </a:r>
          </a:p>
        </p:txBody>
      </p:sp>
      <p:sp>
        <p:nvSpPr>
          <p:cNvPr id="54" name="metric-l-0"/>
          <p:cNvSpPr txBox="1"/>
          <p:nvPr/>
        </p:nvSpPr>
        <p:spPr>
          <a:xfrm>
            <a:off x="2359152" y="1581912"/>
            <a:ext cx="932688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222222"/>
                </a:solidFill>
                <a:latin typeface="Consolas"/>
              </a:rPr>
              <a:t>WORK</a:t>
            </a:r>
          </a:p>
        </p:txBody>
      </p:sp>
      <p:sp>
        <p:nvSpPr>
          <p:cNvPr id="55" name="metric-v-1"/>
          <p:cNvSpPr txBox="1"/>
          <p:nvPr/>
        </p:nvSpPr>
        <p:spPr>
          <a:xfrm>
            <a:off x="3739896" y="1234440"/>
            <a:ext cx="80467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lang="en-US">
                <a:solidFill>
                  <a:srgbClr val="000000"/>
                </a:solidFill>
                <a:latin typeface="Arial Black"/>
              </a:rPr>
              <a:t>06</a:t>
            </a:r>
          </a:p>
        </p:txBody>
      </p:sp>
      <p:sp>
        <p:nvSpPr>
          <p:cNvPr id="56" name="metric-l-1"/>
          <p:cNvSpPr txBox="1"/>
          <p:nvPr/>
        </p:nvSpPr>
        <p:spPr>
          <a:xfrm>
            <a:off x="3666744" y="1581912"/>
            <a:ext cx="932688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222222"/>
                </a:solidFill>
                <a:latin typeface="Consolas"/>
              </a:rPr>
              <a:t>FLAGS</a:t>
            </a:r>
          </a:p>
        </p:txBody>
      </p:sp>
      <p:sp>
        <p:nvSpPr>
          <p:cNvPr id="57" name="metric-v-2"/>
          <p:cNvSpPr txBox="1"/>
          <p:nvPr/>
        </p:nvSpPr>
        <p:spPr>
          <a:xfrm>
            <a:off x="5047488" y="1234440"/>
            <a:ext cx="80467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lang="en-US">
                <a:solidFill>
                  <a:srgbClr val="000000"/>
                </a:solidFill>
                <a:latin typeface="Arial Black"/>
              </a:rPr>
              <a:t>31</a:t>
            </a:r>
          </a:p>
        </p:txBody>
      </p:sp>
      <p:sp>
        <p:nvSpPr>
          <p:cNvPr id="58" name="metric-l-2"/>
          <p:cNvSpPr txBox="1"/>
          <p:nvPr/>
        </p:nvSpPr>
        <p:spPr>
          <a:xfrm>
            <a:off x="4974336" y="1581912"/>
            <a:ext cx="932688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222222"/>
                </a:solidFill>
                <a:latin typeface="Consolas"/>
              </a:rPr>
              <a:t>READY</a:t>
            </a:r>
          </a:p>
        </p:txBody>
      </p:sp>
      <p:sp>
        <p:nvSpPr>
          <p:cNvPr id="59" name="metric-v-3"/>
          <p:cNvSpPr txBox="1"/>
          <p:nvPr/>
        </p:nvSpPr>
        <p:spPr>
          <a:xfrm>
            <a:off x="6355080" y="1234440"/>
            <a:ext cx="80467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lang="en-US">
                <a:solidFill>
                  <a:srgbClr val="000000"/>
                </a:solidFill>
                <a:latin typeface="Arial Black"/>
              </a:rPr>
              <a:t>04</a:t>
            </a:r>
          </a:p>
        </p:txBody>
      </p:sp>
      <p:sp>
        <p:nvSpPr>
          <p:cNvPr id="60" name="metric-l-3"/>
          <p:cNvSpPr txBox="1"/>
          <p:nvPr/>
        </p:nvSpPr>
        <p:spPr>
          <a:xfrm>
            <a:off x="6281928" y="1581912"/>
            <a:ext cx="932688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222222"/>
                </a:solidFill>
                <a:latin typeface="Consolas"/>
              </a:rPr>
              <a:t>HOLD</a:t>
            </a:r>
          </a:p>
        </p:txBody>
      </p:sp>
      <p:sp>
        <p:nvSpPr>
          <p:cNvPr id="61" name="metric-v-4"/>
          <p:cNvSpPr txBox="1"/>
          <p:nvPr/>
        </p:nvSpPr>
        <p:spPr>
          <a:xfrm>
            <a:off x="7662672" y="1234440"/>
            <a:ext cx="80467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lang="en-US">
                <a:solidFill>
                  <a:srgbClr val="000000"/>
                </a:solidFill>
                <a:latin typeface="Arial Black"/>
              </a:rPr>
              <a:t>12</a:t>
            </a:r>
          </a:p>
        </p:txBody>
      </p:sp>
      <p:sp>
        <p:nvSpPr>
          <p:cNvPr id="62" name="metric-l-4"/>
          <p:cNvSpPr txBox="1"/>
          <p:nvPr/>
        </p:nvSpPr>
        <p:spPr>
          <a:xfrm>
            <a:off x="7589520" y="1581912"/>
            <a:ext cx="932688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222222"/>
                </a:solidFill>
                <a:latin typeface="Consolas"/>
              </a:rPr>
              <a:t>STYLE</a:t>
            </a:r>
          </a:p>
        </p:txBody>
      </p:sp>
      <p:sp>
        <p:nvSpPr>
          <p:cNvPr id="63" name="risk-title"/>
          <p:cNvSpPr txBox="1"/>
          <p:nvPr/>
        </p:nvSpPr>
        <p:spPr>
          <a:xfrm>
            <a:off x="9308592" y="1298448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1" lang="en-US">
                <a:solidFill>
                  <a:srgbClr val="000000"/>
                </a:solidFill>
                <a:latin typeface="Consolas"/>
              </a:rPr>
              <a:t>LIVE REVIEW QUEUE</a:t>
            </a:r>
          </a:p>
        </p:txBody>
      </p:sp>
      <p:sp>
        <p:nvSpPr>
          <p:cNvPr id="64" name="risk-label-0"/>
          <p:cNvSpPr txBox="1"/>
          <p:nvPr/>
        </p:nvSpPr>
        <p:spPr>
          <a:xfrm>
            <a:off x="9619488" y="1691640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50" b="1" lang="en-US">
                <a:solidFill>
                  <a:srgbClr val="000000"/>
                </a:solidFill>
                <a:latin typeface="Consolas"/>
              </a:rPr>
              <a:t>Scope stable</a:t>
            </a:r>
          </a:p>
        </p:txBody>
      </p:sp>
      <p:sp>
        <p:nvSpPr>
          <p:cNvPr id="65" name="risk-state-0"/>
          <p:cNvSpPr txBox="1"/>
          <p:nvPr/>
        </p:nvSpPr>
        <p:spPr>
          <a:xfrm>
            <a:off x="10972800" y="169164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00" b="1" lang="en-US">
                <a:solidFill>
                  <a:srgbClr val="000000"/>
                </a:solidFill>
                <a:latin typeface="Consolas"/>
              </a:rPr>
              <a:t>PASS</a:t>
            </a:r>
          </a:p>
        </p:txBody>
      </p:sp>
      <p:sp>
        <p:nvSpPr>
          <p:cNvPr id="66" name="risk-label-1"/>
          <p:cNvSpPr txBox="1"/>
          <p:nvPr/>
        </p:nvSpPr>
        <p:spPr>
          <a:xfrm>
            <a:off x="9619488" y="2221992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50" b="1" lang="en-US">
                <a:solidFill>
                  <a:srgbClr val="000000"/>
                </a:solidFill>
                <a:latin typeface="Consolas"/>
              </a:rPr>
              <a:t>Text capacity</a:t>
            </a:r>
          </a:p>
        </p:txBody>
      </p:sp>
      <p:sp>
        <p:nvSpPr>
          <p:cNvPr id="67" name="risk-state-1"/>
          <p:cNvSpPr txBox="1"/>
          <p:nvPr/>
        </p:nvSpPr>
        <p:spPr>
          <a:xfrm>
            <a:off x="10972800" y="2221992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00" b="1" lang="en-US">
                <a:solidFill>
                  <a:srgbClr val="000000"/>
                </a:solidFill>
                <a:latin typeface="Consolas"/>
              </a:rPr>
              <a:t>PASS</a:t>
            </a:r>
          </a:p>
        </p:txBody>
      </p:sp>
      <p:sp>
        <p:nvSpPr>
          <p:cNvPr id="68" name="risk-label-2"/>
          <p:cNvSpPr txBox="1"/>
          <p:nvPr/>
        </p:nvSpPr>
        <p:spPr>
          <a:xfrm>
            <a:off x="9619488" y="2752344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50" b="1" lang="en-US">
                <a:solidFill>
                  <a:srgbClr val="000000"/>
                </a:solidFill>
                <a:latin typeface="Consolas"/>
              </a:rPr>
              <a:t>Contrast check</a:t>
            </a:r>
          </a:p>
        </p:txBody>
      </p:sp>
      <p:sp>
        <p:nvSpPr>
          <p:cNvPr id="69" name="risk-state-2"/>
          <p:cNvSpPr txBox="1"/>
          <p:nvPr/>
        </p:nvSpPr>
        <p:spPr>
          <a:xfrm>
            <a:off x="10972800" y="275234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00" b="1" lang="en-US">
                <a:solidFill>
                  <a:srgbClr val="FF3B30"/>
                </a:solidFill>
                <a:latin typeface="Consolas"/>
              </a:rPr>
              <a:t>WATCH</a:t>
            </a:r>
          </a:p>
        </p:txBody>
      </p:sp>
      <p:sp>
        <p:nvSpPr>
          <p:cNvPr id="70" name="risk-label-3"/>
          <p:cNvSpPr txBox="1"/>
          <p:nvPr/>
        </p:nvSpPr>
        <p:spPr>
          <a:xfrm>
            <a:off x="9619488" y="3282696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50" b="1" lang="en-US">
                <a:solidFill>
                  <a:srgbClr val="000000"/>
                </a:solidFill>
                <a:latin typeface="Consolas"/>
              </a:rPr>
              <a:t>Table fit</a:t>
            </a:r>
          </a:p>
        </p:txBody>
      </p:sp>
      <p:sp>
        <p:nvSpPr>
          <p:cNvPr id="71" name="risk-state-3"/>
          <p:cNvSpPr txBox="1"/>
          <p:nvPr/>
        </p:nvSpPr>
        <p:spPr>
          <a:xfrm>
            <a:off x="10972800" y="3282696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00" b="1" lang="en-US">
                <a:solidFill>
                  <a:srgbClr val="000000"/>
                </a:solidFill>
                <a:latin typeface="Consolas"/>
              </a:rPr>
              <a:t>PASS</a:t>
            </a:r>
          </a:p>
        </p:txBody>
      </p:sp>
      <p:sp>
        <p:nvSpPr>
          <p:cNvPr id="72" name="risk-label-4"/>
          <p:cNvSpPr txBox="1"/>
          <p:nvPr/>
        </p:nvSpPr>
        <p:spPr>
          <a:xfrm>
            <a:off x="9619488" y="3813048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50" b="1" lang="en-US">
                <a:solidFill>
                  <a:srgbClr val="000000"/>
                </a:solidFill>
                <a:latin typeface="Consolas"/>
              </a:rPr>
              <a:t>Read order</a:t>
            </a:r>
          </a:p>
        </p:txBody>
      </p:sp>
      <p:sp>
        <p:nvSpPr>
          <p:cNvPr id="73" name="risk-state-4"/>
          <p:cNvSpPr txBox="1"/>
          <p:nvPr/>
        </p:nvSpPr>
        <p:spPr>
          <a:xfrm>
            <a:off x="10972800" y="3813048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00" b="1" lang="en-US">
                <a:solidFill>
                  <a:srgbClr val="0000FF"/>
                </a:solidFill>
                <a:latin typeface="Consolas"/>
              </a:rPr>
              <a:t>PASS</a:t>
            </a:r>
          </a:p>
        </p:txBody>
      </p:sp>
      <p:sp>
        <p:nvSpPr>
          <p:cNvPr id="74" name="risk-label-5"/>
          <p:cNvSpPr txBox="1"/>
          <p:nvPr/>
        </p:nvSpPr>
        <p:spPr>
          <a:xfrm>
            <a:off x="9619488" y="4343400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50" b="1" lang="en-US">
                <a:solidFill>
                  <a:srgbClr val="000000"/>
                </a:solidFill>
                <a:latin typeface="Consolas"/>
              </a:rPr>
              <a:t>Package</a:t>
            </a:r>
          </a:p>
        </p:txBody>
      </p:sp>
      <p:sp>
        <p:nvSpPr>
          <p:cNvPr id="75" name="risk-state-5"/>
          <p:cNvSpPr txBox="1"/>
          <p:nvPr/>
        </p:nvSpPr>
        <p:spPr>
          <a:xfrm>
            <a:off x="10972800" y="434340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00" b="1" lang="en-US">
                <a:solidFill>
                  <a:srgbClr val="000000"/>
                </a:solidFill>
                <a:latin typeface="Consolas"/>
              </a:rPr>
              <a:t>PASS</a:t>
            </a:r>
          </a:p>
        </p:txBody>
      </p:sp>
      <p:sp>
        <p:nvSpPr>
          <p:cNvPr id="76" name="progress-label"/>
          <p:cNvSpPr txBox="1"/>
          <p:nvPr/>
        </p:nvSpPr>
        <p:spPr>
          <a:xfrm>
            <a:off x="2468880" y="5788152"/>
            <a:ext cx="886968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50" b="1" lang="en-US">
                <a:solidFill>
                  <a:srgbClr val="FFFFFF"/>
                </a:solidFill>
                <a:latin typeface="Consolas"/>
              </a:rPr>
              <a:t>Stress workload: 78% complete · 12 profiles locked · 0 geometry regressions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00"/>
          </a:solidFill>
          <a:ln w="10160">
            <a:solidFill>
              <a:srgbClr val="F5F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op-band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0000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mesh-shadow"/>
          <p:cNvSpPr/>
          <p:nvPr/>
        </p:nvSpPr>
        <p:spPr>
          <a:xfrm>
            <a:off x="539496" y="1161288"/>
            <a:ext cx="7360920" cy="5029200"/>
          </a:xfrm>
          <a:prstGeom prst="rect">
            <a:avLst/>
          </a:prstGeom>
          <a:solidFill>
            <a:srgbClr val="000000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mesh-shell"/>
          <p:cNvSpPr/>
          <p:nvPr/>
        </p:nvSpPr>
        <p:spPr>
          <a:xfrm>
            <a:off x="457200" y="1078992"/>
            <a:ext cx="7360920" cy="5029200"/>
          </a:xfrm>
          <a:prstGeom prst="rect">
            <a:avLst/>
          </a:prstGeom>
          <a:solidFill>
            <a:srgbClr val="CCFF00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mesh-rail-shadow"/>
          <p:cNvSpPr/>
          <p:nvPr/>
        </p:nvSpPr>
        <p:spPr>
          <a:xfrm>
            <a:off x="8174736" y="1161288"/>
            <a:ext cx="3639312" cy="5029200"/>
          </a:xfrm>
          <a:prstGeom prst="rect">
            <a:avLst/>
          </a:prstGeom>
          <a:solidFill>
            <a:srgbClr val="000000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mesh-rail-shell"/>
          <p:cNvSpPr/>
          <p:nvPr/>
        </p:nvSpPr>
        <p:spPr>
          <a:xfrm>
            <a:off x="8092440" y="1078992"/>
            <a:ext cx="3639312" cy="5029200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mesh-accent"/>
          <p:cNvSpPr/>
          <p:nvPr/>
        </p:nvSpPr>
        <p:spPr>
          <a:xfrm>
            <a:off x="457200" y="1078992"/>
            <a:ext cx="73152" cy="5029200"/>
          </a:xfrm>
          <a:prstGeom prst="rect">
            <a:avLst/>
          </a:prstGeom>
          <a:solidFill>
            <a:srgbClr val="000000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mesh-edge-0"/>
          <p:cNvCxnSpPr/>
          <p:nvPr/>
        </p:nvCxnSpPr>
        <p:spPr>
          <a:xfrm flipV="1">
            <a:off x="1618488" y="1920240"/>
            <a:ext cx="1828800" cy="320040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mesh-edge-1"/>
          <p:cNvCxnSpPr/>
          <p:nvPr/>
        </p:nvCxnSpPr>
        <p:spPr>
          <a:xfrm>
            <a:off x="3447288" y="1920240"/>
            <a:ext cx="1920240" cy="320040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mesh-edge-2"/>
          <p:cNvCxnSpPr/>
          <p:nvPr/>
        </p:nvCxnSpPr>
        <p:spPr>
          <a:xfrm>
            <a:off x="1618488" y="2240280"/>
            <a:ext cx="868680" cy="1325880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mesh-edge-3"/>
          <p:cNvCxnSpPr/>
          <p:nvPr/>
        </p:nvCxnSpPr>
        <p:spPr>
          <a:xfrm flipH="1">
            <a:off x="2487168" y="1920240"/>
            <a:ext cx="960120" cy="1645920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mesh-edge-4"/>
          <p:cNvCxnSpPr/>
          <p:nvPr/>
        </p:nvCxnSpPr>
        <p:spPr>
          <a:xfrm>
            <a:off x="3447288" y="1920240"/>
            <a:ext cx="1005840" cy="1307592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mesh-edge-5"/>
          <p:cNvCxnSpPr/>
          <p:nvPr/>
        </p:nvCxnSpPr>
        <p:spPr>
          <a:xfrm flipH="1">
            <a:off x="4453128" y="2240280"/>
            <a:ext cx="914400" cy="987552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mesh-edge-6"/>
          <p:cNvCxnSpPr/>
          <p:nvPr/>
        </p:nvCxnSpPr>
        <p:spPr>
          <a:xfrm>
            <a:off x="5367528" y="2240280"/>
            <a:ext cx="1005840" cy="1325880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mesh-edge-7"/>
          <p:cNvCxnSpPr/>
          <p:nvPr/>
        </p:nvCxnSpPr>
        <p:spPr>
          <a:xfrm flipV="1">
            <a:off x="2487168" y="3227832"/>
            <a:ext cx="1965960" cy="338328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mesh-edge-8"/>
          <p:cNvCxnSpPr/>
          <p:nvPr/>
        </p:nvCxnSpPr>
        <p:spPr>
          <a:xfrm>
            <a:off x="4453128" y="3227832"/>
            <a:ext cx="1920240" cy="338328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mesh-edge-9"/>
          <p:cNvCxnSpPr/>
          <p:nvPr/>
        </p:nvCxnSpPr>
        <p:spPr>
          <a:xfrm>
            <a:off x="2487168" y="3566160"/>
            <a:ext cx="960120" cy="1325880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mesh-edge-10"/>
          <p:cNvCxnSpPr/>
          <p:nvPr/>
        </p:nvCxnSpPr>
        <p:spPr>
          <a:xfrm flipH="1">
            <a:off x="3447288" y="3227832"/>
            <a:ext cx="1005840" cy="1664208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mesh-edge-11"/>
          <p:cNvCxnSpPr/>
          <p:nvPr/>
        </p:nvCxnSpPr>
        <p:spPr>
          <a:xfrm>
            <a:off x="4453128" y="3227832"/>
            <a:ext cx="914400" cy="1664208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mesh-edge-12"/>
          <p:cNvCxnSpPr/>
          <p:nvPr/>
        </p:nvCxnSpPr>
        <p:spPr>
          <a:xfrm flipH="1">
            <a:off x="5367528" y="3566160"/>
            <a:ext cx="1005840" cy="1325880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mesh-edge-13"/>
          <p:cNvCxnSpPr/>
          <p:nvPr/>
        </p:nvCxnSpPr>
        <p:spPr>
          <a:xfrm>
            <a:off x="3447288" y="4892040"/>
            <a:ext cx="1920240" cy="0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mesh-rail-accent"/>
          <p:cNvSpPr/>
          <p:nvPr/>
        </p:nvSpPr>
        <p:spPr>
          <a:xfrm>
            <a:off x="8092440" y="1078992"/>
            <a:ext cx="73152" cy="5029200"/>
          </a:xfrm>
          <a:prstGeom prst="rect">
            <a:avLst/>
          </a:prstGeom>
          <a:solidFill>
            <a:srgbClr val="000000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trace-line-0"/>
          <p:cNvCxnSpPr/>
          <p:nvPr/>
        </p:nvCxnSpPr>
        <p:spPr>
          <a:xfrm>
            <a:off x="8577072" y="2029968"/>
            <a:ext cx="0" cy="164592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trace-line-1"/>
          <p:cNvCxnSpPr/>
          <p:nvPr/>
        </p:nvCxnSpPr>
        <p:spPr>
          <a:xfrm>
            <a:off x="8577072" y="2596896"/>
            <a:ext cx="0" cy="164592"/>
          </a:xfrm>
          <a:prstGeom prst="line">
            <a:avLst/>
          </a:prstGeom>
          <a:ln w="13970">
            <a:solidFill>
              <a:srgbClr val="FF3B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trace-line-2"/>
          <p:cNvCxnSpPr/>
          <p:nvPr/>
        </p:nvCxnSpPr>
        <p:spPr>
          <a:xfrm>
            <a:off x="8577072" y="3163824"/>
            <a:ext cx="0" cy="164592"/>
          </a:xfrm>
          <a:prstGeom prst="line">
            <a:avLst/>
          </a:prstGeom>
          <a:ln w="13970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trace-line-3"/>
          <p:cNvCxnSpPr/>
          <p:nvPr/>
        </p:nvCxnSpPr>
        <p:spPr>
          <a:xfrm>
            <a:off x="8577072" y="3730752"/>
            <a:ext cx="0" cy="164592"/>
          </a:xfrm>
          <a:prstGeom prst="line">
            <a:avLst/>
          </a:prstGeom>
          <a:ln w="13970">
            <a:solidFill>
              <a:srgbClr val="FF3B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trace-line-4"/>
          <p:cNvCxnSpPr/>
          <p:nvPr/>
        </p:nvCxnSpPr>
        <p:spPr>
          <a:xfrm>
            <a:off x="8577072" y="4297680"/>
            <a:ext cx="0" cy="164592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trace-line-5"/>
          <p:cNvCxnSpPr/>
          <p:nvPr/>
        </p:nvCxnSpPr>
        <p:spPr>
          <a:xfrm>
            <a:off x="8577072" y="4864608"/>
            <a:ext cx="0" cy="164592"/>
          </a:xfrm>
          <a:prstGeom prst="line">
            <a:avLst/>
          </a:prstGeom>
          <a:ln w="13970">
            <a:solidFill>
              <a:srgbClr val="FF2D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mesh-node-0"/>
          <p:cNvSpPr/>
          <p:nvPr/>
        </p:nvSpPr>
        <p:spPr>
          <a:xfrm>
            <a:off x="1051560" y="1920240"/>
            <a:ext cx="1143000" cy="640080"/>
          </a:xfrm>
          <a:prstGeom prst="roundRect">
            <a:avLst/>
          </a:prstGeom>
          <a:solidFill>
            <a:srgbClr val="000000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mesh-node-1"/>
          <p:cNvSpPr/>
          <p:nvPr/>
        </p:nvSpPr>
        <p:spPr>
          <a:xfrm>
            <a:off x="2880360" y="1600200"/>
            <a:ext cx="1143000" cy="640080"/>
          </a:xfrm>
          <a:prstGeom prst="roundRect">
            <a:avLst/>
          </a:prstGeom>
          <a:solidFill>
            <a:srgbClr val="FF3B30"/>
          </a:solidFill>
          <a:ln w="10160">
            <a:solidFill>
              <a:srgbClr val="FF3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mesh-node-2"/>
          <p:cNvSpPr/>
          <p:nvPr/>
        </p:nvSpPr>
        <p:spPr>
          <a:xfrm>
            <a:off x="4800600" y="1920240"/>
            <a:ext cx="1143000" cy="640080"/>
          </a:xfrm>
          <a:prstGeom prst="roundRect">
            <a:avLst/>
          </a:prstGeom>
          <a:solidFill>
            <a:srgbClr val="0000FF"/>
          </a:solidFill>
          <a:ln w="10160">
            <a:solidFill>
              <a:srgbClr val="00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mesh-node-3"/>
          <p:cNvSpPr/>
          <p:nvPr/>
        </p:nvSpPr>
        <p:spPr>
          <a:xfrm>
            <a:off x="1920240" y="3246120"/>
            <a:ext cx="1143000" cy="640080"/>
          </a:xfrm>
          <a:prstGeom prst="roundRect">
            <a:avLst/>
          </a:prstGeom>
          <a:solidFill>
            <a:srgbClr val="000000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mesh-node-4"/>
          <p:cNvSpPr/>
          <p:nvPr/>
        </p:nvSpPr>
        <p:spPr>
          <a:xfrm>
            <a:off x="3886200" y="2907792"/>
            <a:ext cx="1143000" cy="640080"/>
          </a:xfrm>
          <a:prstGeom prst="roundRect">
            <a:avLst/>
          </a:prstGeom>
          <a:solidFill>
            <a:srgbClr val="FF3B30"/>
          </a:solidFill>
          <a:ln w="10160">
            <a:solidFill>
              <a:srgbClr val="FF3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mesh-node-5"/>
          <p:cNvSpPr/>
          <p:nvPr/>
        </p:nvSpPr>
        <p:spPr>
          <a:xfrm>
            <a:off x="5806440" y="3246120"/>
            <a:ext cx="1143000" cy="640080"/>
          </a:xfrm>
          <a:prstGeom prst="roundRect">
            <a:avLst/>
          </a:prstGeom>
          <a:solidFill>
            <a:srgbClr val="000000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mesh-node-6"/>
          <p:cNvSpPr/>
          <p:nvPr/>
        </p:nvSpPr>
        <p:spPr>
          <a:xfrm>
            <a:off x="2880360" y="4572000"/>
            <a:ext cx="1143000" cy="640080"/>
          </a:xfrm>
          <a:prstGeom prst="roundRect">
            <a:avLst/>
          </a:prstGeom>
          <a:solidFill>
            <a:srgbClr val="FF2D55"/>
          </a:solidFill>
          <a:ln w="10160">
            <a:solidFill>
              <a:srgbClr val="FF2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mesh-node-7"/>
          <p:cNvSpPr/>
          <p:nvPr/>
        </p:nvSpPr>
        <p:spPr>
          <a:xfrm>
            <a:off x="4800600" y="4572000"/>
            <a:ext cx="1143000" cy="640080"/>
          </a:xfrm>
          <a:prstGeom prst="roundRect">
            <a:avLst/>
          </a:prstGeom>
          <a:solidFill>
            <a:srgbClr val="000000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race-badge-0"/>
          <p:cNvSpPr/>
          <p:nvPr/>
        </p:nvSpPr>
        <p:spPr>
          <a:xfrm>
            <a:off x="8357616" y="1682496"/>
            <a:ext cx="438912" cy="347472"/>
          </a:xfrm>
          <a:prstGeom prst="roundRect">
            <a:avLst/>
          </a:prstGeom>
          <a:solidFill>
            <a:srgbClr val="000000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race-badge-1"/>
          <p:cNvSpPr/>
          <p:nvPr/>
        </p:nvSpPr>
        <p:spPr>
          <a:xfrm>
            <a:off x="8357616" y="2249424"/>
            <a:ext cx="438912" cy="347472"/>
          </a:xfrm>
          <a:prstGeom prst="roundRect">
            <a:avLst/>
          </a:prstGeom>
          <a:solidFill>
            <a:srgbClr val="FF3B30"/>
          </a:solidFill>
          <a:ln w="10160">
            <a:solidFill>
              <a:srgbClr val="FF3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race-badge-2"/>
          <p:cNvSpPr/>
          <p:nvPr/>
        </p:nvSpPr>
        <p:spPr>
          <a:xfrm>
            <a:off x="8357616" y="2816352"/>
            <a:ext cx="438912" cy="347472"/>
          </a:xfrm>
          <a:prstGeom prst="roundRect">
            <a:avLst/>
          </a:prstGeom>
          <a:solidFill>
            <a:srgbClr val="0000FF"/>
          </a:solidFill>
          <a:ln w="10160">
            <a:solidFill>
              <a:srgbClr val="00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race-badge-3"/>
          <p:cNvSpPr/>
          <p:nvPr/>
        </p:nvSpPr>
        <p:spPr>
          <a:xfrm>
            <a:off x="8357616" y="3383280"/>
            <a:ext cx="438912" cy="347472"/>
          </a:xfrm>
          <a:prstGeom prst="roundRect">
            <a:avLst/>
          </a:prstGeom>
          <a:solidFill>
            <a:srgbClr val="FF3B30"/>
          </a:solidFill>
          <a:ln w="10160">
            <a:solidFill>
              <a:srgbClr val="FF3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race-badge-4"/>
          <p:cNvSpPr/>
          <p:nvPr/>
        </p:nvSpPr>
        <p:spPr>
          <a:xfrm>
            <a:off x="8357616" y="3950208"/>
            <a:ext cx="438912" cy="347472"/>
          </a:xfrm>
          <a:prstGeom prst="roundRect">
            <a:avLst/>
          </a:prstGeom>
          <a:solidFill>
            <a:srgbClr val="000000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race-badge-5"/>
          <p:cNvSpPr/>
          <p:nvPr/>
        </p:nvSpPr>
        <p:spPr>
          <a:xfrm>
            <a:off x="8357616" y="4517136"/>
            <a:ext cx="438912" cy="347472"/>
          </a:xfrm>
          <a:prstGeom prst="roundRect">
            <a:avLst/>
          </a:prstGeom>
          <a:solidFill>
            <a:srgbClr val="FF2D55"/>
          </a:solidFill>
          <a:ln w="10160">
            <a:solidFill>
              <a:srgbClr val="FF2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profile-tag"/>
          <p:cNvSpPr txBox="1"/>
          <p:nvPr/>
        </p:nvSpPr>
        <p:spPr>
          <a:xfrm>
            <a:off x="457200" y="201168"/>
            <a:ext cx="768096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1" lang="en-US">
                <a:solidFill>
                  <a:srgbClr val="000000"/>
                </a:solidFill>
                <a:latin typeface="Consolas"/>
              </a:rPr>
              <a:t>V3 STRESS SUITE  ·  NEO-BRUTALISM  ·  EVIDENCE MESH</a:t>
            </a:r>
          </a:p>
        </p:txBody>
      </p:sp>
      <p:sp>
        <p:nvSpPr>
          <p:cNvPr id="45" name="slide-index"/>
          <p:cNvSpPr txBox="1"/>
          <p:nvPr/>
        </p:nvSpPr>
        <p:spPr>
          <a:xfrm>
            <a:off x="10808208" y="201168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00" b="1" lang="en-US">
                <a:solidFill>
                  <a:srgbClr val="222222"/>
                </a:solidFill>
                <a:latin typeface="Consolas"/>
              </a:rPr>
              <a:t>07/60</a:t>
            </a:r>
          </a:p>
        </p:txBody>
      </p:sp>
      <p:sp>
        <p:nvSpPr>
          <p:cNvPr id="46" name="title"/>
          <p:cNvSpPr txBox="1"/>
          <p:nvPr/>
        </p:nvSpPr>
        <p:spPr>
          <a:xfrm>
            <a:off x="457200" y="484632"/>
            <a:ext cx="11274552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200" b="1" lang="en-US">
                <a:solidFill>
                  <a:srgbClr val="000000"/>
                </a:solidFill>
                <a:latin typeface="Arial Black"/>
              </a:rPr>
              <a:t>Evidence meshes preserve traceability across a dense editable graph</a:t>
            </a:r>
          </a:p>
        </p:txBody>
      </p:sp>
      <p:sp>
        <p:nvSpPr>
          <p:cNvPr id="47" name="footer"/>
          <p:cNvSpPr txBox="1"/>
          <p:nvPr/>
        </p:nvSpPr>
        <p:spPr>
          <a:xfrm>
            <a:off x="457200" y="6473952"/>
            <a:ext cx="1051560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0" lang="en-US">
                <a:solidFill>
                  <a:srgbClr val="222222"/>
                </a:solidFill>
                <a:latin typeface="Consolas"/>
              </a:rPr>
              <a:t>Native-object stress fixture · thick black outlines, hard shadows, and deliberate offset geometry · editable geometry and recorded style lock</a:t>
            </a:r>
          </a:p>
        </p:txBody>
      </p:sp>
      <p:sp>
        <p:nvSpPr>
          <p:cNvPr id="48" name="mesh-title"/>
          <p:cNvSpPr txBox="1"/>
          <p:nvPr/>
        </p:nvSpPr>
        <p:spPr>
          <a:xfrm>
            <a:off x="713232" y="1298448"/>
            <a:ext cx="320040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1" lang="en-US">
                <a:solidFill>
                  <a:srgbClr val="000000"/>
                </a:solidFill>
                <a:latin typeface="Consolas"/>
              </a:rPr>
              <a:t>EVIDENCE ROUTING MESH</a:t>
            </a:r>
          </a:p>
        </p:txBody>
      </p:sp>
      <p:sp>
        <p:nvSpPr>
          <p:cNvPr id="49" name="mesh-label-0"/>
          <p:cNvSpPr txBox="1"/>
          <p:nvPr/>
        </p:nvSpPr>
        <p:spPr>
          <a:xfrm>
            <a:off x="1143000" y="2139696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lang="en-US">
                <a:solidFill>
                  <a:srgbClr val="FFFFFF"/>
                </a:solidFill>
                <a:latin typeface="Consolas"/>
              </a:rPr>
              <a:t>Request</a:t>
            </a:r>
          </a:p>
        </p:txBody>
      </p:sp>
      <p:sp>
        <p:nvSpPr>
          <p:cNvPr id="50" name="mesh-label-1"/>
          <p:cNvSpPr txBox="1"/>
          <p:nvPr/>
        </p:nvSpPr>
        <p:spPr>
          <a:xfrm>
            <a:off x="2971800" y="1819656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lang="en-US">
                <a:solidFill>
                  <a:srgbClr val="111111"/>
                </a:solidFill>
                <a:latin typeface="Consolas"/>
              </a:rPr>
              <a:t>Profile</a:t>
            </a:r>
          </a:p>
        </p:txBody>
      </p:sp>
      <p:sp>
        <p:nvSpPr>
          <p:cNvPr id="51" name="mesh-label-2"/>
          <p:cNvSpPr txBox="1"/>
          <p:nvPr/>
        </p:nvSpPr>
        <p:spPr>
          <a:xfrm>
            <a:off x="4892040" y="2139696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lang="en-US">
                <a:solidFill>
                  <a:srgbClr val="FFFFFF"/>
                </a:solidFill>
                <a:latin typeface="Consolas"/>
              </a:rPr>
              <a:t>Source</a:t>
            </a:r>
          </a:p>
        </p:txBody>
      </p:sp>
      <p:sp>
        <p:nvSpPr>
          <p:cNvPr id="52" name="mesh-label-3"/>
          <p:cNvSpPr txBox="1"/>
          <p:nvPr/>
        </p:nvSpPr>
        <p:spPr>
          <a:xfrm>
            <a:off x="2011680" y="3465576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lang="en-US">
                <a:solidFill>
                  <a:srgbClr val="FFFFFF"/>
                </a:solidFill>
                <a:latin typeface="Consolas"/>
              </a:rPr>
              <a:t>Spec</a:t>
            </a:r>
          </a:p>
        </p:txBody>
      </p:sp>
      <p:sp>
        <p:nvSpPr>
          <p:cNvPr id="53" name="mesh-label-4"/>
          <p:cNvSpPr txBox="1"/>
          <p:nvPr/>
        </p:nvSpPr>
        <p:spPr>
          <a:xfrm>
            <a:off x="3977639" y="3127248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lang="en-US">
                <a:solidFill>
                  <a:srgbClr val="111111"/>
                </a:solidFill>
                <a:latin typeface="Consolas"/>
              </a:rPr>
              <a:t>Audit</a:t>
            </a:r>
          </a:p>
        </p:txBody>
      </p:sp>
      <p:sp>
        <p:nvSpPr>
          <p:cNvPr id="54" name="mesh-label-5"/>
          <p:cNvSpPr txBox="1"/>
          <p:nvPr/>
        </p:nvSpPr>
        <p:spPr>
          <a:xfrm>
            <a:off x="5897880" y="3465576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lang="en-US">
                <a:solidFill>
                  <a:srgbClr val="FFFFFF"/>
                </a:solidFill>
                <a:latin typeface="Consolas"/>
              </a:rPr>
              <a:t>Render</a:t>
            </a:r>
          </a:p>
        </p:txBody>
      </p:sp>
      <p:sp>
        <p:nvSpPr>
          <p:cNvPr id="55" name="mesh-label-6"/>
          <p:cNvSpPr txBox="1"/>
          <p:nvPr/>
        </p:nvSpPr>
        <p:spPr>
          <a:xfrm>
            <a:off x="2971800" y="4791456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lang="en-US">
                <a:solidFill>
                  <a:srgbClr val="111111"/>
                </a:solidFill>
                <a:latin typeface="Consolas"/>
              </a:rPr>
              <a:t>Repair</a:t>
            </a:r>
          </a:p>
        </p:txBody>
      </p:sp>
      <p:sp>
        <p:nvSpPr>
          <p:cNvPr id="56" name="mesh-label-7"/>
          <p:cNvSpPr txBox="1"/>
          <p:nvPr/>
        </p:nvSpPr>
        <p:spPr>
          <a:xfrm>
            <a:off x="4892040" y="4791456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lang="en-US">
                <a:solidFill>
                  <a:srgbClr val="FFFFFF"/>
                </a:solidFill>
                <a:latin typeface="Consolas"/>
              </a:rPr>
              <a:t>Ship</a:t>
            </a:r>
          </a:p>
        </p:txBody>
      </p:sp>
      <p:sp>
        <p:nvSpPr>
          <p:cNvPr id="57" name="mesh-rail-title"/>
          <p:cNvSpPr txBox="1"/>
          <p:nvPr/>
        </p:nvSpPr>
        <p:spPr>
          <a:xfrm>
            <a:off x="8357616" y="1298448"/>
            <a:ext cx="265176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1" lang="en-US">
                <a:solidFill>
                  <a:srgbClr val="000000"/>
                </a:solidFill>
                <a:latin typeface="Consolas"/>
              </a:rPr>
              <a:t>TRACEABILITY</a:t>
            </a:r>
          </a:p>
        </p:txBody>
      </p:sp>
      <p:sp>
        <p:nvSpPr>
          <p:cNvPr id="58" name="trace-number-0"/>
          <p:cNvSpPr txBox="1"/>
          <p:nvPr/>
        </p:nvSpPr>
        <p:spPr>
          <a:xfrm>
            <a:off x="8375904" y="1783080"/>
            <a:ext cx="402336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FFFFFF"/>
                </a:solidFill>
                <a:latin typeface="Consolas"/>
              </a:rPr>
              <a:t>01</a:t>
            </a:r>
          </a:p>
        </p:txBody>
      </p:sp>
      <p:sp>
        <p:nvSpPr>
          <p:cNvPr id="59" name="trace-label-0"/>
          <p:cNvSpPr txBox="1"/>
          <p:nvPr/>
        </p:nvSpPr>
        <p:spPr>
          <a:xfrm>
            <a:off x="8979408" y="173736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1" lang="en-US">
                <a:solidFill>
                  <a:srgbClr val="000000"/>
                </a:solidFill>
                <a:latin typeface="Consolas"/>
              </a:rPr>
              <a:t>Intent</a:t>
            </a:r>
          </a:p>
        </p:txBody>
      </p:sp>
      <p:sp>
        <p:nvSpPr>
          <p:cNvPr id="60" name="trace-number-1"/>
          <p:cNvSpPr txBox="1"/>
          <p:nvPr/>
        </p:nvSpPr>
        <p:spPr>
          <a:xfrm>
            <a:off x="8375904" y="2350008"/>
            <a:ext cx="402336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111111"/>
                </a:solidFill>
                <a:latin typeface="Consolas"/>
              </a:rPr>
              <a:t>02</a:t>
            </a:r>
          </a:p>
        </p:txBody>
      </p:sp>
      <p:sp>
        <p:nvSpPr>
          <p:cNvPr id="61" name="trace-label-1"/>
          <p:cNvSpPr txBox="1"/>
          <p:nvPr/>
        </p:nvSpPr>
        <p:spPr>
          <a:xfrm>
            <a:off x="8979408" y="2304288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1" lang="en-US">
                <a:solidFill>
                  <a:srgbClr val="000000"/>
                </a:solidFill>
                <a:latin typeface="Consolas"/>
              </a:rPr>
              <a:t>Profile lock</a:t>
            </a:r>
          </a:p>
        </p:txBody>
      </p:sp>
      <p:sp>
        <p:nvSpPr>
          <p:cNvPr id="62" name="trace-number-2"/>
          <p:cNvSpPr txBox="1"/>
          <p:nvPr/>
        </p:nvSpPr>
        <p:spPr>
          <a:xfrm>
            <a:off x="8375904" y="2916936"/>
            <a:ext cx="402336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FFFFFF"/>
                </a:solidFill>
                <a:latin typeface="Consolas"/>
              </a:rPr>
              <a:t>03</a:t>
            </a:r>
          </a:p>
        </p:txBody>
      </p:sp>
      <p:sp>
        <p:nvSpPr>
          <p:cNvPr id="63" name="trace-label-2"/>
          <p:cNvSpPr txBox="1"/>
          <p:nvPr/>
        </p:nvSpPr>
        <p:spPr>
          <a:xfrm>
            <a:off x="8979408" y="2871216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1" lang="en-US">
                <a:solidFill>
                  <a:srgbClr val="000000"/>
                </a:solidFill>
                <a:latin typeface="Consolas"/>
              </a:rPr>
              <a:t>Object spec</a:t>
            </a:r>
          </a:p>
        </p:txBody>
      </p:sp>
      <p:sp>
        <p:nvSpPr>
          <p:cNvPr id="64" name="trace-number-3"/>
          <p:cNvSpPr txBox="1"/>
          <p:nvPr/>
        </p:nvSpPr>
        <p:spPr>
          <a:xfrm>
            <a:off x="8375904" y="3483864"/>
            <a:ext cx="402336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111111"/>
                </a:solidFill>
                <a:latin typeface="Consolas"/>
              </a:rPr>
              <a:t>04</a:t>
            </a:r>
          </a:p>
        </p:txBody>
      </p:sp>
      <p:sp>
        <p:nvSpPr>
          <p:cNvPr id="65" name="trace-label-3"/>
          <p:cNvSpPr txBox="1"/>
          <p:nvPr/>
        </p:nvSpPr>
        <p:spPr>
          <a:xfrm>
            <a:off x="8979408" y="3438144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1" lang="en-US">
                <a:solidFill>
                  <a:srgbClr val="000000"/>
                </a:solidFill>
                <a:latin typeface="Consolas"/>
              </a:rPr>
              <a:t>Quality gate</a:t>
            </a:r>
          </a:p>
        </p:txBody>
      </p:sp>
      <p:sp>
        <p:nvSpPr>
          <p:cNvPr id="66" name="trace-number-4"/>
          <p:cNvSpPr txBox="1"/>
          <p:nvPr/>
        </p:nvSpPr>
        <p:spPr>
          <a:xfrm>
            <a:off x="8375904" y="4050791"/>
            <a:ext cx="402336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FFFFFF"/>
                </a:solidFill>
                <a:latin typeface="Consolas"/>
              </a:rPr>
              <a:t>05</a:t>
            </a:r>
          </a:p>
        </p:txBody>
      </p:sp>
      <p:sp>
        <p:nvSpPr>
          <p:cNvPr id="67" name="trace-label-4"/>
          <p:cNvSpPr txBox="1"/>
          <p:nvPr/>
        </p:nvSpPr>
        <p:spPr>
          <a:xfrm>
            <a:off x="8979408" y="400507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1" lang="en-US">
                <a:solidFill>
                  <a:srgbClr val="000000"/>
                </a:solidFill>
                <a:latin typeface="Consolas"/>
              </a:rPr>
              <a:t>Repair trace</a:t>
            </a:r>
          </a:p>
        </p:txBody>
      </p:sp>
      <p:sp>
        <p:nvSpPr>
          <p:cNvPr id="68" name="trace-number-5"/>
          <p:cNvSpPr txBox="1"/>
          <p:nvPr/>
        </p:nvSpPr>
        <p:spPr>
          <a:xfrm>
            <a:off x="8375904" y="4617720"/>
            <a:ext cx="402336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111111"/>
                </a:solidFill>
                <a:latin typeface="Consolas"/>
              </a:rPr>
              <a:t>06</a:t>
            </a:r>
          </a:p>
        </p:txBody>
      </p:sp>
      <p:sp>
        <p:nvSpPr>
          <p:cNvPr id="69" name="trace-label-5"/>
          <p:cNvSpPr txBox="1"/>
          <p:nvPr/>
        </p:nvSpPr>
        <p:spPr>
          <a:xfrm>
            <a:off x="8979408" y="457200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1" lang="en-US">
                <a:solidFill>
                  <a:srgbClr val="000000"/>
                </a:solidFill>
                <a:latin typeface="Consolas"/>
              </a:rPr>
              <a:t>Artifact</a:t>
            </a:r>
          </a:p>
        </p:txBody>
      </p:sp>
      <p:sp>
        <p:nvSpPr>
          <p:cNvPr id="70" name="mesh-note"/>
          <p:cNvSpPr txBox="1"/>
          <p:nvPr/>
        </p:nvSpPr>
        <p:spPr>
          <a:xfrm>
            <a:off x="8357616" y="5321808"/>
            <a:ext cx="2834640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00" b="0" lang="en-US">
                <a:solidFill>
                  <a:srgbClr val="222222"/>
                </a:solidFill>
                <a:latin typeface="Consolas"/>
              </a:rPr>
              <a:t>Fourteen editable links prove dense graph routing and layering.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00"/>
          </a:solidFill>
          <a:ln w="10160">
            <a:solidFill>
              <a:srgbClr val="F5F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op-band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0000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matrix-rail-shadow"/>
          <p:cNvSpPr/>
          <p:nvPr/>
        </p:nvSpPr>
        <p:spPr>
          <a:xfrm>
            <a:off x="8906256" y="1225296"/>
            <a:ext cx="2907792" cy="4443984"/>
          </a:xfrm>
          <a:prstGeom prst="rect">
            <a:avLst/>
          </a:prstGeom>
          <a:solidFill>
            <a:srgbClr val="000000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matrix-rail-shell"/>
          <p:cNvSpPr/>
          <p:nvPr/>
        </p:nvSpPr>
        <p:spPr>
          <a:xfrm>
            <a:off x="8823960" y="1143000"/>
            <a:ext cx="2907792" cy="4443984"/>
          </a:xfrm>
          <a:prstGeom prst="rect">
            <a:avLst/>
          </a:prstGeom>
          <a:solidFill>
            <a:srgbClr val="CCFF00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matrix-rail-accent"/>
          <p:cNvSpPr/>
          <p:nvPr/>
        </p:nvSpPr>
        <p:spPr>
          <a:xfrm>
            <a:off x="8823960" y="1143000"/>
            <a:ext cx="73152" cy="4443984"/>
          </a:xfrm>
          <a:prstGeom prst="rect">
            <a:avLst/>
          </a:prstGeom>
          <a:solidFill>
            <a:srgbClr val="000000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adar-ring-0.45"/>
          <p:cNvSpPr/>
          <p:nvPr/>
        </p:nvSpPr>
        <p:spPr>
          <a:xfrm>
            <a:off x="9866376" y="2834640"/>
            <a:ext cx="822960" cy="822960"/>
          </a:xfrm>
          <a:prstGeom prst="ellipse">
            <a:avLst/>
          </a:prstGeom>
          <a:solidFill>
            <a:srgbClr val="CCFF00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adar-ring-0.85"/>
          <p:cNvSpPr/>
          <p:nvPr/>
        </p:nvSpPr>
        <p:spPr>
          <a:xfrm>
            <a:off x="9500616" y="2468880"/>
            <a:ext cx="1554480" cy="1554480"/>
          </a:xfrm>
          <a:prstGeom prst="ellipse">
            <a:avLst/>
          </a:prstGeom>
          <a:solidFill>
            <a:srgbClr val="CCFF00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adar-ring-1.25"/>
          <p:cNvSpPr/>
          <p:nvPr/>
        </p:nvSpPr>
        <p:spPr>
          <a:xfrm>
            <a:off x="9134856" y="2103120"/>
            <a:ext cx="2286000" cy="2286000"/>
          </a:xfrm>
          <a:prstGeom prst="ellipse">
            <a:avLst/>
          </a:prstGeom>
          <a:solidFill>
            <a:srgbClr val="CCFF00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radar-axis-0"/>
          <p:cNvCxnSpPr/>
          <p:nvPr/>
        </p:nvCxnSpPr>
        <p:spPr>
          <a:xfrm flipV="1">
            <a:off x="10277856" y="1828799"/>
            <a:ext cx="0" cy="1417321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radar-axis-1"/>
          <p:cNvCxnSpPr/>
          <p:nvPr/>
        </p:nvCxnSpPr>
        <p:spPr>
          <a:xfrm flipV="1">
            <a:off x="10277856" y="2537460"/>
            <a:ext cx="1227435" cy="708660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radar-axis-2"/>
          <p:cNvCxnSpPr/>
          <p:nvPr/>
        </p:nvCxnSpPr>
        <p:spPr>
          <a:xfrm>
            <a:off x="10277856" y="3246120"/>
            <a:ext cx="1227435" cy="708659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radar-axis-3"/>
          <p:cNvCxnSpPr/>
          <p:nvPr/>
        </p:nvCxnSpPr>
        <p:spPr>
          <a:xfrm>
            <a:off x="10277856" y="3246120"/>
            <a:ext cx="0" cy="1417320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radar-axis-4"/>
          <p:cNvCxnSpPr/>
          <p:nvPr/>
        </p:nvCxnSpPr>
        <p:spPr>
          <a:xfrm flipH="1">
            <a:off x="9050420" y="3246120"/>
            <a:ext cx="1227436" cy="708659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radar-axis-5"/>
          <p:cNvCxnSpPr/>
          <p:nvPr/>
        </p:nvCxnSpPr>
        <p:spPr>
          <a:xfrm flipH="1" flipV="1">
            <a:off x="9050420" y="2537459"/>
            <a:ext cx="1227436" cy="708661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flow-link-0"/>
          <p:cNvCxnSpPr/>
          <p:nvPr/>
        </p:nvCxnSpPr>
        <p:spPr>
          <a:xfrm>
            <a:off x="2066543" y="5934456"/>
            <a:ext cx="265177" cy="0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flow-link-1"/>
          <p:cNvCxnSpPr/>
          <p:nvPr/>
        </p:nvCxnSpPr>
        <p:spPr>
          <a:xfrm>
            <a:off x="3959352" y="5934456"/>
            <a:ext cx="265175" cy="0"/>
          </a:xfrm>
          <a:prstGeom prst="line">
            <a:avLst/>
          </a:prstGeom>
          <a:ln w="13970">
            <a:solidFill>
              <a:srgbClr val="FF3B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flow-link-2"/>
          <p:cNvCxnSpPr/>
          <p:nvPr/>
        </p:nvCxnSpPr>
        <p:spPr>
          <a:xfrm>
            <a:off x="5852159" y="5934456"/>
            <a:ext cx="265177" cy="0"/>
          </a:xfrm>
          <a:prstGeom prst="line">
            <a:avLst/>
          </a:prstGeom>
          <a:ln w="13970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flow-link-3"/>
          <p:cNvCxnSpPr/>
          <p:nvPr/>
        </p:nvCxnSpPr>
        <p:spPr>
          <a:xfrm>
            <a:off x="7744967" y="5934456"/>
            <a:ext cx="265176" cy="0"/>
          </a:xfrm>
          <a:prstGeom prst="line">
            <a:avLst/>
          </a:prstGeom>
          <a:ln w="13970">
            <a:solidFill>
              <a:srgbClr val="FF3B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flow-link-4"/>
          <p:cNvCxnSpPr/>
          <p:nvPr/>
        </p:nvCxnSpPr>
        <p:spPr>
          <a:xfrm>
            <a:off x="9637776" y="5934456"/>
            <a:ext cx="265175" cy="0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1" name="operating-table"/>
          <p:cNvGraphicFramePr>
            <a:graphicFrameLocks noGrp="1"/>
          </p:cNvGraphicFramePr>
          <p:nvPr/>
        </p:nvGraphicFramePr>
        <p:xfrm>
          <a:off x="457200" y="1143000"/>
          <a:ext cx="8092440" cy="44439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8740"/>
                <a:gridCol w="1348740"/>
                <a:gridCol w="1348740"/>
                <a:gridCol w="1348740"/>
                <a:gridCol w="1348740"/>
                <a:gridCol w="1348740"/>
              </a:tblGrid>
              <a:tr h="444398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FFFFFF"/>
                          </a:solidFill>
                          <a:latin typeface="Consolas"/>
                        </a:rPr>
                        <a:t>Workstream</a:t>
                      </a:r>
                    </a:p>
                  </a:txBody>
                  <a:tcPr marL="54864" marR="54864" marT="18288" marB="18288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FFFFFF"/>
                          </a:solidFill>
                          <a:latin typeface="Consolas"/>
                        </a:rPr>
                        <a:t>Profile</a:t>
                      </a:r>
                    </a:p>
                  </a:txBody>
                  <a:tcPr marL="54864" marR="54864" marT="18288" marB="18288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FFFFFF"/>
                          </a:solidFill>
                          <a:latin typeface="Consolas"/>
                        </a:rPr>
                        <a:t>Structure</a:t>
                      </a:r>
                    </a:p>
                  </a:txBody>
                  <a:tcPr marL="54864" marR="54864" marT="18288" marB="18288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FFFFFF"/>
                          </a:solidFill>
                          <a:latin typeface="Consolas"/>
                        </a:rPr>
                        <a:t>Density</a:t>
                      </a:r>
                    </a:p>
                  </a:txBody>
                  <a:tcPr marL="54864" marR="54864" marT="18288" marB="18288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FFFFFF"/>
                          </a:solidFill>
                          <a:latin typeface="Consolas"/>
                        </a:rPr>
                        <a:t>Gate</a:t>
                      </a:r>
                    </a:p>
                  </a:txBody>
                  <a:tcPr marL="54864" marR="54864" marT="18288" marB="18288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FFFFFF"/>
                          </a:solidFill>
                          <a:latin typeface="Consolas"/>
                        </a:rPr>
                        <a:t>Owner</a:t>
                      </a:r>
                    </a:p>
                  </a:txBody>
                  <a:tcPr marL="54864" marR="54864" marT="18288" marB="18288">
                    <a:solidFill>
                      <a:srgbClr val="000000"/>
                    </a:solidFill>
                  </a:tcPr>
                </a:tc>
              </a:tr>
              <a:tr h="444398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000000"/>
                          </a:solidFill>
                          <a:latin typeface="Consolas"/>
                        </a:rPr>
                        <a:t>W-01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000000"/>
                          </a:solidFill>
                          <a:latin typeface="Consolas"/>
                        </a:rPr>
                        <a:t>Ember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000000"/>
                          </a:solidFill>
                          <a:latin typeface="Consolas"/>
                        </a:rPr>
                        <a:t>Mesh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000000"/>
                          </a:solidFill>
                          <a:latin typeface="Consolas"/>
                        </a:rPr>
                        <a:t>Dense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000000"/>
                          </a:solidFill>
                          <a:latin typeface="Consolas"/>
                        </a:rPr>
                        <a:t>Watch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000000"/>
                          </a:solidFill>
                          <a:latin typeface="Consolas"/>
                        </a:rPr>
                        <a:t>R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44398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000000"/>
                          </a:solidFill>
                          <a:latin typeface="Consolas"/>
                        </a:rPr>
                        <a:t>W-02</a:t>
                      </a:r>
                    </a:p>
                  </a:txBody>
                  <a:tcPr marL="54864" marR="54864" marT="18288" marB="18288">
                    <a:solidFill>
                      <a:srgbClr val="CCFF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000000"/>
                          </a:solidFill>
                          <a:latin typeface="Consolas"/>
                        </a:rPr>
                        <a:t>Signal</a:t>
                      </a:r>
                    </a:p>
                  </a:txBody>
                  <a:tcPr marL="54864" marR="54864" marT="18288" marB="18288">
                    <a:solidFill>
                      <a:srgbClr val="CCFF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000000"/>
                          </a:solidFill>
                          <a:latin typeface="Consolas"/>
                        </a:rPr>
                        <a:t>Matrix</a:t>
                      </a:r>
                    </a:p>
                  </a:txBody>
                  <a:tcPr marL="54864" marR="54864" marT="18288" marB="18288">
                    <a:solidFill>
                      <a:srgbClr val="CCFF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000000"/>
                          </a:solidFill>
                          <a:latin typeface="Consolas"/>
                        </a:rPr>
                        <a:t>Layered</a:t>
                      </a:r>
                    </a:p>
                  </a:txBody>
                  <a:tcPr marL="54864" marR="54864" marT="18288" marB="18288">
                    <a:solidFill>
                      <a:srgbClr val="CCFF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000000"/>
                          </a:solidFill>
                          <a:latin typeface="Consolas"/>
                        </a:rPr>
                        <a:t>Repair</a:t>
                      </a:r>
                    </a:p>
                  </a:txBody>
                  <a:tcPr marL="54864" marR="54864" marT="18288" marB="18288">
                    <a:solidFill>
                      <a:srgbClr val="CCFF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000000"/>
                          </a:solidFill>
                          <a:latin typeface="Consolas"/>
                        </a:rPr>
                        <a:t>C</a:t>
                      </a:r>
                    </a:p>
                  </a:txBody>
                  <a:tcPr marL="54864" marR="54864" marT="18288" marB="18288">
                    <a:solidFill>
                      <a:srgbClr val="CCFF00"/>
                    </a:solidFill>
                  </a:tcPr>
                </a:tc>
              </a:tr>
              <a:tr h="444398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000000"/>
                          </a:solidFill>
                          <a:latin typeface="Consolas"/>
                        </a:rPr>
                        <a:t>W-03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000000"/>
                          </a:solidFill>
                          <a:latin typeface="Consolas"/>
                        </a:rPr>
                        <a:t>Grove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000000"/>
                          </a:solidFill>
                          <a:latin typeface="Consolas"/>
                        </a:rPr>
                        <a:t>Board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000000"/>
                          </a:solidFill>
                          <a:latin typeface="Consolas"/>
                        </a:rPr>
                        <a:t>Packed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000000"/>
                          </a:solidFill>
                          <a:latin typeface="Consolas"/>
                        </a:rPr>
                        <a:t>Pass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000000"/>
                          </a:solidFill>
                          <a:latin typeface="Consolas"/>
                        </a:rPr>
                        <a:t>I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44398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000000"/>
                          </a:solidFill>
                          <a:latin typeface="Consolas"/>
                        </a:rPr>
                        <a:t>W-04</a:t>
                      </a:r>
                    </a:p>
                  </a:txBody>
                  <a:tcPr marL="54864" marR="54864" marT="18288" marB="18288">
                    <a:solidFill>
                      <a:srgbClr val="CCFF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000000"/>
                          </a:solidFill>
                          <a:latin typeface="Consolas"/>
                        </a:rPr>
                        <a:t>Atlas</a:t>
                      </a:r>
                    </a:p>
                  </a:txBody>
                  <a:tcPr marL="54864" marR="54864" marT="18288" marB="18288">
                    <a:solidFill>
                      <a:srgbClr val="CCFF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000000"/>
                          </a:solidFill>
                          <a:latin typeface="Consolas"/>
                        </a:rPr>
                        <a:t>Cards</a:t>
                      </a:r>
                    </a:p>
                  </a:txBody>
                  <a:tcPr marL="54864" marR="54864" marT="18288" marB="18288">
                    <a:solidFill>
                      <a:srgbClr val="CCFF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000000"/>
                          </a:solidFill>
                          <a:latin typeface="Consolas"/>
                        </a:rPr>
                        <a:t>High</a:t>
                      </a:r>
                    </a:p>
                  </a:txBody>
                  <a:tcPr marL="54864" marR="54864" marT="18288" marB="18288">
                    <a:solidFill>
                      <a:srgbClr val="CCFF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000000"/>
                          </a:solidFill>
                          <a:latin typeface="Consolas"/>
                        </a:rPr>
                        <a:t>Pass</a:t>
                      </a:r>
                    </a:p>
                  </a:txBody>
                  <a:tcPr marL="54864" marR="54864" marT="18288" marB="18288">
                    <a:solidFill>
                      <a:srgbClr val="CCFF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000000"/>
                          </a:solidFill>
                          <a:latin typeface="Consolas"/>
                        </a:rPr>
                        <a:t>A</a:t>
                      </a:r>
                    </a:p>
                  </a:txBody>
                  <a:tcPr marL="54864" marR="54864" marT="18288" marB="18288">
                    <a:solidFill>
                      <a:srgbClr val="CCFF00"/>
                    </a:solidFill>
                  </a:tcPr>
                </a:tc>
              </a:tr>
              <a:tr h="444398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000000"/>
                          </a:solidFill>
                          <a:latin typeface="Consolas"/>
                        </a:rPr>
                        <a:t>W-05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000000"/>
                          </a:solidFill>
                          <a:latin typeface="Consolas"/>
                        </a:rPr>
                        <a:t>Ember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000000"/>
                          </a:solidFill>
                          <a:latin typeface="Consolas"/>
                        </a:rPr>
                        <a:t>Mesh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000000"/>
                          </a:solidFill>
                          <a:latin typeface="Consolas"/>
                        </a:rPr>
                        <a:t>Dense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000000"/>
                          </a:solidFill>
                          <a:latin typeface="Consolas"/>
                        </a:rPr>
                        <a:t>Watch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000000"/>
                          </a:solidFill>
                          <a:latin typeface="Consolas"/>
                        </a:rPr>
                        <a:t>R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44398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000000"/>
                          </a:solidFill>
                          <a:latin typeface="Consolas"/>
                        </a:rPr>
                        <a:t>W-06</a:t>
                      </a:r>
                    </a:p>
                  </a:txBody>
                  <a:tcPr marL="54864" marR="54864" marT="18288" marB="18288">
                    <a:solidFill>
                      <a:srgbClr val="CCFF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000000"/>
                          </a:solidFill>
                          <a:latin typeface="Consolas"/>
                        </a:rPr>
                        <a:t>Signal</a:t>
                      </a:r>
                    </a:p>
                  </a:txBody>
                  <a:tcPr marL="54864" marR="54864" marT="18288" marB="18288">
                    <a:solidFill>
                      <a:srgbClr val="CCFF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000000"/>
                          </a:solidFill>
                          <a:latin typeface="Consolas"/>
                        </a:rPr>
                        <a:t>Matrix</a:t>
                      </a:r>
                    </a:p>
                  </a:txBody>
                  <a:tcPr marL="54864" marR="54864" marT="18288" marB="18288">
                    <a:solidFill>
                      <a:srgbClr val="CCFF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000000"/>
                          </a:solidFill>
                          <a:latin typeface="Consolas"/>
                        </a:rPr>
                        <a:t>Layered</a:t>
                      </a:r>
                    </a:p>
                  </a:txBody>
                  <a:tcPr marL="54864" marR="54864" marT="18288" marB="18288">
                    <a:solidFill>
                      <a:srgbClr val="CCFF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000000"/>
                          </a:solidFill>
                          <a:latin typeface="Consolas"/>
                        </a:rPr>
                        <a:t>Repair</a:t>
                      </a:r>
                    </a:p>
                  </a:txBody>
                  <a:tcPr marL="54864" marR="54864" marT="18288" marB="18288">
                    <a:solidFill>
                      <a:srgbClr val="CCFF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000000"/>
                          </a:solidFill>
                          <a:latin typeface="Consolas"/>
                        </a:rPr>
                        <a:t>C</a:t>
                      </a:r>
                    </a:p>
                  </a:txBody>
                  <a:tcPr marL="54864" marR="54864" marT="18288" marB="18288">
                    <a:solidFill>
                      <a:srgbClr val="CCFF00"/>
                    </a:solidFill>
                  </a:tcPr>
                </a:tc>
              </a:tr>
              <a:tr h="444398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000000"/>
                          </a:solidFill>
                          <a:latin typeface="Consolas"/>
                        </a:rPr>
                        <a:t>W-07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000000"/>
                          </a:solidFill>
                          <a:latin typeface="Consolas"/>
                        </a:rPr>
                        <a:t>Grove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000000"/>
                          </a:solidFill>
                          <a:latin typeface="Consolas"/>
                        </a:rPr>
                        <a:t>Board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000000"/>
                          </a:solidFill>
                          <a:latin typeface="Consolas"/>
                        </a:rPr>
                        <a:t>Packed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000000"/>
                          </a:solidFill>
                          <a:latin typeface="Consolas"/>
                        </a:rPr>
                        <a:t>Pass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000000"/>
                          </a:solidFill>
                          <a:latin typeface="Consolas"/>
                        </a:rPr>
                        <a:t>I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44398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000000"/>
                          </a:solidFill>
                          <a:latin typeface="Consolas"/>
                        </a:rPr>
                        <a:t>W-08</a:t>
                      </a:r>
                    </a:p>
                  </a:txBody>
                  <a:tcPr marL="54864" marR="54864" marT="18288" marB="18288">
                    <a:solidFill>
                      <a:srgbClr val="CCFF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000000"/>
                          </a:solidFill>
                          <a:latin typeface="Consolas"/>
                        </a:rPr>
                        <a:t>Atlas</a:t>
                      </a:r>
                    </a:p>
                  </a:txBody>
                  <a:tcPr marL="54864" marR="54864" marT="18288" marB="18288">
                    <a:solidFill>
                      <a:srgbClr val="CCFF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000000"/>
                          </a:solidFill>
                          <a:latin typeface="Consolas"/>
                        </a:rPr>
                        <a:t>Cards</a:t>
                      </a:r>
                    </a:p>
                  </a:txBody>
                  <a:tcPr marL="54864" marR="54864" marT="18288" marB="18288">
                    <a:solidFill>
                      <a:srgbClr val="CCFF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000000"/>
                          </a:solidFill>
                          <a:latin typeface="Consolas"/>
                        </a:rPr>
                        <a:t>High</a:t>
                      </a:r>
                    </a:p>
                  </a:txBody>
                  <a:tcPr marL="54864" marR="54864" marT="18288" marB="18288">
                    <a:solidFill>
                      <a:srgbClr val="CCFF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000000"/>
                          </a:solidFill>
                          <a:latin typeface="Consolas"/>
                        </a:rPr>
                        <a:t>Pass</a:t>
                      </a:r>
                    </a:p>
                  </a:txBody>
                  <a:tcPr marL="54864" marR="54864" marT="18288" marB="18288">
                    <a:solidFill>
                      <a:srgbClr val="CCFF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000000"/>
                          </a:solidFill>
                          <a:latin typeface="Consolas"/>
                        </a:rPr>
                        <a:t>A</a:t>
                      </a:r>
                    </a:p>
                  </a:txBody>
                  <a:tcPr marL="54864" marR="54864" marT="18288" marB="18288">
                    <a:solidFill>
                      <a:srgbClr val="CCFF00"/>
                    </a:solidFill>
                  </a:tcPr>
                </a:tc>
              </a:tr>
              <a:tr h="444402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000000"/>
                          </a:solidFill>
                          <a:latin typeface="Consolas"/>
                        </a:rPr>
                        <a:t>W-09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000000"/>
                          </a:solidFill>
                          <a:latin typeface="Consolas"/>
                        </a:rPr>
                        <a:t>Ember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000000"/>
                          </a:solidFill>
                          <a:latin typeface="Consolas"/>
                        </a:rPr>
                        <a:t>Mesh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000000"/>
                          </a:solidFill>
                          <a:latin typeface="Consolas"/>
                        </a:rPr>
                        <a:t>Dense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000000"/>
                          </a:solidFill>
                          <a:latin typeface="Consolas"/>
                        </a:rPr>
                        <a:t>Watch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000000"/>
                          </a:solidFill>
                          <a:latin typeface="Consolas"/>
                        </a:rPr>
                        <a:t>R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flow-0"/>
          <p:cNvSpPr/>
          <p:nvPr/>
        </p:nvSpPr>
        <p:spPr>
          <a:xfrm>
            <a:off x="457200" y="5742432"/>
            <a:ext cx="1600200" cy="3840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low-1"/>
          <p:cNvSpPr/>
          <p:nvPr/>
        </p:nvSpPr>
        <p:spPr>
          <a:xfrm>
            <a:off x="2350008" y="5742432"/>
            <a:ext cx="1600200" cy="3840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3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flow-2"/>
          <p:cNvSpPr/>
          <p:nvPr/>
        </p:nvSpPr>
        <p:spPr>
          <a:xfrm>
            <a:off x="4242816" y="5742432"/>
            <a:ext cx="1600200" cy="3840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low-3"/>
          <p:cNvSpPr/>
          <p:nvPr/>
        </p:nvSpPr>
        <p:spPr>
          <a:xfrm>
            <a:off x="6135624" y="5742432"/>
            <a:ext cx="1600200" cy="3840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3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low-4"/>
          <p:cNvSpPr/>
          <p:nvPr/>
        </p:nvSpPr>
        <p:spPr>
          <a:xfrm>
            <a:off x="8028431" y="5742432"/>
            <a:ext cx="1600200" cy="3840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low-5"/>
          <p:cNvSpPr/>
          <p:nvPr/>
        </p:nvSpPr>
        <p:spPr>
          <a:xfrm>
            <a:off x="9921240" y="5742432"/>
            <a:ext cx="1600200" cy="3840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profile-tag"/>
          <p:cNvSpPr txBox="1"/>
          <p:nvPr/>
        </p:nvSpPr>
        <p:spPr>
          <a:xfrm>
            <a:off x="457200" y="201168"/>
            <a:ext cx="768096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1" lang="en-US">
                <a:solidFill>
                  <a:srgbClr val="000000"/>
                </a:solidFill>
                <a:latin typeface="Consolas"/>
              </a:rPr>
              <a:t>V3 STRESS SUITE  ·  NEO-BRUTALISM  ·  OPERATING MATRIX</a:t>
            </a:r>
          </a:p>
        </p:txBody>
      </p:sp>
      <p:sp>
        <p:nvSpPr>
          <p:cNvPr id="29" name="slide-index"/>
          <p:cNvSpPr txBox="1"/>
          <p:nvPr/>
        </p:nvSpPr>
        <p:spPr>
          <a:xfrm>
            <a:off x="10808208" y="201168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00" b="1" lang="en-US">
                <a:solidFill>
                  <a:srgbClr val="222222"/>
                </a:solidFill>
                <a:latin typeface="Consolas"/>
              </a:rPr>
              <a:t>08/60</a:t>
            </a:r>
          </a:p>
        </p:txBody>
      </p:sp>
      <p:sp>
        <p:nvSpPr>
          <p:cNvPr id="30" name="title"/>
          <p:cNvSpPr txBox="1"/>
          <p:nvPr/>
        </p:nvSpPr>
        <p:spPr>
          <a:xfrm>
            <a:off x="457200" y="484632"/>
            <a:ext cx="11274552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200" b="1" lang="en-US">
                <a:solidFill>
                  <a:srgbClr val="000000"/>
                </a:solidFill>
                <a:latin typeface="Arial Black"/>
              </a:rPr>
              <a:t>Operating matrices make quality ownership visible at a glance</a:t>
            </a:r>
          </a:p>
        </p:txBody>
      </p:sp>
      <p:sp>
        <p:nvSpPr>
          <p:cNvPr id="31" name="footer"/>
          <p:cNvSpPr txBox="1"/>
          <p:nvPr/>
        </p:nvSpPr>
        <p:spPr>
          <a:xfrm>
            <a:off x="457200" y="6473952"/>
            <a:ext cx="1051560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0" lang="en-US">
                <a:solidFill>
                  <a:srgbClr val="222222"/>
                </a:solidFill>
                <a:latin typeface="Consolas"/>
              </a:rPr>
              <a:t>Native-object stress fixture · thick black outlines, hard shadows, and deliberate offset geometry · editable geometry and recorded style lock</a:t>
            </a:r>
          </a:p>
        </p:txBody>
      </p:sp>
      <p:sp>
        <p:nvSpPr>
          <p:cNvPr id="32" name="matrix-rail-title"/>
          <p:cNvSpPr txBox="1"/>
          <p:nvPr/>
        </p:nvSpPr>
        <p:spPr>
          <a:xfrm>
            <a:off x="9089136" y="1371600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1" lang="en-US">
                <a:solidFill>
                  <a:srgbClr val="000000"/>
                </a:solidFill>
                <a:latin typeface="Consolas"/>
              </a:rPr>
              <a:t>QUALITY RADAR</a:t>
            </a:r>
          </a:p>
        </p:txBody>
      </p:sp>
      <p:sp>
        <p:nvSpPr>
          <p:cNvPr id="33" name="radar-label-0"/>
          <p:cNvSpPr txBox="1"/>
          <p:nvPr/>
        </p:nvSpPr>
        <p:spPr>
          <a:xfrm>
            <a:off x="9893808" y="1737360"/>
            <a:ext cx="768096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222222"/>
                </a:solidFill>
                <a:latin typeface="Consolas"/>
              </a:rPr>
              <a:t>Bounds</a:t>
            </a:r>
          </a:p>
        </p:txBody>
      </p:sp>
      <p:sp>
        <p:nvSpPr>
          <p:cNvPr id="34" name="radar-label-1"/>
          <p:cNvSpPr txBox="1"/>
          <p:nvPr/>
        </p:nvSpPr>
        <p:spPr>
          <a:xfrm>
            <a:off x="11120932" y="2446020"/>
            <a:ext cx="768096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222222"/>
                </a:solidFill>
                <a:latin typeface="Consolas"/>
              </a:rPr>
              <a:t>Fonts</a:t>
            </a:r>
          </a:p>
        </p:txBody>
      </p:sp>
      <p:sp>
        <p:nvSpPr>
          <p:cNvPr id="35" name="radar-label-2"/>
          <p:cNvSpPr txBox="1"/>
          <p:nvPr/>
        </p:nvSpPr>
        <p:spPr>
          <a:xfrm>
            <a:off x="11120932" y="3863339"/>
            <a:ext cx="768096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222222"/>
                </a:solidFill>
                <a:latin typeface="Consolas"/>
              </a:rPr>
              <a:t>Tables</a:t>
            </a:r>
          </a:p>
        </p:txBody>
      </p:sp>
      <p:sp>
        <p:nvSpPr>
          <p:cNvPr id="36" name="radar-label-3"/>
          <p:cNvSpPr txBox="1"/>
          <p:nvPr/>
        </p:nvSpPr>
        <p:spPr>
          <a:xfrm>
            <a:off x="9893808" y="4572000"/>
            <a:ext cx="768096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222222"/>
                </a:solidFill>
                <a:latin typeface="Consolas"/>
              </a:rPr>
              <a:t>Contrast</a:t>
            </a:r>
          </a:p>
        </p:txBody>
      </p:sp>
      <p:sp>
        <p:nvSpPr>
          <p:cNvPr id="37" name="radar-label-4"/>
          <p:cNvSpPr txBox="1"/>
          <p:nvPr/>
        </p:nvSpPr>
        <p:spPr>
          <a:xfrm>
            <a:off x="8666683" y="3863339"/>
            <a:ext cx="768096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222222"/>
                </a:solidFill>
                <a:latin typeface="Consolas"/>
              </a:rPr>
              <a:t>Order</a:t>
            </a:r>
          </a:p>
        </p:txBody>
      </p:sp>
      <p:sp>
        <p:nvSpPr>
          <p:cNvPr id="38" name="radar-label-5"/>
          <p:cNvSpPr txBox="1"/>
          <p:nvPr/>
        </p:nvSpPr>
        <p:spPr>
          <a:xfrm>
            <a:off x="8666683" y="2446020"/>
            <a:ext cx="768096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222222"/>
                </a:solidFill>
                <a:latin typeface="Consolas"/>
              </a:rPr>
              <a:t>Style</a:t>
            </a:r>
          </a:p>
        </p:txBody>
      </p:sp>
      <p:sp>
        <p:nvSpPr>
          <p:cNvPr id="39" name="radar-point-0"/>
          <p:cNvSpPr/>
          <p:nvPr/>
        </p:nvSpPr>
        <p:spPr>
          <a:xfrm>
            <a:off x="10204704" y="2258568"/>
            <a:ext cx="146304" cy="146304"/>
          </a:xfrm>
          <a:prstGeom prst="ellipse">
            <a:avLst/>
          </a:prstGeom>
          <a:solidFill>
            <a:srgbClr val="0000FF"/>
          </a:solidFill>
          <a:ln w="10160">
            <a:solidFill>
              <a:srgbClr val="00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adar-point-1"/>
          <p:cNvSpPr/>
          <p:nvPr/>
        </p:nvSpPr>
        <p:spPr>
          <a:xfrm>
            <a:off x="10806379" y="2825496"/>
            <a:ext cx="146304" cy="146304"/>
          </a:xfrm>
          <a:prstGeom prst="ellipse">
            <a:avLst/>
          </a:prstGeom>
          <a:solidFill>
            <a:srgbClr val="0000FF"/>
          </a:solidFill>
          <a:ln w="10160">
            <a:solidFill>
              <a:srgbClr val="00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adar-point-2"/>
          <p:cNvSpPr/>
          <p:nvPr/>
        </p:nvSpPr>
        <p:spPr>
          <a:xfrm>
            <a:off x="11139220" y="3712463"/>
            <a:ext cx="146304" cy="146304"/>
          </a:xfrm>
          <a:prstGeom prst="ellipse">
            <a:avLst/>
          </a:prstGeom>
          <a:solidFill>
            <a:srgbClr val="0000FF"/>
          </a:solidFill>
          <a:ln w="10160">
            <a:solidFill>
              <a:srgbClr val="00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adar-point-3"/>
          <p:cNvSpPr/>
          <p:nvPr/>
        </p:nvSpPr>
        <p:spPr>
          <a:xfrm>
            <a:off x="10204704" y="3995928"/>
            <a:ext cx="146304" cy="146304"/>
          </a:xfrm>
          <a:prstGeom prst="ellipse">
            <a:avLst/>
          </a:prstGeom>
          <a:solidFill>
            <a:srgbClr val="0000FF"/>
          </a:solidFill>
          <a:ln w="10160">
            <a:solidFill>
              <a:srgbClr val="00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adar-point-4"/>
          <p:cNvSpPr/>
          <p:nvPr/>
        </p:nvSpPr>
        <p:spPr>
          <a:xfrm>
            <a:off x="9317736" y="3685032"/>
            <a:ext cx="146304" cy="146304"/>
          </a:xfrm>
          <a:prstGeom prst="ellipse">
            <a:avLst/>
          </a:prstGeom>
          <a:solidFill>
            <a:srgbClr val="0000FF"/>
          </a:solidFill>
          <a:ln w="10160">
            <a:solidFill>
              <a:srgbClr val="00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adar-point-5"/>
          <p:cNvSpPr/>
          <p:nvPr/>
        </p:nvSpPr>
        <p:spPr>
          <a:xfrm>
            <a:off x="9650577" y="2852928"/>
            <a:ext cx="146304" cy="146304"/>
          </a:xfrm>
          <a:prstGeom prst="ellipse">
            <a:avLst/>
          </a:prstGeom>
          <a:solidFill>
            <a:srgbClr val="0000FF"/>
          </a:solidFill>
          <a:ln w="10160">
            <a:solidFill>
              <a:srgbClr val="00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matrix-note"/>
          <p:cNvSpPr txBox="1"/>
          <p:nvPr/>
        </p:nvSpPr>
        <p:spPr>
          <a:xfrm>
            <a:off x="9089136" y="4800600"/>
            <a:ext cx="2267712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00" b="0" lang="en-US">
                <a:solidFill>
                  <a:srgbClr val="222222"/>
                </a:solidFill>
                <a:latin typeface="Consolas"/>
              </a:rPr>
              <a:t>Editable table and quality geometry share one governed frame.</a:t>
            </a:r>
          </a:p>
        </p:txBody>
      </p:sp>
      <p:sp>
        <p:nvSpPr>
          <p:cNvPr id="46" name="flow-label-0"/>
          <p:cNvSpPr txBox="1"/>
          <p:nvPr/>
        </p:nvSpPr>
        <p:spPr>
          <a:xfrm>
            <a:off x="566928" y="5852160"/>
            <a:ext cx="137160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50" b="1" lang="en-US">
                <a:solidFill>
                  <a:srgbClr val="000000"/>
                </a:solidFill>
                <a:latin typeface="Consolas"/>
              </a:rPr>
              <a:t>Lock</a:t>
            </a:r>
          </a:p>
        </p:txBody>
      </p:sp>
      <p:sp>
        <p:nvSpPr>
          <p:cNvPr id="47" name="flow-label-1"/>
          <p:cNvSpPr txBox="1"/>
          <p:nvPr/>
        </p:nvSpPr>
        <p:spPr>
          <a:xfrm>
            <a:off x="2459736" y="5852160"/>
            <a:ext cx="137160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50" b="1" lang="en-US">
                <a:solidFill>
                  <a:srgbClr val="FF3B30"/>
                </a:solidFill>
                <a:latin typeface="Consolas"/>
              </a:rPr>
              <a:t>Compose</a:t>
            </a:r>
          </a:p>
        </p:txBody>
      </p:sp>
      <p:sp>
        <p:nvSpPr>
          <p:cNvPr id="48" name="flow-label-2"/>
          <p:cNvSpPr txBox="1"/>
          <p:nvPr/>
        </p:nvSpPr>
        <p:spPr>
          <a:xfrm>
            <a:off x="4352544" y="5852160"/>
            <a:ext cx="137160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50" b="1" lang="en-US">
                <a:solidFill>
                  <a:srgbClr val="0000FF"/>
                </a:solidFill>
                <a:latin typeface="Consolas"/>
              </a:rPr>
              <a:t>Validate</a:t>
            </a:r>
          </a:p>
        </p:txBody>
      </p:sp>
      <p:sp>
        <p:nvSpPr>
          <p:cNvPr id="49" name="flow-label-3"/>
          <p:cNvSpPr txBox="1"/>
          <p:nvPr/>
        </p:nvSpPr>
        <p:spPr>
          <a:xfrm>
            <a:off x="6245352" y="5852160"/>
            <a:ext cx="137160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50" b="1" lang="en-US">
                <a:solidFill>
                  <a:srgbClr val="FF3B30"/>
                </a:solidFill>
                <a:latin typeface="Consolas"/>
              </a:rPr>
              <a:t>Render</a:t>
            </a:r>
          </a:p>
        </p:txBody>
      </p:sp>
      <p:sp>
        <p:nvSpPr>
          <p:cNvPr id="50" name="flow-label-4"/>
          <p:cNvSpPr txBox="1"/>
          <p:nvPr/>
        </p:nvSpPr>
        <p:spPr>
          <a:xfrm>
            <a:off x="8138160" y="5852160"/>
            <a:ext cx="137160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50" b="1" lang="en-US">
                <a:solidFill>
                  <a:srgbClr val="000000"/>
                </a:solidFill>
                <a:latin typeface="Consolas"/>
              </a:rPr>
              <a:t>Inspect</a:t>
            </a:r>
          </a:p>
        </p:txBody>
      </p:sp>
      <p:sp>
        <p:nvSpPr>
          <p:cNvPr id="51" name="flow-label-5"/>
          <p:cNvSpPr txBox="1"/>
          <p:nvPr/>
        </p:nvSpPr>
        <p:spPr>
          <a:xfrm>
            <a:off x="10030968" y="5852160"/>
            <a:ext cx="137160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50" b="1" lang="en-US">
                <a:solidFill>
                  <a:srgbClr val="000000"/>
                </a:solidFill>
                <a:latin typeface="Consolas"/>
              </a:rPr>
              <a:t>Publish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00"/>
          </a:solidFill>
          <a:ln w="10160">
            <a:solidFill>
              <a:srgbClr val="F5F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op-band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0000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ortfolio-0-shadow"/>
          <p:cNvSpPr/>
          <p:nvPr/>
        </p:nvSpPr>
        <p:spPr>
          <a:xfrm>
            <a:off x="539496" y="1179576"/>
            <a:ext cx="2395728" cy="2057400"/>
          </a:xfrm>
          <a:prstGeom prst="rect">
            <a:avLst/>
          </a:prstGeom>
          <a:solidFill>
            <a:srgbClr val="000000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ortfolio-0-shell"/>
          <p:cNvSpPr/>
          <p:nvPr/>
        </p:nvSpPr>
        <p:spPr>
          <a:xfrm>
            <a:off x="457200" y="1097280"/>
            <a:ext cx="2395728" cy="2057400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ortfolio-1-shadow"/>
          <p:cNvSpPr/>
          <p:nvPr/>
        </p:nvSpPr>
        <p:spPr>
          <a:xfrm>
            <a:off x="3136392" y="1179576"/>
            <a:ext cx="2395728" cy="2057400"/>
          </a:xfrm>
          <a:prstGeom prst="rect">
            <a:avLst/>
          </a:prstGeom>
          <a:solidFill>
            <a:srgbClr val="000000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ortfolio-1-shell"/>
          <p:cNvSpPr/>
          <p:nvPr/>
        </p:nvSpPr>
        <p:spPr>
          <a:xfrm>
            <a:off x="3054096" y="1097280"/>
            <a:ext cx="2395728" cy="2057400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ortfolio-2-shadow"/>
          <p:cNvSpPr/>
          <p:nvPr/>
        </p:nvSpPr>
        <p:spPr>
          <a:xfrm>
            <a:off x="5733288" y="1179576"/>
            <a:ext cx="2395728" cy="2057400"/>
          </a:xfrm>
          <a:prstGeom prst="rect">
            <a:avLst/>
          </a:prstGeom>
          <a:solidFill>
            <a:srgbClr val="000000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ortfolio-2-shell"/>
          <p:cNvSpPr/>
          <p:nvPr/>
        </p:nvSpPr>
        <p:spPr>
          <a:xfrm>
            <a:off x="5650992" y="1097280"/>
            <a:ext cx="2395728" cy="2057400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ortfolio-3-shadow"/>
          <p:cNvSpPr/>
          <p:nvPr/>
        </p:nvSpPr>
        <p:spPr>
          <a:xfrm>
            <a:off x="539496" y="3511296"/>
            <a:ext cx="2395728" cy="2057400"/>
          </a:xfrm>
          <a:prstGeom prst="rect">
            <a:avLst/>
          </a:prstGeom>
          <a:solidFill>
            <a:srgbClr val="000000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portfolio-3-shell"/>
          <p:cNvSpPr/>
          <p:nvPr/>
        </p:nvSpPr>
        <p:spPr>
          <a:xfrm>
            <a:off x="457200" y="3429000"/>
            <a:ext cx="2395728" cy="2057400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portfolio-4-shadow"/>
          <p:cNvSpPr/>
          <p:nvPr/>
        </p:nvSpPr>
        <p:spPr>
          <a:xfrm>
            <a:off x="3136392" y="3511296"/>
            <a:ext cx="2395728" cy="2057400"/>
          </a:xfrm>
          <a:prstGeom prst="rect">
            <a:avLst/>
          </a:prstGeom>
          <a:solidFill>
            <a:srgbClr val="000000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ortfolio-4-shell"/>
          <p:cNvSpPr/>
          <p:nvPr/>
        </p:nvSpPr>
        <p:spPr>
          <a:xfrm>
            <a:off x="3054096" y="3429000"/>
            <a:ext cx="2395728" cy="2057400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ortfolio-5-shadow"/>
          <p:cNvSpPr/>
          <p:nvPr/>
        </p:nvSpPr>
        <p:spPr>
          <a:xfrm>
            <a:off x="5733288" y="3511296"/>
            <a:ext cx="2395728" cy="2057400"/>
          </a:xfrm>
          <a:prstGeom prst="rect">
            <a:avLst/>
          </a:prstGeom>
          <a:solidFill>
            <a:srgbClr val="000000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portfolio-5-shell"/>
          <p:cNvSpPr/>
          <p:nvPr/>
        </p:nvSpPr>
        <p:spPr>
          <a:xfrm>
            <a:off x="5650992" y="3429000"/>
            <a:ext cx="2395728" cy="2057400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portfolio-rail-shadow"/>
          <p:cNvSpPr/>
          <p:nvPr/>
        </p:nvSpPr>
        <p:spPr>
          <a:xfrm>
            <a:off x="8540496" y="1179576"/>
            <a:ext cx="3273552" cy="4892040"/>
          </a:xfrm>
          <a:prstGeom prst="rect">
            <a:avLst/>
          </a:prstGeom>
          <a:solidFill>
            <a:srgbClr val="000000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portfolio-rail-shell"/>
          <p:cNvSpPr/>
          <p:nvPr/>
        </p:nvSpPr>
        <p:spPr>
          <a:xfrm>
            <a:off x="8458200" y="1097280"/>
            <a:ext cx="3273552" cy="4892040"/>
          </a:xfrm>
          <a:prstGeom prst="rect">
            <a:avLst/>
          </a:prstGeom>
          <a:solidFill>
            <a:srgbClr val="CCFF00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portfolio-0-accent"/>
          <p:cNvSpPr/>
          <p:nvPr/>
        </p:nvSpPr>
        <p:spPr>
          <a:xfrm>
            <a:off x="457200" y="1097280"/>
            <a:ext cx="73152" cy="2057400"/>
          </a:xfrm>
          <a:prstGeom prst="rect">
            <a:avLst/>
          </a:prstGeom>
          <a:solidFill>
            <a:srgbClr val="000000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portfolio-1-accent"/>
          <p:cNvSpPr/>
          <p:nvPr/>
        </p:nvSpPr>
        <p:spPr>
          <a:xfrm>
            <a:off x="3054096" y="1097280"/>
            <a:ext cx="73152" cy="2057400"/>
          </a:xfrm>
          <a:prstGeom prst="rect">
            <a:avLst/>
          </a:prstGeom>
          <a:solidFill>
            <a:srgbClr val="000000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portfolio-2-accent"/>
          <p:cNvSpPr/>
          <p:nvPr/>
        </p:nvSpPr>
        <p:spPr>
          <a:xfrm>
            <a:off x="5650992" y="1097280"/>
            <a:ext cx="73152" cy="2057400"/>
          </a:xfrm>
          <a:prstGeom prst="rect">
            <a:avLst/>
          </a:prstGeom>
          <a:solidFill>
            <a:srgbClr val="000000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portfolio-3-accent"/>
          <p:cNvSpPr/>
          <p:nvPr/>
        </p:nvSpPr>
        <p:spPr>
          <a:xfrm>
            <a:off x="457200" y="3429000"/>
            <a:ext cx="73152" cy="2057400"/>
          </a:xfrm>
          <a:prstGeom prst="rect">
            <a:avLst/>
          </a:prstGeom>
          <a:solidFill>
            <a:srgbClr val="000000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portfolio-4-accent"/>
          <p:cNvSpPr/>
          <p:nvPr/>
        </p:nvSpPr>
        <p:spPr>
          <a:xfrm>
            <a:off x="3054096" y="3429000"/>
            <a:ext cx="73152" cy="2057400"/>
          </a:xfrm>
          <a:prstGeom prst="rect">
            <a:avLst/>
          </a:prstGeom>
          <a:solidFill>
            <a:srgbClr val="000000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portfolio-5-accent"/>
          <p:cNvSpPr/>
          <p:nvPr/>
        </p:nvSpPr>
        <p:spPr>
          <a:xfrm>
            <a:off x="5650992" y="3429000"/>
            <a:ext cx="73152" cy="2057400"/>
          </a:xfrm>
          <a:prstGeom prst="rect">
            <a:avLst/>
          </a:prstGeom>
          <a:solidFill>
            <a:srgbClr val="000000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portfolio-rail-accent"/>
          <p:cNvSpPr/>
          <p:nvPr/>
        </p:nvSpPr>
        <p:spPr>
          <a:xfrm>
            <a:off x="8458200" y="1097280"/>
            <a:ext cx="73152" cy="4892040"/>
          </a:xfrm>
          <a:prstGeom prst="rect">
            <a:avLst/>
          </a:prstGeom>
          <a:solidFill>
            <a:srgbClr val="000000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portfolio-micro-0-0"/>
          <p:cNvSpPr/>
          <p:nvPr/>
        </p:nvSpPr>
        <p:spPr>
          <a:xfrm>
            <a:off x="676656" y="2139696"/>
            <a:ext cx="859536" cy="256032"/>
          </a:xfrm>
          <a:prstGeom prst="roundRect">
            <a:avLst/>
          </a:prstGeom>
          <a:solidFill>
            <a:srgbClr val="CCFF00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portfolio-micro-0-1"/>
          <p:cNvSpPr/>
          <p:nvPr/>
        </p:nvSpPr>
        <p:spPr>
          <a:xfrm>
            <a:off x="1664208" y="2139696"/>
            <a:ext cx="859536" cy="256032"/>
          </a:xfrm>
          <a:prstGeom prst="roundRect">
            <a:avLst/>
          </a:prstGeom>
          <a:solidFill>
            <a:srgbClr val="CCFF00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portfolio-micro-0-2"/>
          <p:cNvSpPr/>
          <p:nvPr/>
        </p:nvSpPr>
        <p:spPr>
          <a:xfrm>
            <a:off x="676656" y="2523744"/>
            <a:ext cx="859536" cy="256032"/>
          </a:xfrm>
          <a:prstGeom prst="roundRect">
            <a:avLst/>
          </a:prstGeom>
          <a:solidFill>
            <a:srgbClr val="CCFF00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portfolio-micro-0-3"/>
          <p:cNvSpPr/>
          <p:nvPr/>
        </p:nvSpPr>
        <p:spPr>
          <a:xfrm>
            <a:off x="1664208" y="2523744"/>
            <a:ext cx="859536" cy="256032"/>
          </a:xfrm>
          <a:prstGeom prst="roundRect">
            <a:avLst/>
          </a:prstGeom>
          <a:solidFill>
            <a:srgbClr val="CCFF00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portfolio-micro-1-0"/>
          <p:cNvSpPr/>
          <p:nvPr/>
        </p:nvSpPr>
        <p:spPr>
          <a:xfrm>
            <a:off x="3273552" y="2139696"/>
            <a:ext cx="859536" cy="256032"/>
          </a:xfrm>
          <a:prstGeom prst="roundRect">
            <a:avLst/>
          </a:prstGeom>
          <a:solidFill>
            <a:srgbClr val="CCFF00"/>
          </a:solidFill>
          <a:ln w="10160">
            <a:solidFill>
              <a:srgbClr val="FF3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portfolio-micro-1-1"/>
          <p:cNvSpPr/>
          <p:nvPr/>
        </p:nvSpPr>
        <p:spPr>
          <a:xfrm>
            <a:off x="4261104" y="2139696"/>
            <a:ext cx="859536" cy="256032"/>
          </a:xfrm>
          <a:prstGeom prst="roundRect">
            <a:avLst/>
          </a:prstGeom>
          <a:solidFill>
            <a:srgbClr val="CCFF00"/>
          </a:solidFill>
          <a:ln w="10160">
            <a:solidFill>
              <a:srgbClr val="FF3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portfolio-micro-1-2"/>
          <p:cNvSpPr/>
          <p:nvPr/>
        </p:nvSpPr>
        <p:spPr>
          <a:xfrm>
            <a:off x="3273552" y="2523744"/>
            <a:ext cx="859536" cy="256032"/>
          </a:xfrm>
          <a:prstGeom prst="roundRect">
            <a:avLst/>
          </a:prstGeom>
          <a:solidFill>
            <a:srgbClr val="CCFF00"/>
          </a:solidFill>
          <a:ln w="10160">
            <a:solidFill>
              <a:srgbClr val="FF3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portfolio-micro-1-3"/>
          <p:cNvSpPr/>
          <p:nvPr/>
        </p:nvSpPr>
        <p:spPr>
          <a:xfrm>
            <a:off x="4261104" y="2523744"/>
            <a:ext cx="859536" cy="256032"/>
          </a:xfrm>
          <a:prstGeom prst="roundRect">
            <a:avLst/>
          </a:prstGeom>
          <a:solidFill>
            <a:srgbClr val="CCFF00"/>
          </a:solidFill>
          <a:ln w="10160">
            <a:solidFill>
              <a:srgbClr val="FF3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portfolio-micro-2-0"/>
          <p:cNvSpPr/>
          <p:nvPr/>
        </p:nvSpPr>
        <p:spPr>
          <a:xfrm>
            <a:off x="5870448" y="2139696"/>
            <a:ext cx="859536" cy="256032"/>
          </a:xfrm>
          <a:prstGeom prst="roundRect">
            <a:avLst/>
          </a:prstGeom>
          <a:solidFill>
            <a:srgbClr val="CCFF00"/>
          </a:solidFill>
          <a:ln w="10160">
            <a:solidFill>
              <a:srgbClr val="00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portfolio-micro-2-1"/>
          <p:cNvSpPr/>
          <p:nvPr/>
        </p:nvSpPr>
        <p:spPr>
          <a:xfrm>
            <a:off x="6858000" y="2139696"/>
            <a:ext cx="859536" cy="256032"/>
          </a:xfrm>
          <a:prstGeom prst="roundRect">
            <a:avLst/>
          </a:prstGeom>
          <a:solidFill>
            <a:srgbClr val="CCFF00"/>
          </a:solidFill>
          <a:ln w="10160">
            <a:solidFill>
              <a:srgbClr val="00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portfolio-micro-2-2"/>
          <p:cNvSpPr/>
          <p:nvPr/>
        </p:nvSpPr>
        <p:spPr>
          <a:xfrm>
            <a:off x="5870448" y="2523744"/>
            <a:ext cx="859536" cy="256032"/>
          </a:xfrm>
          <a:prstGeom prst="roundRect">
            <a:avLst/>
          </a:prstGeom>
          <a:solidFill>
            <a:srgbClr val="CCFF00"/>
          </a:solidFill>
          <a:ln w="10160">
            <a:solidFill>
              <a:srgbClr val="00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portfolio-micro-2-3"/>
          <p:cNvSpPr/>
          <p:nvPr/>
        </p:nvSpPr>
        <p:spPr>
          <a:xfrm>
            <a:off x="6858000" y="2523744"/>
            <a:ext cx="859536" cy="256032"/>
          </a:xfrm>
          <a:prstGeom prst="roundRect">
            <a:avLst/>
          </a:prstGeom>
          <a:solidFill>
            <a:srgbClr val="CCFF00"/>
          </a:solidFill>
          <a:ln w="10160">
            <a:solidFill>
              <a:srgbClr val="00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portfolio-micro-3-0"/>
          <p:cNvSpPr/>
          <p:nvPr/>
        </p:nvSpPr>
        <p:spPr>
          <a:xfrm>
            <a:off x="676656" y="4471416"/>
            <a:ext cx="859536" cy="256032"/>
          </a:xfrm>
          <a:prstGeom prst="roundRect">
            <a:avLst/>
          </a:prstGeom>
          <a:solidFill>
            <a:srgbClr val="CCFF00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portfolio-micro-3-1"/>
          <p:cNvSpPr/>
          <p:nvPr/>
        </p:nvSpPr>
        <p:spPr>
          <a:xfrm>
            <a:off x="1664208" y="4471416"/>
            <a:ext cx="859536" cy="256032"/>
          </a:xfrm>
          <a:prstGeom prst="roundRect">
            <a:avLst/>
          </a:prstGeom>
          <a:solidFill>
            <a:srgbClr val="CCFF00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portfolio-micro-3-2"/>
          <p:cNvSpPr/>
          <p:nvPr/>
        </p:nvSpPr>
        <p:spPr>
          <a:xfrm>
            <a:off x="676656" y="4855464"/>
            <a:ext cx="859536" cy="256032"/>
          </a:xfrm>
          <a:prstGeom prst="roundRect">
            <a:avLst/>
          </a:prstGeom>
          <a:solidFill>
            <a:srgbClr val="CCFF00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portfolio-micro-3-3"/>
          <p:cNvSpPr/>
          <p:nvPr/>
        </p:nvSpPr>
        <p:spPr>
          <a:xfrm>
            <a:off x="1664208" y="4855464"/>
            <a:ext cx="859536" cy="256032"/>
          </a:xfrm>
          <a:prstGeom prst="roundRect">
            <a:avLst/>
          </a:prstGeom>
          <a:solidFill>
            <a:srgbClr val="CCFF00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portfolio-micro-4-0"/>
          <p:cNvSpPr/>
          <p:nvPr/>
        </p:nvSpPr>
        <p:spPr>
          <a:xfrm>
            <a:off x="3273552" y="4471416"/>
            <a:ext cx="859536" cy="256032"/>
          </a:xfrm>
          <a:prstGeom prst="roundRect">
            <a:avLst/>
          </a:prstGeom>
          <a:solidFill>
            <a:srgbClr val="CCFF00"/>
          </a:solidFill>
          <a:ln w="10160">
            <a:solidFill>
              <a:srgbClr val="FF3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portfolio-micro-4-1"/>
          <p:cNvSpPr/>
          <p:nvPr/>
        </p:nvSpPr>
        <p:spPr>
          <a:xfrm>
            <a:off x="4261104" y="4471416"/>
            <a:ext cx="859536" cy="256032"/>
          </a:xfrm>
          <a:prstGeom prst="roundRect">
            <a:avLst/>
          </a:prstGeom>
          <a:solidFill>
            <a:srgbClr val="CCFF00"/>
          </a:solidFill>
          <a:ln w="10160">
            <a:solidFill>
              <a:srgbClr val="FF3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portfolio-micro-4-2"/>
          <p:cNvSpPr/>
          <p:nvPr/>
        </p:nvSpPr>
        <p:spPr>
          <a:xfrm>
            <a:off x="3273552" y="4855464"/>
            <a:ext cx="859536" cy="256032"/>
          </a:xfrm>
          <a:prstGeom prst="roundRect">
            <a:avLst/>
          </a:prstGeom>
          <a:solidFill>
            <a:srgbClr val="CCFF00"/>
          </a:solidFill>
          <a:ln w="10160">
            <a:solidFill>
              <a:srgbClr val="FF3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portfolio-micro-4-3"/>
          <p:cNvSpPr/>
          <p:nvPr/>
        </p:nvSpPr>
        <p:spPr>
          <a:xfrm>
            <a:off x="4261104" y="4855464"/>
            <a:ext cx="859536" cy="256032"/>
          </a:xfrm>
          <a:prstGeom prst="roundRect">
            <a:avLst/>
          </a:prstGeom>
          <a:solidFill>
            <a:srgbClr val="CCFF00"/>
          </a:solidFill>
          <a:ln w="10160">
            <a:solidFill>
              <a:srgbClr val="FF3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portfolio-micro-5-0"/>
          <p:cNvSpPr/>
          <p:nvPr/>
        </p:nvSpPr>
        <p:spPr>
          <a:xfrm>
            <a:off x="5870448" y="4471416"/>
            <a:ext cx="859536" cy="256032"/>
          </a:xfrm>
          <a:prstGeom prst="roundRect">
            <a:avLst/>
          </a:prstGeom>
          <a:solidFill>
            <a:srgbClr val="CCFF00"/>
          </a:solidFill>
          <a:ln w="10160">
            <a:solidFill>
              <a:srgbClr val="FF2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portfolio-micro-5-1"/>
          <p:cNvSpPr/>
          <p:nvPr/>
        </p:nvSpPr>
        <p:spPr>
          <a:xfrm>
            <a:off x="6858000" y="4471416"/>
            <a:ext cx="859536" cy="256032"/>
          </a:xfrm>
          <a:prstGeom prst="roundRect">
            <a:avLst/>
          </a:prstGeom>
          <a:solidFill>
            <a:srgbClr val="CCFF00"/>
          </a:solidFill>
          <a:ln w="10160">
            <a:solidFill>
              <a:srgbClr val="FF2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portfolio-micro-5-2"/>
          <p:cNvSpPr/>
          <p:nvPr/>
        </p:nvSpPr>
        <p:spPr>
          <a:xfrm>
            <a:off x="5870448" y="4855464"/>
            <a:ext cx="859536" cy="256032"/>
          </a:xfrm>
          <a:prstGeom prst="roundRect">
            <a:avLst/>
          </a:prstGeom>
          <a:solidFill>
            <a:srgbClr val="CCFF00"/>
          </a:solidFill>
          <a:ln w="10160">
            <a:solidFill>
              <a:srgbClr val="FF2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portfolio-micro-5-3"/>
          <p:cNvSpPr/>
          <p:nvPr/>
        </p:nvSpPr>
        <p:spPr>
          <a:xfrm>
            <a:off x="6858000" y="4855464"/>
            <a:ext cx="859536" cy="256032"/>
          </a:xfrm>
          <a:prstGeom prst="roundRect">
            <a:avLst/>
          </a:prstGeom>
          <a:solidFill>
            <a:srgbClr val="CCFF00"/>
          </a:solidFill>
          <a:ln w="10160">
            <a:solidFill>
              <a:srgbClr val="FF2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lease-cell-0"/>
          <p:cNvSpPr/>
          <p:nvPr/>
        </p:nvSpPr>
        <p:spPr>
          <a:xfrm>
            <a:off x="8723376" y="1737360"/>
            <a:ext cx="2697480" cy="51206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lease-cell-1"/>
          <p:cNvSpPr/>
          <p:nvPr/>
        </p:nvSpPr>
        <p:spPr>
          <a:xfrm>
            <a:off x="8723376" y="2432304"/>
            <a:ext cx="2697480" cy="51206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lease-cell-2"/>
          <p:cNvSpPr/>
          <p:nvPr/>
        </p:nvSpPr>
        <p:spPr>
          <a:xfrm>
            <a:off x="8723376" y="3127248"/>
            <a:ext cx="2697480" cy="51206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lease-cell-3"/>
          <p:cNvSpPr/>
          <p:nvPr/>
        </p:nvSpPr>
        <p:spPr>
          <a:xfrm>
            <a:off x="8723376" y="3822191"/>
            <a:ext cx="2697480" cy="51206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lease-cell-4"/>
          <p:cNvSpPr/>
          <p:nvPr/>
        </p:nvSpPr>
        <p:spPr>
          <a:xfrm>
            <a:off x="8723376" y="4517136"/>
            <a:ext cx="2697480" cy="51206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portfolio-banner"/>
          <p:cNvSpPr/>
          <p:nvPr/>
        </p:nvSpPr>
        <p:spPr>
          <a:xfrm>
            <a:off x="457200" y="5559552"/>
            <a:ext cx="7882127" cy="438912"/>
          </a:xfrm>
          <a:prstGeom prst="roundRect">
            <a:avLst/>
          </a:prstGeom>
          <a:solidFill>
            <a:srgbClr val="000000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profile-tag"/>
          <p:cNvSpPr txBox="1"/>
          <p:nvPr/>
        </p:nvSpPr>
        <p:spPr>
          <a:xfrm>
            <a:off x="457200" y="201168"/>
            <a:ext cx="768096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1" lang="en-US">
                <a:solidFill>
                  <a:srgbClr val="000000"/>
                </a:solidFill>
                <a:latin typeface="Consolas"/>
              </a:rPr>
              <a:t>V3 STRESS SUITE  ·  NEO-BRUTALISM  ·  PORTFOLIO GRID</a:t>
            </a:r>
          </a:p>
        </p:txBody>
      </p:sp>
      <p:sp>
        <p:nvSpPr>
          <p:cNvPr id="56" name="slide-index"/>
          <p:cNvSpPr txBox="1"/>
          <p:nvPr/>
        </p:nvSpPr>
        <p:spPr>
          <a:xfrm>
            <a:off x="10808208" y="201168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00" b="1" lang="en-US">
                <a:solidFill>
                  <a:srgbClr val="222222"/>
                </a:solidFill>
                <a:latin typeface="Consolas"/>
              </a:rPr>
              <a:t>09/60</a:t>
            </a:r>
          </a:p>
        </p:txBody>
      </p:sp>
      <p:sp>
        <p:nvSpPr>
          <p:cNvPr id="57" name="title"/>
          <p:cNvSpPr txBox="1"/>
          <p:nvPr/>
        </p:nvSpPr>
        <p:spPr>
          <a:xfrm>
            <a:off x="457200" y="484632"/>
            <a:ext cx="11274552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200" b="1" lang="en-US">
                <a:solidFill>
                  <a:srgbClr val="000000"/>
                </a:solidFill>
                <a:latin typeface="Arial Black"/>
              </a:rPr>
              <a:t>Portfolio grids compress six validated capability views into one scan</a:t>
            </a:r>
          </a:p>
        </p:txBody>
      </p:sp>
      <p:sp>
        <p:nvSpPr>
          <p:cNvPr id="58" name="footer"/>
          <p:cNvSpPr txBox="1"/>
          <p:nvPr/>
        </p:nvSpPr>
        <p:spPr>
          <a:xfrm>
            <a:off x="457200" y="6473952"/>
            <a:ext cx="1051560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0" lang="en-US">
                <a:solidFill>
                  <a:srgbClr val="222222"/>
                </a:solidFill>
                <a:latin typeface="Consolas"/>
              </a:rPr>
              <a:t>Native-object stress fixture · thick black outlines, hard shadows, and deliberate offset geometry · editable geometry and recorded style lock</a:t>
            </a:r>
          </a:p>
        </p:txBody>
      </p:sp>
      <p:sp>
        <p:nvSpPr>
          <p:cNvPr id="59" name="portfolio-num-0"/>
          <p:cNvSpPr txBox="1"/>
          <p:nvPr/>
        </p:nvSpPr>
        <p:spPr>
          <a:xfrm>
            <a:off x="676656" y="1298448"/>
            <a:ext cx="566928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1" lang="en-US">
                <a:solidFill>
                  <a:srgbClr val="000000"/>
                </a:solidFill>
                <a:latin typeface="Arial Black"/>
              </a:rPr>
              <a:t>01</a:t>
            </a:r>
          </a:p>
        </p:txBody>
      </p:sp>
      <p:sp>
        <p:nvSpPr>
          <p:cNvPr id="60" name="portfolio-name-0"/>
          <p:cNvSpPr txBox="1"/>
          <p:nvPr/>
        </p:nvSpPr>
        <p:spPr>
          <a:xfrm>
            <a:off x="676656" y="1719072"/>
            <a:ext cx="192024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50" b="1" lang="en-US">
                <a:solidFill>
                  <a:srgbClr val="000000"/>
                </a:solidFill>
                <a:latin typeface="Consolas"/>
              </a:rPr>
              <a:t>Profile lock</a:t>
            </a:r>
          </a:p>
        </p:txBody>
      </p:sp>
      <p:sp>
        <p:nvSpPr>
          <p:cNvPr id="61" name="portfolio-micro-label-0-0"/>
          <p:cNvSpPr txBox="1"/>
          <p:nvPr/>
        </p:nvSpPr>
        <p:spPr>
          <a:xfrm>
            <a:off x="722376" y="2208276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000000"/>
                </a:solidFill>
                <a:latin typeface="Consolas"/>
              </a:rPr>
              <a:t>spec</a:t>
            </a:r>
          </a:p>
        </p:txBody>
      </p:sp>
      <p:sp>
        <p:nvSpPr>
          <p:cNvPr id="62" name="portfolio-micro-label-0-1"/>
          <p:cNvSpPr txBox="1"/>
          <p:nvPr/>
        </p:nvSpPr>
        <p:spPr>
          <a:xfrm>
            <a:off x="1709928" y="2208276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000000"/>
                </a:solidFill>
                <a:latin typeface="Consolas"/>
              </a:rPr>
              <a:t>audit</a:t>
            </a:r>
          </a:p>
        </p:txBody>
      </p:sp>
      <p:sp>
        <p:nvSpPr>
          <p:cNvPr id="63" name="portfolio-micro-label-0-2"/>
          <p:cNvSpPr txBox="1"/>
          <p:nvPr/>
        </p:nvSpPr>
        <p:spPr>
          <a:xfrm>
            <a:off x="722376" y="2592324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000000"/>
                </a:solidFill>
                <a:latin typeface="Consolas"/>
              </a:rPr>
              <a:t>trace</a:t>
            </a:r>
          </a:p>
        </p:txBody>
      </p:sp>
      <p:sp>
        <p:nvSpPr>
          <p:cNvPr id="64" name="portfolio-micro-label-0-3"/>
          <p:cNvSpPr txBox="1"/>
          <p:nvPr/>
        </p:nvSpPr>
        <p:spPr>
          <a:xfrm>
            <a:off x="1709928" y="2592324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000000"/>
                </a:solidFill>
                <a:latin typeface="Consolas"/>
              </a:rPr>
              <a:t>pass</a:t>
            </a:r>
          </a:p>
        </p:txBody>
      </p:sp>
      <p:sp>
        <p:nvSpPr>
          <p:cNvPr id="65" name="portfolio-num-1"/>
          <p:cNvSpPr txBox="1"/>
          <p:nvPr/>
        </p:nvSpPr>
        <p:spPr>
          <a:xfrm>
            <a:off x="3273552" y="1298448"/>
            <a:ext cx="566928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1" lang="en-US">
                <a:solidFill>
                  <a:srgbClr val="FF3B30"/>
                </a:solidFill>
                <a:latin typeface="Arial Black"/>
              </a:rPr>
              <a:t>02</a:t>
            </a:r>
          </a:p>
        </p:txBody>
      </p:sp>
      <p:sp>
        <p:nvSpPr>
          <p:cNvPr id="66" name="portfolio-name-1"/>
          <p:cNvSpPr txBox="1"/>
          <p:nvPr/>
        </p:nvSpPr>
        <p:spPr>
          <a:xfrm>
            <a:off x="3273552" y="1719072"/>
            <a:ext cx="192024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50" b="1" lang="en-US">
                <a:solidFill>
                  <a:srgbClr val="000000"/>
                </a:solidFill>
                <a:latin typeface="Consolas"/>
              </a:rPr>
              <a:t>Narrative</a:t>
            </a:r>
          </a:p>
        </p:txBody>
      </p:sp>
      <p:sp>
        <p:nvSpPr>
          <p:cNvPr id="67" name="portfolio-micro-label-1-0"/>
          <p:cNvSpPr txBox="1"/>
          <p:nvPr/>
        </p:nvSpPr>
        <p:spPr>
          <a:xfrm>
            <a:off x="3319272" y="2208276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FF3B30"/>
                </a:solidFill>
                <a:latin typeface="Consolas"/>
              </a:rPr>
              <a:t>spec</a:t>
            </a:r>
          </a:p>
        </p:txBody>
      </p:sp>
      <p:sp>
        <p:nvSpPr>
          <p:cNvPr id="68" name="portfolio-micro-label-1-1"/>
          <p:cNvSpPr txBox="1"/>
          <p:nvPr/>
        </p:nvSpPr>
        <p:spPr>
          <a:xfrm>
            <a:off x="4306824" y="2208276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FF3B30"/>
                </a:solidFill>
                <a:latin typeface="Consolas"/>
              </a:rPr>
              <a:t>audit</a:t>
            </a:r>
          </a:p>
        </p:txBody>
      </p:sp>
      <p:sp>
        <p:nvSpPr>
          <p:cNvPr id="69" name="portfolio-micro-label-1-2"/>
          <p:cNvSpPr txBox="1"/>
          <p:nvPr/>
        </p:nvSpPr>
        <p:spPr>
          <a:xfrm>
            <a:off x="3319272" y="2592324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FF3B30"/>
                </a:solidFill>
                <a:latin typeface="Consolas"/>
              </a:rPr>
              <a:t>trace</a:t>
            </a:r>
          </a:p>
        </p:txBody>
      </p:sp>
      <p:sp>
        <p:nvSpPr>
          <p:cNvPr id="70" name="portfolio-micro-label-1-3"/>
          <p:cNvSpPr txBox="1"/>
          <p:nvPr/>
        </p:nvSpPr>
        <p:spPr>
          <a:xfrm>
            <a:off x="4306824" y="2592324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FF3B30"/>
                </a:solidFill>
                <a:latin typeface="Consolas"/>
              </a:rPr>
              <a:t>pass</a:t>
            </a:r>
          </a:p>
        </p:txBody>
      </p:sp>
      <p:sp>
        <p:nvSpPr>
          <p:cNvPr id="71" name="portfolio-num-2"/>
          <p:cNvSpPr txBox="1"/>
          <p:nvPr/>
        </p:nvSpPr>
        <p:spPr>
          <a:xfrm>
            <a:off x="5870448" y="1298448"/>
            <a:ext cx="566928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1" lang="en-US">
                <a:solidFill>
                  <a:srgbClr val="0000FF"/>
                </a:solidFill>
                <a:latin typeface="Arial Black"/>
              </a:rPr>
              <a:t>03</a:t>
            </a:r>
          </a:p>
        </p:txBody>
      </p:sp>
      <p:sp>
        <p:nvSpPr>
          <p:cNvPr id="72" name="portfolio-name-2"/>
          <p:cNvSpPr txBox="1"/>
          <p:nvPr/>
        </p:nvSpPr>
        <p:spPr>
          <a:xfrm>
            <a:off x="5870448" y="1719072"/>
            <a:ext cx="192024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50" b="1" lang="en-US">
                <a:solidFill>
                  <a:srgbClr val="000000"/>
                </a:solidFill>
                <a:latin typeface="Consolas"/>
              </a:rPr>
              <a:t>Geometry</a:t>
            </a:r>
          </a:p>
        </p:txBody>
      </p:sp>
      <p:sp>
        <p:nvSpPr>
          <p:cNvPr id="73" name="portfolio-micro-label-2-0"/>
          <p:cNvSpPr txBox="1"/>
          <p:nvPr/>
        </p:nvSpPr>
        <p:spPr>
          <a:xfrm>
            <a:off x="5916168" y="2208276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0000FF"/>
                </a:solidFill>
                <a:latin typeface="Consolas"/>
              </a:rPr>
              <a:t>spec</a:t>
            </a:r>
          </a:p>
        </p:txBody>
      </p:sp>
      <p:sp>
        <p:nvSpPr>
          <p:cNvPr id="74" name="portfolio-micro-label-2-1"/>
          <p:cNvSpPr txBox="1"/>
          <p:nvPr/>
        </p:nvSpPr>
        <p:spPr>
          <a:xfrm>
            <a:off x="6903720" y="2208276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0000FF"/>
                </a:solidFill>
                <a:latin typeface="Consolas"/>
              </a:rPr>
              <a:t>audit</a:t>
            </a:r>
          </a:p>
        </p:txBody>
      </p:sp>
      <p:sp>
        <p:nvSpPr>
          <p:cNvPr id="75" name="portfolio-micro-label-2-2"/>
          <p:cNvSpPr txBox="1"/>
          <p:nvPr/>
        </p:nvSpPr>
        <p:spPr>
          <a:xfrm>
            <a:off x="5916168" y="2592324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0000FF"/>
                </a:solidFill>
                <a:latin typeface="Consolas"/>
              </a:rPr>
              <a:t>trace</a:t>
            </a:r>
          </a:p>
        </p:txBody>
      </p:sp>
      <p:sp>
        <p:nvSpPr>
          <p:cNvPr id="76" name="portfolio-micro-label-2-3"/>
          <p:cNvSpPr txBox="1"/>
          <p:nvPr/>
        </p:nvSpPr>
        <p:spPr>
          <a:xfrm>
            <a:off x="6903720" y="2592324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0000FF"/>
                </a:solidFill>
                <a:latin typeface="Consolas"/>
              </a:rPr>
              <a:t>pass</a:t>
            </a:r>
          </a:p>
        </p:txBody>
      </p:sp>
      <p:sp>
        <p:nvSpPr>
          <p:cNvPr id="77" name="portfolio-num-3"/>
          <p:cNvSpPr txBox="1"/>
          <p:nvPr/>
        </p:nvSpPr>
        <p:spPr>
          <a:xfrm>
            <a:off x="676656" y="3630168"/>
            <a:ext cx="566928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1" lang="en-US">
                <a:solidFill>
                  <a:srgbClr val="000000"/>
                </a:solidFill>
                <a:latin typeface="Arial Black"/>
              </a:rPr>
              <a:t>04</a:t>
            </a:r>
          </a:p>
        </p:txBody>
      </p:sp>
      <p:sp>
        <p:nvSpPr>
          <p:cNvPr id="78" name="portfolio-name-3"/>
          <p:cNvSpPr txBox="1"/>
          <p:nvPr/>
        </p:nvSpPr>
        <p:spPr>
          <a:xfrm>
            <a:off x="676656" y="4050791"/>
            <a:ext cx="192024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50" b="1" lang="en-US">
                <a:solidFill>
                  <a:srgbClr val="000000"/>
                </a:solidFill>
                <a:latin typeface="Consolas"/>
              </a:rPr>
              <a:t>Visuals</a:t>
            </a:r>
          </a:p>
        </p:txBody>
      </p:sp>
      <p:sp>
        <p:nvSpPr>
          <p:cNvPr id="79" name="portfolio-micro-label-3-0"/>
          <p:cNvSpPr txBox="1"/>
          <p:nvPr/>
        </p:nvSpPr>
        <p:spPr>
          <a:xfrm>
            <a:off x="722376" y="4539996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000000"/>
                </a:solidFill>
                <a:latin typeface="Consolas"/>
              </a:rPr>
              <a:t>spec</a:t>
            </a:r>
          </a:p>
        </p:txBody>
      </p:sp>
      <p:sp>
        <p:nvSpPr>
          <p:cNvPr id="80" name="portfolio-micro-label-3-1"/>
          <p:cNvSpPr txBox="1"/>
          <p:nvPr/>
        </p:nvSpPr>
        <p:spPr>
          <a:xfrm>
            <a:off x="1709928" y="4539996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000000"/>
                </a:solidFill>
                <a:latin typeface="Consolas"/>
              </a:rPr>
              <a:t>audit</a:t>
            </a:r>
          </a:p>
        </p:txBody>
      </p:sp>
      <p:sp>
        <p:nvSpPr>
          <p:cNvPr id="81" name="portfolio-micro-label-3-2"/>
          <p:cNvSpPr txBox="1"/>
          <p:nvPr/>
        </p:nvSpPr>
        <p:spPr>
          <a:xfrm>
            <a:off x="722376" y="4924044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000000"/>
                </a:solidFill>
                <a:latin typeface="Consolas"/>
              </a:rPr>
              <a:t>trace</a:t>
            </a:r>
          </a:p>
        </p:txBody>
      </p:sp>
      <p:sp>
        <p:nvSpPr>
          <p:cNvPr id="82" name="portfolio-micro-label-3-3"/>
          <p:cNvSpPr txBox="1"/>
          <p:nvPr/>
        </p:nvSpPr>
        <p:spPr>
          <a:xfrm>
            <a:off x="1709928" y="4924044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000000"/>
                </a:solidFill>
                <a:latin typeface="Consolas"/>
              </a:rPr>
              <a:t>pass</a:t>
            </a:r>
          </a:p>
        </p:txBody>
      </p:sp>
      <p:sp>
        <p:nvSpPr>
          <p:cNvPr id="83" name="portfolio-num-4"/>
          <p:cNvSpPr txBox="1"/>
          <p:nvPr/>
        </p:nvSpPr>
        <p:spPr>
          <a:xfrm>
            <a:off x="3273552" y="3630168"/>
            <a:ext cx="566928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1" lang="en-US">
                <a:solidFill>
                  <a:srgbClr val="FF3B30"/>
                </a:solidFill>
                <a:latin typeface="Arial Black"/>
              </a:rPr>
              <a:t>05</a:t>
            </a:r>
          </a:p>
        </p:txBody>
      </p:sp>
      <p:sp>
        <p:nvSpPr>
          <p:cNvPr id="84" name="portfolio-name-4"/>
          <p:cNvSpPr txBox="1"/>
          <p:nvPr/>
        </p:nvSpPr>
        <p:spPr>
          <a:xfrm>
            <a:off x="3273552" y="4050791"/>
            <a:ext cx="192024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50" b="1" lang="en-US">
                <a:solidFill>
                  <a:srgbClr val="000000"/>
                </a:solidFill>
                <a:latin typeface="Consolas"/>
              </a:rPr>
              <a:t>Accessibility</a:t>
            </a:r>
          </a:p>
        </p:txBody>
      </p:sp>
      <p:sp>
        <p:nvSpPr>
          <p:cNvPr id="85" name="portfolio-micro-label-4-0"/>
          <p:cNvSpPr txBox="1"/>
          <p:nvPr/>
        </p:nvSpPr>
        <p:spPr>
          <a:xfrm>
            <a:off x="3319272" y="4539996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FF3B30"/>
                </a:solidFill>
                <a:latin typeface="Consolas"/>
              </a:rPr>
              <a:t>spec</a:t>
            </a:r>
          </a:p>
        </p:txBody>
      </p:sp>
      <p:sp>
        <p:nvSpPr>
          <p:cNvPr id="86" name="portfolio-micro-label-4-1"/>
          <p:cNvSpPr txBox="1"/>
          <p:nvPr/>
        </p:nvSpPr>
        <p:spPr>
          <a:xfrm>
            <a:off x="4306824" y="4539996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FF3B30"/>
                </a:solidFill>
                <a:latin typeface="Consolas"/>
              </a:rPr>
              <a:t>audit</a:t>
            </a:r>
          </a:p>
        </p:txBody>
      </p:sp>
      <p:sp>
        <p:nvSpPr>
          <p:cNvPr id="87" name="portfolio-micro-label-4-2"/>
          <p:cNvSpPr txBox="1"/>
          <p:nvPr/>
        </p:nvSpPr>
        <p:spPr>
          <a:xfrm>
            <a:off x="3319272" y="4924044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FF3B30"/>
                </a:solidFill>
                <a:latin typeface="Consolas"/>
              </a:rPr>
              <a:t>trace</a:t>
            </a:r>
          </a:p>
        </p:txBody>
      </p:sp>
      <p:sp>
        <p:nvSpPr>
          <p:cNvPr id="88" name="portfolio-micro-label-4-3"/>
          <p:cNvSpPr txBox="1"/>
          <p:nvPr/>
        </p:nvSpPr>
        <p:spPr>
          <a:xfrm>
            <a:off x="4306824" y="4924044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FF3B30"/>
                </a:solidFill>
                <a:latin typeface="Consolas"/>
              </a:rPr>
              <a:t>pass</a:t>
            </a:r>
          </a:p>
        </p:txBody>
      </p:sp>
      <p:sp>
        <p:nvSpPr>
          <p:cNvPr id="89" name="portfolio-num-5"/>
          <p:cNvSpPr txBox="1"/>
          <p:nvPr/>
        </p:nvSpPr>
        <p:spPr>
          <a:xfrm>
            <a:off x="5870448" y="3630168"/>
            <a:ext cx="566928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1" lang="en-US">
                <a:solidFill>
                  <a:srgbClr val="FF2D55"/>
                </a:solidFill>
                <a:latin typeface="Arial Black"/>
              </a:rPr>
              <a:t>06</a:t>
            </a:r>
          </a:p>
        </p:txBody>
      </p:sp>
      <p:sp>
        <p:nvSpPr>
          <p:cNvPr id="90" name="portfolio-name-5"/>
          <p:cNvSpPr txBox="1"/>
          <p:nvPr/>
        </p:nvSpPr>
        <p:spPr>
          <a:xfrm>
            <a:off x="5870448" y="4050791"/>
            <a:ext cx="192024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50" b="1" lang="en-US">
                <a:solidFill>
                  <a:srgbClr val="000000"/>
                </a:solidFill>
                <a:latin typeface="Consolas"/>
              </a:rPr>
              <a:t>Package</a:t>
            </a:r>
          </a:p>
        </p:txBody>
      </p:sp>
      <p:sp>
        <p:nvSpPr>
          <p:cNvPr id="91" name="portfolio-micro-label-5-0"/>
          <p:cNvSpPr txBox="1"/>
          <p:nvPr/>
        </p:nvSpPr>
        <p:spPr>
          <a:xfrm>
            <a:off x="5916168" y="4539996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FF2D55"/>
                </a:solidFill>
                <a:latin typeface="Consolas"/>
              </a:rPr>
              <a:t>spec</a:t>
            </a:r>
          </a:p>
        </p:txBody>
      </p:sp>
      <p:sp>
        <p:nvSpPr>
          <p:cNvPr id="92" name="portfolio-micro-label-5-1"/>
          <p:cNvSpPr txBox="1"/>
          <p:nvPr/>
        </p:nvSpPr>
        <p:spPr>
          <a:xfrm>
            <a:off x="6903720" y="4539996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FF2D55"/>
                </a:solidFill>
                <a:latin typeface="Consolas"/>
              </a:rPr>
              <a:t>audit</a:t>
            </a:r>
          </a:p>
        </p:txBody>
      </p:sp>
      <p:sp>
        <p:nvSpPr>
          <p:cNvPr id="93" name="portfolio-micro-label-5-2"/>
          <p:cNvSpPr txBox="1"/>
          <p:nvPr/>
        </p:nvSpPr>
        <p:spPr>
          <a:xfrm>
            <a:off x="5916168" y="4924044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FF2D55"/>
                </a:solidFill>
                <a:latin typeface="Consolas"/>
              </a:rPr>
              <a:t>trace</a:t>
            </a:r>
          </a:p>
        </p:txBody>
      </p:sp>
      <p:sp>
        <p:nvSpPr>
          <p:cNvPr id="94" name="portfolio-micro-label-5-3"/>
          <p:cNvSpPr txBox="1"/>
          <p:nvPr/>
        </p:nvSpPr>
        <p:spPr>
          <a:xfrm>
            <a:off x="6903720" y="4924044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FF2D55"/>
                </a:solidFill>
                <a:latin typeface="Consolas"/>
              </a:rPr>
              <a:t>pass</a:t>
            </a:r>
          </a:p>
        </p:txBody>
      </p:sp>
      <p:sp>
        <p:nvSpPr>
          <p:cNvPr id="95" name="portfolio-rail-title"/>
          <p:cNvSpPr txBox="1"/>
          <p:nvPr/>
        </p:nvSpPr>
        <p:spPr>
          <a:xfrm>
            <a:off x="8723376" y="1325880"/>
            <a:ext cx="246888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1" lang="en-US">
                <a:solidFill>
                  <a:srgbClr val="000000"/>
                </a:solidFill>
                <a:latin typeface="Consolas"/>
              </a:rPr>
              <a:t>RELEASE BOARD</a:t>
            </a:r>
          </a:p>
        </p:txBody>
      </p:sp>
      <p:sp>
        <p:nvSpPr>
          <p:cNvPr id="96" name="release-label-0"/>
          <p:cNvSpPr txBox="1"/>
          <p:nvPr/>
        </p:nvSpPr>
        <p:spPr>
          <a:xfrm>
            <a:off x="8906256" y="1847088"/>
            <a:ext cx="137160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50" b="1" lang="en-US">
                <a:solidFill>
                  <a:srgbClr val="222222"/>
                </a:solidFill>
                <a:latin typeface="Consolas"/>
              </a:rPr>
              <a:t>Layouts</a:t>
            </a:r>
          </a:p>
        </p:txBody>
      </p:sp>
      <p:sp>
        <p:nvSpPr>
          <p:cNvPr id="97" name="release-value-0"/>
          <p:cNvSpPr txBox="1"/>
          <p:nvPr/>
        </p:nvSpPr>
        <p:spPr>
          <a:xfrm>
            <a:off x="10378440" y="1828800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1100" b="1" lang="en-US">
                <a:solidFill>
                  <a:srgbClr val="000000"/>
                </a:solidFill>
                <a:latin typeface="Consolas"/>
              </a:rPr>
              <a:t>60</a:t>
            </a:r>
          </a:p>
        </p:txBody>
      </p:sp>
      <p:sp>
        <p:nvSpPr>
          <p:cNvPr id="98" name="release-label-1"/>
          <p:cNvSpPr txBox="1"/>
          <p:nvPr/>
        </p:nvSpPr>
        <p:spPr>
          <a:xfrm>
            <a:off x="8906256" y="2542032"/>
            <a:ext cx="137160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50" b="1" lang="en-US">
                <a:solidFill>
                  <a:srgbClr val="222222"/>
                </a:solidFill>
                <a:latin typeface="Consolas"/>
              </a:rPr>
              <a:t>Profiles</a:t>
            </a:r>
          </a:p>
        </p:txBody>
      </p:sp>
      <p:sp>
        <p:nvSpPr>
          <p:cNvPr id="99" name="release-value-1"/>
          <p:cNvSpPr txBox="1"/>
          <p:nvPr/>
        </p:nvSpPr>
        <p:spPr>
          <a:xfrm>
            <a:off x="10378440" y="2523744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1100" b="1" lang="en-US">
                <a:solidFill>
                  <a:srgbClr val="FF3B30"/>
                </a:solidFill>
                <a:latin typeface="Consolas"/>
              </a:rPr>
              <a:t>12</a:t>
            </a:r>
          </a:p>
        </p:txBody>
      </p:sp>
      <p:sp>
        <p:nvSpPr>
          <p:cNvPr id="100" name="release-label-2"/>
          <p:cNvSpPr txBox="1"/>
          <p:nvPr/>
        </p:nvSpPr>
        <p:spPr>
          <a:xfrm>
            <a:off x="8906256" y="3236976"/>
            <a:ext cx="137160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50" b="1" lang="en-US">
                <a:solidFill>
                  <a:srgbClr val="222222"/>
                </a:solidFill>
                <a:latin typeface="Consolas"/>
              </a:rPr>
              <a:t>Gate checks</a:t>
            </a:r>
          </a:p>
        </p:txBody>
      </p:sp>
      <p:sp>
        <p:nvSpPr>
          <p:cNvPr id="101" name="release-value-2"/>
          <p:cNvSpPr txBox="1"/>
          <p:nvPr/>
        </p:nvSpPr>
        <p:spPr>
          <a:xfrm>
            <a:off x="10378440" y="3218688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1100" b="1" lang="en-US">
                <a:solidFill>
                  <a:srgbClr val="0000FF"/>
                </a:solidFill>
                <a:latin typeface="Consolas"/>
              </a:rPr>
              <a:t>11</a:t>
            </a:r>
          </a:p>
        </p:txBody>
      </p:sp>
      <p:sp>
        <p:nvSpPr>
          <p:cNvPr id="102" name="release-label-3"/>
          <p:cNvSpPr txBox="1"/>
          <p:nvPr/>
        </p:nvSpPr>
        <p:spPr>
          <a:xfrm>
            <a:off x="8906256" y="3931920"/>
            <a:ext cx="137160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50" b="1" lang="en-US">
                <a:solidFill>
                  <a:srgbClr val="222222"/>
                </a:solidFill>
                <a:latin typeface="Consolas"/>
              </a:rPr>
              <a:t>Defects</a:t>
            </a:r>
          </a:p>
        </p:txBody>
      </p:sp>
      <p:sp>
        <p:nvSpPr>
          <p:cNvPr id="103" name="release-value-3"/>
          <p:cNvSpPr txBox="1"/>
          <p:nvPr/>
        </p:nvSpPr>
        <p:spPr>
          <a:xfrm>
            <a:off x="10378440" y="3913632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1100" b="1" lang="en-US">
                <a:solidFill>
                  <a:srgbClr val="000000"/>
                </a:solidFill>
                <a:latin typeface="Consolas"/>
              </a:rPr>
              <a:t>00</a:t>
            </a:r>
          </a:p>
        </p:txBody>
      </p:sp>
      <p:sp>
        <p:nvSpPr>
          <p:cNvPr id="104" name="release-label-4"/>
          <p:cNvSpPr txBox="1"/>
          <p:nvPr/>
        </p:nvSpPr>
        <p:spPr>
          <a:xfrm>
            <a:off x="8906256" y="4626864"/>
            <a:ext cx="137160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50" b="1" lang="en-US">
                <a:solidFill>
                  <a:srgbClr val="222222"/>
                </a:solidFill>
                <a:latin typeface="Consolas"/>
              </a:rPr>
              <a:t>Evidence</a:t>
            </a:r>
          </a:p>
        </p:txBody>
      </p:sp>
      <p:sp>
        <p:nvSpPr>
          <p:cNvPr id="105" name="release-value-4"/>
          <p:cNvSpPr txBox="1"/>
          <p:nvPr/>
        </p:nvSpPr>
        <p:spPr>
          <a:xfrm>
            <a:off x="10378440" y="4608576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1100" b="1" lang="en-US">
                <a:solidFill>
                  <a:srgbClr val="FF3B30"/>
                </a:solidFill>
                <a:latin typeface="Consolas"/>
              </a:rPr>
              <a:t>native</a:t>
            </a:r>
          </a:p>
        </p:txBody>
      </p:sp>
      <p:sp>
        <p:nvSpPr>
          <p:cNvPr id="106" name="portfolio-banner-label"/>
          <p:cNvSpPr txBox="1"/>
          <p:nvPr/>
        </p:nvSpPr>
        <p:spPr>
          <a:xfrm>
            <a:off x="713232" y="5687568"/>
            <a:ext cx="740664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50" b="1" lang="en-US">
                <a:solidFill>
                  <a:srgbClr val="FFFFFF"/>
                </a:solidFill>
                <a:latin typeface="Consolas"/>
              </a:rPr>
              <a:t>Six dense tiles test nested cards, micro-labels, hierarchy, and high-information scanning.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00"/>
          </a:solidFill>
          <a:ln w="10160">
            <a:solidFill>
              <a:srgbClr val="F5F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op-band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0000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lane-0"/>
          <p:cNvSpPr/>
          <p:nvPr/>
        </p:nvSpPr>
        <p:spPr>
          <a:xfrm>
            <a:off x="457200" y="1097280"/>
            <a:ext cx="8458200" cy="914400"/>
          </a:xfrm>
          <a:prstGeom prst="roundRect">
            <a:avLst/>
          </a:prstGeom>
          <a:solidFill>
            <a:srgbClr val="CCFF00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lane-1"/>
          <p:cNvSpPr/>
          <p:nvPr/>
        </p:nvSpPr>
        <p:spPr>
          <a:xfrm>
            <a:off x="457200" y="2267712"/>
            <a:ext cx="8458200" cy="914400"/>
          </a:xfrm>
          <a:prstGeom prst="roundRect">
            <a:avLst/>
          </a:prstGeom>
          <a:solidFill>
            <a:srgbClr val="CCFF00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lane-2"/>
          <p:cNvSpPr/>
          <p:nvPr/>
        </p:nvSpPr>
        <p:spPr>
          <a:xfrm>
            <a:off x="457200" y="3438144"/>
            <a:ext cx="8458200" cy="914400"/>
          </a:xfrm>
          <a:prstGeom prst="roundRect">
            <a:avLst/>
          </a:prstGeom>
          <a:solidFill>
            <a:srgbClr val="CCFF00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lane-3"/>
          <p:cNvSpPr/>
          <p:nvPr/>
        </p:nvSpPr>
        <p:spPr>
          <a:xfrm>
            <a:off x="457200" y="4608576"/>
            <a:ext cx="8458200" cy="914400"/>
          </a:xfrm>
          <a:prstGeom prst="roundRect">
            <a:avLst/>
          </a:prstGeom>
          <a:solidFill>
            <a:srgbClr val="CCFF00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workbench-rail-shadow"/>
          <p:cNvSpPr/>
          <p:nvPr/>
        </p:nvSpPr>
        <p:spPr>
          <a:xfrm>
            <a:off x="9272016" y="1179576"/>
            <a:ext cx="2542032" cy="4892040"/>
          </a:xfrm>
          <a:prstGeom prst="rect">
            <a:avLst/>
          </a:prstGeom>
          <a:solidFill>
            <a:srgbClr val="000000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workbench-rail-shell"/>
          <p:cNvSpPr/>
          <p:nvPr/>
        </p:nvSpPr>
        <p:spPr>
          <a:xfrm>
            <a:off x="9189720" y="1097280"/>
            <a:ext cx="2542032" cy="4892040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lane-label-0"/>
          <p:cNvSpPr/>
          <p:nvPr/>
        </p:nvSpPr>
        <p:spPr>
          <a:xfrm>
            <a:off x="457200" y="1097280"/>
            <a:ext cx="1097280" cy="914400"/>
          </a:xfrm>
          <a:prstGeom prst="rect">
            <a:avLst/>
          </a:prstGeom>
          <a:solidFill>
            <a:srgbClr val="000000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lane-label-1"/>
          <p:cNvSpPr/>
          <p:nvPr/>
        </p:nvSpPr>
        <p:spPr>
          <a:xfrm>
            <a:off x="457200" y="2267712"/>
            <a:ext cx="1097280" cy="914400"/>
          </a:xfrm>
          <a:prstGeom prst="rect">
            <a:avLst/>
          </a:prstGeom>
          <a:solidFill>
            <a:srgbClr val="FF3B30"/>
          </a:solidFill>
          <a:ln w="10160">
            <a:solidFill>
              <a:srgbClr val="FF3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lane-label-2"/>
          <p:cNvSpPr/>
          <p:nvPr/>
        </p:nvSpPr>
        <p:spPr>
          <a:xfrm>
            <a:off x="457200" y="3438144"/>
            <a:ext cx="1097280" cy="914400"/>
          </a:xfrm>
          <a:prstGeom prst="rect">
            <a:avLst/>
          </a:prstGeom>
          <a:solidFill>
            <a:srgbClr val="0000FF"/>
          </a:solidFill>
          <a:ln w="10160">
            <a:solidFill>
              <a:srgbClr val="00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lane-label-3"/>
          <p:cNvSpPr/>
          <p:nvPr/>
        </p:nvSpPr>
        <p:spPr>
          <a:xfrm>
            <a:off x="457200" y="4608576"/>
            <a:ext cx="1097280" cy="914400"/>
          </a:xfrm>
          <a:prstGeom prst="rect">
            <a:avLst/>
          </a:prstGeom>
          <a:solidFill>
            <a:srgbClr val="000000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workbench-rail-accent"/>
          <p:cNvSpPr/>
          <p:nvPr/>
        </p:nvSpPr>
        <p:spPr>
          <a:xfrm>
            <a:off x="9189720" y="1097280"/>
            <a:ext cx="73152" cy="4892040"/>
          </a:xfrm>
          <a:prstGeom prst="rect">
            <a:avLst/>
          </a:prstGeom>
          <a:solidFill>
            <a:srgbClr val="000000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hart-axis"/>
          <p:cNvCxnSpPr/>
          <p:nvPr/>
        </p:nvCxnSpPr>
        <p:spPr>
          <a:xfrm>
            <a:off x="9400032" y="4718304"/>
            <a:ext cx="2048256" cy="0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ask-0-0"/>
          <p:cNvSpPr/>
          <p:nvPr/>
        </p:nvSpPr>
        <p:spPr>
          <a:xfrm>
            <a:off x="1773936" y="1234440"/>
            <a:ext cx="1161288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ask-0-1"/>
          <p:cNvSpPr/>
          <p:nvPr/>
        </p:nvSpPr>
        <p:spPr>
          <a:xfrm>
            <a:off x="3127248" y="1234440"/>
            <a:ext cx="1161288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ask-0-2"/>
          <p:cNvSpPr/>
          <p:nvPr/>
        </p:nvSpPr>
        <p:spPr>
          <a:xfrm>
            <a:off x="4480560" y="1234440"/>
            <a:ext cx="1161288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ask-0-3"/>
          <p:cNvSpPr/>
          <p:nvPr/>
        </p:nvSpPr>
        <p:spPr>
          <a:xfrm>
            <a:off x="5833872" y="1234440"/>
            <a:ext cx="1161288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ask-0-4"/>
          <p:cNvSpPr/>
          <p:nvPr/>
        </p:nvSpPr>
        <p:spPr>
          <a:xfrm>
            <a:off x="7187184" y="1234440"/>
            <a:ext cx="1161288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ask-1-0"/>
          <p:cNvSpPr/>
          <p:nvPr/>
        </p:nvSpPr>
        <p:spPr>
          <a:xfrm>
            <a:off x="1773936" y="2404872"/>
            <a:ext cx="1161288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3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ask-1-1"/>
          <p:cNvSpPr/>
          <p:nvPr/>
        </p:nvSpPr>
        <p:spPr>
          <a:xfrm>
            <a:off x="3127248" y="2404872"/>
            <a:ext cx="1161288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3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ask-1-2"/>
          <p:cNvSpPr/>
          <p:nvPr/>
        </p:nvSpPr>
        <p:spPr>
          <a:xfrm>
            <a:off x="4480560" y="2404872"/>
            <a:ext cx="1161288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3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ask-1-3"/>
          <p:cNvSpPr/>
          <p:nvPr/>
        </p:nvSpPr>
        <p:spPr>
          <a:xfrm>
            <a:off x="5833872" y="2404872"/>
            <a:ext cx="1161288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3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ask-1-4"/>
          <p:cNvSpPr/>
          <p:nvPr/>
        </p:nvSpPr>
        <p:spPr>
          <a:xfrm>
            <a:off x="7187184" y="2404872"/>
            <a:ext cx="1161288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3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ask-2-0"/>
          <p:cNvSpPr/>
          <p:nvPr/>
        </p:nvSpPr>
        <p:spPr>
          <a:xfrm>
            <a:off x="1773936" y="3575304"/>
            <a:ext cx="1161288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ask-2-1"/>
          <p:cNvSpPr/>
          <p:nvPr/>
        </p:nvSpPr>
        <p:spPr>
          <a:xfrm>
            <a:off x="3127248" y="3575304"/>
            <a:ext cx="1161288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ask-2-2"/>
          <p:cNvSpPr/>
          <p:nvPr/>
        </p:nvSpPr>
        <p:spPr>
          <a:xfrm>
            <a:off x="4480560" y="3575304"/>
            <a:ext cx="1161288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ask-2-3"/>
          <p:cNvSpPr/>
          <p:nvPr/>
        </p:nvSpPr>
        <p:spPr>
          <a:xfrm>
            <a:off x="5833872" y="3575304"/>
            <a:ext cx="1161288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ask-2-4"/>
          <p:cNvSpPr/>
          <p:nvPr/>
        </p:nvSpPr>
        <p:spPr>
          <a:xfrm>
            <a:off x="7187184" y="3575304"/>
            <a:ext cx="1161288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ask-3-0"/>
          <p:cNvSpPr/>
          <p:nvPr/>
        </p:nvSpPr>
        <p:spPr>
          <a:xfrm>
            <a:off x="1773936" y="4745736"/>
            <a:ext cx="1161288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ask-3-1"/>
          <p:cNvSpPr/>
          <p:nvPr/>
        </p:nvSpPr>
        <p:spPr>
          <a:xfrm>
            <a:off x="3127248" y="4745736"/>
            <a:ext cx="1161288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ask-3-2"/>
          <p:cNvSpPr/>
          <p:nvPr/>
        </p:nvSpPr>
        <p:spPr>
          <a:xfrm>
            <a:off x="4480560" y="4745736"/>
            <a:ext cx="1161288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ask-3-3"/>
          <p:cNvSpPr/>
          <p:nvPr/>
        </p:nvSpPr>
        <p:spPr>
          <a:xfrm>
            <a:off x="5833872" y="4745736"/>
            <a:ext cx="1161288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ask-3-4"/>
          <p:cNvSpPr/>
          <p:nvPr/>
        </p:nvSpPr>
        <p:spPr>
          <a:xfrm>
            <a:off x="7187184" y="4745736"/>
            <a:ext cx="1161288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bar-0"/>
          <p:cNvSpPr/>
          <p:nvPr/>
        </p:nvSpPr>
        <p:spPr>
          <a:xfrm>
            <a:off x="9454896" y="3771900"/>
            <a:ext cx="155448" cy="946403"/>
          </a:xfrm>
          <a:prstGeom prst="roundRect">
            <a:avLst/>
          </a:prstGeom>
          <a:solidFill>
            <a:srgbClr val="000000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bar-1"/>
          <p:cNvSpPr/>
          <p:nvPr/>
        </p:nvSpPr>
        <p:spPr>
          <a:xfrm>
            <a:off x="9701784" y="3204057"/>
            <a:ext cx="155448" cy="1514246"/>
          </a:xfrm>
          <a:prstGeom prst="roundRect">
            <a:avLst/>
          </a:prstGeom>
          <a:solidFill>
            <a:srgbClr val="FF3B30"/>
          </a:solidFill>
          <a:ln w="10160">
            <a:solidFill>
              <a:srgbClr val="FF3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bar-2"/>
          <p:cNvSpPr/>
          <p:nvPr/>
        </p:nvSpPr>
        <p:spPr>
          <a:xfrm>
            <a:off x="9948672" y="3498494"/>
            <a:ext cx="155448" cy="1219809"/>
          </a:xfrm>
          <a:prstGeom prst="roundRect">
            <a:avLst/>
          </a:prstGeom>
          <a:solidFill>
            <a:srgbClr val="0000FF"/>
          </a:solidFill>
          <a:ln w="10160">
            <a:solidFill>
              <a:srgbClr val="00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bar-3"/>
          <p:cNvSpPr/>
          <p:nvPr/>
        </p:nvSpPr>
        <p:spPr>
          <a:xfrm>
            <a:off x="10195560" y="2909620"/>
            <a:ext cx="155448" cy="1808683"/>
          </a:xfrm>
          <a:prstGeom prst="roundRect">
            <a:avLst/>
          </a:prstGeom>
          <a:solidFill>
            <a:srgbClr val="000000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bar-4"/>
          <p:cNvSpPr/>
          <p:nvPr/>
        </p:nvSpPr>
        <p:spPr>
          <a:xfrm>
            <a:off x="10442448" y="3330244"/>
            <a:ext cx="155448" cy="1388059"/>
          </a:xfrm>
          <a:prstGeom prst="roundRect">
            <a:avLst/>
          </a:prstGeom>
          <a:solidFill>
            <a:srgbClr val="000000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bar-5"/>
          <p:cNvSpPr/>
          <p:nvPr/>
        </p:nvSpPr>
        <p:spPr>
          <a:xfrm>
            <a:off x="10689336" y="2783433"/>
            <a:ext cx="155448" cy="1934870"/>
          </a:xfrm>
          <a:prstGeom prst="roundRect">
            <a:avLst/>
          </a:prstGeom>
          <a:solidFill>
            <a:srgbClr val="FF3B30"/>
          </a:solidFill>
          <a:ln w="10160">
            <a:solidFill>
              <a:srgbClr val="FF3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bar-6"/>
          <p:cNvSpPr/>
          <p:nvPr/>
        </p:nvSpPr>
        <p:spPr>
          <a:xfrm>
            <a:off x="10936224" y="3119932"/>
            <a:ext cx="155448" cy="1598371"/>
          </a:xfrm>
          <a:prstGeom prst="roundRect">
            <a:avLst/>
          </a:prstGeom>
          <a:solidFill>
            <a:srgbClr val="0000FF"/>
          </a:solidFill>
          <a:ln w="10160">
            <a:solidFill>
              <a:srgbClr val="00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bar-7"/>
          <p:cNvSpPr/>
          <p:nvPr/>
        </p:nvSpPr>
        <p:spPr>
          <a:xfrm>
            <a:off x="11183112" y="3603650"/>
            <a:ext cx="155448" cy="1114653"/>
          </a:xfrm>
          <a:prstGeom prst="roundRect">
            <a:avLst/>
          </a:prstGeom>
          <a:solidFill>
            <a:srgbClr val="000000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check-dot-0"/>
          <p:cNvSpPr/>
          <p:nvPr/>
        </p:nvSpPr>
        <p:spPr>
          <a:xfrm>
            <a:off x="9436608" y="5321808"/>
            <a:ext cx="91440" cy="91440"/>
          </a:xfrm>
          <a:prstGeom prst="ellipse">
            <a:avLst/>
          </a:prstGeom>
          <a:solidFill>
            <a:srgbClr val="000000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check-dot-1"/>
          <p:cNvSpPr/>
          <p:nvPr/>
        </p:nvSpPr>
        <p:spPr>
          <a:xfrm>
            <a:off x="9436608" y="5486400"/>
            <a:ext cx="91440" cy="91440"/>
          </a:xfrm>
          <a:prstGeom prst="ellipse">
            <a:avLst/>
          </a:prstGeom>
          <a:solidFill>
            <a:srgbClr val="000000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check-dot-2"/>
          <p:cNvSpPr/>
          <p:nvPr/>
        </p:nvSpPr>
        <p:spPr>
          <a:xfrm>
            <a:off x="9436608" y="5650992"/>
            <a:ext cx="91440" cy="91440"/>
          </a:xfrm>
          <a:prstGeom prst="ellipse">
            <a:avLst/>
          </a:prstGeom>
          <a:solidFill>
            <a:srgbClr val="000000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check-dot-3"/>
          <p:cNvSpPr/>
          <p:nvPr/>
        </p:nvSpPr>
        <p:spPr>
          <a:xfrm>
            <a:off x="9436608" y="5815584"/>
            <a:ext cx="91440" cy="91440"/>
          </a:xfrm>
          <a:prstGeom prst="ellipse">
            <a:avLst/>
          </a:prstGeom>
          <a:solidFill>
            <a:srgbClr val="0000FF"/>
          </a:solidFill>
          <a:ln w="10160">
            <a:solidFill>
              <a:srgbClr val="00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profile-tag"/>
          <p:cNvSpPr txBox="1"/>
          <p:nvPr/>
        </p:nvSpPr>
        <p:spPr>
          <a:xfrm>
            <a:off x="457200" y="201168"/>
            <a:ext cx="768096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1" lang="en-US">
                <a:solidFill>
                  <a:srgbClr val="000000"/>
                </a:solidFill>
                <a:latin typeface="Consolas"/>
              </a:rPr>
              <a:t>V3 STRESS SUITE  ·  NEO-BRUTALISM  ·  DELIVERY WORKBENCH</a:t>
            </a:r>
          </a:p>
        </p:txBody>
      </p:sp>
      <p:sp>
        <p:nvSpPr>
          <p:cNvPr id="49" name="slide-index"/>
          <p:cNvSpPr txBox="1"/>
          <p:nvPr/>
        </p:nvSpPr>
        <p:spPr>
          <a:xfrm>
            <a:off x="10808208" y="201168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00" b="1" lang="en-US">
                <a:solidFill>
                  <a:srgbClr val="222222"/>
                </a:solidFill>
                <a:latin typeface="Consolas"/>
              </a:rPr>
              <a:t>10/60</a:t>
            </a:r>
          </a:p>
        </p:txBody>
      </p:sp>
      <p:sp>
        <p:nvSpPr>
          <p:cNvPr id="50" name="title"/>
          <p:cNvSpPr txBox="1"/>
          <p:nvPr/>
        </p:nvSpPr>
        <p:spPr>
          <a:xfrm>
            <a:off x="457200" y="484632"/>
            <a:ext cx="11274552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200" b="1" lang="en-US">
                <a:solidFill>
                  <a:srgbClr val="000000"/>
                </a:solidFill>
                <a:latin typeface="Arial Black"/>
              </a:rPr>
              <a:t>Delivery workbenches keep parallel work lanes legible under load</a:t>
            </a:r>
          </a:p>
        </p:txBody>
      </p:sp>
      <p:sp>
        <p:nvSpPr>
          <p:cNvPr id="51" name="footer"/>
          <p:cNvSpPr txBox="1"/>
          <p:nvPr/>
        </p:nvSpPr>
        <p:spPr>
          <a:xfrm>
            <a:off x="457200" y="6473952"/>
            <a:ext cx="1051560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0" lang="en-US">
                <a:solidFill>
                  <a:srgbClr val="222222"/>
                </a:solidFill>
                <a:latin typeface="Consolas"/>
              </a:rPr>
              <a:t>Native-object stress fixture · thick black outlines, hard shadows, and deliberate offset geometry · editable geometry and recorded style lock</a:t>
            </a:r>
          </a:p>
        </p:txBody>
      </p:sp>
      <p:sp>
        <p:nvSpPr>
          <p:cNvPr id="52" name="lane-name-0"/>
          <p:cNvSpPr txBox="1"/>
          <p:nvPr/>
        </p:nvSpPr>
        <p:spPr>
          <a:xfrm>
            <a:off x="566928" y="1444752"/>
            <a:ext cx="868680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lang="en-US">
                <a:solidFill>
                  <a:srgbClr val="FFFFFF"/>
                </a:solidFill>
                <a:latin typeface="Consolas"/>
              </a:rPr>
              <a:t>INTAKE</a:t>
            </a:r>
          </a:p>
        </p:txBody>
      </p:sp>
      <p:sp>
        <p:nvSpPr>
          <p:cNvPr id="53" name="task-title-0-0"/>
          <p:cNvSpPr txBox="1"/>
          <p:nvPr/>
        </p:nvSpPr>
        <p:spPr>
          <a:xfrm>
            <a:off x="1847088" y="1362456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000000"/>
                </a:solidFill>
                <a:latin typeface="Consolas"/>
              </a:rPr>
              <a:t>Scope</a:t>
            </a:r>
          </a:p>
        </p:txBody>
      </p:sp>
      <p:sp>
        <p:nvSpPr>
          <p:cNvPr id="54" name="task-state-0-0"/>
          <p:cNvSpPr txBox="1"/>
          <p:nvPr/>
        </p:nvSpPr>
        <p:spPr>
          <a:xfrm>
            <a:off x="1847088" y="1545336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000000"/>
                </a:solidFill>
                <a:latin typeface="Consolas"/>
              </a:rPr>
              <a:t>new</a:t>
            </a:r>
          </a:p>
        </p:txBody>
      </p:sp>
      <p:sp>
        <p:nvSpPr>
          <p:cNvPr id="55" name="task-title-0-1"/>
          <p:cNvSpPr txBox="1"/>
          <p:nvPr/>
        </p:nvSpPr>
        <p:spPr>
          <a:xfrm>
            <a:off x="3200400" y="1362456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000000"/>
                </a:solidFill>
                <a:latin typeface="Consolas"/>
              </a:rPr>
              <a:t>Profile</a:t>
            </a:r>
          </a:p>
        </p:txBody>
      </p:sp>
      <p:sp>
        <p:nvSpPr>
          <p:cNvPr id="56" name="task-state-0-1"/>
          <p:cNvSpPr txBox="1"/>
          <p:nvPr/>
        </p:nvSpPr>
        <p:spPr>
          <a:xfrm>
            <a:off x="3200400" y="1545336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000000"/>
                </a:solidFill>
                <a:latin typeface="Consolas"/>
              </a:rPr>
              <a:t>locked</a:t>
            </a:r>
          </a:p>
        </p:txBody>
      </p:sp>
      <p:sp>
        <p:nvSpPr>
          <p:cNvPr id="57" name="task-title-0-2"/>
          <p:cNvSpPr txBox="1"/>
          <p:nvPr/>
        </p:nvSpPr>
        <p:spPr>
          <a:xfrm>
            <a:off x="4553712" y="1362456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000000"/>
                </a:solidFill>
                <a:latin typeface="Consolas"/>
              </a:rPr>
              <a:t>Spec</a:t>
            </a:r>
          </a:p>
        </p:txBody>
      </p:sp>
      <p:sp>
        <p:nvSpPr>
          <p:cNvPr id="58" name="task-state-0-2"/>
          <p:cNvSpPr txBox="1"/>
          <p:nvPr/>
        </p:nvSpPr>
        <p:spPr>
          <a:xfrm>
            <a:off x="4553712" y="1545336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000000"/>
                </a:solidFill>
                <a:latin typeface="Consolas"/>
              </a:rPr>
              <a:t>ready</a:t>
            </a:r>
          </a:p>
        </p:txBody>
      </p:sp>
      <p:sp>
        <p:nvSpPr>
          <p:cNvPr id="59" name="task-title-0-3"/>
          <p:cNvSpPr txBox="1"/>
          <p:nvPr/>
        </p:nvSpPr>
        <p:spPr>
          <a:xfrm>
            <a:off x="5907024" y="1362456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000000"/>
                </a:solidFill>
                <a:latin typeface="Consolas"/>
              </a:rPr>
              <a:t>Audit</a:t>
            </a:r>
          </a:p>
        </p:txBody>
      </p:sp>
      <p:sp>
        <p:nvSpPr>
          <p:cNvPr id="60" name="task-state-0-3"/>
          <p:cNvSpPr txBox="1"/>
          <p:nvPr/>
        </p:nvSpPr>
        <p:spPr>
          <a:xfrm>
            <a:off x="5907024" y="1545336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000000"/>
                </a:solidFill>
                <a:latin typeface="Consolas"/>
              </a:rPr>
              <a:t>pass</a:t>
            </a:r>
          </a:p>
        </p:txBody>
      </p:sp>
      <p:sp>
        <p:nvSpPr>
          <p:cNvPr id="61" name="task-title-0-4"/>
          <p:cNvSpPr txBox="1"/>
          <p:nvPr/>
        </p:nvSpPr>
        <p:spPr>
          <a:xfrm>
            <a:off x="7260336" y="1362456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000000"/>
                </a:solidFill>
                <a:latin typeface="Consolas"/>
              </a:rPr>
              <a:t>Owner</a:t>
            </a:r>
          </a:p>
        </p:txBody>
      </p:sp>
      <p:sp>
        <p:nvSpPr>
          <p:cNvPr id="62" name="task-state-0-4"/>
          <p:cNvSpPr txBox="1"/>
          <p:nvPr/>
        </p:nvSpPr>
        <p:spPr>
          <a:xfrm>
            <a:off x="7260336" y="1545336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000000"/>
                </a:solidFill>
                <a:latin typeface="Consolas"/>
              </a:rPr>
              <a:t>assigned</a:t>
            </a:r>
          </a:p>
        </p:txBody>
      </p:sp>
      <p:sp>
        <p:nvSpPr>
          <p:cNvPr id="63" name="lane-name-1"/>
          <p:cNvSpPr txBox="1"/>
          <p:nvPr/>
        </p:nvSpPr>
        <p:spPr>
          <a:xfrm>
            <a:off x="566928" y="2615184"/>
            <a:ext cx="868680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lang="en-US">
                <a:solidFill>
                  <a:srgbClr val="111111"/>
                </a:solidFill>
                <a:latin typeface="Consolas"/>
              </a:rPr>
              <a:t>AUTHOR</a:t>
            </a:r>
          </a:p>
        </p:txBody>
      </p:sp>
      <p:sp>
        <p:nvSpPr>
          <p:cNvPr id="64" name="task-title-1-0"/>
          <p:cNvSpPr txBox="1"/>
          <p:nvPr/>
        </p:nvSpPr>
        <p:spPr>
          <a:xfrm>
            <a:off x="1847088" y="2532888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000000"/>
                </a:solidFill>
                <a:latin typeface="Consolas"/>
              </a:rPr>
              <a:t>Scope</a:t>
            </a:r>
          </a:p>
        </p:txBody>
      </p:sp>
      <p:sp>
        <p:nvSpPr>
          <p:cNvPr id="65" name="task-state-1-0"/>
          <p:cNvSpPr txBox="1"/>
          <p:nvPr/>
        </p:nvSpPr>
        <p:spPr>
          <a:xfrm>
            <a:off x="1847088" y="2715768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FF3B30"/>
                </a:solidFill>
                <a:latin typeface="Consolas"/>
              </a:rPr>
              <a:t>locked</a:t>
            </a:r>
          </a:p>
        </p:txBody>
      </p:sp>
      <p:sp>
        <p:nvSpPr>
          <p:cNvPr id="66" name="task-title-1-1"/>
          <p:cNvSpPr txBox="1"/>
          <p:nvPr/>
        </p:nvSpPr>
        <p:spPr>
          <a:xfrm>
            <a:off x="3200400" y="2532888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000000"/>
                </a:solidFill>
                <a:latin typeface="Consolas"/>
              </a:rPr>
              <a:t>Profile</a:t>
            </a:r>
          </a:p>
        </p:txBody>
      </p:sp>
      <p:sp>
        <p:nvSpPr>
          <p:cNvPr id="67" name="task-state-1-1"/>
          <p:cNvSpPr txBox="1"/>
          <p:nvPr/>
        </p:nvSpPr>
        <p:spPr>
          <a:xfrm>
            <a:off x="3200400" y="2715768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FF3B30"/>
                </a:solidFill>
                <a:latin typeface="Consolas"/>
              </a:rPr>
              <a:t>ready</a:t>
            </a:r>
          </a:p>
        </p:txBody>
      </p:sp>
      <p:sp>
        <p:nvSpPr>
          <p:cNvPr id="68" name="task-title-1-2"/>
          <p:cNvSpPr txBox="1"/>
          <p:nvPr/>
        </p:nvSpPr>
        <p:spPr>
          <a:xfrm>
            <a:off x="4553712" y="2532888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000000"/>
                </a:solidFill>
                <a:latin typeface="Consolas"/>
              </a:rPr>
              <a:t>Spec</a:t>
            </a:r>
          </a:p>
        </p:txBody>
      </p:sp>
      <p:sp>
        <p:nvSpPr>
          <p:cNvPr id="69" name="task-state-1-2"/>
          <p:cNvSpPr txBox="1"/>
          <p:nvPr/>
        </p:nvSpPr>
        <p:spPr>
          <a:xfrm>
            <a:off x="4553712" y="2715768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FF3B30"/>
                </a:solidFill>
                <a:latin typeface="Consolas"/>
              </a:rPr>
              <a:t>pass</a:t>
            </a:r>
          </a:p>
        </p:txBody>
      </p:sp>
      <p:sp>
        <p:nvSpPr>
          <p:cNvPr id="70" name="task-title-1-3"/>
          <p:cNvSpPr txBox="1"/>
          <p:nvPr/>
        </p:nvSpPr>
        <p:spPr>
          <a:xfrm>
            <a:off x="5907024" y="2532888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000000"/>
                </a:solidFill>
                <a:latin typeface="Consolas"/>
              </a:rPr>
              <a:t>Audit</a:t>
            </a:r>
          </a:p>
        </p:txBody>
      </p:sp>
      <p:sp>
        <p:nvSpPr>
          <p:cNvPr id="71" name="task-state-1-3"/>
          <p:cNvSpPr txBox="1"/>
          <p:nvPr/>
        </p:nvSpPr>
        <p:spPr>
          <a:xfrm>
            <a:off x="5907024" y="2715768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FF3B30"/>
                </a:solidFill>
                <a:latin typeface="Consolas"/>
              </a:rPr>
              <a:t>assigned</a:t>
            </a:r>
          </a:p>
        </p:txBody>
      </p:sp>
      <p:sp>
        <p:nvSpPr>
          <p:cNvPr id="72" name="task-title-1-4"/>
          <p:cNvSpPr txBox="1"/>
          <p:nvPr/>
        </p:nvSpPr>
        <p:spPr>
          <a:xfrm>
            <a:off x="7260336" y="2532888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000000"/>
                </a:solidFill>
                <a:latin typeface="Consolas"/>
              </a:rPr>
              <a:t>Owner</a:t>
            </a:r>
          </a:p>
        </p:txBody>
      </p:sp>
      <p:sp>
        <p:nvSpPr>
          <p:cNvPr id="73" name="task-state-1-4"/>
          <p:cNvSpPr txBox="1"/>
          <p:nvPr/>
        </p:nvSpPr>
        <p:spPr>
          <a:xfrm>
            <a:off x="7260336" y="2715768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FF3B30"/>
                </a:solidFill>
                <a:latin typeface="Consolas"/>
              </a:rPr>
              <a:t>new</a:t>
            </a:r>
          </a:p>
        </p:txBody>
      </p:sp>
      <p:sp>
        <p:nvSpPr>
          <p:cNvPr id="74" name="lane-name-2"/>
          <p:cNvSpPr txBox="1"/>
          <p:nvPr/>
        </p:nvSpPr>
        <p:spPr>
          <a:xfrm>
            <a:off x="566928" y="3785615"/>
            <a:ext cx="868680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lang="en-US">
                <a:solidFill>
                  <a:srgbClr val="FFFFFF"/>
                </a:solidFill>
                <a:latin typeface="Consolas"/>
              </a:rPr>
              <a:t>VERIFY</a:t>
            </a:r>
          </a:p>
        </p:txBody>
      </p:sp>
      <p:sp>
        <p:nvSpPr>
          <p:cNvPr id="75" name="task-title-2-0"/>
          <p:cNvSpPr txBox="1"/>
          <p:nvPr/>
        </p:nvSpPr>
        <p:spPr>
          <a:xfrm>
            <a:off x="1847088" y="3703320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000000"/>
                </a:solidFill>
                <a:latin typeface="Consolas"/>
              </a:rPr>
              <a:t>Scope</a:t>
            </a:r>
          </a:p>
        </p:txBody>
      </p:sp>
      <p:sp>
        <p:nvSpPr>
          <p:cNvPr id="76" name="task-state-2-0"/>
          <p:cNvSpPr txBox="1"/>
          <p:nvPr/>
        </p:nvSpPr>
        <p:spPr>
          <a:xfrm>
            <a:off x="1847088" y="3886200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0000FF"/>
                </a:solidFill>
                <a:latin typeface="Consolas"/>
              </a:rPr>
              <a:t>ready</a:t>
            </a:r>
          </a:p>
        </p:txBody>
      </p:sp>
      <p:sp>
        <p:nvSpPr>
          <p:cNvPr id="77" name="task-title-2-1"/>
          <p:cNvSpPr txBox="1"/>
          <p:nvPr/>
        </p:nvSpPr>
        <p:spPr>
          <a:xfrm>
            <a:off x="3200400" y="3703320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000000"/>
                </a:solidFill>
                <a:latin typeface="Consolas"/>
              </a:rPr>
              <a:t>Profile</a:t>
            </a:r>
          </a:p>
        </p:txBody>
      </p:sp>
      <p:sp>
        <p:nvSpPr>
          <p:cNvPr id="78" name="task-state-2-1"/>
          <p:cNvSpPr txBox="1"/>
          <p:nvPr/>
        </p:nvSpPr>
        <p:spPr>
          <a:xfrm>
            <a:off x="3200400" y="3886200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0000FF"/>
                </a:solidFill>
                <a:latin typeface="Consolas"/>
              </a:rPr>
              <a:t>pass</a:t>
            </a:r>
          </a:p>
        </p:txBody>
      </p:sp>
      <p:sp>
        <p:nvSpPr>
          <p:cNvPr id="79" name="task-title-2-2"/>
          <p:cNvSpPr txBox="1"/>
          <p:nvPr/>
        </p:nvSpPr>
        <p:spPr>
          <a:xfrm>
            <a:off x="4553712" y="3703320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000000"/>
                </a:solidFill>
                <a:latin typeface="Consolas"/>
              </a:rPr>
              <a:t>Spec</a:t>
            </a:r>
          </a:p>
        </p:txBody>
      </p:sp>
      <p:sp>
        <p:nvSpPr>
          <p:cNvPr id="80" name="task-state-2-2"/>
          <p:cNvSpPr txBox="1"/>
          <p:nvPr/>
        </p:nvSpPr>
        <p:spPr>
          <a:xfrm>
            <a:off x="4553712" y="3886200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0000FF"/>
                </a:solidFill>
                <a:latin typeface="Consolas"/>
              </a:rPr>
              <a:t>assigned</a:t>
            </a:r>
          </a:p>
        </p:txBody>
      </p:sp>
      <p:sp>
        <p:nvSpPr>
          <p:cNvPr id="81" name="task-title-2-3"/>
          <p:cNvSpPr txBox="1"/>
          <p:nvPr/>
        </p:nvSpPr>
        <p:spPr>
          <a:xfrm>
            <a:off x="5907024" y="3703320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000000"/>
                </a:solidFill>
                <a:latin typeface="Consolas"/>
              </a:rPr>
              <a:t>Audit</a:t>
            </a:r>
          </a:p>
        </p:txBody>
      </p:sp>
      <p:sp>
        <p:nvSpPr>
          <p:cNvPr id="82" name="task-state-2-3"/>
          <p:cNvSpPr txBox="1"/>
          <p:nvPr/>
        </p:nvSpPr>
        <p:spPr>
          <a:xfrm>
            <a:off x="5907024" y="3886200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0000FF"/>
                </a:solidFill>
                <a:latin typeface="Consolas"/>
              </a:rPr>
              <a:t>new</a:t>
            </a:r>
          </a:p>
        </p:txBody>
      </p:sp>
      <p:sp>
        <p:nvSpPr>
          <p:cNvPr id="83" name="task-title-2-4"/>
          <p:cNvSpPr txBox="1"/>
          <p:nvPr/>
        </p:nvSpPr>
        <p:spPr>
          <a:xfrm>
            <a:off x="7260336" y="3703320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000000"/>
                </a:solidFill>
                <a:latin typeface="Consolas"/>
              </a:rPr>
              <a:t>Owner</a:t>
            </a:r>
          </a:p>
        </p:txBody>
      </p:sp>
      <p:sp>
        <p:nvSpPr>
          <p:cNvPr id="84" name="task-state-2-4"/>
          <p:cNvSpPr txBox="1"/>
          <p:nvPr/>
        </p:nvSpPr>
        <p:spPr>
          <a:xfrm>
            <a:off x="7260336" y="3886200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0000FF"/>
                </a:solidFill>
                <a:latin typeface="Consolas"/>
              </a:rPr>
              <a:t>locked</a:t>
            </a:r>
          </a:p>
        </p:txBody>
      </p:sp>
      <p:sp>
        <p:nvSpPr>
          <p:cNvPr id="85" name="lane-name-3"/>
          <p:cNvSpPr txBox="1"/>
          <p:nvPr/>
        </p:nvSpPr>
        <p:spPr>
          <a:xfrm>
            <a:off x="566928" y="4956048"/>
            <a:ext cx="868680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lang="en-US">
                <a:solidFill>
                  <a:srgbClr val="FFFFFF"/>
                </a:solidFill>
                <a:latin typeface="Consolas"/>
              </a:rPr>
              <a:t>SHIP</a:t>
            </a:r>
          </a:p>
        </p:txBody>
      </p:sp>
      <p:sp>
        <p:nvSpPr>
          <p:cNvPr id="86" name="task-title-3-0"/>
          <p:cNvSpPr txBox="1"/>
          <p:nvPr/>
        </p:nvSpPr>
        <p:spPr>
          <a:xfrm>
            <a:off x="1847088" y="4873752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000000"/>
                </a:solidFill>
                <a:latin typeface="Consolas"/>
              </a:rPr>
              <a:t>Scope</a:t>
            </a:r>
          </a:p>
        </p:txBody>
      </p:sp>
      <p:sp>
        <p:nvSpPr>
          <p:cNvPr id="87" name="task-state-3-0"/>
          <p:cNvSpPr txBox="1"/>
          <p:nvPr/>
        </p:nvSpPr>
        <p:spPr>
          <a:xfrm>
            <a:off x="1847088" y="5056632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000000"/>
                </a:solidFill>
                <a:latin typeface="Consolas"/>
              </a:rPr>
              <a:t>pass</a:t>
            </a:r>
          </a:p>
        </p:txBody>
      </p:sp>
      <p:sp>
        <p:nvSpPr>
          <p:cNvPr id="88" name="task-title-3-1"/>
          <p:cNvSpPr txBox="1"/>
          <p:nvPr/>
        </p:nvSpPr>
        <p:spPr>
          <a:xfrm>
            <a:off x="3200400" y="4873752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000000"/>
                </a:solidFill>
                <a:latin typeface="Consolas"/>
              </a:rPr>
              <a:t>Profile</a:t>
            </a:r>
          </a:p>
        </p:txBody>
      </p:sp>
      <p:sp>
        <p:nvSpPr>
          <p:cNvPr id="89" name="task-state-3-1"/>
          <p:cNvSpPr txBox="1"/>
          <p:nvPr/>
        </p:nvSpPr>
        <p:spPr>
          <a:xfrm>
            <a:off x="3200400" y="5056632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000000"/>
                </a:solidFill>
                <a:latin typeface="Consolas"/>
              </a:rPr>
              <a:t>assigned</a:t>
            </a:r>
          </a:p>
        </p:txBody>
      </p:sp>
      <p:sp>
        <p:nvSpPr>
          <p:cNvPr id="90" name="task-title-3-2"/>
          <p:cNvSpPr txBox="1"/>
          <p:nvPr/>
        </p:nvSpPr>
        <p:spPr>
          <a:xfrm>
            <a:off x="4553712" y="4873752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000000"/>
                </a:solidFill>
                <a:latin typeface="Consolas"/>
              </a:rPr>
              <a:t>Spec</a:t>
            </a:r>
          </a:p>
        </p:txBody>
      </p:sp>
      <p:sp>
        <p:nvSpPr>
          <p:cNvPr id="91" name="task-state-3-2"/>
          <p:cNvSpPr txBox="1"/>
          <p:nvPr/>
        </p:nvSpPr>
        <p:spPr>
          <a:xfrm>
            <a:off x="4553712" y="5056632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000000"/>
                </a:solidFill>
                <a:latin typeface="Consolas"/>
              </a:rPr>
              <a:t>new</a:t>
            </a:r>
          </a:p>
        </p:txBody>
      </p:sp>
      <p:sp>
        <p:nvSpPr>
          <p:cNvPr id="92" name="task-title-3-3"/>
          <p:cNvSpPr txBox="1"/>
          <p:nvPr/>
        </p:nvSpPr>
        <p:spPr>
          <a:xfrm>
            <a:off x="5907024" y="4873752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000000"/>
                </a:solidFill>
                <a:latin typeface="Consolas"/>
              </a:rPr>
              <a:t>Audit</a:t>
            </a:r>
          </a:p>
        </p:txBody>
      </p:sp>
      <p:sp>
        <p:nvSpPr>
          <p:cNvPr id="93" name="task-state-3-3"/>
          <p:cNvSpPr txBox="1"/>
          <p:nvPr/>
        </p:nvSpPr>
        <p:spPr>
          <a:xfrm>
            <a:off x="5907024" y="5056632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000000"/>
                </a:solidFill>
                <a:latin typeface="Consolas"/>
              </a:rPr>
              <a:t>locked</a:t>
            </a:r>
          </a:p>
        </p:txBody>
      </p:sp>
      <p:sp>
        <p:nvSpPr>
          <p:cNvPr id="94" name="task-title-3-4"/>
          <p:cNvSpPr txBox="1"/>
          <p:nvPr/>
        </p:nvSpPr>
        <p:spPr>
          <a:xfrm>
            <a:off x="7260336" y="4873752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000000"/>
                </a:solidFill>
                <a:latin typeface="Consolas"/>
              </a:rPr>
              <a:t>Owner</a:t>
            </a:r>
          </a:p>
        </p:txBody>
      </p:sp>
      <p:sp>
        <p:nvSpPr>
          <p:cNvPr id="95" name="task-state-3-4"/>
          <p:cNvSpPr txBox="1"/>
          <p:nvPr/>
        </p:nvSpPr>
        <p:spPr>
          <a:xfrm>
            <a:off x="7260336" y="5056632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000000"/>
                </a:solidFill>
                <a:latin typeface="Consolas"/>
              </a:rPr>
              <a:t>ready</a:t>
            </a:r>
          </a:p>
        </p:txBody>
      </p:sp>
      <p:sp>
        <p:nvSpPr>
          <p:cNvPr id="96" name="workbench-rail-title"/>
          <p:cNvSpPr txBox="1"/>
          <p:nvPr/>
        </p:nvSpPr>
        <p:spPr>
          <a:xfrm>
            <a:off x="9436608" y="1325880"/>
            <a:ext cx="196596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1" lang="en-US">
                <a:solidFill>
                  <a:srgbClr val="000000"/>
                </a:solidFill>
                <a:latin typeface="Consolas"/>
              </a:rPr>
              <a:t>BUILD SIGNALS</a:t>
            </a:r>
          </a:p>
        </p:txBody>
      </p:sp>
      <p:sp>
        <p:nvSpPr>
          <p:cNvPr id="97" name="chart-label"/>
          <p:cNvSpPr txBox="1"/>
          <p:nvPr/>
        </p:nvSpPr>
        <p:spPr>
          <a:xfrm>
            <a:off x="9436608" y="4956048"/>
            <a:ext cx="192024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0" lang="en-US">
                <a:solidFill>
                  <a:srgbClr val="222222"/>
                </a:solidFill>
                <a:latin typeface="Consolas"/>
              </a:rPr>
              <a:t>completion by work lane</a:t>
            </a:r>
          </a:p>
        </p:txBody>
      </p:sp>
      <p:sp>
        <p:nvSpPr>
          <p:cNvPr id="98" name="check-label-0"/>
          <p:cNvSpPr txBox="1"/>
          <p:nvPr/>
        </p:nvSpPr>
        <p:spPr>
          <a:xfrm>
            <a:off x="9619488" y="5303520"/>
            <a:ext cx="141732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1" lang="en-US">
                <a:solidFill>
                  <a:srgbClr val="000000"/>
                </a:solidFill>
                <a:latin typeface="Consolas"/>
              </a:rPr>
              <a:t>bounds</a:t>
            </a:r>
          </a:p>
        </p:txBody>
      </p:sp>
      <p:sp>
        <p:nvSpPr>
          <p:cNvPr id="99" name="check-label-1"/>
          <p:cNvSpPr txBox="1"/>
          <p:nvPr/>
        </p:nvSpPr>
        <p:spPr>
          <a:xfrm>
            <a:off x="9619488" y="5468112"/>
            <a:ext cx="141732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1" lang="en-US">
                <a:solidFill>
                  <a:srgbClr val="000000"/>
                </a:solidFill>
                <a:latin typeface="Consolas"/>
              </a:rPr>
              <a:t>content</a:t>
            </a:r>
          </a:p>
        </p:txBody>
      </p:sp>
      <p:sp>
        <p:nvSpPr>
          <p:cNvPr id="100" name="check-label-2"/>
          <p:cNvSpPr txBox="1"/>
          <p:nvPr/>
        </p:nvSpPr>
        <p:spPr>
          <a:xfrm>
            <a:off x="9619488" y="5632704"/>
            <a:ext cx="141732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1" lang="en-US">
                <a:solidFill>
                  <a:srgbClr val="000000"/>
                </a:solidFill>
                <a:latin typeface="Consolas"/>
              </a:rPr>
              <a:t>tables</a:t>
            </a:r>
          </a:p>
        </p:txBody>
      </p:sp>
      <p:sp>
        <p:nvSpPr>
          <p:cNvPr id="101" name="check-label-3"/>
          <p:cNvSpPr txBox="1"/>
          <p:nvPr/>
        </p:nvSpPr>
        <p:spPr>
          <a:xfrm>
            <a:off x="9619488" y="5797296"/>
            <a:ext cx="141732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1" lang="en-US">
                <a:solidFill>
                  <a:srgbClr val="000000"/>
                </a:solidFill>
                <a:latin typeface="Consolas"/>
              </a:rPr>
              <a:t>order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2"/>
          </a:solidFill>
          <a:ln w="10160">
            <a:solidFill>
              <a:srgbClr val="F8F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op-band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A1A2E"/>
          </a:solidFill>
          <a:ln w="1016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nav-shell"/>
          <p:cNvSpPr/>
          <p:nvPr/>
        </p:nvSpPr>
        <p:spPr>
          <a:xfrm>
            <a:off x="457200" y="1078992"/>
            <a:ext cx="1572768" cy="5102352"/>
          </a:xfrm>
          <a:prstGeom prst="roundRect">
            <a:avLst/>
          </a:prstGeom>
          <a:solidFill>
            <a:srgbClr val="FFF8B8"/>
          </a:solidFill>
          <a:ln w="10160">
            <a:solidFill>
              <a:srgbClr val="D9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metric-0-shell"/>
          <p:cNvSpPr/>
          <p:nvPr/>
        </p:nvSpPr>
        <p:spPr>
          <a:xfrm>
            <a:off x="2249424" y="1078992"/>
            <a:ext cx="1161288" cy="7680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metric-1-shell"/>
          <p:cNvSpPr/>
          <p:nvPr/>
        </p:nvSpPr>
        <p:spPr>
          <a:xfrm>
            <a:off x="3557016" y="1078992"/>
            <a:ext cx="1161288" cy="7680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metric-2-shell"/>
          <p:cNvSpPr/>
          <p:nvPr/>
        </p:nvSpPr>
        <p:spPr>
          <a:xfrm>
            <a:off x="4864608" y="1078992"/>
            <a:ext cx="1161288" cy="7680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metric-3-shell"/>
          <p:cNvSpPr/>
          <p:nvPr/>
        </p:nvSpPr>
        <p:spPr>
          <a:xfrm>
            <a:off x="6172200" y="1078992"/>
            <a:ext cx="1161288" cy="7680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metric-4-shell"/>
          <p:cNvSpPr/>
          <p:nvPr/>
        </p:nvSpPr>
        <p:spPr>
          <a:xfrm>
            <a:off x="7479792" y="1078992"/>
            <a:ext cx="1161288" cy="7680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isk-rail-shell"/>
          <p:cNvSpPr/>
          <p:nvPr/>
        </p:nvSpPr>
        <p:spPr>
          <a:xfrm>
            <a:off x="9052560" y="1078992"/>
            <a:ext cx="2679192" cy="4389120"/>
          </a:xfrm>
          <a:prstGeom prst="roundRect">
            <a:avLst/>
          </a:prstGeom>
          <a:solidFill>
            <a:srgbClr val="FFF8B8"/>
          </a:solidFill>
          <a:ln w="10160">
            <a:solidFill>
              <a:srgbClr val="D9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nav-accent"/>
          <p:cNvSpPr/>
          <p:nvPr/>
        </p:nvSpPr>
        <p:spPr>
          <a:xfrm>
            <a:off x="457200" y="1078992"/>
            <a:ext cx="73152" cy="5102352"/>
          </a:xfrm>
          <a:prstGeom prst="rect">
            <a:avLst/>
          </a:prstGeom>
          <a:solidFill>
            <a:srgbClr val="1A1A2E"/>
          </a:solidFill>
          <a:ln w="1016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nav-0"/>
          <p:cNvSpPr/>
          <p:nvPr/>
        </p:nvSpPr>
        <p:spPr>
          <a:xfrm>
            <a:off x="658368" y="1874519"/>
            <a:ext cx="1143000" cy="329184"/>
          </a:xfrm>
          <a:prstGeom prst="roundRect">
            <a:avLst/>
          </a:prstGeom>
          <a:solidFill>
            <a:srgbClr val="1A1A2E"/>
          </a:solidFill>
          <a:ln w="10160">
            <a:solidFill>
              <a:srgbClr val="D9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nav-1"/>
          <p:cNvSpPr/>
          <p:nvPr/>
        </p:nvSpPr>
        <p:spPr>
          <a:xfrm>
            <a:off x="658368" y="2386584"/>
            <a:ext cx="1143000" cy="3291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nav-2"/>
          <p:cNvSpPr/>
          <p:nvPr/>
        </p:nvSpPr>
        <p:spPr>
          <a:xfrm>
            <a:off x="658368" y="2898648"/>
            <a:ext cx="1143000" cy="3291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nav-3"/>
          <p:cNvSpPr/>
          <p:nvPr/>
        </p:nvSpPr>
        <p:spPr>
          <a:xfrm>
            <a:off x="658368" y="3410712"/>
            <a:ext cx="1143000" cy="3291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nav-4"/>
          <p:cNvSpPr/>
          <p:nvPr/>
        </p:nvSpPr>
        <p:spPr>
          <a:xfrm>
            <a:off x="658368" y="3922776"/>
            <a:ext cx="1143000" cy="3291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nav-5"/>
          <p:cNvSpPr/>
          <p:nvPr/>
        </p:nvSpPr>
        <p:spPr>
          <a:xfrm>
            <a:off x="658368" y="4434840"/>
            <a:ext cx="1143000" cy="3291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nav-6"/>
          <p:cNvSpPr/>
          <p:nvPr/>
        </p:nvSpPr>
        <p:spPr>
          <a:xfrm>
            <a:off x="658368" y="4946904"/>
            <a:ext cx="1143000" cy="3291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metric-0-accent"/>
          <p:cNvSpPr/>
          <p:nvPr/>
        </p:nvSpPr>
        <p:spPr>
          <a:xfrm>
            <a:off x="2249424" y="1078992"/>
            <a:ext cx="73152" cy="768096"/>
          </a:xfrm>
          <a:prstGeom prst="rect">
            <a:avLst/>
          </a:prstGeom>
          <a:solidFill>
            <a:srgbClr val="1A1A2E"/>
          </a:solidFill>
          <a:ln w="1016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metric-1-accent"/>
          <p:cNvSpPr/>
          <p:nvPr/>
        </p:nvSpPr>
        <p:spPr>
          <a:xfrm>
            <a:off x="3557016" y="1078992"/>
            <a:ext cx="73152" cy="768096"/>
          </a:xfrm>
          <a:prstGeom prst="rect">
            <a:avLst/>
          </a:prstGeom>
          <a:solidFill>
            <a:srgbClr val="E8FF3B"/>
          </a:solidFill>
          <a:ln w="10160">
            <a:solidFill>
              <a:srgbClr val="E8FF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metric-2-accent"/>
          <p:cNvSpPr/>
          <p:nvPr/>
        </p:nvSpPr>
        <p:spPr>
          <a:xfrm>
            <a:off x="4864608" y="1078992"/>
            <a:ext cx="73152" cy="768096"/>
          </a:xfrm>
          <a:prstGeom prst="rect">
            <a:avLst/>
          </a:prstGeom>
          <a:solidFill>
            <a:srgbClr val="4ECDC4"/>
          </a:solidFill>
          <a:ln w="1016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metric-3-accent"/>
          <p:cNvSpPr/>
          <p:nvPr/>
        </p:nvSpPr>
        <p:spPr>
          <a:xfrm>
            <a:off x="6172200" y="1078992"/>
            <a:ext cx="73152" cy="768096"/>
          </a:xfrm>
          <a:prstGeom prst="rect">
            <a:avLst/>
          </a:prstGeom>
          <a:solidFill>
            <a:srgbClr val="FFE66D"/>
          </a:solidFill>
          <a:ln w="10160">
            <a:solidFill>
              <a:srgbClr val="FFE6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metric-4-accent"/>
          <p:cNvSpPr/>
          <p:nvPr/>
        </p:nvSpPr>
        <p:spPr>
          <a:xfrm>
            <a:off x="7479792" y="1078992"/>
            <a:ext cx="73152" cy="768096"/>
          </a:xfrm>
          <a:prstGeom prst="rect">
            <a:avLst/>
          </a:prstGeom>
          <a:solidFill>
            <a:srgbClr val="4ECDC4"/>
          </a:solidFill>
          <a:ln w="1016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isk-rail-accent"/>
          <p:cNvSpPr/>
          <p:nvPr/>
        </p:nvSpPr>
        <p:spPr>
          <a:xfrm>
            <a:off x="9052560" y="1078992"/>
            <a:ext cx="73152" cy="4389120"/>
          </a:xfrm>
          <a:prstGeom prst="rect">
            <a:avLst/>
          </a:prstGeom>
          <a:solidFill>
            <a:srgbClr val="1A1A2E"/>
          </a:solidFill>
          <a:ln w="1016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progress-track"/>
          <p:cNvSpPr/>
          <p:nvPr/>
        </p:nvSpPr>
        <p:spPr>
          <a:xfrm>
            <a:off x="2249424" y="5687568"/>
            <a:ext cx="9482328" cy="384048"/>
          </a:xfrm>
          <a:prstGeom prst="roundRect">
            <a:avLst/>
          </a:prstGeom>
          <a:solidFill>
            <a:srgbClr val="FFF8B8"/>
          </a:solidFill>
          <a:ln w="10160">
            <a:solidFill>
              <a:srgbClr val="D9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26" name="signal-table"/>
          <p:cNvGraphicFramePr>
            <a:graphicFrameLocks noGrp="1"/>
          </p:cNvGraphicFramePr>
          <p:nvPr/>
        </p:nvGraphicFramePr>
        <p:xfrm>
          <a:off x="2249424" y="2066543"/>
          <a:ext cx="6537960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7592"/>
                <a:gridCol w="1307592"/>
                <a:gridCol w="1307592"/>
                <a:gridCol w="1307592"/>
                <a:gridCol w="1307592"/>
              </a:tblGrid>
              <a:tr h="425196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FFFFFF"/>
                          </a:solidFill>
                          <a:latin typeface="Aptos"/>
                        </a:rPr>
                        <a:t>Signal</a:t>
                      </a:r>
                    </a:p>
                  </a:txBody>
                  <a:tcPr marL="54864" marR="54864" marT="18288" marB="18288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FFFFFF"/>
                          </a:solidFill>
                          <a:latin typeface="Aptos"/>
                        </a:rPr>
                        <a:t>Owner</a:t>
                      </a:r>
                    </a:p>
                  </a:txBody>
                  <a:tcPr marL="54864" marR="54864" marT="18288" marB="18288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FFFFFF"/>
                          </a:solidFill>
                          <a:latin typeface="Aptos"/>
                        </a:rPr>
                        <a:t>State</a:t>
                      </a:r>
                    </a:p>
                  </a:txBody>
                  <a:tcPr marL="54864" marR="54864" marT="18288" marB="18288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FFFFFF"/>
                          </a:solidFill>
                          <a:latin typeface="Aptos"/>
                        </a:rPr>
                        <a:t>Gate</a:t>
                      </a:r>
                    </a:p>
                  </a:txBody>
                  <a:tcPr marL="54864" marR="54864" marT="18288" marB="18288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FFFFFF"/>
                          </a:solidFill>
                          <a:latin typeface="Aptos"/>
                        </a:rPr>
                        <a:t>Next</a:t>
                      </a:r>
                    </a:p>
                  </a:txBody>
                  <a:tcPr marL="54864" marR="54864" marT="18288" marB="18288">
                    <a:solidFill>
                      <a:srgbClr val="1A1A2E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1A1A2E"/>
                          </a:solidFill>
                          <a:latin typeface="Aptos"/>
                        </a:rPr>
                        <a:t>S-01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2E"/>
                          </a:solidFill>
                          <a:latin typeface="Aptos"/>
                        </a:rPr>
                        <a:t>Reviewer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2E"/>
                          </a:solidFill>
                          <a:latin typeface="Aptos"/>
                        </a:rPr>
                        <a:t>Watch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2E"/>
                          </a:solidFill>
                          <a:latin typeface="Aptos"/>
                        </a:rPr>
                        <a:t>Review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2E"/>
                          </a:solidFill>
                          <a:latin typeface="Aptos"/>
                        </a:rPr>
                        <a:t>Check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1A1A2E"/>
                          </a:solidFill>
                          <a:latin typeface="Aptos"/>
                        </a:rPr>
                        <a:t>S-02</a:t>
                      </a:r>
                    </a:p>
                  </a:txBody>
                  <a:tcPr marL="54864" marR="54864" marT="18288" marB="18288">
                    <a:solidFill>
                      <a:srgbClr val="FFF8B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2E"/>
                          </a:solidFill>
                          <a:latin typeface="Aptos"/>
                        </a:rPr>
                        <a:t>Auditor</a:t>
                      </a:r>
                    </a:p>
                  </a:txBody>
                  <a:tcPr marL="54864" marR="54864" marT="18288" marB="18288">
                    <a:solidFill>
                      <a:srgbClr val="FFF8B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2E"/>
                          </a:solidFill>
                          <a:latin typeface="Aptos"/>
                        </a:rPr>
                        <a:t>Hold</a:t>
                      </a:r>
                    </a:p>
                  </a:txBody>
                  <a:tcPr marL="54864" marR="54864" marT="18288" marB="18288">
                    <a:solidFill>
                      <a:srgbClr val="FFF8B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2E"/>
                          </a:solidFill>
                          <a:latin typeface="Aptos"/>
                        </a:rPr>
                        <a:t>Repair</a:t>
                      </a:r>
                    </a:p>
                  </a:txBody>
                  <a:tcPr marL="54864" marR="54864" marT="18288" marB="18288">
                    <a:solidFill>
                      <a:srgbClr val="FFF8B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2E"/>
                          </a:solidFill>
                          <a:latin typeface="Aptos"/>
                        </a:rPr>
                        <a:t>Fix</a:t>
                      </a:r>
                    </a:p>
                  </a:txBody>
                  <a:tcPr marL="54864" marR="54864" marT="18288" marB="18288">
                    <a:solidFill>
                      <a:srgbClr val="FFF8B8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1A1A2E"/>
                          </a:solidFill>
                          <a:latin typeface="Aptos"/>
                        </a:rPr>
                        <a:t>S-03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2E"/>
                          </a:solidFill>
                          <a:latin typeface="Aptos"/>
                        </a:rPr>
                        <a:t>Author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2E"/>
                          </a:solidFill>
                          <a:latin typeface="Aptos"/>
                        </a:rPr>
                        <a:t>Ready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2E"/>
                          </a:solidFill>
                          <a:latin typeface="Aptos"/>
                        </a:rPr>
                        <a:t>Pass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2E"/>
                          </a:solidFill>
                          <a:latin typeface="Aptos"/>
                        </a:rPr>
                        <a:t>Ship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1A1A2E"/>
                          </a:solidFill>
                          <a:latin typeface="Aptos"/>
                        </a:rPr>
                        <a:t>S-04</a:t>
                      </a:r>
                    </a:p>
                  </a:txBody>
                  <a:tcPr marL="54864" marR="54864" marT="18288" marB="18288">
                    <a:solidFill>
                      <a:srgbClr val="FFF8B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2E"/>
                          </a:solidFill>
                          <a:latin typeface="Aptos"/>
                        </a:rPr>
                        <a:t>Reviewer</a:t>
                      </a:r>
                    </a:p>
                  </a:txBody>
                  <a:tcPr marL="54864" marR="54864" marT="18288" marB="18288">
                    <a:solidFill>
                      <a:srgbClr val="FFF8B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2E"/>
                          </a:solidFill>
                          <a:latin typeface="Aptos"/>
                        </a:rPr>
                        <a:t>Watch</a:t>
                      </a:r>
                    </a:p>
                  </a:txBody>
                  <a:tcPr marL="54864" marR="54864" marT="18288" marB="18288">
                    <a:solidFill>
                      <a:srgbClr val="FFF8B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2E"/>
                          </a:solidFill>
                          <a:latin typeface="Aptos"/>
                        </a:rPr>
                        <a:t>Review</a:t>
                      </a:r>
                    </a:p>
                  </a:txBody>
                  <a:tcPr marL="54864" marR="54864" marT="18288" marB="18288">
                    <a:solidFill>
                      <a:srgbClr val="FFF8B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2E"/>
                          </a:solidFill>
                          <a:latin typeface="Aptos"/>
                        </a:rPr>
                        <a:t>Check</a:t>
                      </a:r>
                    </a:p>
                  </a:txBody>
                  <a:tcPr marL="54864" marR="54864" marT="18288" marB="18288">
                    <a:solidFill>
                      <a:srgbClr val="FFF8B8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1A1A2E"/>
                          </a:solidFill>
                          <a:latin typeface="Aptos"/>
                        </a:rPr>
                        <a:t>S-05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2E"/>
                          </a:solidFill>
                          <a:latin typeface="Aptos"/>
                        </a:rPr>
                        <a:t>Auditor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2E"/>
                          </a:solidFill>
                          <a:latin typeface="Aptos"/>
                        </a:rPr>
                        <a:t>Hold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2E"/>
                          </a:solidFill>
                          <a:latin typeface="Aptos"/>
                        </a:rPr>
                        <a:t>Repair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2E"/>
                          </a:solidFill>
                          <a:latin typeface="Aptos"/>
                        </a:rPr>
                        <a:t>Fix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1A1A2E"/>
                          </a:solidFill>
                          <a:latin typeface="Aptos"/>
                        </a:rPr>
                        <a:t>S-06</a:t>
                      </a:r>
                    </a:p>
                  </a:txBody>
                  <a:tcPr marL="54864" marR="54864" marT="18288" marB="18288">
                    <a:solidFill>
                      <a:srgbClr val="FFF8B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2E"/>
                          </a:solidFill>
                          <a:latin typeface="Aptos"/>
                        </a:rPr>
                        <a:t>Author</a:t>
                      </a:r>
                    </a:p>
                  </a:txBody>
                  <a:tcPr marL="54864" marR="54864" marT="18288" marB="18288">
                    <a:solidFill>
                      <a:srgbClr val="FFF8B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2E"/>
                          </a:solidFill>
                          <a:latin typeface="Aptos"/>
                        </a:rPr>
                        <a:t>Ready</a:t>
                      </a:r>
                    </a:p>
                  </a:txBody>
                  <a:tcPr marL="54864" marR="54864" marT="18288" marB="18288">
                    <a:solidFill>
                      <a:srgbClr val="FFF8B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2E"/>
                          </a:solidFill>
                          <a:latin typeface="Aptos"/>
                        </a:rPr>
                        <a:t>Pass</a:t>
                      </a:r>
                    </a:p>
                  </a:txBody>
                  <a:tcPr marL="54864" marR="54864" marT="18288" marB="18288">
                    <a:solidFill>
                      <a:srgbClr val="FFF8B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2E"/>
                          </a:solidFill>
                          <a:latin typeface="Aptos"/>
                        </a:rPr>
                        <a:t>Ship</a:t>
                      </a:r>
                    </a:p>
                  </a:txBody>
                  <a:tcPr marL="54864" marR="54864" marT="18288" marB="18288">
                    <a:solidFill>
                      <a:srgbClr val="FFF8B8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1A1A2E"/>
                          </a:solidFill>
                          <a:latin typeface="Aptos"/>
                        </a:rPr>
                        <a:t>S-07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2E"/>
                          </a:solidFill>
                          <a:latin typeface="Aptos"/>
                        </a:rPr>
                        <a:t>Reviewer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2E"/>
                          </a:solidFill>
                          <a:latin typeface="Aptos"/>
                        </a:rPr>
                        <a:t>Watch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2E"/>
                          </a:solidFill>
                          <a:latin typeface="Aptos"/>
                        </a:rPr>
                        <a:t>Review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2E"/>
                          </a:solidFill>
                          <a:latin typeface="Aptos"/>
                        </a:rPr>
                        <a:t>Check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" name="risk-dot-0"/>
          <p:cNvSpPr/>
          <p:nvPr/>
        </p:nvSpPr>
        <p:spPr>
          <a:xfrm>
            <a:off x="9308592" y="1746504"/>
            <a:ext cx="164592" cy="164592"/>
          </a:xfrm>
          <a:prstGeom prst="ellipse">
            <a:avLst/>
          </a:prstGeom>
          <a:solidFill>
            <a:srgbClr val="4ECDC4"/>
          </a:solidFill>
          <a:ln w="1016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isk-dot-1"/>
          <p:cNvSpPr/>
          <p:nvPr/>
        </p:nvSpPr>
        <p:spPr>
          <a:xfrm>
            <a:off x="9308592" y="2276856"/>
            <a:ext cx="164592" cy="164592"/>
          </a:xfrm>
          <a:prstGeom prst="ellipse">
            <a:avLst/>
          </a:prstGeom>
          <a:solidFill>
            <a:srgbClr val="4ECDC4"/>
          </a:solidFill>
          <a:ln w="1016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isk-dot-2"/>
          <p:cNvSpPr/>
          <p:nvPr/>
        </p:nvSpPr>
        <p:spPr>
          <a:xfrm>
            <a:off x="9308592" y="2807208"/>
            <a:ext cx="164592" cy="164592"/>
          </a:xfrm>
          <a:prstGeom prst="ellipse">
            <a:avLst/>
          </a:prstGeom>
          <a:solidFill>
            <a:srgbClr val="FFE66D"/>
          </a:solidFill>
          <a:ln w="10160">
            <a:solidFill>
              <a:srgbClr val="FFE6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isk-dot-3"/>
          <p:cNvSpPr/>
          <p:nvPr/>
        </p:nvSpPr>
        <p:spPr>
          <a:xfrm>
            <a:off x="9308592" y="3337560"/>
            <a:ext cx="164592" cy="164592"/>
          </a:xfrm>
          <a:prstGeom prst="ellipse">
            <a:avLst/>
          </a:prstGeom>
          <a:solidFill>
            <a:srgbClr val="4ECDC4"/>
          </a:solidFill>
          <a:ln w="1016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isk-dot-4"/>
          <p:cNvSpPr/>
          <p:nvPr/>
        </p:nvSpPr>
        <p:spPr>
          <a:xfrm>
            <a:off x="9308592" y="3867912"/>
            <a:ext cx="164592" cy="164592"/>
          </a:xfrm>
          <a:prstGeom prst="ellipse">
            <a:avLst/>
          </a:prstGeom>
          <a:solidFill>
            <a:srgbClr val="4ECDC4"/>
          </a:solidFill>
          <a:ln w="1016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isk-dot-5"/>
          <p:cNvSpPr/>
          <p:nvPr/>
        </p:nvSpPr>
        <p:spPr>
          <a:xfrm>
            <a:off x="9308592" y="4398264"/>
            <a:ext cx="164592" cy="164592"/>
          </a:xfrm>
          <a:prstGeom prst="ellipse">
            <a:avLst/>
          </a:prstGeom>
          <a:solidFill>
            <a:srgbClr val="4ECDC4"/>
          </a:solidFill>
          <a:ln w="1016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progress-fill"/>
          <p:cNvSpPr/>
          <p:nvPr/>
        </p:nvSpPr>
        <p:spPr>
          <a:xfrm>
            <a:off x="2249424" y="5687568"/>
            <a:ext cx="7406640" cy="384048"/>
          </a:xfrm>
          <a:prstGeom prst="roundRect">
            <a:avLst/>
          </a:prstGeom>
          <a:solidFill>
            <a:srgbClr val="1A1A2E"/>
          </a:solidFill>
          <a:ln w="1016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profile-tag"/>
          <p:cNvSpPr txBox="1"/>
          <p:nvPr/>
        </p:nvSpPr>
        <p:spPr>
          <a:xfrm>
            <a:off x="457200" y="201168"/>
            <a:ext cx="768096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1" lang="en-US">
                <a:solidFill>
                  <a:srgbClr val="1A1A2E"/>
                </a:solidFill>
                <a:latin typeface="Aptos"/>
              </a:rPr>
              <a:t>V3 STRESS SUITE  ·  BENTO GRID  ·  CONTROL ROOM</a:t>
            </a:r>
          </a:p>
        </p:txBody>
      </p:sp>
      <p:sp>
        <p:nvSpPr>
          <p:cNvPr id="35" name="slide-index"/>
          <p:cNvSpPr txBox="1"/>
          <p:nvPr/>
        </p:nvSpPr>
        <p:spPr>
          <a:xfrm>
            <a:off x="10808208" y="201168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00" b="1" lang="en-US">
                <a:solidFill>
                  <a:srgbClr val="4D4D66"/>
                </a:solidFill>
                <a:latin typeface="Aptos"/>
              </a:rPr>
              <a:t>11/60</a:t>
            </a:r>
          </a:p>
        </p:txBody>
      </p:sp>
      <p:sp>
        <p:nvSpPr>
          <p:cNvPr id="36" name="title"/>
          <p:cNvSpPr txBox="1"/>
          <p:nvPr/>
        </p:nvSpPr>
        <p:spPr>
          <a:xfrm>
            <a:off x="457200" y="484632"/>
            <a:ext cx="11274552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200" b="1" lang="en-US">
                <a:solidFill>
                  <a:srgbClr val="1A1A2E"/>
                </a:solidFill>
                <a:latin typeface="Aptos Display"/>
              </a:rPr>
              <a:t>Control room layouts keep dense delivery signals governable</a:t>
            </a:r>
          </a:p>
        </p:txBody>
      </p:sp>
      <p:sp>
        <p:nvSpPr>
          <p:cNvPr id="37" name="footer"/>
          <p:cNvSpPr txBox="1"/>
          <p:nvPr/>
        </p:nvSpPr>
        <p:spPr>
          <a:xfrm>
            <a:off x="457200" y="6473952"/>
            <a:ext cx="1051560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0" lang="en-US">
                <a:solidFill>
                  <a:srgbClr val="4D4D66"/>
                </a:solidFill>
                <a:latin typeface="Aptos"/>
              </a:rPr>
              <a:t>Native-object stress fixture · asymmetric modular cells with one navy anchor tile · editable geometry and recorded style lock</a:t>
            </a:r>
          </a:p>
        </p:txBody>
      </p:sp>
      <p:sp>
        <p:nvSpPr>
          <p:cNvPr id="38" name="nav-title"/>
          <p:cNvSpPr txBox="1"/>
          <p:nvPr/>
        </p:nvSpPr>
        <p:spPr>
          <a:xfrm>
            <a:off x="667512" y="1298448"/>
            <a:ext cx="1078992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1" lang="en-US">
                <a:solidFill>
                  <a:srgbClr val="1A1A2E"/>
                </a:solidFill>
                <a:latin typeface="Aptos"/>
              </a:rPr>
              <a:t>CONTROL
PLANES</a:t>
            </a:r>
          </a:p>
        </p:txBody>
      </p:sp>
      <p:sp>
        <p:nvSpPr>
          <p:cNvPr id="39" name="nav-label-0"/>
          <p:cNvSpPr txBox="1"/>
          <p:nvPr/>
        </p:nvSpPr>
        <p:spPr>
          <a:xfrm>
            <a:off x="749808" y="1965960"/>
            <a:ext cx="932688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1" lang="en-US">
                <a:solidFill>
                  <a:srgbClr val="FFFFFF"/>
                </a:solidFill>
                <a:latin typeface="Aptos"/>
              </a:rPr>
              <a:t>INBOX</a:t>
            </a:r>
          </a:p>
        </p:txBody>
      </p:sp>
      <p:sp>
        <p:nvSpPr>
          <p:cNvPr id="40" name="nav-label-1"/>
          <p:cNvSpPr txBox="1"/>
          <p:nvPr/>
        </p:nvSpPr>
        <p:spPr>
          <a:xfrm>
            <a:off x="749808" y="2478024"/>
            <a:ext cx="932688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0" lang="en-US">
                <a:solidFill>
                  <a:srgbClr val="1A1A2E"/>
                </a:solidFill>
                <a:latin typeface="Aptos"/>
              </a:rPr>
              <a:t>SIGNALS</a:t>
            </a:r>
          </a:p>
        </p:txBody>
      </p:sp>
      <p:sp>
        <p:nvSpPr>
          <p:cNvPr id="41" name="nav-label-2"/>
          <p:cNvSpPr txBox="1"/>
          <p:nvPr/>
        </p:nvSpPr>
        <p:spPr>
          <a:xfrm>
            <a:off x="749808" y="2990088"/>
            <a:ext cx="932688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0" lang="en-US">
                <a:solidFill>
                  <a:srgbClr val="1A1A2E"/>
                </a:solidFill>
                <a:latin typeface="Aptos"/>
              </a:rPr>
              <a:t>EVIDENCE</a:t>
            </a:r>
          </a:p>
        </p:txBody>
      </p:sp>
      <p:sp>
        <p:nvSpPr>
          <p:cNvPr id="42" name="nav-label-3"/>
          <p:cNvSpPr txBox="1"/>
          <p:nvPr/>
        </p:nvSpPr>
        <p:spPr>
          <a:xfrm>
            <a:off x="749808" y="3502152"/>
            <a:ext cx="932688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0" lang="en-US">
                <a:solidFill>
                  <a:srgbClr val="1A1A2E"/>
                </a:solidFill>
                <a:latin typeface="Aptos"/>
              </a:rPr>
              <a:t>POLICY</a:t>
            </a:r>
          </a:p>
        </p:txBody>
      </p:sp>
      <p:sp>
        <p:nvSpPr>
          <p:cNvPr id="43" name="nav-label-4"/>
          <p:cNvSpPr txBox="1"/>
          <p:nvPr/>
        </p:nvSpPr>
        <p:spPr>
          <a:xfrm>
            <a:off x="749808" y="4014215"/>
            <a:ext cx="932688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0" lang="en-US">
                <a:solidFill>
                  <a:srgbClr val="1A1A2E"/>
                </a:solidFill>
                <a:latin typeface="Aptos"/>
              </a:rPr>
              <a:t>REPAIR</a:t>
            </a:r>
          </a:p>
        </p:txBody>
      </p:sp>
      <p:sp>
        <p:nvSpPr>
          <p:cNvPr id="44" name="nav-label-5"/>
          <p:cNvSpPr txBox="1"/>
          <p:nvPr/>
        </p:nvSpPr>
        <p:spPr>
          <a:xfrm>
            <a:off x="749808" y="4526280"/>
            <a:ext cx="932688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0" lang="en-US">
                <a:solidFill>
                  <a:srgbClr val="1A1A2E"/>
                </a:solidFill>
                <a:latin typeface="Aptos"/>
              </a:rPr>
              <a:t>RELEASE</a:t>
            </a:r>
          </a:p>
        </p:txBody>
      </p:sp>
      <p:sp>
        <p:nvSpPr>
          <p:cNvPr id="45" name="nav-label-6"/>
          <p:cNvSpPr txBox="1"/>
          <p:nvPr/>
        </p:nvSpPr>
        <p:spPr>
          <a:xfrm>
            <a:off x="749808" y="5038344"/>
            <a:ext cx="932688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0" lang="en-US">
                <a:solidFill>
                  <a:srgbClr val="1A1A2E"/>
                </a:solidFill>
                <a:latin typeface="Aptos"/>
              </a:rPr>
              <a:t>ARCHIVE</a:t>
            </a:r>
          </a:p>
        </p:txBody>
      </p:sp>
      <p:sp>
        <p:nvSpPr>
          <p:cNvPr id="46" name="metric-v-0"/>
          <p:cNvSpPr txBox="1"/>
          <p:nvPr/>
        </p:nvSpPr>
        <p:spPr>
          <a:xfrm>
            <a:off x="2432304" y="1234440"/>
            <a:ext cx="80467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lang="en-US">
                <a:solidFill>
                  <a:srgbClr val="1A1A2E"/>
                </a:solidFill>
                <a:latin typeface="Aptos Display"/>
              </a:rPr>
              <a:t>48</a:t>
            </a:r>
          </a:p>
        </p:txBody>
      </p:sp>
      <p:sp>
        <p:nvSpPr>
          <p:cNvPr id="47" name="metric-l-0"/>
          <p:cNvSpPr txBox="1"/>
          <p:nvPr/>
        </p:nvSpPr>
        <p:spPr>
          <a:xfrm>
            <a:off x="2359152" y="1581912"/>
            <a:ext cx="932688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4D4D66"/>
                </a:solidFill>
                <a:latin typeface="Aptos"/>
              </a:rPr>
              <a:t>WORK</a:t>
            </a:r>
          </a:p>
        </p:txBody>
      </p:sp>
      <p:sp>
        <p:nvSpPr>
          <p:cNvPr id="48" name="metric-v-1"/>
          <p:cNvSpPr txBox="1"/>
          <p:nvPr/>
        </p:nvSpPr>
        <p:spPr>
          <a:xfrm>
            <a:off x="3739896" y="1234440"/>
            <a:ext cx="80467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lang="en-US">
                <a:solidFill>
                  <a:srgbClr val="1A1A2E"/>
                </a:solidFill>
                <a:latin typeface="Aptos Display"/>
              </a:rPr>
              <a:t>06</a:t>
            </a:r>
          </a:p>
        </p:txBody>
      </p:sp>
      <p:sp>
        <p:nvSpPr>
          <p:cNvPr id="49" name="metric-l-1"/>
          <p:cNvSpPr txBox="1"/>
          <p:nvPr/>
        </p:nvSpPr>
        <p:spPr>
          <a:xfrm>
            <a:off x="3666744" y="1581912"/>
            <a:ext cx="932688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4D4D66"/>
                </a:solidFill>
                <a:latin typeface="Aptos"/>
              </a:rPr>
              <a:t>FLAGS</a:t>
            </a:r>
          </a:p>
        </p:txBody>
      </p:sp>
      <p:sp>
        <p:nvSpPr>
          <p:cNvPr id="50" name="metric-v-2"/>
          <p:cNvSpPr txBox="1"/>
          <p:nvPr/>
        </p:nvSpPr>
        <p:spPr>
          <a:xfrm>
            <a:off x="5047488" y="1234440"/>
            <a:ext cx="80467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lang="en-US">
                <a:solidFill>
                  <a:srgbClr val="1A1A2E"/>
                </a:solidFill>
                <a:latin typeface="Aptos Display"/>
              </a:rPr>
              <a:t>31</a:t>
            </a:r>
          </a:p>
        </p:txBody>
      </p:sp>
      <p:sp>
        <p:nvSpPr>
          <p:cNvPr id="51" name="metric-l-2"/>
          <p:cNvSpPr txBox="1"/>
          <p:nvPr/>
        </p:nvSpPr>
        <p:spPr>
          <a:xfrm>
            <a:off x="4974336" y="1581912"/>
            <a:ext cx="932688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4D4D66"/>
                </a:solidFill>
                <a:latin typeface="Aptos"/>
              </a:rPr>
              <a:t>READY</a:t>
            </a:r>
          </a:p>
        </p:txBody>
      </p:sp>
      <p:sp>
        <p:nvSpPr>
          <p:cNvPr id="52" name="metric-v-3"/>
          <p:cNvSpPr txBox="1"/>
          <p:nvPr/>
        </p:nvSpPr>
        <p:spPr>
          <a:xfrm>
            <a:off x="6355080" y="1234440"/>
            <a:ext cx="80467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lang="en-US">
                <a:solidFill>
                  <a:srgbClr val="1A1A2E"/>
                </a:solidFill>
                <a:latin typeface="Aptos Display"/>
              </a:rPr>
              <a:t>04</a:t>
            </a:r>
          </a:p>
        </p:txBody>
      </p:sp>
      <p:sp>
        <p:nvSpPr>
          <p:cNvPr id="53" name="metric-l-3"/>
          <p:cNvSpPr txBox="1"/>
          <p:nvPr/>
        </p:nvSpPr>
        <p:spPr>
          <a:xfrm>
            <a:off x="6281928" y="1581912"/>
            <a:ext cx="932688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4D4D66"/>
                </a:solidFill>
                <a:latin typeface="Aptos"/>
              </a:rPr>
              <a:t>HOLD</a:t>
            </a:r>
          </a:p>
        </p:txBody>
      </p:sp>
      <p:sp>
        <p:nvSpPr>
          <p:cNvPr id="54" name="metric-v-4"/>
          <p:cNvSpPr txBox="1"/>
          <p:nvPr/>
        </p:nvSpPr>
        <p:spPr>
          <a:xfrm>
            <a:off x="7662672" y="1234440"/>
            <a:ext cx="80467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lang="en-US">
                <a:solidFill>
                  <a:srgbClr val="1A1A2E"/>
                </a:solidFill>
                <a:latin typeface="Aptos Display"/>
              </a:rPr>
              <a:t>12</a:t>
            </a:r>
          </a:p>
        </p:txBody>
      </p:sp>
      <p:sp>
        <p:nvSpPr>
          <p:cNvPr id="55" name="metric-l-4"/>
          <p:cNvSpPr txBox="1"/>
          <p:nvPr/>
        </p:nvSpPr>
        <p:spPr>
          <a:xfrm>
            <a:off x="7589520" y="1581912"/>
            <a:ext cx="932688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4D4D66"/>
                </a:solidFill>
                <a:latin typeface="Aptos"/>
              </a:rPr>
              <a:t>STYLE</a:t>
            </a:r>
          </a:p>
        </p:txBody>
      </p:sp>
      <p:sp>
        <p:nvSpPr>
          <p:cNvPr id="56" name="risk-title"/>
          <p:cNvSpPr txBox="1"/>
          <p:nvPr/>
        </p:nvSpPr>
        <p:spPr>
          <a:xfrm>
            <a:off x="9308592" y="1298448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1" lang="en-US">
                <a:solidFill>
                  <a:srgbClr val="1A1A2E"/>
                </a:solidFill>
                <a:latin typeface="Aptos"/>
              </a:rPr>
              <a:t>LIVE REVIEW QUEUE</a:t>
            </a:r>
          </a:p>
        </p:txBody>
      </p:sp>
      <p:sp>
        <p:nvSpPr>
          <p:cNvPr id="57" name="risk-label-0"/>
          <p:cNvSpPr txBox="1"/>
          <p:nvPr/>
        </p:nvSpPr>
        <p:spPr>
          <a:xfrm>
            <a:off x="9619488" y="1691640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50" b="1" lang="en-US">
                <a:solidFill>
                  <a:srgbClr val="1A1A2E"/>
                </a:solidFill>
                <a:latin typeface="Aptos"/>
              </a:rPr>
              <a:t>Scope stable</a:t>
            </a:r>
          </a:p>
        </p:txBody>
      </p:sp>
      <p:sp>
        <p:nvSpPr>
          <p:cNvPr id="58" name="risk-state-0"/>
          <p:cNvSpPr txBox="1"/>
          <p:nvPr/>
        </p:nvSpPr>
        <p:spPr>
          <a:xfrm>
            <a:off x="10972800" y="169164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00" b="1" lang="en-US">
                <a:solidFill>
                  <a:srgbClr val="4ECDC4"/>
                </a:solidFill>
                <a:latin typeface="Aptos"/>
              </a:rPr>
              <a:t>PASS</a:t>
            </a:r>
          </a:p>
        </p:txBody>
      </p:sp>
      <p:sp>
        <p:nvSpPr>
          <p:cNvPr id="59" name="risk-label-1"/>
          <p:cNvSpPr txBox="1"/>
          <p:nvPr/>
        </p:nvSpPr>
        <p:spPr>
          <a:xfrm>
            <a:off x="9619488" y="2221992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50" b="1" lang="en-US">
                <a:solidFill>
                  <a:srgbClr val="1A1A2E"/>
                </a:solidFill>
                <a:latin typeface="Aptos"/>
              </a:rPr>
              <a:t>Text capacity</a:t>
            </a:r>
          </a:p>
        </p:txBody>
      </p:sp>
      <p:sp>
        <p:nvSpPr>
          <p:cNvPr id="60" name="risk-state-1"/>
          <p:cNvSpPr txBox="1"/>
          <p:nvPr/>
        </p:nvSpPr>
        <p:spPr>
          <a:xfrm>
            <a:off x="10972800" y="2221992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00" b="1" lang="en-US">
                <a:solidFill>
                  <a:srgbClr val="4ECDC4"/>
                </a:solidFill>
                <a:latin typeface="Aptos"/>
              </a:rPr>
              <a:t>PASS</a:t>
            </a:r>
          </a:p>
        </p:txBody>
      </p:sp>
      <p:sp>
        <p:nvSpPr>
          <p:cNvPr id="61" name="risk-label-2"/>
          <p:cNvSpPr txBox="1"/>
          <p:nvPr/>
        </p:nvSpPr>
        <p:spPr>
          <a:xfrm>
            <a:off x="9619488" y="2752344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50" b="1" lang="en-US">
                <a:solidFill>
                  <a:srgbClr val="1A1A2E"/>
                </a:solidFill>
                <a:latin typeface="Aptos"/>
              </a:rPr>
              <a:t>Contrast check</a:t>
            </a:r>
          </a:p>
        </p:txBody>
      </p:sp>
      <p:sp>
        <p:nvSpPr>
          <p:cNvPr id="62" name="risk-state-2"/>
          <p:cNvSpPr txBox="1"/>
          <p:nvPr/>
        </p:nvSpPr>
        <p:spPr>
          <a:xfrm>
            <a:off x="10972800" y="275234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00" b="1" lang="en-US">
                <a:solidFill>
                  <a:srgbClr val="FFE66D"/>
                </a:solidFill>
                <a:latin typeface="Aptos"/>
              </a:rPr>
              <a:t>WATCH</a:t>
            </a:r>
          </a:p>
        </p:txBody>
      </p:sp>
      <p:sp>
        <p:nvSpPr>
          <p:cNvPr id="63" name="risk-label-3"/>
          <p:cNvSpPr txBox="1"/>
          <p:nvPr/>
        </p:nvSpPr>
        <p:spPr>
          <a:xfrm>
            <a:off x="9619488" y="3282696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50" b="1" lang="en-US">
                <a:solidFill>
                  <a:srgbClr val="1A1A2E"/>
                </a:solidFill>
                <a:latin typeface="Aptos"/>
              </a:rPr>
              <a:t>Table fit</a:t>
            </a:r>
          </a:p>
        </p:txBody>
      </p:sp>
      <p:sp>
        <p:nvSpPr>
          <p:cNvPr id="64" name="risk-state-3"/>
          <p:cNvSpPr txBox="1"/>
          <p:nvPr/>
        </p:nvSpPr>
        <p:spPr>
          <a:xfrm>
            <a:off x="10972800" y="3282696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00" b="1" lang="en-US">
                <a:solidFill>
                  <a:srgbClr val="4ECDC4"/>
                </a:solidFill>
                <a:latin typeface="Aptos"/>
              </a:rPr>
              <a:t>PASS</a:t>
            </a:r>
          </a:p>
        </p:txBody>
      </p:sp>
      <p:sp>
        <p:nvSpPr>
          <p:cNvPr id="65" name="risk-label-4"/>
          <p:cNvSpPr txBox="1"/>
          <p:nvPr/>
        </p:nvSpPr>
        <p:spPr>
          <a:xfrm>
            <a:off x="9619488" y="3813048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50" b="1" lang="en-US">
                <a:solidFill>
                  <a:srgbClr val="1A1A2E"/>
                </a:solidFill>
                <a:latin typeface="Aptos"/>
              </a:rPr>
              <a:t>Read order</a:t>
            </a:r>
          </a:p>
        </p:txBody>
      </p:sp>
      <p:sp>
        <p:nvSpPr>
          <p:cNvPr id="66" name="risk-state-4"/>
          <p:cNvSpPr txBox="1"/>
          <p:nvPr/>
        </p:nvSpPr>
        <p:spPr>
          <a:xfrm>
            <a:off x="10972800" y="3813048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00" b="1" lang="en-US">
                <a:solidFill>
                  <a:srgbClr val="4ECDC4"/>
                </a:solidFill>
                <a:latin typeface="Aptos"/>
              </a:rPr>
              <a:t>PASS</a:t>
            </a:r>
          </a:p>
        </p:txBody>
      </p:sp>
      <p:sp>
        <p:nvSpPr>
          <p:cNvPr id="67" name="risk-label-5"/>
          <p:cNvSpPr txBox="1"/>
          <p:nvPr/>
        </p:nvSpPr>
        <p:spPr>
          <a:xfrm>
            <a:off x="9619488" y="4343400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50" b="1" lang="en-US">
                <a:solidFill>
                  <a:srgbClr val="1A1A2E"/>
                </a:solidFill>
                <a:latin typeface="Aptos"/>
              </a:rPr>
              <a:t>Package</a:t>
            </a:r>
          </a:p>
        </p:txBody>
      </p:sp>
      <p:sp>
        <p:nvSpPr>
          <p:cNvPr id="68" name="risk-state-5"/>
          <p:cNvSpPr txBox="1"/>
          <p:nvPr/>
        </p:nvSpPr>
        <p:spPr>
          <a:xfrm>
            <a:off x="10972800" y="434340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00" b="1" lang="en-US">
                <a:solidFill>
                  <a:srgbClr val="4ECDC4"/>
                </a:solidFill>
                <a:latin typeface="Aptos"/>
              </a:rPr>
              <a:t>PASS</a:t>
            </a:r>
          </a:p>
        </p:txBody>
      </p:sp>
      <p:sp>
        <p:nvSpPr>
          <p:cNvPr id="69" name="progress-label"/>
          <p:cNvSpPr txBox="1"/>
          <p:nvPr/>
        </p:nvSpPr>
        <p:spPr>
          <a:xfrm>
            <a:off x="2468880" y="5788152"/>
            <a:ext cx="886968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50" b="1" lang="en-US">
                <a:solidFill>
                  <a:srgbClr val="FFFFFF"/>
                </a:solidFill>
                <a:latin typeface="Aptos"/>
              </a:rPr>
              <a:t>Stress workload: 78% complete · 12 profiles locked · 0 geometry regressions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2"/>
          </a:solidFill>
          <a:ln w="10160">
            <a:solidFill>
              <a:srgbClr val="F8F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op-band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A1A2E"/>
          </a:solidFill>
          <a:ln w="1016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mesh-shell"/>
          <p:cNvSpPr/>
          <p:nvPr/>
        </p:nvSpPr>
        <p:spPr>
          <a:xfrm>
            <a:off x="457200" y="1078992"/>
            <a:ext cx="7360920" cy="5029200"/>
          </a:xfrm>
          <a:prstGeom prst="roundRect">
            <a:avLst/>
          </a:prstGeom>
          <a:solidFill>
            <a:srgbClr val="FFF8B8"/>
          </a:solidFill>
          <a:ln w="10160">
            <a:solidFill>
              <a:srgbClr val="D9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mesh-rail-shell"/>
          <p:cNvSpPr/>
          <p:nvPr/>
        </p:nvSpPr>
        <p:spPr>
          <a:xfrm>
            <a:off x="8092440" y="1078992"/>
            <a:ext cx="3639312" cy="5029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mesh-accent"/>
          <p:cNvSpPr/>
          <p:nvPr/>
        </p:nvSpPr>
        <p:spPr>
          <a:xfrm>
            <a:off x="457200" y="1078992"/>
            <a:ext cx="73152" cy="5029200"/>
          </a:xfrm>
          <a:prstGeom prst="rect">
            <a:avLst/>
          </a:prstGeom>
          <a:solidFill>
            <a:srgbClr val="1A1A2E"/>
          </a:solidFill>
          <a:ln w="1016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mesh-edge-0"/>
          <p:cNvCxnSpPr/>
          <p:nvPr/>
        </p:nvCxnSpPr>
        <p:spPr>
          <a:xfrm flipV="1">
            <a:off x="1618488" y="1920240"/>
            <a:ext cx="1828800" cy="320040"/>
          </a:xfrm>
          <a:prstGeom prst="line">
            <a:avLst/>
          </a:prstGeom>
          <a:ln w="13970">
            <a:solidFill>
              <a:srgbClr val="D9D9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mesh-edge-1"/>
          <p:cNvCxnSpPr/>
          <p:nvPr/>
        </p:nvCxnSpPr>
        <p:spPr>
          <a:xfrm>
            <a:off x="3447288" y="1920240"/>
            <a:ext cx="1920240" cy="320040"/>
          </a:xfrm>
          <a:prstGeom prst="line">
            <a:avLst/>
          </a:prstGeom>
          <a:ln w="13970">
            <a:solidFill>
              <a:srgbClr val="D9D9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mesh-edge-2"/>
          <p:cNvCxnSpPr/>
          <p:nvPr/>
        </p:nvCxnSpPr>
        <p:spPr>
          <a:xfrm>
            <a:off x="1618488" y="2240280"/>
            <a:ext cx="868680" cy="1325880"/>
          </a:xfrm>
          <a:prstGeom prst="line">
            <a:avLst/>
          </a:prstGeom>
          <a:ln w="13970">
            <a:solidFill>
              <a:srgbClr val="D9D9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mesh-edge-3"/>
          <p:cNvCxnSpPr/>
          <p:nvPr/>
        </p:nvCxnSpPr>
        <p:spPr>
          <a:xfrm flipH="1">
            <a:off x="2487168" y="1920240"/>
            <a:ext cx="960120" cy="1645920"/>
          </a:xfrm>
          <a:prstGeom prst="line">
            <a:avLst/>
          </a:prstGeom>
          <a:ln w="13970">
            <a:solidFill>
              <a:srgbClr val="D9D9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mesh-edge-4"/>
          <p:cNvCxnSpPr/>
          <p:nvPr/>
        </p:nvCxnSpPr>
        <p:spPr>
          <a:xfrm>
            <a:off x="3447288" y="1920240"/>
            <a:ext cx="1005840" cy="1307592"/>
          </a:xfrm>
          <a:prstGeom prst="line">
            <a:avLst/>
          </a:prstGeom>
          <a:ln w="13970">
            <a:solidFill>
              <a:srgbClr val="D9D9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mesh-edge-5"/>
          <p:cNvCxnSpPr/>
          <p:nvPr/>
        </p:nvCxnSpPr>
        <p:spPr>
          <a:xfrm flipH="1">
            <a:off x="4453128" y="2240280"/>
            <a:ext cx="914400" cy="987552"/>
          </a:xfrm>
          <a:prstGeom prst="line">
            <a:avLst/>
          </a:prstGeom>
          <a:ln w="13970">
            <a:solidFill>
              <a:srgbClr val="D9D9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mesh-edge-6"/>
          <p:cNvCxnSpPr/>
          <p:nvPr/>
        </p:nvCxnSpPr>
        <p:spPr>
          <a:xfrm>
            <a:off x="5367528" y="2240280"/>
            <a:ext cx="1005840" cy="1325880"/>
          </a:xfrm>
          <a:prstGeom prst="line">
            <a:avLst/>
          </a:prstGeom>
          <a:ln w="13970">
            <a:solidFill>
              <a:srgbClr val="D9D9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mesh-edge-7"/>
          <p:cNvCxnSpPr/>
          <p:nvPr/>
        </p:nvCxnSpPr>
        <p:spPr>
          <a:xfrm flipV="1">
            <a:off x="2487168" y="3227832"/>
            <a:ext cx="1965960" cy="338328"/>
          </a:xfrm>
          <a:prstGeom prst="line">
            <a:avLst/>
          </a:prstGeom>
          <a:ln w="13970">
            <a:solidFill>
              <a:srgbClr val="D9D9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mesh-edge-8"/>
          <p:cNvCxnSpPr/>
          <p:nvPr/>
        </p:nvCxnSpPr>
        <p:spPr>
          <a:xfrm>
            <a:off x="4453128" y="3227832"/>
            <a:ext cx="1920240" cy="338328"/>
          </a:xfrm>
          <a:prstGeom prst="line">
            <a:avLst/>
          </a:prstGeom>
          <a:ln w="13970">
            <a:solidFill>
              <a:srgbClr val="D9D9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mesh-edge-9"/>
          <p:cNvCxnSpPr/>
          <p:nvPr/>
        </p:nvCxnSpPr>
        <p:spPr>
          <a:xfrm>
            <a:off x="2487168" y="3566160"/>
            <a:ext cx="960120" cy="1325880"/>
          </a:xfrm>
          <a:prstGeom prst="line">
            <a:avLst/>
          </a:prstGeom>
          <a:ln w="13970">
            <a:solidFill>
              <a:srgbClr val="D9D9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mesh-edge-10"/>
          <p:cNvCxnSpPr/>
          <p:nvPr/>
        </p:nvCxnSpPr>
        <p:spPr>
          <a:xfrm flipH="1">
            <a:off x="3447288" y="3227832"/>
            <a:ext cx="1005840" cy="1664208"/>
          </a:xfrm>
          <a:prstGeom prst="line">
            <a:avLst/>
          </a:prstGeom>
          <a:ln w="13970">
            <a:solidFill>
              <a:srgbClr val="D9D9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mesh-edge-11"/>
          <p:cNvCxnSpPr/>
          <p:nvPr/>
        </p:nvCxnSpPr>
        <p:spPr>
          <a:xfrm>
            <a:off x="4453128" y="3227832"/>
            <a:ext cx="914400" cy="1664208"/>
          </a:xfrm>
          <a:prstGeom prst="line">
            <a:avLst/>
          </a:prstGeom>
          <a:ln w="13970">
            <a:solidFill>
              <a:srgbClr val="D9D9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mesh-edge-12"/>
          <p:cNvCxnSpPr/>
          <p:nvPr/>
        </p:nvCxnSpPr>
        <p:spPr>
          <a:xfrm flipH="1">
            <a:off x="5367528" y="3566160"/>
            <a:ext cx="1005840" cy="1325880"/>
          </a:xfrm>
          <a:prstGeom prst="line">
            <a:avLst/>
          </a:prstGeom>
          <a:ln w="13970">
            <a:solidFill>
              <a:srgbClr val="D9D9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mesh-edge-13"/>
          <p:cNvCxnSpPr/>
          <p:nvPr/>
        </p:nvCxnSpPr>
        <p:spPr>
          <a:xfrm>
            <a:off x="3447288" y="4892040"/>
            <a:ext cx="1920240" cy="0"/>
          </a:xfrm>
          <a:prstGeom prst="line">
            <a:avLst/>
          </a:prstGeom>
          <a:ln w="13970">
            <a:solidFill>
              <a:srgbClr val="D9D9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mesh-rail-accent"/>
          <p:cNvSpPr/>
          <p:nvPr/>
        </p:nvSpPr>
        <p:spPr>
          <a:xfrm>
            <a:off x="8092440" y="1078992"/>
            <a:ext cx="73152" cy="5029200"/>
          </a:xfrm>
          <a:prstGeom prst="rect">
            <a:avLst/>
          </a:prstGeom>
          <a:solidFill>
            <a:srgbClr val="1A1A2E"/>
          </a:solidFill>
          <a:ln w="1016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trace-line-0"/>
          <p:cNvCxnSpPr/>
          <p:nvPr/>
        </p:nvCxnSpPr>
        <p:spPr>
          <a:xfrm>
            <a:off x="8577072" y="2029968"/>
            <a:ext cx="0" cy="164592"/>
          </a:xfrm>
          <a:prstGeom prst="line">
            <a:avLst/>
          </a:prstGeom>
          <a:ln w="13970">
            <a:solidFill>
              <a:srgbClr val="1A1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trace-line-1"/>
          <p:cNvCxnSpPr/>
          <p:nvPr/>
        </p:nvCxnSpPr>
        <p:spPr>
          <a:xfrm>
            <a:off x="8577072" y="2596896"/>
            <a:ext cx="0" cy="164592"/>
          </a:xfrm>
          <a:prstGeom prst="line">
            <a:avLst/>
          </a:prstGeom>
          <a:ln w="13970">
            <a:solidFill>
              <a:srgbClr val="E8FF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trace-line-2"/>
          <p:cNvCxnSpPr/>
          <p:nvPr/>
        </p:nvCxnSpPr>
        <p:spPr>
          <a:xfrm>
            <a:off x="8577072" y="3163824"/>
            <a:ext cx="0" cy="164592"/>
          </a:xfrm>
          <a:prstGeom prst="line">
            <a:avLst/>
          </a:prstGeom>
          <a:ln w="13970">
            <a:solidFill>
              <a:srgbClr val="4EC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trace-line-3"/>
          <p:cNvCxnSpPr/>
          <p:nvPr/>
        </p:nvCxnSpPr>
        <p:spPr>
          <a:xfrm>
            <a:off x="8577072" y="3730752"/>
            <a:ext cx="0" cy="164592"/>
          </a:xfrm>
          <a:prstGeom prst="line">
            <a:avLst/>
          </a:prstGeom>
          <a:ln w="13970">
            <a:solidFill>
              <a:srgbClr val="FFE6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trace-line-4"/>
          <p:cNvCxnSpPr/>
          <p:nvPr/>
        </p:nvCxnSpPr>
        <p:spPr>
          <a:xfrm>
            <a:off x="8577072" y="4297680"/>
            <a:ext cx="0" cy="164592"/>
          </a:xfrm>
          <a:prstGeom prst="line">
            <a:avLst/>
          </a:prstGeom>
          <a:ln w="13970">
            <a:solidFill>
              <a:srgbClr val="4EC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trace-line-5"/>
          <p:cNvCxnSpPr/>
          <p:nvPr/>
        </p:nvCxnSpPr>
        <p:spPr>
          <a:xfrm>
            <a:off x="8577072" y="4864608"/>
            <a:ext cx="0" cy="164592"/>
          </a:xfrm>
          <a:prstGeom prst="line">
            <a:avLst/>
          </a:prstGeom>
          <a:ln w="13970">
            <a:solidFill>
              <a:srgbClr val="FF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mesh-node-0"/>
          <p:cNvSpPr/>
          <p:nvPr/>
        </p:nvSpPr>
        <p:spPr>
          <a:xfrm>
            <a:off x="1051560" y="1920240"/>
            <a:ext cx="1143000" cy="640080"/>
          </a:xfrm>
          <a:prstGeom prst="roundRect">
            <a:avLst/>
          </a:prstGeom>
          <a:solidFill>
            <a:srgbClr val="1A1A2E"/>
          </a:solidFill>
          <a:ln w="1016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mesh-node-1"/>
          <p:cNvSpPr/>
          <p:nvPr/>
        </p:nvSpPr>
        <p:spPr>
          <a:xfrm>
            <a:off x="2880360" y="1600200"/>
            <a:ext cx="1143000" cy="640080"/>
          </a:xfrm>
          <a:prstGeom prst="roundRect">
            <a:avLst/>
          </a:prstGeom>
          <a:solidFill>
            <a:srgbClr val="E8FF3B"/>
          </a:solidFill>
          <a:ln w="10160">
            <a:solidFill>
              <a:srgbClr val="E8FF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mesh-node-2"/>
          <p:cNvSpPr/>
          <p:nvPr/>
        </p:nvSpPr>
        <p:spPr>
          <a:xfrm>
            <a:off x="4800600" y="1920240"/>
            <a:ext cx="1143000" cy="640080"/>
          </a:xfrm>
          <a:prstGeom prst="roundRect">
            <a:avLst/>
          </a:prstGeom>
          <a:solidFill>
            <a:srgbClr val="4ECDC4"/>
          </a:solidFill>
          <a:ln w="1016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mesh-node-3"/>
          <p:cNvSpPr/>
          <p:nvPr/>
        </p:nvSpPr>
        <p:spPr>
          <a:xfrm>
            <a:off x="1920240" y="3246120"/>
            <a:ext cx="1143000" cy="640080"/>
          </a:xfrm>
          <a:prstGeom prst="roundRect">
            <a:avLst/>
          </a:prstGeom>
          <a:solidFill>
            <a:srgbClr val="4ECDC4"/>
          </a:solidFill>
          <a:ln w="1016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mesh-node-4"/>
          <p:cNvSpPr/>
          <p:nvPr/>
        </p:nvSpPr>
        <p:spPr>
          <a:xfrm>
            <a:off x="3886200" y="2907792"/>
            <a:ext cx="1143000" cy="640080"/>
          </a:xfrm>
          <a:prstGeom prst="roundRect">
            <a:avLst/>
          </a:prstGeom>
          <a:solidFill>
            <a:srgbClr val="FFE66D"/>
          </a:solidFill>
          <a:ln w="10160">
            <a:solidFill>
              <a:srgbClr val="FFE6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mesh-node-5"/>
          <p:cNvSpPr/>
          <p:nvPr/>
        </p:nvSpPr>
        <p:spPr>
          <a:xfrm>
            <a:off x="5806440" y="3246120"/>
            <a:ext cx="1143000" cy="640080"/>
          </a:xfrm>
          <a:prstGeom prst="roundRect">
            <a:avLst/>
          </a:prstGeom>
          <a:solidFill>
            <a:srgbClr val="1A1A2E"/>
          </a:solidFill>
          <a:ln w="1016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mesh-node-6"/>
          <p:cNvSpPr/>
          <p:nvPr/>
        </p:nvSpPr>
        <p:spPr>
          <a:xfrm>
            <a:off x="2880360" y="4572000"/>
            <a:ext cx="1143000" cy="640080"/>
          </a:xfrm>
          <a:prstGeom prst="roundRect">
            <a:avLst/>
          </a:prstGeom>
          <a:solidFill>
            <a:srgbClr val="FF6B6B"/>
          </a:solidFill>
          <a:ln w="1016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mesh-node-7"/>
          <p:cNvSpPr/>
          <p:nvPr/>
        </p:nvSpPr>
        <p:spPr>
          <a:xfrm>
            <a:off x="4800600" y="4572000"/>
            <a:ext cx="1143000" cy="640080"/>
          </a:xfrm>
          <a:prstGeom prst="roundRect">
            <a:avLst/>
          </a:prstGeom>
          <a:solidFill>
            <a:srgbClr val="4ECDC4"/>
          </a:solidFill>
          <a:ln w="1016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race-badge-0"/>
          <p:cNvSpPr/>
          <p:nvPr/>
        </p:nvSpPr>
        <p:spPr>
          <a:xfrm>
            <a:off x="8357616" y="1682496"/>
            <a:ext cx="438912" cy="347472"/>
          </a:xfrm>
          <a:prstGeom prst="roundRect">
            <a:avLst/>
          </a:prstGeom>
          <a:solidFill>
            <a:srgbClr val="1A1A2E"/>
          </a:solidFill>
          <a:ln w="1016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race-badge-1"/>
          <p:cNvSpPr/>
          <p:nvPr/>
        </p:nvSpPr>
        <p:spPr>
          <a:xfrm>
            <a:off x="8357616" y="2249424"/>
            <a:ext cx="438912" cy="347472"/>
          </a:xfrm>
          <a:prstGeom prst="roundRect">
            <a:avLst/>
          </a:prstGeom>
          <a:solidFill>
            <a:srgbClr val="E8FF3B"/>
          </a:solidFill>
          <a:ln w="10160">
            <a:solidFill>
              <a:srgbClr val="E8FF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race-badge-2"/>
          <p:cNvSpPr/>
          <p:nvPr/>
        </p:nvSpPr>
        <p:spPr>
          <a:xfrm>
            <a:off x="8357616" y="2816352"/>
            <a:ext cx="438912" cy="347472"/>
          </a:xfrm>
          <a:prstGeom prst="roundRect">
            <a:avLst/>
          </a:prstGeom>
          <a:solidFill>
            <a:srgbClr val="4ECDC4"/>
          </a:solidFill>
          <a:ln w="1016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race-badge-3"/>
          <p:cNvSpPr/>
          <p:nvPr/>
        </p:nvSpPr>
        <p:spPr>
          <a:xfrm>
            <a:off x="8357616" y="3383280"/>
            <a:ext cx="438912" cy="347472"/>
          </a:xfrm>
          <a:prstGeom prst="roundRect">
            <a:avLst/>
          </a:prstGeom>
          <a:solidFill>
            <a:srgbClr val="FFE66D"/>
          </a:solidFill>
          <a:ln w="10160">
            <a:solidFill>
              <a:srgbClr val="FFE6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race-badge-4"/>
          <p:cNvSpPr/>
          <p:nvPr/>
        </p:nvSpPr>
        <p:spPr>
          <a:xfrm>
            <a:off x="8357616" y="3950208"/>
            <a:ext cx="438912" cy="347472"/>
          </a:xfrm>
          <a:prstGeom prst="roundRect">
            <a:avLst/>
          </a:prstGeom>
          <a:solidFill>
            <a:srgbClr val="4ECDC4"/>
          </a:solidFill>
          <a:ln w="1016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race-badge-5"/>
          <p:cNvSpPr/>
          <p:nvPr/>
        </p:nvSpPr>
        <p:spPr>
          <a:xfrm>
            <a:off x="8357616" y="4517136"/>
            <a:ext cx="438912" cy="347472"/>
          </a:xfrm>
          <a:prstGeom prst="roundRect">
            <a:avLst/>
          </a:prstGeom>
          <a:solidFill>
            <a:srgbClr val="FF6B6B"/>
          </a:solidFill>
          <a:ln w="1016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profile-tag"/>
          <p:cNvSpPr txBox="1"/>
          <p:nvPr/>
        </p:nvSpPr>
        <p:spPr>
          <a:xfrm>
            <a:off x="457200" y="201168"/>
            <a:ext cx="768096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1" lang="en-US">
                <a:solidFill>
                  <a:srgbClr val="1A1A2E"/>
                </a:solidFill>
                <a:latin typeface="Aptos"/>
              </a:rPr>
              <a:t>V3 STRESS SUITE  ·  BENTO GRID  ·  EVIDENCE MESH</a:t>
            </a:r>
          </a:p>
        </p:txBody>
      </p:sp>
      <p:sp>
        <p:nvSpPr>
          <p:cNvPr id="43" name="slide-index"/>
          <p:cNvSpPr txBox="1"/>
          <p:nvPr/>
        </p:nvSpPr>
        <p:spPr>
          <a:xfrm>
            <a:off x="10808208" y="201168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00" b="1" lang="en-US">
                <a:solidFill>
                  <a:srgbClr val="4D4D66"/>
                </a:solidFill>
                <a:latin typeface="Aptos"/>
              </a:rPr>
              <a:t>12/60</a:t>
            </a:r>
          </a:p>
        </p:txBody>
      </p:sp>
      <p:sp>
        <p:nvSpPr>
          <p:cNvPr id="44" name="title"/>
          <p:cNvSpPr txBox="1"/>
          <p:nvPr/>
        </p:nvSpPr>
        <p:spPr>
          <a:xfrm>
            <a:off x="457200" y="484632"/>
            <a:ext cx="11274552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200" b="1" lang="en-US">
                <a:solidFill>
                  <a:srgbClr val="1A1A2E"/>
                </a:solidFill>
                <a:latin typeface="Aptos Display"/>
              </a:rPr>
              <a:t>Evidence meshes preserve traceability across a dense editable graph</a:t>
            </a:r>
          </a:p>
        </p:txBody>
      </p:sp>
      <p:sp>
        <p:nvSpPr>
          <p:cNvPr id="45" name="footer"/>
          <p:cNvSpPr txBox="1"/>
          <p:nvPr/>
        </p:nvSpPr>
        <p:spPr>
          <a:xfrm>
            <a:off x="457200" y="6473952"/>
            <a:ext cx="1051560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0" lang="en-US">
                <a:solidFill>
                  <a:srgbClr val="4D4D66"/>
                </a:solidFill>
                <a:latin typeface="Aptos"/>
              </a:rPr>
              <a:t>Native-object stress fixture · asymmetric modular cells with one navy anchor tile · editable geometry and recorded style lock</a:t>
            </a:r>
          </a:p>
        </p:txBody>
      </p:sp>
      <p:sp>
        <p:nvSpPr>
          <p:cNvPr id="46" name="mesh-title"/>
          <p:cNvSpPr txBox="1"/>
          <p:nvPr/>
        </p:nvSpPr>
        <p:spPr>
          <a:xfrm>
            <a:off x="713232" y="1298448"/>
            <a:ext cx="320040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1" lang="en-US">
                <a:solidFill>
                  <a:srgbClr val="1A1A2E"/>
                </a:solidFill>
                <a:latin typeface="Aptos"/>
              </a:rPr>
              <a:t>EVIDENCE ROUTING MESH</a:t>
            </a:r>
          </a:p>
        </p:txBody>
      </p:sp>
      <p:sp>
        <p:nvSpPr>
          <p:cNvPr id="47" name="mesh-label-0"/>
          <p:cNvSpPr txBox="1"/>
          <p:nvPr/>
        </p:nvSpPr>
        <p:spPr>
          <a:xfrm>
            <a:off x="1143000" y="2139696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lang="en-US">
                <a:solidFill>
                  <a:srgbClr val="FFFFFF"/>
                </a:solidFill>
                <a:latin typeface="Aptos"/>
              </a:rPr>
              <a:t>Request</a:t>
            </a:r>
          </a:p>
        </p:txBody>
      </p:sp>
      <p:sp>
        <p:nvSpPr>
          <p:cNvPr id="48" name="mesh-label-1"/>
          <p:cNvSpPr txBox="1"/>
          <p:nvPr/>
        </p:nvSpPr>
        <p:spPr>
          <a:xfrm>
            <a:off x="2971800" y="1819656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lang="en-US">
                <a:solidFill>
                  <a:srgbClr val="111111"/>
                </a:solidFill>
                <a:latin typeface="Aptos"/>
              </a:rPr>
              <a:t>Profile</a:t>
            </a:r>
          </a:p>
        </p:txBody>
      </p:sp>
      <p:sp>
        <p:nvSpPr>
          <p:cNvPr id="49" name="mesh-label-2"/>
          <p:cNvSpPr txBox="1"/>
          <p:nvPr/>
        </p:nvSpPr>
        <p:spPr>
          <a:xfrm>
            <a:off x="4892040" y="2139696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lang="en-US">
                <a:solidFill>
                  <a:srgbClr val="111111"/>
                </a:solidFill>
                <a:latin typeface="Aptos"/>
              </a:rPr>
              <a:t>Source</a:t>
            </a:r>
          </a:p>
        </p:txBody>
      </p:sp>
      <p:sp>
        <p:nvSpPr>
          <p:cNvPr id="50" name="mesh-label-3"/>
          <p:cNvSpPr txBox="1"/>
          <p:nvPr/>
        </p:nvSpPr>
        <p:spPr>
          <a:xfrm>
            <a:off x="2011680" y="3465576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lang="en-US">
                <a:solidFill>
                  <a:srgbClr val="111111"/>
                </a:solidFill>
                <a:latin typeface="Aptos"/>
              </a:rPr>
              <a:t>Spec</a:t>
            </a:r>
          </a:p>
        </p:txBody>
      </p:sp>
      <p:sp>
        <p:nvSpPr>
          <p:cNvPr id="51" name="mesh-label-4"/>
          <p:cNvSpPr txBox="1"/>
          <p:nvPr/>
        </p:nvSpPr>
        <p:spPr>
          <a:xfrm>
            <a:off x="3977639" y="3127248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lang="en-US">
                <a:solidFill>
                  <a:srgbClr val="111111"/>
                </a:solidFill>
                <a:latin typeface="Aptos"/>
              </a:rPr>
              <a:t>Audit</a:t>
            </a:r>
          </a:p>
        </p:txBody>
      </p:sp>
      <p:sp>
        <p:nvSpPr>
          <p:cNvPr id="52" name="mesh-label-5"/>
          <p:cNvSpPr txBox="1"/>
          <p:nvPr/>
        </p:nvSpPr>
        <p:spPr>
          <a:xfrm>
            <a:off x="5897880" y="3465576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lang="en-US">
                <a:solidFill>
                  <a:srgbClr val="FFFFFF"/>
                </a:solidFill>
                <a:latin typeface="Aptos"/>
              </a:rPr>
              <a:t>Render</a:t>
            </a:r>
          </a:p>
        </p:txBody>
      </p:sp>
      <p:sp>
        <p:nvSpPr>
          <p:cNvPr id="53" name="mesh-label-6"/>
          <p:cNvSpPr txBox="1"/>
          <p:nvPr/>
        </p:nvSpPr>
        <p:spPr>
          <a:xfrm>
            <a:off x="2971800" y="4791456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lang="en-US">
                <a:solidFill>
                  <a:srgbClr val="111111"/>
                </a:solidFill>
                <a:latin typeface="Aptos"/>
              </a:rPr>
              <a:t>Repair</a:t>
            </a:r>
          </a:p>
        </p:txBody>
      </p:sp>
      <p:sp>
        <p:nvSpPr>
          <p:cNvPr id="54" name="mesh-label-7"/>
          <p:cNvSpPr txBox="1"/>
          <p:nvPr/>
        </p:nvSpPr>
        <p:spPr>
          <a:xfrm>
            <a:off x="4892040" y="4791456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lang="en-US">
                <a:solidFill>
                  <a:srgbClr val="111111"/>
                </a:solidFill>
                <a:latin typeface="Aptos"/>
              </a:rPr>
              <a:t>Ship</a:t>
            </a:r>
          </a:p>
        </p:txBody>
      </p:sp>
      <p:sp>
        <p:nvSpPr>
          <p:cNvPr id="55" name="mesh-rail-title"/>
          <p:cNvSpPr txBox="1"/>
          <p:nvPr/>
        </p:nvSpPr>
        <p:spPr>
          <a:xfrm>
            <a:off x="8357616" y="1298448"/>
            <a:ext cx="265176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1" lang="en-US">
                <a:solidFill>
                  <a:srgbClr val="1A1A2E"/>
                </a:solidFill>
                <a:latin typeface="Aptos"/>
              </a:rPr>
              <a:t>TRACEABILITY</a:t>
            </a:r>
          </a:p>
        </p:txBody>
      </p:sp>
      <p:sp>
        <p:nvSpPr>
          <p:cNvPr id="56" name="trace-number-0"/>
          <p:cNvSpPr txBox="1"/>
          <p:nvPr/>
        </p:nvSpPr>
        <p:spPr>
          <a:xfrm>
            <a:off x="8375904" y="1783080"/>
            <a:ext cx="402336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57" name="trace-label-0"/>
          <p:cNvSpPr txBox="1"/>
          <p:nvPr/>
        </p:nvSpPr>
        <p:spPr>
          <a:xfrm>
            <a:off x="8979408" y="173736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1" lang="en-US">
                <a:solidFill>
                  <a:srgbClr val="1A1A2E"/>
                </a:solidFill>
                <a:latin typeface="Aptos"/>
              </a:rPr>
              <a:t>Intent</a:t>
            </a:r>
          </a:p>
        </p:txBody>
      </p:sp>
      <p:sp>
        <p:nvSpPr>
          <p:cNvPr id="58" name="trace-number-1"/>
          <p:cNvSpPr txBox="1"/>
          <p:nvPr/>
        </p:nvSpPr>
        <p:spPr>
          <a:xfrm>
            <a:off x="8375904" y="2350008"/>
            <a:ext cx="402336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111111"/>
                </a:solidFill>
                <a:latin typeface="Aptos"/>
              </a:rPr>
              <a:t>02</a:t>
            </a:r>
          </a:p>
        </p:txBody>
      </p:sp>
      <p:sp>
        <p:nvSpPr>
          <p:cNvPr id="59" name="trace-label-1"/>
          <p:cNvSpPr txBox="1"/>
          <p:nvPr/>
        </p:nvSpPr>
        <p:spPr>
          <a:xfrm>
            <a:off x="8979408" y="2304288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1" lang="en-US">
                <a:solidFill>
                  <a:srgbClr val="1A1A2E"/>
                </a:solidFill>
                <a:latin typeface="Aptos"/>
              </a:rPr>
              <a:t>Profile lock</a:t>
            </a:r>
          </a:p>
        </p:txBody>
      </p:sp>
      <p:sp>
        <p:nvSpPr>
          <p:cNvPr id="60" name="trace-number-2"/>
          <p:cNvSpPr txBox="1"/>
          <p:nvPr/>
        </p:nvSpPr>
        <p:spPr>
          <a:xfrm>
            <a:off x="8375904" y="2916936"/>
            <a:ext cx="402336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111111"/>
                </a:solidFill>
                <a:latin typeface="Aptos"/>
              </a:rPr>
              <a:t>03</a:t>
            </a:r>
          </a:p>
        </p:txBody>
      </p:sp>
      <p:sp>
        <p:nvSpPr>
          <p:cNvPr id="61" name="trace-label-2"/>
          <p:cNvSpPr txBox="1"/>
          <p:nvPr/>
        </p:nvSpPr>
        <p:spPr>
          <a:xfrm>
            <a:off x="8979408" y="2871216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1" lang="en-US">
                <a:solidFill>
                  <a:srgbClr val="1A1A2E"/>
                </a:solidFill>
                <a:latin typeface="Aptos"/>
              </a:rPr>
              <a:t>Object spec</a:t>
            </a:r>
          </a:p>
        </p:txBody>
      </p:sp>
      <p:sp>
        <p:nvSpPr>
          <p:cNvPr id="62" name="trace-number-3"/>
          <p:cNvSpPr txBox="1"/>
          <p:nvPr/>
        </p:nvSpPr>
        <p:spPr>
          <a:xfrm>
            <a:off x="8375904" y="3483864"/>
            <a:ext cx="402336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111111"/>
                </a:solidFill>
                <a:latin typeface="Aptos"/>
              </a:rPr>
              <a:t>04</a:t>
            </a:r>
          </a:p>
        </p:txBody>
      </p:sp>
      <p:sp>
        <p:nvSpPr>
          <p:cNvPr id="63" name="trace-label-3"/>
          <p:cNvSpPr txBox="1"/>
          <p:nvPr/>
        </p:nvSpPr>
        <p:spPr>
          <a:xfrm>
            <a:off x="8979408" y="3438144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1" lang="en-US">
                <a:solidFill>
                  <a:srgbClr val="1A1A2E"/>
                </a:solidFill>
                <a:latin typeface="Aptos"/>
              </a:rPr>
              <a:t>Quality gate</a:t>
            </a:r>
          </a:p>
        </p:txBody>
      </p:sp>
      <p:sp>
        <p:nvSpPr>
          <p:cNvPr id="64" name="trace-number-4"/>
          <p:cNvSpPr txBox="1"/>
          <p:nvPr/>
        </p:nvSpPr>
        <p:spPr>
          <a:xfrm>
            <a:off x="8375904" y="4050791"/>
            <a:ext cx="402336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111111"/>
                </a:solidFill>
                <a:latin typeface="Aptos"/>
              </a:rPr>
              <a:t>05</a:t>
            </a:r>
          </a:p>
        </p:txBody>
      </p:sp>
      <p:sp>
        <p:nvSpPr>
          <p:cNvPr id="65" name="trace-label-4"/>
          <p:cNvSpPr txBox="1"/>
          <p:nvPr/>
        </p:nvSpPr>
        <p:spPr>
          <a:xfrm>
            <a:off x="8979408" y="400507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1" lang="en-US">
                <a:solidFill>
                  <a:srgbClr val="1A1A2E"/>
                </a:solidFill>
                <a:latin typeface="Aptos"/>
              </a:rPr>
              <a:t>Repair trace</a:t>
            </a:r>
          </a:p>
        </p:txBody>
      </p:sp>
      <p:sp>
        <p:nvSpPr>
          <p:cNvPr id="66" name="trace-number-5"/>
          <p:cNvSpPr txBox="1"/>
          <p:nvPr/>
        </p:nvSpPr>
        <p:spPr>
          <a:xfrm>
            <a:off x="8375904" y="4617720"/>
            <a:ext cx="402336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111111"/>
                </a:solidFill>
                <a:latin typeface="Aptos"/>
              </a:rPr>
              <a:t>06</a:t>
            </a:r>
          </a:p>
        </p:txBody>
      </p:sp>
      <p:sp>
        <p:nvSpPr>
          <p:cNvPr id="67" name="trace-label-5"/>
          <p:cNvSpPr txBox="1"/>
          <p:nvPr/>
        </p:nvSpPr>
        <p:spPr>
          <a:xfrm>
            <a:off x="8979408" y="457200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1" lang="en-US">
                <a:solidFill>
                  <a:srgbClr val="1A1A2E"/>
                </a:solidFill>
                <a:latin typeface="Aptos"/>
              </a:rPr>
              <a:t>Artifact</a:t>
            </a:r>
          </a:p>
        </p:txBody>
      </p:sp>
      <p:sp>
        <p:nvSpPr>
          <p:cNvPr id="68" name="mesh-note"/>
          <p:cNvSpPr txBox="1"/>
          <p:nvPr/>
        </p:nvSpPr>
        <p:spPr>
          <a:xfrm>
            <a:off x="8357616" y="5321808"/>
            <a:ext cx="2834640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00" b="0" lang="en-US">
                <a:solidFill>
                  <a:srgbClr val="4D4D66"/>
                </a:solidFill>
                <a:latin typeface="Aptos"/>
              </a:rPr>
              <a:t>Fourteen editable links prove dense graph routing and layering.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2"/>
          </a:solidFill>
          <a:ln w="10160">
            <a:solidFill>
              <a:srgbClr val="F8F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op-band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A1A2E"/>
          </a:solidFill>
          <a:ln w="1016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matrix-rail-shell"/>
          <p:cNvSpPr/>
          <p:nvPr/>
        </p:nvSpPr>
        <p:spPr>
          <a:xfrm>
            <a:off x="8823960" y="1143000"/>
            <a:ext cx="2907792" cy="4443984"/>
          </a:xfrm>
          <a:prstGeom prst="roundRect">
            <a:avLst/>
          </a:prstGeom>
          <a:solidFill>
            <a:srgbClr val="FFF8B8"/>
          </a:solidFill>
          <a:ln w="10160">
            <a:solidFill>
              <a:srgbClr val="D9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matrix-rail-accent"/>
          <p:cNvSpPr/>
          <p:nvPr/>
        </p:nvSpPr>
        <p:spPr>
          <a:xfrm>
            <a:off x="8823960" y="1143000"/>
            <a:ext cx="73152" cy="4443984"/>
          </a:xfrm>
          <a:prstGeom prst="rect">
            <a:avLst/>
          </a:prstGeom>
          <a:solidFill>
            <a:srgbClr val="1A1A2E"/>
          </a:solidFill>
          <a:ln w="1016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adar-ring-0.45"/>
          <p:cNvSpPr/>
          <p:nvPr/>
        </p:nvSpPr>
        <p:spPr>
          <a:xfrm>
            <a:off x="9866376" y="2834640"/>
            <a:ext cx="822960" cy="822960"/>
          </a:xfrm>
          <a:prstGeom prst="ellipse">
            <a:avLst/>
          </a:prstGeom>
          <a:solidFill>
            <a:srgbClr val="FFF8B8"/>
          </a:solidFill>
          <a:ln w="10160">
            <a:solidFill>
              <a:srgbClr val="D9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adar-ring-0.85"/>
          <p:cNvSpPr/>
          <p:nvPr/>
        </p:nvSpPr>
        <p:spPr>
          <a:xfrm>
            <a:off x="9500616" y="2468880"/>
            <a:ext cx="1554480" cy="1554480"/>
          </a:xfrm>
          <a:prstGeom prst="ellipse">
            <a:avLst/>
          </a:prstGeom>
          <a:solidFill>
            <a:srgbClr val="FFF8B8"/>
          </a:solidFill>
          <a:ln w="10160">
            <a:solidFill>
              <a:srgbClr val="D9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adar-ring-1.25"/>
          <p:cNvSpPr/>
          <p:nvPr/>
        </p:nvSpPr>
        <p:spPr>
          <a:xfrm>
            <a:off x="9134856" y="2103120"/>
            <a:ext cx="2286000" cy="2286000"/>
          </a:xfrm>
          <a:prstGeom prst="ellipse">
            <a:avLst/>
          </a:prstGeom>
          <a:solidFill>
            <a:srgbClr val="FFF8B8"/>
          </a:solidFill>
          <a:ln w="10160">
            <a:solidFill>
              <a:srgbClr val="D9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radar-axis-0"/>
          <p:cNvCxnSpPr/>
          <p:nvPr/>
        </p:nvCxnSpPr>
        <p:spPr>
          <a:xfrm flipV="1">
            <a:off x="10277856" y="1828799"/>
            <a:ext cx="0" cy="1417321"/>
          </a:xfrm>
          <a:prstGeom prst="line">
            <a:avLst/>
          </a:prstGeom>
          <a:ln w="13970">
            <a:solidFill>
              <a:srgbClr val="D9D9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radar-axis-1"/>
          <p:cNvCxnSpPr/>
          <p:nvPr/>
        </p:nvCxnSpPr>
        <p:spPr>
          <a:xfrm flipV="1">
            <a:off x="10277856" y="2537460"/>
            <a:ext cx="1227435" cy="708660"/>
          </a:xfrm>
          <a:prstGeom prst="line">
            <a:avLst/>
          </a:prstGeom>
          <a:ln w="13970">
            <a:solidFill>
              <a:srgbClr val="D9D9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radar-axis-2"/>
          <p:cNvCxnSpPr/>
          <p:nvPr/>
        </p:nvCxnSpPr>
        <p:spPr>
          <a:xfrm>
            <a:off x="10277856" y="3246120"/>
            <a:ext cx="1227435" cy="708659"/>
          </a:xfrm>
          <a:prstGeom prst="line">
            <a:avLst/>
          </a:prstGeom>
          <a:ln w="13970">
            <a:solidFill>
              <a:srgbClr val="D9D9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radar-axis-3"/>
          <p:cNvCxnSpPr/>
          <p:nvPr/>
        </p:nvCxnSpPr>
        <p:spPr>
          <a:xfrm>
            <a:off x="10277856" y="3246120"/>
            <a:ext cx="0" cy="1417320"/>
          </a:xfrm>
          <a:prstGeom prst="line">
            <a:avLst/>
          </a:prstGeom>
          <a:ln w="13970">
            <a:solidFill>
              <a:srgbClr val="D9D9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radar-axis-4"/>
          <p:cNvCxnSpPr/>
          <p:nvPr/>
        </p:nvCxnSpPr>
        <p:spPr>
          <a:xfrm flipH="1">
            <a:off x="9050420" y="3246120"/>
            <a:ext cx="1227436" cy="708659"/>
          </a:xfrm>
          <a:prstGeom prst="line">
            <a:avLst/>
          </a:prstGeom>
          <a:ln w="13970">
            <a:solidFill>
              <a:srgbClr val="D9D9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radar-axis-5"/>
          <p:cNvCxnSpPr/>
          <p:nvPr/>
        </p:nvCxnSpPr>
        <p:spPr>
          <a:xfrm flipH="1" flipV="1">
            <a:off x="9050420" y="2537459"/>
            <a:ext cx="1227436" cy="708661"/>
          </a:xfrm>
          <a:prstGeom prst="line">
            <a:avLst/>
          </a:prstGeom>
          <a:ln w="13970">
            <a:solidFill>
              <a:srgbClr val="D9D9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flow-link-0"/>
          <p:cNvCxnSpPr/>
          <p:nvPr/>
        </p:nvCxnSpPr>
        <p:spPr>
          <a:xfrm>
            <a:off x="2066543" y="5934456"/>
            <a:ext cx="265177" cy="0"/>
          </a:xfrm>
          <a:prstGeom prst="line">
            <a:avLst/>
          </a:prstGeom>
          <a:ln w="13970">
            <a:solidFill>
              <a:srgbClr val="1A1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flow-link-1"/>
          <p:cNvCxnSpPr/>
          <p:nvPr/>
        </p:nvCxnSpPr>
        <p:spPr>
          <a:xfrm>
            <a:off x="3959352" y="5934456"/>
            <a:ext cx="265175" cy="0"/>
          </a:xfrm>
          <a:prstGeom prst="line">
            <a:avLst/>
          </a:prstGeom>
          <a:ln w="13970">
            <a:solidFill>
              <a:srgbClr val="E8FF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flow-link-2"/>
          <p:cNvCxnSpPr/>
          <p:nvPr/>
        </p:nvCxnSpPr>
        <p:spPr>
          <a:xfrm>
            <a:off x="5852159" y="5934456"/>
            <a:ext cx="265177" cy="0"/>
          </a:xfrm>
          <a:prstGeom prst="line">
            <a:avLst/>
          </a:prstGeom>
          <a:ln w="13970">
            <a:solidFill>
              <a:srgbClr val="4EC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flow-link-3"/>
          <p:cNvCxnSpPr/>
          <p:nvPr/>
        </p:nvCxnSpPr>
        <p:spPr>
          <a:xfrm>
            <a:off x="7744967" y="5934456"/>
            <a:ext cx="265176" cy="0"/>
          </a:xfrm>
          <a:prstGeom prst="line">
            <a:avLst/>
          </a:prstGeom>
          <a:ln w="13970">
            <a:solidFill>
              <a:srgbClr val="FFE6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flow-link-4"/>
          <p:cNvCxnSpPr/>
          <p:nvPr/>
        </p:nvCxnSpPr>
        <p:spPr>
          <a:xfrm>
            <a:off x="9637776" y="5934456"/>
            <a:ext cx="265175" cy="0"/>
          </a:xfrm>
          <a:prstGeom prst="line">
            <a:avLst/>
          </a:prstGeom>
          <a:ln w="13970">
            <a:solidFill>
              <a:srgbClr val="4EC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0" name="operating-table"/>
          <p:cNvGraphicFramePr>
            <a:graphicFrameLocks noGrp="1"/>
          </p:cNvGraphicFramePr>
          <p:nvPr/>
        </p:nvGraphicFramePr>
        <p:xfrm>
          <a:off x="457200" y="1143000"/>
          <a:ext cx="8092440" cy="44439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8740"/>
                <a:gridCol w="1348740"/>
                <a:gridCol w="1348740"/>
                <a:gridCol w="1348740"/>
                <a:gridCol w="1348740"/>
                <a:gridCol w="1348740"/>
              </a:tblGrid>
              <a:tr h="444398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FFFFFF"/>
                          </a:solidFill>
                          <a:latin typeface="Aptos"/>
                        </a:rPr>
                        <a:t>Workstream</a:t>
                      </a:r>
                    </a:p>
                  </a:txBody>
                  <a:tcPr marL="54864" marR="54864" marT="18288" marB="18288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FFFFFF"/>
                          </a:solidFill>
                          <a:latin typeface="Aptos"/>
                        </a:rPr>
                        <a:t>Profile</a:t>
                      </a:r>
                    </a:p>
                  </a:txBody>
                  <a:tcPr marL="54864" marR="54864" marT="18288" marB="18288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FFFFFF"/>
                          </a:solidFill>
                          <a:latin typeface="Aptos"/>
                        </a:rPr>
                        <a:t>Structure</a:t>
                      </a:r>
                    </a:p>
                  </a:txBody>
                  <a:tcPr marL="54864" marR="54864" marT="18288" marB="18288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FFFFFF"/>
                          </a:solidFill>
                          <a:latin typeface="Aptos"/>
                        </a:rPr>
                        <a:t>Density</a:t>
                      </a:r>
                    </a:p>
                  </a:txBody>
                  <a:tcPr marL="54864" marR="54864" marT="18288" marB="18288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FFFFFF"/>
                          </a:solidFill>
                          <a:latin typeface="Aptos"/>
                        </a:rPr>
                        <a:t>Gate</a:t>
                      </a:r>
                    </a:p>
                  </a:txBody>
                  <a:tcPr marL="54864" marR="54864" marT="18288" marB="18288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FFFFFF"/>
                          </a:solidFill>
                          <a:latin typeface="Aptos"/>
                        </a:rPr>
                        <a:t>Owner</a:t>
                      </a:r>
                    </a:p>
                  </a:txBody>
                  <a:tcPr marL="54864" marR="54864" marT="18288" marB="18288">
                    <a:solidFill>
                      <a:srgbClr val="1A1A2E"/>
                    </a:solidFill>
                  </a:tcPr>
                </a:tc>
              </a:tr>
              <a:tr h="444398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1A1A2E"/>
                          </a:solidFill>
                          <a:latin typeface="Aptos"/>
                        </a:rPr>
                        <a:t>W-01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2E"/>
                          </a:solidFill>
                          <a:latin typeface="Aptos"/>
                        </a:rPr>
                        <a:t>Ember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2E"/>
                          </a:solidFill>
                          <a:latin typeface="Aptos"/>
                        </a:rPr>
                        <a:t>Mesh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2E"/>
                          </a:solidFill>
                          <a:latin typeface="Aptos"/>
                        </a:rPr>
                        <a:t>Dense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2E"/>
                          </a:solidFill>
                          <a:latin typeface="Aptos"/>
                        </a:rPr>
                        <a:t>Watch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2E"/>
                          </a:solidFill>
                          <a:latin typeface="Aptos"/>
                        </a:rPr>
                        <a:t>R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44398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1A1A2E"/>
                          </a:solidFill>
                          <a:latin typeface="Aptos"/>
                        </a:rPr>
                        <a:t>W-02</a:t>
                      </a:r>
                    </a:p>
                  </a:txBody>
                  <a:tcPr marL="54864" marR="54864" marT="18288" marB="18288">
                    <a:solidFill>
                      <a:srgbClr val="FFF8B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2E"/>
                          </a:solidFill>
                          <a:latin typeface="Aptos"/>
                        </a:rPr>
                        <a:t>Signal</a:t>
                      </a:r>
                    </a:p>
                  </a:txBody>
                  <a:tcPr marL="54864" marR="54864" marT="18288" marB="18288">
                    <a:solidFill>
                      <a:srgbClr val="FFF8B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2E"/>
                          </a:solidFill>
                          <a:latin typeface="Aptos"/>
                        </a:rPr>
                        <a:t>Matrix</a:t>
                      </a:r>
                    </a:p>
                  </a:txBody>
                  <a:tcPr marL="54864" marR="54864" marT="18288" marB="18288">
                    <a:solidFill>
                      <a:srgbClr val="FFF8B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2E"/>
                          </a:solidFill>
                          <a:latin typeface="Aptos"/>
                        </a:rPr>
                        <a:t>Layered</a:t>
                      </a:r>
                    </a:p>
                  </a:txBody>
                  <a:tcPr marL="54864" marR="54864" marT="18288" marB="18288">
                    <a:solidFill>
                      <a:srgbClr val="FFF8B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2E"/>
                          </a:solidFill>
                          <a:latin typeface="Aptos"/>
                        </a:rPr>
                        <a:t>Repair</a:t>
                      </a:r>
                    </a:p>
                  </a:txBody>
                  <a:tcPr marL="54864" marR="54864" marT="18288" marB="18288">
                    <a:solidFill>
                      <a:srgbClr val="FFF8B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2E"/>
                          </a:solidFill>
                          <a:latin typeface="Aptos"/>
                        </a:rPr>
                        <a:t>C</a:t>
                      </a:r>
                    </a:p>
                  </a:txBody>
                  <a:tcPr marL="54864" marR="54864" marT="18288" marB="18288">
                    <a:solidFill>
                      <a:srgbClr val="FFF8B8"/>
                    </a:solidFill>
                  </a:tcPr>
                </a:tc>
              </a:tr>
              <a:tr h="444398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1A1A2E"/>
                          </a:solidFill>
                          <a:latin typeface="Aptos"/>
                        </a:rPr>
                        <a:t>W-03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2E"/>
                          </a:solidFill>
                          <a:latin typeface="Aptos"/>
                        </a:rPr>
                        <a:t>Grove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2E"/>
                          </a:solidFill>
                          <a:latin typeface="Aptos"/>
                        </a:rPr>
                        <a:t>Board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2E"/>
                          </a:solidFill>
                          <a:latin typeface="Aptos"/>
                        </a:rPr>
                        <a:t>Packed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2E"/>
                          </a:solidFill>
                          <a:latin typeface="Aptos"/>
                        </a:rPr>
                        <a:t>Pass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2E"/>
                          </a:solidFill>
                          <a:latin typeface="Aptos"/>
                        </a:rPr>
                        <a:t>I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44398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1A1A2E"/>
                          </a:solidFill>
                          <a:latin typeface="Aptos"/>
                        </a:rPr>
                        <a:t>W-04</a:t>
                      </a:r>
                    </a:p>
                  </a:txBody>
                  <a:tcPr marL="54864" marR="54864" marT="18288" marB="18288">
                    <a:solidFill>
                      <a:srgbClr val="FFF8B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2E"/>
                          </a:solidFill>
                          <a:latin typeface="Aptos"/>
                        </a:rPr>
                        <a:t>Atlas</a:t>
                      </a:r>
                    </a:p>
                  </a:txBody>
                  <a:tcPr marL="54864" marR="54864" marT="18288" marB="18288">
                    <a:solidFill>
                      <a:srgbClr val="FFF8B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2E"/>
                          </a:solidFill>
                          <a:latin typeface="Aptos"/>
                        </a:rPr>
                        <a:t>Cards</a:t>
                      </a:r>
                    </a:p>
                  </a:txBody>
                  <a:tcPr marL="54864" marR="54864" marT="18288" marB="18288">
                    <a:solidFill>
                      <a:srgbClr val="FFF8B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2E"/>
                          </a:solidFill>
                          <a:latin typeface="Aptos"/>
                        </a:rPr>
                        <a:t>High</a:t>
                      </a:r>
                    </a:p>
                  </a:txBody>
                  <a:tcPr marL="54864" marR="54864" marT="18288" marB="18288">
                    <a:solidFill>
                      <a:srgbClr val="FFF8B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2E"/>
                          </a:solidFill>
                          <a:latin typeface="Aptos"/>
                        </a:rPr>
                        <a:t>Pass</a:t>
                      </a:r>
                    </a:p>
                  </a:txBody>
                  <a:tcPr marL="54864" marR="54864" marT="18288" marB="18288">
                    <a:solidFill>
                      <a:srgbClr val="FFF8B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2E"/>
                          </a:solidFill>
                          <a:latin typeface="Aptos"/>
                        </a:rPr>
                        <a:t>A</a:t>
                      </a:r>
                    </a:p>
                  </a:txBody>
                  <a:tcPr marL="54864" marR="54864" marT="18288" marB="18288">
                    <a:solidFill>
                      <a:srgbClr val="FFF8B8"/>
                    </a:solidFill>
                  </a:tcPr>
                </a:tc>
              </a:tr>
              <a:tr h="444398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1A1A2E"/>
                          </a:solidFill>
                          <a:latin typeface="Aptos"/>
                        </a:rPr>
                        <a:t>W-05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2E"/>
                          </a:solidFill>
                          <a:latin typeface="Aptos"/>
                        </a:rPr>
                        <a:t>Ember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2E"/>
                          </a:solidFill>
                          <a:latin typeface="Aptos"/>
                        </a:rPr>
                        <a:t>Mesh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2E"/>
                          </a:solidFill>
                          <a:latin typeface="Aptos"/>
                        </a:rPr>
                        <a:t>Dense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2E"/>
                          </a:solidFill>
                          <a:latin typeface="Aptos"/>
                        </a:rPr>
                        <a:t>Watch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2E"/>
                          </a:solidFill>
                          <a:latin typeface="Aptos"/>
                        </a:rPr>
                        <a:t>R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44398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1A1A2E"/>
                          </a:solidFill>
                          <a:latin typeface="Aptos"/>
                        </a:rPr>
                        <a:t>W-06</a:t>
                      </a:r>
                    </a:p>
                  </a:txBody>
                  <a:tcPr marL="54864" marR="54864" marT="18288" marB="18288">
                    <a:solidFill>
                      <a:srgbClr val="FFF8B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2E"/>
                          </a:solidFill>
                          <a:latin typeface="Aptos"/>
                        </a:rPr>
                        <a:t>Signal</a:t>
                      </a:r>
                    </a:p>
                  </a:txBody>
                  <a:tcPr marL="54864" marR="54864" marT="18288" marB="18288">
                    <a:solidFill>
                      <a:srgbClr val="FFF8B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2E"/>
                          </a:solidFill>
                          <a:latin typeface="Aptos"/>
                        </a:rPr>
                        <a:t>Matrix</a:t>
                      </a:r>
                    </a:p>
                  </a:txBody>
                  <a:tcPr marL="54864" marR="54864" marT="18288" marB="18288">
                    <a:solidFill>
                      <a:srgbClr val="FFF8B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2E"/>
                          </a:solidFill>
                          <a:latin typeface="Aptos"/>
                        </a:rPr>
                        <a:t>Layered</a:t>
                      </a:r>
                    </a:p>
                  </a:txBody>
                  <a:tcPr marL="54864" marR="54864" marT="18288" marB="18288">
                    <a:solidFill>
                      <a:srgbClr val="FFF8B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2E"/>
                          </a:solidFill>
                          <a:latin typeface="Aptos"/>
                        </a:rPr>
                        <a:t>Repair</a:t>
                      </a:r>
                    </a:p>
                  </a:txBody>
                  <a:tcPr marL="54864" marR="54864" marT="18288" marB="18288">
                    <a:solidFill>
                      <a:srgbClr val="FFF8B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2E"/>
                          </a:solidFill>
                          <a:latin typeface="Aptos"/>
                        </a:rPr>
                        <a:t>C</a:t>
                      </a:r>
                    </a:p>
                  </a:txBody>
                  <a:tcPr marL="54864" marR="54864" marT="18288" marB="18288">
                    <a:solidFill>
                      <a:srgbClr val="FFF8B8"/>
                    </a:solidFill>
                  </a:tcPr>
                </a:tc>
              </a:tr>
              <a:tr h="444398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1A1A2E"/>
                          </a:solidFill>
                          <a:latin typeface="Aptos"/>
                        </a:rPr>
                        <a:t>W-07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2E"/>
                          </a:solidFill>
                          <a:latin typeface="Aptos"/>
                        </a:rPr>
                        <a:t>Grove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2E"/>
                          </a:solidFill>
                          <a:latin typeface="Aptos"/>
                        </a:rPr>
                        <a:t>Board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2E"/>
                          </a:solidFill>
                          <a:latin typeface="Aptos"/>
                        </a:rPr>
                        <a:t>Packed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2E"/>
                          </a:solidFill>
                          <a:latin typeface="Aptos"/>
                        </a:rPr>
                        <a:t>Pass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2E"/>
                          </a:solidFill>
                          <a:latin typeface="Aptos"/>
                        </a:rPr>
                        <a:t>I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44398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1A1A2E"/>
                          </a:solidFill>
                          <a:latin typeface="Aptos"/>
                        </a:rPr>
                        <a:t>W-08</a:t>
                      </a:r>
                    </a:p>
                  </a:txBody>
                  <a:tcPr marL="54864" marR="54864" marT="18288" marB="18288">
                    <a:solidFill>
                      <a:srgbClr val="FFF8B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2E"/>
                          </a:solidFill>
                          <a:latin typeface="Aptos"/>
                        </a:rPr>
                        <a:t>Atlas</a:t>
                      </a:r>
                    </a:p>
                  </a:txBody>
                  <a:tcPr marL="54864" marR="54864" marT="18288" marB="18288">
                    <a:solidFill>
                      <a:srgbClr val="FFF8B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2E"/>
                          </a:solidFill>
                          <a:latin typeface="Aptos"/>
                        </a:rPr>
                        <a:t>Cards</a:t>
                      </a:r>
                    </a:p>
                  </a:txBody>
                  <a:tcPr marL="54864" marR="54864" marT="18288" marB="18288">
                    <a:solidFill>
                      <a:srgbClr val="FFF8B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2E"/>
                          </a:solidFill>
                          <a:latin typeface="Aptos"/>
                        </a:rPr>
                        <a:t>High</a:t>
                      </a:r>
                    </a:p>
                  </a:txBody>
                  <a:tcPr marL="54864" marR="54864" marT="18288" marB="18288">
                    <a:solidFill>
                      <a:srgbClr val="FFF8B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2E"/>
                          </a:solidFill>
                          <a:latin typeface="Aptos"/>
                        </a:rPr>
                        <a:t>Pass</a:t>
                      </a:r>
                    </a:p>
                  </a:txBody>
                  <a:tcPr marL="54864" marR="54864" marT="18288" marB="18288">
                    <a:solidFill>
                      <a:srgbClr val="FFF8B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2E"/>
                          </a:solidFill>
                          <a:latin typeface="Aptos"/>
                        </a:rPr>
                        <a:t>A</a:t>
                      </a:r>
                    </a:p>
                  </a:txBody>
                  <a:tcPr marL="54864" marR="54864" marT="18288" marB="18288">
                    <a:solidFill>
                      <a:srgbClr val="FFF8B8"/>
                    </a:solidFill>
                  </a:tcPr>
                </a:tc>
              </a:tr>
              <a:tr h="444402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1A1A2E"/>
                          </a:solidFill>
                          <a:latin typeface="Aptos"/>
                        </a:rPr>
                        <a:t>W-09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2E"/>
                          </a:solidFill>
                          <a:latin typeface="Aptos"/>
                        </a:rPr>
                        <a:t>Ember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2E"/>
                          </a:solidFill>
                          <a:latin typeface="Aptos"/>
                        </a:rPr>
                        <a:t>Mesh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2E"/>
                          </a:solidFill>
                          <a:latin typeface="Aptos"/>
                        </a:rPr>
                        <a:t>Dense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2E"/>
                          </a:solidFill>
                          <a:latin typeface="Aptos"/>
                        </a:rPr>
                        <a:t>Watch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2E"/>
                          </a:solidFill>
                          <a:latin typeface="Aptos"/>
                        </a:rPr>
                        <a:t>R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flow-0"/>
          <p:cNvSpPr/>
          <p:nvPr/>
        </p:nvSpPr>
        <p:spPr>
          <a:xfrm>
            <a:off x="457200" y="5742432"/>
            <a:ext cx="1600200" cy="3840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low-1"/>
          <p:cNvSpPr/>
          <p:nvPr/>
        </p:nvSpPr>
        <p:spPr>
          <a:xfrm>
            <a:off x="2350008" y="5742432"/>
            <a:ext cx="1600200" cy="3840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8FF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low-2"/>
          <p:cNvSpPr/>
          <p:nvPr/>
        </p:nvSpPr>
        <p:spPr>
          <a:xfrm>
            <a:off x="4242816" y="5742432"/>
            <a:ext cx="1600200" cy="3840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flow-3"/>
          <p:cNvSpPr/>
          <p:nvPr/>
        </p:nvSpPr>
        <p:spPr>
          <a:xfrm>
            <a:off x="6135624" y="5742432"/>
            <a:ext cx="1600200" cy="3840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E6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low-4"/>
          <p:cNvSpPr/>
          <p:nvPr/>
        </p:nvSpPr>
        <p:spPr>
          <a:xfrm>
            <a:off x="8028431" y="5742432"/>
            <a:ext cx="1600200" cy="3840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low-5"/>
          <p:cNvSpPr/>
          <p:nvPr/>
        </p:nvSpPr>
        <p:spPr>
          <a:xfrm>
            <a:off x="9921240" y="5742432"/>
            <a:ext cx="1600200" cy="3840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profile-tag"/>
          <p:cNvSpPr txBox="1"/>
          <p:nvPr/>
        </p:nvSpPr>
        <p:spPr>
          <a:xfrm>
            <a:off x="457200" y="201168"/>
            <a:ext cx="768096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1" lang="en-US">
                <a:solidFill>
                  <a:srgbClr val="1A1A2E"/>
                </a:solidFill>
                <a:latin typeface="Aptos"/>
              </a:rPr>
              <a:t>V3 STRESS SUITE  ·  BENTO GRID  ·  OPERATING MATRIX</a:t>
            </a:r>
          </a:p>
        </p:txBody>
      </p:sp>
      <p:sp>
        <p:nvSpPr>
          <p:cNvPr id="28" name="slide-index"/>
          <p:cNvSpPr txBox="1"/>
          <p:nvPr/>
        </p:nvSpPr>
        <p:spPr>
          <a:xfrm>
            <a:off x="10808208" y="201168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00" b="1" lang="en-US">
                <a:solidFill>
                  <a:srgbClr val="4D4D66"/>
                </a:solidFill>
                <a:latin typeface="Aptos"/>
              </a:rPr>
              <a:t>13/60</a:t>
            </a:r>
          </a:p>
        </p:txBody>
      </p:sp>
      <p:sp>
        <p:nvSpPr>
          <p:cNvPr id="29" name="title"/>
          <p:cNvSpPr txBox="1"/>
          <p:nvPr/>
        </p:nvSpPr>
        <p:spPr>
          <a:xfrm>
            <a:off x="457200" y="484632"/>
            <a:ext cx="11274552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200" b="1" lang="en-US">
                <a:solidFill>
                  <a:srgbClr val="1A1A2E"/>
                </a:solidFill>
                <a:latin typeface="Aptos Display"/>
              </a:rPr>
              <a:t>Operating matrices make quality ownership visible at a glance</a:t>
            </a:r>
          </a:p>
        </p:txBody>
      </p:sp>
      <p:sp>
        <p:nvSpPr>
          <p:cNvPr id="30" name="footer"/>
          <p:cNvSpPr txBox="1"/>
          <p:nvPr/>
        </p:nvSpPr>
        <p:spPr>
          <a:xfrm>
            <a:off x="457200" y="6473952"/>
            <a:ext cx="1051560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0" lang="en-US">
                <a:solidFill>
                  <a:srgbClr val="4D4D66"/>
                </a:solidFill>
                <a:latin typeface="Aptos"/>
              </a:rPr>
              <a:t>Native-object stress fixture · asymmetric modular cells with one navy anchor tile · editable geometry and recorded style lock</a:t>
            </a:r>
          </a:p>
        </p:txBody>
      </p:sp>
      <p:sp>
        <p:nvSpPr>
          <p:cNvPr id="31" name="matrix-rail-title"/>
          <p:cNvSpPr txBox="1"/>
          <p:nvPr/>
        </p:nvSpPr>
        <p:spPr>
          <a:xfrm>
            <a:off x="9089136" y="1371600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1" lang="en-US">
                <a:solidFill>
                  <a:srgbClr val="1A1A2E"/>
                </a:solidFill>
                <a:latin typeface="Aptos"/>
              </a:rPr>
              <a:t>QUALITY RADAR</a:t>
            </a:r>
          </a:p>
        </p:txBody>
      </p:sp>
      <p:sp>
        <p:nvSpPr>
          <p:cNvPr id="32" name="radar-label-0"/>
          <p:cNvSpPr txBox="1"/>
          <p:nvPr/>
        </p:nvSpPr>
        <p:spPr>
          <a:xfrm>
            <a:off x="9893808" y="1737360"/>
            <a:ext cx="768096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4D4D66"/>
                </a:solidFill>
                <a:latin typeface="Aptos"/>
              </a:rPr>
              <a:t>Bounds</a:t>
            </a:r>
          </a:p>
        </p:txBody>
      </p:sp>
      <p:sp>
        <p:nvSpPr>
          <p:cNvPr id="33" name="radar-label-1"/>
          <p:cNvSpPr txBox="1"/>
          <p:nvPr/>
        </p:nvSpPr>
        <p:spPr>
          <a:xfrm>
            <a:off x="11120932" y="2446020"/>
            <a:ext cx="768096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4D4D66"/>
                </a:solidFill>
                <a:latin typeface="Aptos"/>
              </a:rPr>
              <a:t>Fonts</a:t>
            </a:r>
          </a:p>
        </p:txBody>
      </p:sp>
      <p:sp>
        <p:nvSpPr>
          <p:cNvPr id="34" name="radar-label-2"/>
          <p:cNvSpPr txBox="1"/>
          <p:nvPr/>
        </p:nvSpPr>
        <p:spPr>
          <a:xfrm>
            <a:off x="11120932" y="3863339"/>
            <a:ext cx="768096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4D4D66"/>
                </a:solidFill>
                <a:latin typeface="Aptos"/>
              </a:rPr>
              <a:t>Tables</a:t>
            </a:r>
          </a:p>
        </p:txBody>
      </p:sp>
      <p:sp>
        <p:nvSpPr>
          <p:cNvPr id="35" name="radar-label-3"/>
          <p:cNvSpPr txBox="1"/>
          <p:nvPr/>
        </p:nvSpPr>
        <p:spPr>
          <a:xfrm>
            <a:off x="9893808" y="4572000"/>
            <a:ext cx="768096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4D4D66"/>
                </a:solidFill>
                <a:latin typeface="Aptos"/>
              </a:rPr>
              <a:t>Contrast</a:t>
            </a:r>
          </a:p>
        </p:txBody>
      </p:sp>
      <p:sp>
        <p:nvSpPr>
          <p:cNvPr id="36" name="radar-label-4"/>
          <p:cNvSpPr txBox="1"/>
          <p:nvPr/>
        </p:nvSpPr>
        <p:spPr>
          <a:xfrm>
            <a:off x="8666683" y="3863339"/>
            <a:ext cx="768096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4D4D66"/>
                </a:solidFill>
                <a:latin typeface="Aptos"/>
              </a:rPr>
              <a:t>Order</a:t>
            </a:r>
          </a:p>
        </p:txBody>
      </p:sp>
      <p:sp>
        <p:nvSpPr>
          <p:cNvPr id="37" name="radar-label-5"/>
          <p:cNvSpPr txBox="1"/>
          <p:nvPr/>
        </p:nvSpPr>
        <p:spPr>
          <a:xfrm>
            <a:off x="8666683" y="2446020"/>
            <a:ext cx="768096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4D4D66"/>
                </a:solidFill>
                <a:latin typeface="Aptos"/>
              </a:rPr>
              <a:t>Style</a:t>
            </a:r>
          </a:p>
        </p:txBody>
      </p:sp>
      <p:sp>
        <p:nvSpPr>
          <p:cNvPr id="38" name="radar-point-0"/>
          <p:cNvSpPr/>
          <p:nvPr/>
        </p:nvSpPr>
        <p:spPr>
          <a:xfrm>
            <a:off x="10204704" y="2258568"/>
            <a:ext cx="146304" cy="146304"/>
          </a:xfrm>
          <a:prstGeom prst="ellipse">
            <a:avLst/>
          </a:prstGeom>
          <a:solidFill>
            <a:srgbClr val="4ECDC4"/>
          </a:solidFill>
          <a:ln w="1016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adar-point-1"/>
          <p:cNvSpPr/>
          <p:nvPr/>
        </p:nvSpPr>
        <p:spPr>
          <a:xfrm>
            <a:off x="10806379" y="2825496"/>
            <a:ext cx="146304" cy="146304"/>
          </a:xfrm>
          <a:prstGeom prst="ellipse">
            <a:avLst/>
          </a:prstGeom>
          <a:solidFill>
            <a:srgbClr val="4ECDC4"/>
          </a:solidFill>
          <a:ln w="1016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adar-point-2"/>
          <p:cNvSpPr/>
          <p:nvPr/>
        </p:nvSpPr>
        <p:spPr>
          <a:xfrm>
            <a:off x="11139220" y="3712463"/>
            <a:ext cx="146304" cy="146304"/>
          </a:xfrm>
          <a:prstGeom prst="ellipse">
            <a:avLst/>
          </a:prstGeom>
          <a:solidFill>
            <a:srgbClr val="4ECDC4"/>
          </a:solidFill>
          <a:ln w="1016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adar-point-3"/>
          <p:cNvSpPr/>
          <p:nvPr/>
        </p:nvSpPr>
        <p:spPr>
          <a:xfrm>
            <a:off x="10204704" y="3995928"/>
            <a:ext cx="146304" cy="146304"/>
          </a:xfrm>
          <a:prstGeom prst="ellipse">
            <a:avLst/>
          </a:prstGeom>
          <a:solidFill>
            <a:srgbClr val="4ECDC4"/>
          </a:solidFill>
          <a:ln w="1016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adar-point-4"/>
          <p:cNvSpPr/>
          <p:nvPr/>
        </p:nvSpPr>
        <p:spPr>
          <a:xfrm>
            <a:off x="9317736" y="3685032"/>
            <a:ext cx="146304" cy="146304"/>
          </a:xfrm>
          <a:prstGeom prst="ellipse">
            <a:avLst/>
          </a:prstGeom>
          <a:solidFill>
            <a:srgbClr val="4ECDC4"/>
          </a:solidFill>
          <a:ln w="1016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adar-point-5"/>
          <p:cNvSpPr/>
          <p:nvPr/>
        </p:nvSpPr>
        <p:spPr>
          <a:xfrm>
            <a:off x="9650577" y="2852928"/>
            <a:ext cx="146304" cy="146304"/>
          </a:xfrm>
          <a:prstGeom prst="ellipse">
            <a:avLst/>
          </a:prstGeom>
          <a:solidFill>
            <a:srgbClr val="4ECDC4"/>
          </a:solidFill>
          <a:ln w="1016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matrix-note"/>
          <p:cNvSpPr txBox="1"/>
          <p:nvPr/>
        </p:nvSpPr>
        <p:spPr>
          <a:xfrm>
            <a:off x="9089136" y="4800600"/>
            <a:ext cx="2267712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00" b="0" lang="en-US">
                <a:solidFill>
                  <a:srgbClr val="4D4D66"/>
                </a:solidFill>
                <a:latin typeface="Aptos"/>
              </a:rPr>
              <a:t>Editable table and quality geometry share one governed frame.</a:t>
            </a:r>
          </a:p>
        </p:txBody>
      </p:sp>
      <p:sp>
        <p:nvSpPr>
          <p:cNvPr id="45" name="flow-label-0"/>
          <p:cNvSpPr txBox="1"/>
          <p:nvPr/>
        </p:nvSpPr>
        <p:spPr>
          <a:xfrm>
            <a:off x="566928" y="5852160"/>
            <a:ext cx="137160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50" b="1" lang="en-US">
                <a:solidFill>
                  <a:srgbClr val="1A1A2E"/>
                </a:solidFill>
                <a:latin typeface="Aptos"/>
              </a:rPr>
              <a:t>Lock</a:t>
            </a:r>
          </a:p>
        </p:txBody>
      </p:sp>
      <p:sp>
        <p:nvSpPr>
          <p:cNvPr id="46" name="flow-label-1"/>
          <p:cNvSpPr txBox="1"/>
          <p:nvPr/>
        </p:nvSpPr>
        <p:spPr>
          <a:xfrm>
            <a:off x="2459736" y="5852160"/>
            <a:ext cx="137160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50" b="1" lang="en-US">
                <a:solidFill>
                  <a:srgbClr val="E8FF3B"/>
                </a:solidFill>
                <a:latin typeface="Aptos"/>
              </a:rPr>
              <a:t>Compose</a:t>
            </a:r>
          </a:p>
        </p:txBody>
      </p:sp>
      <p:sp>
        <p:nvSpPr>
          <p:cNvPr id="47" name="flow-label-2"/>
          <p:cNvSpPr txBox="1"/>
          <p:nvPr/>
        </p:nvSpPr>
        <p:spPr>
          <a:xfrm>
            <a:off x="4352544" y="5852160"/>
            <a:ext cx="137160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50" b="1" lang="en-US">
                <a:solidFill>
                  <a:srgbClr val="4ECDC4"/>
                </a:solidFill>
                <a:latin typeface="Aptos"/>
              </a:rPr>
              <a:t>Validate</a:t>
            </a:r>
          </a:p>
        </p:txBody>
      </p:sp>
      <p:sp>
        <p:nvSpPr>
          <p:cNvPr id="48" name="flow-label-3"/>
          <p:cNvSpPr txBox="1"/>
          <p:nvPr/>
        </p:nvSpPr>
        <p:spPr>
          <a:xfrm>
            <a:off x="6245352" y="5852160"/>
            <a:ext cx="137160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50" b="1" lang="en-US">
                <a:solidFill>
                  <a:srgbClr val="FFE66D"/>
                </a:solidFill>
                <a:latin typeface="Aptos"/>
              </a:rPr>
              <a:t>Render</a:t>
            </a:r>
          </a:p>
        </p:txBody>
      </p:sp>
      <p:sp>
        <p:nvSpPr>
          <p:cNvPr id="49" name="flow-label-4"/>
          <p:cNvSpPr txBox="1"/>
          <p:nvPr/>
        </p:nvSpPr>
        <p:spPr>
          <a:xfrm>
            <a:off x="8138160" y="5852160"/>
            <a:ext cx="137160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50" b="1" lang="en-US">
                <a:solidFill>
                  <a:srgbClr val="4ECDC4"/>
                </a:solidFill>
                <a:latin typeface="Aptos"/>
              </a:rPr>
              <a:t>Inspect</a:t>
            </a:r>
          </a:p>
        </p:txBody>
      </p:sp>
      <p:sp>
        <p:nvSpPr>
          <p:cNvPr id="50" name="flow-label-5"/>
          <p:cNvSpPr txBox="1"/>
          <p:nvPr/>
        </p:nvSpPr>
        <p:spPr>
          <a:xfrm>
            <a:off x="10030968" y="5852160"/>
            <a:ext cx="137160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50" b="1" lang="en-US">
                <a:solidFill>
                  <a:srgbClr val="1A1A2E"/>
                </a:solidFill>
                <a:latin typeface="Aptos"/>
              </a:rPr>
              <a:t>Publish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2"/>
          </a:solidFill>
          <a:ln w="10160">
            <a:solidFill>
              <a:srgbClr val="F8F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op-band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A1A2E"/>
          </a:solidFill>
          <a:ln w="1016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ortfolio-0-shell"/>
          <p:cNvSpPr/>
          <p:nvPr/>
        </p:nvSpPr>
        <p:spPr>
          <a:xfrm>
            <a:off x="457200" y="1097280"/>
            <a:ext cx="23957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ortfolio-1-shell"/>
          <p:cNvSpPr/>
          <p:nvPr/>
        </p:nvSpPr>
        <p:spPr>
          <a:xfrm>
            <a:off x="3054096" y="1097280"/>
            <a:ext cx="23957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ortfolio-2-shell"/>
          <p:cNvSpPr/>
          <p:nvPr/>
        </p:nvSpPr>
        <p:spPr>
          <a:xfrm>
            <a:off x="5650992" y="1097280"/>
            <a:ext cx="23957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ortfolio-3-shell"/>
          <p:cNvSpPr/>
          <p:nvPr/>
        </p:nvSpPr>
        <p:spPr>
          <a:xfrm>
            <a:off x="457200" y="3429000"/>
            <a:ext cx="23957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ortfolio-4-shell"/>
          <p:cNvSpPr/>
          <p:nvPr/>
        </p:nvSpPr>
        <p:spPr>
          <a:xfrm>
            <a:off x="3054096" y="3429000"/>
            <a:ext cx="23957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ortfolio-5-shell"/>
          <p:cNvSpPr/>
          <p:nvPr/>
        </p:nvSpPr>
        <p:spPr>
          <a:xfrm>
            <a:off x="5650992" y="3429000"/>
            <a:ext cx="23957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ortfolio-rail-shell"/>
          <p:cNvSpPr/>
          <p:nvPr/>
        </p:nvSpPr>
        <p:spPr>
          <a:xfrm>
            <a:off x="8458200" y="1097280"/>
            <a:ext cx="3273552" cy="4892040"/>
          </a:xfrm>
          <a:prstGeom prst="roundRect">
            <a:avLst/>
          </a:prstGeom>
          <a:solidFill>
            <a:srgbClr val="FFF8B8"/>
          </a:solidFill>
          <a:ln w="10160">
            <a:solidFill>
              <a:srgbClr val="D9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portfolio-0-accent"/>
          <p:cNvSpPr/>
          <p:nvPr/>
        </p:nvSpPr>
        <p:spPr>
          <a:xfrm>
            <a:off x="457200" y="1097280"/>
            <a:ext cx="73152" cy="2057400"/>
          </a:xfrm>
          <a:prstGeom prst="rect">
            <a:avLst/>
          </a:prstGeom>
          <a:solidFill>
            <a:srgbClr val="1A1A2E"/>
          </a:solidFill>
          <a:ln w="1016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portfolio-1-accent"/>
          <p:cNvSpPr/>
          <p:nvPr/>
        </p:nvSpPr>
        <p:spPr>
          <a:xfrm>
            <a:off x="3054096" y="1097280"/>
            <a:ext cx="73152" cy="2057400"/>
          </a:xfrm>
          <a:prstGeom prst="rect">
            <a:avLst/>
          </a:prstGeom>
          <a:solidFill>
            <a:srgbClr val="1A1A2E"/>
          </a:solidFill>
          <a:ln w="1016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ortfolio-2-accent"/>
          <p:cNvSpPr/>
          <p:nvPr/>
        </p:nvSpPr>
        <p:spPr>
          <a:xfrm>
            <a:off x="5650992" y="1097280"/>
            <a:ext cx="73152" cy="2057400"/>
          </a:xfrm>
          <a:prstGeom prst="rect">
            <a:avLst/>
          </a:prstGeom>
          <a:solidFill>
            <a:srgbClr val="1A1A2E"/>
          </a:solidFill>
          <a:ln w="1016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ortfolio-3-accent"/>
          <p:cNvSpPr/>
          <p:nvPr/>
        </p:nvSpPr>
        <p:spPr>
          <a:xfrm>
            <a:off x="457200" y="3429000"/>
            <a:ext cx="73152" cy="2057400"/>
          </a:xfrm>
          <a:prstGeom prst="rect">
            <a:avLst/>
          </a:prstGeom>
          <a:solidFill>
            <a:srgbClr val="1A1A2E"/>
          </a:solidFill>
          <a:ln w="1016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portfolio-4-accent"/>
          <p:cNvSpPr/>
          <p:nvPr/>
        </p:nvSpPr>
        <p:spPr>
          <a:xfrm>
            <a:off x="3054096" y="3429000"/>
            <a:ext cx="73152" cy="2057400"/>
          </a:xfrm>
          <a:prstGeom prst="rect">
            <a:avLst/>
          </a:prstGeom>
          <a:solidFill>
            <a:srgbClr val="1A1A2E"/>
          </a:solidFill>
          <a:ln w="1016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portfolio-5-accent"/>
          <p:cNvSpPr/>
          <p:nvPr/>
        </p:nvSpPr>
        <p:spPr>
          <a:xfrm>
            <a:off x="5650992" y="3429000"/>
            <a:ext cx="73152" cy="2057400"/>
          </a:xfrm>
          <a:prstGeom prst="rect">
            <a:avLst/>
          </a:prstGeom>
          <a:solidFill>
            <a:srgbClr val="1A1A2E"/>
          </a:solidFill>
          <a:ln w="1016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portfolio-rail-accent"/>
          <p:cNvSpPr/>
          <p:nvPr/>
        </p:nvSpPr>
        <p:spPr>
          <a:xfrm>
            <a:off x="8458200" y="1097280"/>
            <a:ext cx="73152" cy="4892040"/>
          </a:xfrm>
          <a:prstGeom prst="rect">
            <a:avLst/>
          </a:prstGeom>
          <a:solidFill>
            <a:srgbClr val="1A1A2E"/>
          </a:solidFill>
          <a:ln w="1016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portfolio-micro-0-0"/>
          <p:cNvSpPr/>
          <p:nvPr/>
        </p:nvSpPr>
        <p:spPr>
          <a:xfrm>
            <a:off x="676656" y="2139696"/>
            <a:ext cx="859536" cy="256032"/>
          </a:xfrm>
          <a:prstGeom prst="roundRect">
            <a:avLst/>
          </a:prstGeom>
          <a:solidFill>
            <a:srgbClr val="FFF8B8"/>
          </a:solidFill>
          <a:ln w="1016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portfolio-micro-0-1"/>
          <p:cNvSpPr/>
          <p:nvPr/>
        </p:nvSpPr>
        <p:spPr>
          <a:xfrm>
            <a:off x="1664208" y="2139696"/>
            <a:ext cx="859536" cy="256032"/>
          </a:xfrm>
          <a:prstGeom prst="roundRect">
            <a:avLst/>
          </a:prstGeom>
          <a:solidFill>
            <a:srgbClr val="FFF8B8"/>
          </a:solidFill>
          <a:ln w="1016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portfolio-micro-0-2"/>
          <p:cNvSpPr/>
          <p:nvPr/>
        </p:nvSpPr>
        <p:spPr>
          <a:xfrm>
            <a:off x="676656" y="2523744"/>
            <a:ext cx="859536" cy="256032"/>
          </a:xfrm>
          <a:prstGeom prst="roundRect">
            <a:avLst/>
          </a:prstGeom>
          <a:solidFill>
            <a:srgbClr val="FFF8B8"/>
          </a:solidFill>
          <a:ln w="1016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portfolio-micro-0-3"/>
          <p:cNvSpPr/>
          <p:nvPr/>
        </p:nvSpPr>
        <p:spPr>
          <a:xfrm>
            <a:off x="1664208" y="2523744"/>
            <a:ext cx="859536" cy="256032"/>
          </a:xfrm>
          <a:prstGeom prst="roundRect">
            <a:avLst/>
          </a:prstGeom>
          <a:solidFill>
            <a:srgbClr val="FFF8B8"/>
          </a:solidFill>
          <a:ln w="1016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portfolio-micro-1-0"/>
          <p:cNvSpPr/>
          <p:nvPr/>
        </p:nvSpPr>
        <p:spPr>
          <a:xfrm>
            <a:off x="3273552" y="2139696"/>
            <a:ext cx="859536" cy="256032"/>
          </a:xfrm>
          <a:prstGeom prst="roundRect">
            <a:avLst/>
          </a:prstGeom>
          <a:solidFill>
            <a:srgbClr val="FFF8B8"/>
          </a:solidFill>
          <a:ln w="10160">
            <a:solidFill>
              <a:srgbClr val="E8FF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portfolio-micro-1-1"/>
          <p:cNvSpPr/>
          <p:nvPr/>
        </p:nvSpPr>
        <p:spPr>
          <a:xfrm>
            <a:off x="4261104" y="2139696"/>
            <a:ext cx="859536" cy="256032"/>
          </a:xfrm>
          <a:prstGeom prst="roundRect">
            <a:avLst/>
          </a:prstGeom>
          <a:solidFill>
            <a:srgbClr val="FFF8B8"/>
          </a:solidFill>
          <a:ln w="10160">
            <a:solidFill>
              <a:srgbClr val="E8FF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portfolio-micro-1-2"/>
          <p:cNvSpPr/>
          <p:nvPr/>
        </p:nvSpPr>
        <p:spPr>
          <a:xfrm>
            <a:off x="3273552" y="2523744"/>
            <a:ext cx="859536" cy="256032"/>
          </a:xfrm>
          <a:prstGeom prst="roundRect">
            <a:avLst/>
          </a:prstGeom>
          <a:solidFill>
            <a:srgbClr val="FFF8B8"/>
          </a:solidFill>
          <a:ln w="10160">
            <a:solidFill>
              <a:srgbClr val="E8FF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portfolio-micro-1-3"/>
          <p:cNvSpPr/>
          <p:nvPr/>
        </p:nvSpPr>
        <p:spPr>
          <a:xfrm>
            <a:off x="4261104" y="2523744"/>
            <a:ext cx="859536" cy="256032"/>
          </a:xfrm>
          <a:prstGeom prst="roundRect">
            <a:avLst/>
          </a:prstGeom>
          <a:solidFill>
            <a:srgbClr val="FFF8B8"/>
          </a:solidFill>
          <a:ln w="10160">
            <a:solidFill>
              <a:srgbClr val="E8FF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portfolio-micro-2-0"/>
          <p:cNvSpPr/>
          <p:nvPr/>
        </p:nvSpPr>
        <p:spPr>
          <a:xfrm>
            <a:off x="5870448" y="2139696"/>
            <a:ext cx="859536" cy="256032"/>
          </a:xfrm>
          <a:prstGeom prst="roundRect">
            <a:avLst/>
          </a:prstGeom>
          <a:solidFill>
            <a:srgbClr val="FFF8B8"/>
          </a:solidFill>
          <a:ln w="1016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portfolio-micro-2-1"/>
          <p:cNvSpPr/>
          <p:nvPr/>
        </p:nvSpPr>
        <p:spPr>
          <a:xfrm>
            <a:off x="6858000" y="2139696"/>
            <a:ext cx="859536" cy="256032"/>
          </a:xfrm>
          <a:prstGeom prst="roundRect">
            <a:avLst/>
          </a:prstGeom>
          <a:solidFill>
            <a:srgbClr val="FFF8B8"/>
          </a:solidFill>
          <a:ln w="1016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portfolio-micro-2-2"/>
          <p:cNvSpPr/>
          <p:nvPr/>
        </p:nvSpPr>
        <p:spPr>
          <a:xfrm>
            <a:off x="5870448" y="2523744"/>
            <a:ext cx="859536" cy="256032"/>
          </a:xfrm>
          <a:prstGeom prst="roundRect">
            <a:avLst/>
          </a:prstGeom>
          <a:solidFill>
            <a:srgbClr val="FFF8B8"/>
          </a:solidFill>
          <a:ln w="1016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portfolio-micro-2-3"/>
          <p:cNvSpPr/>
          <p:nvPr/>
        </p:nvSpPr>
        <p:spPr>
          <a:xfrm>
            <a:off x="6858000" y="2523744"/>
            <a:ext cx="859536" cy="256032"/>
          </a:xfrm>
          <a:prstGeom prst="roundRect">
            <a:avLst/>
          </a:prstGeom>
          <a:solidFill>
            <a:srgbClr val="FFF8B8"/>
          </a:solidFill>
          <a:ln w="1016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portfolio-micro-3-0"/>
          <p:cNvSpPr/>
          <p:nvPr/>
        </p:nvSpPr>
        <p:spPr>
          <a:xfrm>
            <a:off x="676656" y="4471416"/>
            <a:ext cx="859536" cy="256032"/>
          </a:xfrm>
          <a:prstGeom prst="roundRect">
            <a:avLst/>
          </a:prstGeom>
          <a:solidFill>
            <a:srgbClr val="FFF8B8"/>
          </a:solidFill>
          <a:ln w="1016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portfolio-micro-3-1"/>
          <p:cNvSpPr/>
          <p:nvPr/>
        </p:nvSpPr>
        <p:spPr>
          <a:xfrm>
            <a:off x="1664208" y="4471416"/>
            <a:ext cx="859536" cy="256032"/>
          </a:xfrm>
          <a:prstGeom prst="roundRect">
            <a:avLst/>
          </a:prstGeom>
          <a:solidFill>
            <a:srgbClr val="FFF8B8"/>
          </a:solidFill>
          <a:ln w="1016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portfolio-micro-3-2"/>
          <p:cNvSpPr/>
          <p:nvPr/>
        </p:nvSpPr>
        <p:spPr>
          <a:xfrm>
            <a:off x="676656" y="4855464"/>
            <a:ext cx="859536" cy="256032"/>
          </a:xfrm>
          <a:prstGeom prst="roundRect">
            <a:avLst/>
          </a:prstGeom>
          <a:solidFill>
            <a:srgbClr val="FFF8B8"/>
          </a:solidFill>
          <a:ln w="1016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portfolio-micro-3-3"/>
          <p:cNvSpPr/>
          <p:nvPr/>
        </p:nvSpPr>
        <p:spPr>
          <a:xfrm>
            <a:off x="1664208" y="4855464"/>
            <a:ext cx="859536" cy="256032"/>
          </a:xfrm>
          <a:prstGeom prst="roundRect">
            <a:avLst/>
          </a:prstGeom>
          <a:solidFill>
            <a:srgbClr val="FFF8B8"/>
          </a:solidFill>
          <a:ln w="1016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portfolio-micro-4-0"/>
          <p:cNvSpPr/>
          <p:nvPr/>
        </p:nvSpPr>
        <p:spPr>
          <a:xfrm>
            <a:off x="3273552" y="4471416"/>
            <a:ext cx="859536" cy="256032"/>
          </a:xfrm>
          <a:prstGeom prst="roundRect">
            <a:avLst/>
          </a:prstGeom>
          <a:solidFill>
            <a:srgbClr val="FFF8B8"/>
          </a:solidFill>
          <a:ln w="10160">
            <a:solidFill>
              <a:srgbClr val="FFE6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portfolio-micro-4-1"/>
          <p:cNvSpPr/>
          <p:nvPr/>
        </p:nvSpPr>
        <p:spPr>
          <a:xfrm>
            <a:off x="4261104" y="4471416"/>
            <a:ext cx="859536" cy="256032"/>
          </a:xfrm>
          <a:prstGeom prst="roundRect">
            <a:avLst/>
          </a:prstGeom>
          <a:solidFill>
            <a:srgbClr val="FFF8B8"/>
          </a:solidFill>
          <a:ln w="10160">
            <a:solidFill>
              <a:srgbClr val="FFE6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portfolio-micro-4-2"/>
          <p:cNvSpPr/>
          <p:nvPr/>
        </p:nvSpPr>
        <p:spPr>
          <a:xfrm>
            <a:off x="3273552" y="4855464"/>
            <a:ext cx="859536" cy="256032"/>
          </a:xfrm>
          <a:prstGeom prst="roundRect">
            <a:avLst/>
          </a:prstGeom>
          <a:solidFill>
            <a:srgbClr val="FFF8B8"/>
          </a:solidFill>
          <a:ln w="10160">
            <a:solidFill>
              <a:srgbClr val="FFE6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portfolio-micro-4-3"/>
          <p:cNvSpPr/>
          <p:nvPr/>
        </p:nvSpPr>
        <p:spPr>
          <a:xfrm>
            <a:off x="4261104" y="4855464"/>
            <a:ext cx="859536" cy="256032"/>
          </a:xfrm>
          <a:prstGeom prst="roundRect">
            <a:avLst/>
          </a:prstGeom>
          <a:solidFill>
            <a:srgbClr val="FFF8B8"/>
          </a:solidFill>
          <a:ln w="10160">
            <a:solidFill>
              <a:srgbClr val="FFE6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portfolio-micro-5-0"/>
          <p:cNvSpPr/>
          <p:nvPr/>
        </p:nvSpPr>
        <p:spPr>
          <a:xfrm>
            <a:off x="5870448" y="4471416"/>
            <a:ext cx="859536" cy="256032"/>
          </a:xfrm>
          <a:prstGeom prst="roundRect">
            <a:avLst/>
          </a:prstGeom>
          <a:solidFill>
            <a:srgbClr val="FFF8B8"/>
          </a:solidFill>
          <a:ln w="1016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portfolio-micro-5-1"/>
          <p:cNvSpPr/>
          <p:nvPr/>
        </p:nvSpPr>
        <p:spPr>
          <a:xfrm>
            <a:off x="6858000" y="4471416"/>
            <a:ext cx="859536" cy="256032"/>
          </a:xfrm>
          <a:prstGeom prst="roundRect">
            <a:avLst/>
          </a:prstGeom>
          <a:solidFill>
            <a:srgbClr val="FFF8B8"/>
          </a:solidFill>
          <a:ln w="1016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portfolio-micro-5-2"/>
          <p:cNvSpPr/>
          <p:nvPr/>
        </p:nvSpPr>
        <p:spPr>
          <a:xfrm>
            <a:off x="5870448" y="4855464"/>
            <a:ext cx="859536" cy="256032"/>
          </a:xfrm>
          <a:prstGeom prst="roundRect">
            <a:avLst/>
          </a:prstGeom>
          <a:solidFill>
            <a:srgbClr val="FFF8B8"/>
          </a:solidFill>
          <a:ln w="1016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portfolio-micro-5-3"/>
          <p:cNvSpPr/>
          <p:nvPr/>
        </p:nvSpPr>
        <p:spPr>
          <a:xfrm>
            <a:off x="6858000" y="4855464"/>
            <a:ext cx="859536" cy="256032"/>
          </a:xfrm>
          <a:prstGeom prst="roundRect">
            <a:avLst/>
          </a:prstGeom>
          <a:solidFill>
            <a:srgbClr val="FFF8B8"/>
          </a:solidFill>
          <a:ln w="1016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lease-cell-0"/>
          <p:cNvSpPr/>
          <p:nvPr/>
        </p:nvSpPr>
        <p:spPr>
          <a:xfrm>
            <a:off x="8723376" y="1737360"/>
            <a:ext cx="2697480" cy="51206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lease-cell-1"/>
          <p:cNvSpPr/>
          <p:nvPr/>
        </p:nvSpPr>
        <p:spPr>
          <a:xfrm>
            <a:off x="8723376" y="2432304"/>
            <a:ext cx="2697480" cy="51206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lease-cell-2"/>
          <p:cNvSpPr/>
          <p:nvPr/>
        </p:nvSpPr>
        <p:spPr>
          <a:xfrm>
            <a:off x="8723376" y="3127248"/>
            <a:ext cx="2697480" cy="51206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lease-cell-3"/>
          <p:cNvSpPr/>
          <p:nvPr/>
        </p:nvSpPr>
        <p:spPr>
          <a:xfrm>
            <a:off x="8723376" y="3822191"/>
            <a:ext cx="2697480" cy="51206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lease-cell-4"/>
          <p:cNvSpPr/>
          <p:nvPr/>
        </p:nvSpPr>
        <p:spPr>
          <a:xfrm>
            <a:off x="8723376" y="4517136"/>
            <a:ext cx="2697480" cy="51206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portfolio-banner"/>
          <p:cNvSpPr/>
          <p:nvPr/>
        </p:nvSpPr>
        <p:spPr>
          <a:xfrm>
            <a:off x="457200" y="5559552"/>
            <a:ext cx="7882127" cy="438912"/>
          </a:xfrm>
          <a:prstGeom prst="roundRect">
            <a:avLst/>
          </a:prstGeom>
          <a:solidFill>
            <a:srgbClr val="1A1A2E"/>
          </a:solidFill>
          <a:ln w="1016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profile-tag"/>
          <p:cNvSpPr txBox="1"/>
          <p:nvPr/>
        </p:nvSpPr>
        <p:spPr>
          <a:xfrm>
            <a:off x="457200" y="201168"/>
            <a:ext cx="768096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1" lang="en-US">
                <a:solidFill>
                  <a:srgbClr val="1A1A2E"/>
                </a:solidFill>
                <a:latin typeface="Aptos"/>
              </a:rPr>
              <a:t>V3 STRESS SUITE  ·  BENTO GRID  ·  PORTFOLIO GRID</a:t>
            </a:r>
          </a:p>
        </p:txBody>
      </p:sp>
      <p:sp>
        <p:nvSpPr>
          <p:cNvPr id="49" name="slide-index"/>
          <p:cNvSpPr txBox="1"/>
          <p:nvPr/>
        </p:nvSpPr>
        <p:spPr>
          <a:xfrm>
            <a:off x="10808208" y="201168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00" b="1" lang="en-US">
                <a:solidFill>
                  <a:srgbClr val="4D4D66"/>
                </a:solidFill>
                <a:latin typeface="Aptos"/>
              </a:rPr>
              <a:t>14/60</a:t>
            </a:r>
          </a:p>
        </p:txBody>
      </p:sp>
      <p:sp>
        <p:nvSpPr>
          <p:cNvPr id="50" name="title"/>
          <p:cNvSpPr txBox="1"/>
          <p:nvPr/>
        </p:nvSpPr>
        <p:spPr>
          <a:xfrm>
            <a:off x="457200" y="484632"/>
            <a:ext cx="11274552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200" b="1" lang="en-US">
                <a:solidFill>
                  <a:srgbClr val="1A1A2E"/>
                </a:solidFill>
                <a:latin typeface="Aptos Display"/>
              </a:rPr>
              <a:t>Portfolio grids compress six validated capability views into one scan</a:t>
            </a:r>
          </a:p>
        </p:txBody>
      </p:sp>
      <p:sp>
        <p:nvSpPr>
          <p:cNvPr id="51" name="footer"/>
          <p:cNvSpPr txBox="1"/>
          <p:nvPr/>
        </p:nvSpPr>
        <p:spPr>
          <a:xfrm>
            <a:off x="457200" y="6473952"/>
            <a:ext cx="1051560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0" lang="en-US">
                <a:solidFill>
                  <a:srgbClr val="4D4D66"/>
                </a:solidFill>
                <a:latin typeface="Aptos"/>
              </a:rPr>
              <a:t>Native-object stress fixture · asymmetric modular cells with one navy anchor tile · editable geometry and recorded style lock</a:t>
            </a:r>
          </a:p>
        </p:txBody>
      </p:sp>
      <p:sp>
        <p:nvSpPr>
          <p:cNvPr id="52" name="portfolio-num-0"/>
          <p:cNvSpPr txBox="1"/>
          <p:nvPr/>
        </p:nvSpPr>
        <p:spPr>
          <a:xfrm>
            <a:off x="676656" y="1298448"/>
            <a:ext cx="566928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1" lang="en-US">
                <a:solidFill>
                  <a:srgbClr val="1A1A2E"/>
                </a:solidFill>
                <a:latin typeface="Aptos Display"/>
              </a:rPr>
              <a:t>01</a:t>
            </a:r>
          </a:p>
        </p:txBody>
      </p:sp>
      <p:sp>
        <p:nvSpPr>
          <p:cNvPr id="53" name="portfolio-name-0"/>
          <p:cNvSpPr txBox="1"/>
          <p:nvPr/>
        </p:nvSpPr>
        <p:spPr>
          <a:xfrm>
            <a:off x="676656" y="1719072"/>
            <a:ext cx="192024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50" b="1" lang="en-US">
                <a:solidFill>
                  <a:srgbClr val="1A1A2E"/>
                </a:solidFill>
                <a:latin typeface="Aptos"/>
              </a:rPr>
              <a:t>Profile lock</a:t>
            </a:r>
          </a:p>
        </p:txBody>
      </p:sp>
      <p:sp>
        <p:nvSpPr>
          <p:cNvPr id="54" name="portfolio-micro-label-0-0"/>
          <p:cNvSpPr txBox="1"/>
          <p:nvPr/>
        </p:nvSpPr>
        <p:spPr>
          <a:xfrm>
            <a:off x="722376" y="2208276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1A1A2E"/>
                </a:solidFill>
                <a:latin typeface="Aptos"/>
              </a:rPr>
              <a:t>spec</a:t>
            </a:r>
          </a:p>
        </p:txBody>
      </p:sp>
      <p:sp>
        <p:nvSpPr>
          <p:cNvPr id="55" name="portfolio-micro-label-0-1"/>
          <p:cNvSpPr txBox="1"/>
          <p:nvPr/>
        </p:nvSpPr>
        <p:spPr>
          <a:xfrm>
            <a:off x="1709928" y="2208276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1A1A2E"/>
                </a:solidFill>
                <a:latin typeface="Aptos"/>
              </a:rPr>
              <a:t>audit</a:t>
            </a:r>
          </a:p>
        </p:txBody>
      </p:sp>
      <p:sp>
        <p:nvSpPr>
          <p:cNvPr id="56" name="portfolio-micro-label-0-2"/>
          <p:cNvSpPr txBox="1"/>
          <p:nvPr/>
        </p:nvSpPr>
        <p:spPr>
          <a:xfrm>
            <a:off x="722376" y="2592324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1A1A2E"/>
                </a:solidFill>
                <a:latin typeface="Aptos"/>
              </a:rPr>
              <a:t>trace</a:t>
            </a:r>
          </a:p>
        </p:txBody>
      </p:sp>
      <p:sp>
        <p:nvSpPr>
          <p:cNvPr id="57" name="portfolio-micro-label-0-3"/>
          <p:cNvSpPr txBox="1"/>
          <p:nvPr/>
        </p:nvSpPr>
        <p:spPr>
          <a:xfrm>
            <a:off x="1709928" y="2592324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1A1A2E"/>
                </a:solidFill>
                <a:latin typeface="Aptos"/>
              </a:rPr>
              <a:t>pass</a:t>
            </a:r>
          </a:p>
        </p:txBody>
      </p:sp>
      <p:sp>
        <p:nvSpPr>
          <p:cNvPr id="58" name="portfolio-num-1"/>
          <p:cNvSpPr txBox="1"/>
          <p:nvPr/>
        </p:nvSpPr>
        <p:spPr>
          <a:xfrm>
            <a:off x="3273552" y="1298448"/>
            <a:ext cx="566928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1" lang="en-US">
                <a:solidFill>
                  <a:srgbClr val="E8FF3B"/>
                </a:solidFill>
                <a:latin typeface="Aptos Display"/>
              </a:rPr>
              <a:t>02</a:t>
            </a:r>
          </a:p>
        </p:txBody>
      </p:sp>
      <p:sp>
        <p:nvSpPr>
          <p:cNvPr id="59" name="portfolio-name-1"/>
          <p:cNvSpPr txBox="1"/>
          <p:nvPr/>
        </p:nvSpPr>
        <p:spPr>
          <a:xfrm>
            <a:off x="3273552" y="1719072"/>
            <a:ext cx="192024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50" b="1" lang="en-US">
                <a:solidFill>
                  <a:srgbClr val="1A1A2E"/>
                </a:solidFill>
                <a:latin typeface="Aptos"/>
              </a:rPr>
              <a:t>Narrative</a:t>
            </a:r>
          </a:p>
        </p:txBody>
      </p:sp>
      <p:sp>
        <p:nvSpPr>
          <p:cNvPr id="60" name="portfolio-micro-label-1-0"/>
          <p:cNvSpPr txBox="1"/>
          <p:nvPr/>
        </p:nvSpPr>
        <p:spPr>
          <a:xfrm>
            <a:off x="3319272" y="2208276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E8FF3B"/>
                </a:solidFill>
                <a:latin typeface="Aptos"/>
              </a:rPr>
              <a:t>spec</a:t>
            </a:r>
          </a:p>
        </p:txBody>
      </p:sp>
      <p:sp>
        <p:nvSpPr>
          <p:cNvPr id="61" name="portfolio-micro-label-1-1"/>
          <p:cNvSpPr txBox="1"/>
          <p:nvPr/>
        </p:nvSpPr>
        <p:spPr>
          <a:xfrm>
            <a:off x="4306824" y="2208276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E8FF3B"/>
                </a:solidFill>
                <a:latin typeface="Aptos"/>
              </a:rPr>
              <a:t>audit</a:t>
            </a:r>
          </a:p>
        </p:txBody>
      </p:sp>
      <p:sp>
        <p:nvSpPr>
          <p:cNvPr id="62" name="portfolio-micro-label-1-2"/>
          <p:cNvSpPr txBox="1"/>
          <p:nvPr/>
        </p:nvSpPr>
        <p:spPr>
          <a:xfrm>
            <a:off x="3319272" y="2592324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E8FF3B"/>
                </a:solidFill>
                <a:latin typeface="Aptos"/>
              </a:rPr>
              <a:t>trace</a:t>
            </a:r>
          </a:p>
        </p:txBody>
      </p:sp>
      <p:sp>
        <p:nvSpPr>
          <p:cNvPr id="63" name="portfolio-micro-label-1-3"/>
          <p:cNvSpPr txBox="1"/>
          <p:nvPr/>
        </p:nvSpPr>
        <p:spPr>
          <a:xfrm>
            <a:off x="4306824" y="2592324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E8FF3B"/>
                </a:solidFill>
                <a:latin typeface="Aptos"/>
              </a:rPr>
              <a:t>pass</a:t>
            </a:r>
          </a:p>
        </p:txBody>
      </p:sp>
      <p:sp>
        <p:nvSpPr>
          <p:cNvPr id="64" name="portfolio-num-2"/>
          <p:cNvSpPr txBox="1"/>
          <p:nvPr/>
        </p:nvSpPr>
        <p:spPr>
          <a:xfrm>
            <a:off x="5870448" y="1298448"/>
            <a:ext cx="566928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1" lang="en-US">
                <a:solidFill>
                  <a:srgbClr val="4ECDC4"/>
                </a:solidFill>
                <a:latin typeface="Aptos Display"/>
              </a:rPr>
              <a:t>03</a:t>
            </a:r>
          </a:p>
        </p:txBody>
      </p:sp>
      <p:sp>
        <p:nvSpPr>
          <p:cNvPr id="65" name="portfolio-name-2"/>
          <p:cNvSpPr txBox="1"/>
          <p:nvPr/>
        </p:nvSpPr>
        <p:spPr>
          <a:xfrm>
            <a:off x="5870448" y="1719072"/>
            <a:ext cx="192024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50" b="1" lang="en-US">
                <a:solidFill>
                  <a:srgbClr val="1A1A2E"/>
                </a:solidFill>
                <a:latin typeface="Aptos"/>
              </a:rPr>
              <a:t>Geometry</a:t>
            </a:r>
          </a:p>
        </p:txBody>
      </p:sp>
      <p:sp>
        <p:nvSpPr>
          <p:cNvPr id="66" name="portfolio-micro-label-2-0"/>
          <p:cNvSpPr txBox="1"/>
          <p:nvPr/>
        </p:nvSpPr>
        <p:spPr>
          <a:xfrm>
            <a:off x="5916168" y="2208276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4ECDC4"/>
                </a:solidFill>
                <a:latin typeface="Aptos"/>
              </a:rPr>
              <a:t>spec</a:t>
            </a:r>
          </a:p>
        </p:txBody>
      </p:sp>
      <p:sp>
        <p:nvSpPr>
          <p:cNvPr id="67" name="portfolio-micro-label-2-1"/>
          <p:cNvSpPr txBox="1"/>
          <p:nvPr/>
        </p:nvSpPr>
        <p:spPr>
          <a:xfrm>
            <a:off x="6903720" y="2208276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4ECDC4"/>
                </a:solidFill>
                <a:latin typeface="Aptos"/>
              </a:rPr>
              <a:t>audit</a:t>
            </a:r>
          </a:p>
        </p:txBody>
      </p:sp>
      <p:sp>
        <p:nvSpPr>
          <p:cNvPr id="68" name="portfolio-micro-label-2-2"/>
          <p:cNvSpPr txBox="1"/>
          <p:nvPr/>
        </p:nvSpPr>
        <p:spPr>
          <a:xfrm>
            <a:off x="5916168" y="2592324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4ECDC4"/>
                </a:solidFill>
                <a:latin typeface="Aptos"/>
              </a:rPr>
              <a:t>trace</a:t>
            </a:r>
          </a:p>
        </p:txBody>
      </p:sp>
      <p:sp>
        <p:nvSpPr>
          <p:cNvPr id="69" name="portfolio-micro-label-2-3"/>
          <p:cNvSpPr txBox="1"/>
          <p:nvPr/>
        </p:nvSpPr>
        <p:spPr>
          <a:xfrm>
            <a:off x="6903720" y="2592324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4ECDC4"/>
                </a:solidFill>
                <a:latin typeface="Aptos"/>
              </a:rPr>
              <a:t>pass</a:t>
            </a:r>
          </a:p>
        </p:txBody>
      </p:sp>
      <p:sp>
        <p:nvSpPr>
          <p:cNvPr id="70" name="portfolio-num-3"/>
          <p:cNvSpPr txBox="1"/>
          <p:nvPr/>
        </p:nvSpPr>
        <p:spPr>
          <a:xfrm>
            <a:off x="676656" y="3630168"/>
            <a:ext cx="566928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1" lang="en-US">
                <a:solidFill>
                  <a:srgbClr val="4ECDC4"/>
                </a:solidFill>
                <a:latin typeface="Aptos Display"/>
              </a:rPr>
              <a:t>04</a:t>
            </a:r>
          </a:p>
        </p:txBody>
      </p:sp>
      <p:sp>
        <p:nvSpPr>
          <p:cNvPr id="71" name="portfolio-name-3"/>
          <p:cNvSpPr txBox="1"/>
          <p:nvPr/>
        </p:nvSpPr>
        <p:spPr>
          <a:xfrm>
            <a:off x="676656" y="4050791"/>
            <a:ext cx="192024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50" b="1" lang="en-US">
                <a:solidFill>
                  <a:srgbClr val="1A1A2E"/>
                </a:solidFill>
                <a:latin typeface="Aptos"/>
              </a:rPr>
              <a:t>Visuals</a:t>
            </a:r>
          </a:p>
        </p:txBody>
      </p:sp>
      <p:sp>
        <p:nvSpPr>
          <p:cNvPr id="72" name="portfolio-micro-label-3-0"/>
          <p:cNvSpPr txBox="1"/>
          <p:nvPr/>
        </p:nvSpPr>
        <p:spPr>
          <a:xfrm>
            <a:off x="722376" y="4539996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4ECDC4"/>
                </a:solidFill>
                <a:latin typeface="Aptos"/>
              </a:rPr>
              <a:t>spec</a:t>
            </a:r>
          </a:p>
        </p:txBody>
      </p:sp>
      <p:sp>
        <p:nvSpPr>
          <p:cNvPr id="73" name="portfolio-micro-label-3-1"/>
          <p:cNvSpPr txBox="1"/>
          <p:nvPr/>
        </p:nvSpPr>
        <p:spPr>
          <a:xfrm>
            <a:off x="1709928" y="4539996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4ECDC4"/>
                </a:solidFill>
                <a:latin typeface="Aptos"/>
              </a:rPr>
              <a:t>audit</a:t>
            </a:r>
          </a:p>
        </p:txBody>
      </p:sp>
      <p:sp>
        <p:nvSpPr>
          <p:cNvPr id="74" name="portfolio-micro-label-3-2"/>
          <p:cNvSpPr txBox="1"/>
          <p:nvPr/>
        </p:nvSpPr>
        <p:spPr>
          <a:xfrm>
            <a:off x="722376" y="4924044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4ECDC4"/>
                </a:solidFill>
                <a:latin typeface="Aptos"/>
              </a:rPr>
              <a:t>trace</a:t>
            </a:r>
          </a:p>
        </p:txBody>
      </p:sp>
      <p:sp>
        <p:nvSpPr>
          <p:cNvPr id="75" name="portfolio-micro-label-3-3"/>
          <p:cNvSpPr txBox="1"/>
          <p:nvPr/>
        </p:nvSpPr>
        <p:spPr>
          <a:xfrm>
            <a:off x="1709928" y="4924044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4ECDC4"/>
                </a:solidFill>
                <a:latin typeface="Aptos"/>
              </a:rPr>
              <a:t>pass</a:t>
            </a:r>
          </a:p>
        </p:txBody>
      </p:sp>
      <p:sp>
        <p:nvSpPr>
          <p:cNvPr id="76" name="portfolio-num-4"/>
          <p:cNvSpPr txBox="1"/>
          <p:nvPr/>
        </p:nvSpPr>
        <p:spPr>
          <a:xfrm>
            <a:off x="3273552" y="3630168"/>
            <a:ext cx="566928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1" lang="en-US">
                <a:solidFill>
                  <a:srgbClr val="FFE66D"/>
                </a:solidFill>
                <a:latin typeface="Aptos Display"/>
              </a:rPr>
              <a:t>05</a:t>
            </a:r>
          </a:p>
        </p:txBody>
      </p:sp>
      <p:sp>
        <p:nvSpPr>
          <p:cNvPr id="77" name="portfolio-name-4"/>
          <p:cNvSpPr txBox="1"/>
          <p:nvPr/>
        </p:nvSpPr>
        <p:spPr>
          <a:xfrm>
            <a:off x="3273552" y="4050791"/>
            <a:ext cx="192024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50" b="1" lang="en-US">
                <a:solidFill>
                  <a:srgbClr val="1A1A2E"/>
                </a:solidFill>
                <a:latin typeface="Aptos"/>
              </a:rPr>
              <a:t>Accessibility</a:t>
            </a:r>
          </a:p>
        </p:txBody>
      </p:sp>
      <p:sp>
        <p:nvSpPr>
          <p:cNvPr id="78" name="portfolio-micro-label-4-0"/>
          <p:cNvSpPr txBox="1"/>
          <p:nvPr/>
        </p:nvSpPr>
        <p:spPr>
          <a:xfrm>
            <a:off x="3319272" y="4539996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FFE66D"/>
                </a:solidFill>
                <a:latin typeface="Aptos"/>
              </a:rPr>
              <a:t>spec</a:t>
            </a:r>
          </a:p>
        </p:txBody>
      </p:sp>
      <p:sp>
        <p:nvSpPr>
          <p:cNvPr id="79" name="portfolio-micro-label-4-1"/>
          <p:cNvSpPr txBox="1"/>
          <p:nvPr/>
        </p:nvSpPr>
        <p:spPr>
          <a:xfrm>
            <a:off x="4306824" y="4539996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FFE66D"/>
                </a:solidFill>
                <a:latin typeface="Aptos"/>
              </a:rPr>
              <a:t>audit</a:t>
            </a:r>
          </a:p>
        </p:txBody>
      </p:sp>
      <p:sp>
        <p:nvSpPr>
          <p:cNvPr id="80" name="portfolio-micro-label-4-2"/>
          <p:cNvSpPr txBox="1"/>
          <p:nvPr/>
        </p:nvSpPr>
        <p:spPr>
          <a:xfrm>
            <a:off x="3319272" y="4924044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FFE66D"/>
                </a:solidFill>
                <a:latin typeface="Aptos"/>
              </a:rPr>
              <a:t>trace</a:t>
            </a:r>
          </a:p>
        </p:txBody>
      </p:sp>
      <p:sp>
        <p:nvSpPr>
          <p:cNvPr id="81" name="portfolio-micro-label-4-3"/>
          <p:cNvSpPr txBox="1"/>
          <p:nvPr/>
        </p:nvSpPr>
        <p:spPr>
          <a:xfrm>
            <a:off x="4306824" y="4924044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FFE66D"/>
                </a:solidFill>
                <a:latin typeface="Aptos"/>
              </a:rPr>
              <a:t>pass</a:t>
            </a:r>
          </a:p>
        </p:txBody>
      </p:sp>
      <p:sp>
        <p:nvSpPr>
          <p:cNvPr id="82" name="portfolio-num-5"/>
          <p:cNvSpPr txBox="1"/>
          <p:nvPr/>
        </p:nvSpPr>
        <p:spPr>
          <a:xfrm>
            <a:off x="5870448" y="3630168"/>
            <a:ext cx="566928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1" lang="en-US">
                <a:solidFill>
                  <a:srgbClr val="FF6B6B"/>
                </a:solidFill>
                <a:latin typeface="Aptos Display"/>
              </a:rPr>
              <a:t>06</a:t>
            </a:r>
          </a:p>
        </p:txBody>
      </p:sp>
      <p:sp>
        <p:nvSpPr>
          <p:cNvPr id="83" name="portfolio-name-5"/>
          <p:cNvSpPr txBox="1"/>
          <p:nvPr/>
        </p:nvSpPr>
        <p:spPr>
          <a:xfrm>
            <a:off x="5870448" y="4050791"/>
            <a:ext cx="192024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50" b="1" lang="en-US">
                <a:solidFill>
                  <a:srgbClr val="1A1A2E"/>
                </a:solidFill>
                <a:latin typeface="Aptos"/>
              </a:rPr>
              <a:t>Package</a:t>
            </a:r>
          </a:p>
        </p:txBody>
      </p:sp>
      <p:sp>
        <p:nvSpPr>
          <p:cNvPr id="84" name="portfolio-micro-label-5-0"/>
          <p:cNvSpPr txBox="1"/>
          <p:nvPr/>
        </p:nvSpPr>
        <p:spPr>
          <a:xfrm>
            <a:off x="5916168" y="4539996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FF6B6B"/>
                </a:solidFill>
                <a:latin typeface="Aptos"/>
              </a:rPr>
              <a:t>spec</a:t>
            </a:r>
          </a:p>
        </p:txBody>
      </p:sp>
      <p:sp>
        <p:nvSpPr>
          <p:cNvPr id="85" name="portfolio-micro-label-5-1"/>
          <p:cNvSpPr txBox="1"/>
          <p:nvPr/>
        </p:nvSpPr>
        <p:spPr>
          <a:xfrm>
            <a:off x="6903720" y="4539996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FF6B6B"/>
                </a:solidFill>
                <a:latin typeface="Aptos"/>
              </a:rPr>
              <a:t>audit</a:t>
            </a:r>
          </a:p>
        </p:txBody>
      </p:sp>
      <p:sp>
        <p:nvSpPr>
          <p:cNvPr id="86" name="portfolio-micro-label-5-2"/>
          <p:cNvSpPr txBox="1"/>
          <p:nvPr/>
        </p:nvSpPr>
        <p:spPr>
          <a:xfrm>
            <a:off x="5916168" y="4924044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FF6B6B"/>
                </a:solidFill>
                <a:latin typeface="Aptos"/>
              </a:rPr>
              <a:t>trace</a:t>
            </a:r>
          </a:p>
        </p:txBody>
      </p:sp>
      <p:sp>
        <p:nvSpPr>
          <p:cNvPr id="87" name="portfolio-micro-label-5-3"/>
          <p:cNvSpPr txBox="1"/>
          <p:nvPr/>
        </p:nvSpPr>
        <p:spPr>
          <a:xfrm>
            <a:off x="6903720" y="4924044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FF6B6B"/>
                </a:solidFill>
                <a:latin typeface="Aptos"/>
              </a:rPr>
              <a:t>pass</a:t>
            </a:r>
          </a:p>
        </p:txBody>
      </p:sp>
      <p:sp>
        <p:nvSpPr>
          <p:cNvPr id="88" name="portfolio-rail-title"/>
          <p:cNvSpPr txBox="1"/>
          <p:nvPr/>
        </p:nvSpPr>
        <p:spPr>
          <a:xfrm>
            <a:off x="8723376" y="1325880"/>
            <a:ext cx="246888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1" lang="en-US">
                <a:solidFill>
                  <a:srgbClr val="1A1A2E"/>
                </a:solidFill>
                <a:latin typeface="Aptos"/>
              </a:rPr>
              <a:t>RELEASE BOARD</a:t>
            </a:r>
          </a:p>
        </p:txBody>
      </p:sp>
      <p:sp>
        <p:nvSpPr>
          <p:cNvPr id="89" name="release-label-0"/>
          <p:cNvSpPr txBox="1"/>
          <p:nvPr/>
        </p:nvSpPr>
        <p:spPr>
          <a:xfrm>
            <a:off x="8906256" y="1847088"/>
            <a:ext cx="137160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50" b="1" lang="en-US">
                <a:solidFill>
                  <a:srgbClr val="4D4D66"/>
                </a:solidFill>
                <a:latin typeface="Aptos"/>
              </a:rPr>
              <a:t>Layouts</a:t>
            </a:r>
          </a:p>
        </p:txBody>
      </p:sp>
      <p:sp>
        <p:nvSpPr>
          <p:cNvPr id="90" name="release-value-0"/>
          <p:cNvSpPr txBox="1"/>
          <p:nvPr/>
        </p:nvSpPr>
        <p:spPr>
          <a:xfrm>
            <a:off x="10378440" y="1828800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1100" b="1" lang="en-US">
                <a:solidFill>
                  <a:srgbClr val="1A1A2E"/>
                </a:solidFill>
                <a:latin typeface="Aptos"/>
              </a:rPr>
              <a:t>60</a:t>
            </a:r>
          </a:p>
        </p:txBody>
      </p:sp>
      <p:sp>
        <p:nvSpPr>
          <p:cNvPr id="91" name="release-label-1"/>
          <p:cNvSpPr txBox="1"/>
          <p:nvPr/>
        </p:nvSpPr>
        <p:spPr>
          <a:xfrm>
            <a:off x="8906256" y="2542032"/>
            <a:ext cx="137160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50" b="1" lang="en-US">
                <a:solidFill>
                  <a:srgbClr val="4D4D66"/>
                </a:solidFill>
                <a:latin typeface="Aptos"/>
              </a:rPr>
              <a:t>Profiles</a:t>
            </a:r>
          </a:p>
        </p:txBody>
      </p:sp>
      <p:sp>
        <p:nvSpPr>
          <p:cNvPr id="92" name="release-value-1"/>
          <p:cNvSpPr txBox="1"/>
          <p:nvPr/>
        </p:nvSpPr>
        <p:spPr>
          <a:xfrm>
            <a:off x="10378440" y="2523744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1100" b="1" lang="en-US">
                <a:solidFill>
                  <a:srgbClr val="E8FF3B"/>
                </a:solidFill>
                <a:latin typeface="Aptos"/>
              </a:rPr>
              <a:t>12</a:t>
            </a:r>
          </a:p>
        </p:txBody>
      </p:sp>
      <p:sp>
        <p:nvSpPr>
          <p:cNvPr id="93" name="release-label-2"/>
          <p:cNvSpPr txBox="1"/>
          <p:nvPr/>
        </p:nvSpPr>
        <p:spPr>
          <a:xfrm>
            <a:off x="8906256" y="3236976"/>
            <a:ext cx="137160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50" b="1" lang="en-US">
                <a:solidFill>
                  <a:srgbClr val="4D4D66"/>
                </a:solidFill>
                <a:latin typeface="Aptos"/>
              </a:rPr>
              <a:t>Gate checks</a:t>
            </a:r>
          </a:p>
        </p:txBody>
      </p:sp>
      <p:sp>
        <p:nvSpPr>
          <p:cNvPr id="94" name="release-value-2"/>
          <p:cNvSpPr txBox="1"/>
          <p:nvPr/>
        </p:nvSpPr>
        <p:spPr>
          <a:xfrm>
            <a:off x="10378440" y="3218688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1100" b="1" lang="en-US">
                <a:solidFill>
                  <a:srgbClr val="4ECDC4"/>
                </a:solidFill>
                <a:latin typeface="Aptos"/>
              </a:rPr>
              <a:t>11</a:t>
            </a:r>
          </a:p>
        </p:txBody>
      </p:sp>
      <p:sp>
        <p:nvSpPr>
          <p:cNvPr id="95" name="release-label-3"/>
          <p:cNvSpPr txBox="1"/>
          <p:nvPr/>
        </p:nvSpPr>
        <p:spPr>
          <a:xfrm>
            <a:off x="8906256" y="3931920"/>
            <a:ext cx="137160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50" b="1" lang="en-US">
                <a:solidFill>
                  <a:srgbClr val="4D4D66"/>
                </a:solidFill>
                <a:latin typeface="Aptos"/>
              </a:rPr>
              <a:t>Defects</a:t>
            </a:r>
          </a:p>
        </p:txBody>
      </p:sp>
      <p:sp>
        <p:nvSpPr>
          <p:cNvPr id="96" name="release-value-3"/>
          <p:cNvSpPr txBox="1"/>
          <p:nvPr/>
        </p:nvSpPr>
        <p:spPr>
          <a:xfrm>
            <a:off x="10378440" y="3913632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1100" b="1" lang="en-US">
                <a:solidFill>
                  <a:srgbClr val="4ECDC4"/>
                </a:solidFill>
                <a:latin typeface="Aptos"/>
              </a:rPr>
              <a:t>00</a:t>
            </a:r>
          </a:p>
        </p:txBody>
      </p:sp>
      <p:sp>
        <p:nvSpPr>
          <p:cNvPr id="97" name="release-label-4"/>
          <p:cNvSpPr txBox="1"/>
          <p:nvPr/>
        </p:nvSpPr>
        <p:spPr>
          <a:xfrm>
            <a:off x="8906256" y="4626864"/>
            <a:ext cx="137160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50" b="1" lang="en-US">
                <a:solidFill>
                  <a:srgbClr val="4D4D66"/>
                </a:solidFill>
                <a:latin typeface="Aptos"/>
              </a:rPr>
              <a:t>Evidence</a:t>
            </a:r>
          </a:p>
        </p:txBody>
      </p:sp>
      <p:sp>
        <p:nvSpPr>
          <p:cNvPr id="98" name="release-value-4"/>
          <p:cNvSpPr txBox="1"/>
          <p:nvPr/>
        </p:nvSpPr>
        <p:spPr>
          <a:xfrm>
            <a:off x="10378440" y="4608576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1100" b="1" lang="en-US">
                <a:solidFill>
                  <a:srgbClr val="FFE66D"/>
                </a:solidFill>
                <a:latin typeface="Aptos"/>
              </a:rPr>
              <a:t>native</a:t>
            </a:r>
          </a:p>
        </p:txBody>
      </p:sp>
      <p:sp>
        <p:nvSpPr>
          <p:cNvPr id="99" name="portfolio-banner-label"/>
          <p:cNvSpPr txBox="1"/>
          <p:nvPr/>
        </p:nvSpPr>
        <p:spPr>
          <a:xfrm>
            <a:off x="713232" y="5687568"/>
            <a:ext cx="740664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50" b="1" lang="en-US">
                <a:solidFill>
                  <a:srgbClr val="FFFFFF"/>
                </a:solidFill>
                <a:latin typeface="Aptos"/>
              </a:rPr>
              <a:t>Six dense tiles test nested cards, micro-labels, hierarchy, and high-information scanning.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2"/>
          </a:solidFill>
          <a:ln w="10160">
            <a:solidFill>
              <a:srgbClr val="F8F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op-band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A1A2E"/>
          </a:solidFill>
          <a:ln w="1016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lane-0"/>
          <p:cNvSpPr/>
          <p:nvPr/>
        </p:nvSpPr>
        <p:spPr>
          <a:xfrm>
            <a:off x="457200" y="1097280"/>
            <a:ext cx="8458200" cy="914400"/>
          </a:xfrm>
          <a:prstGeom prst="roundRect">
            <a:avLst/>
          </a:prstGeom>
          <a:solidFill>
            <a:srgbClr val="FFF8B8"/>
          </a:solidFill>
          <a:ln w="10160">
            <a:solidFill>
              <a:srgbClr val="D9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lane-1"/>
          <p:cNvSpPr/>
          <p:nvPr/>
        </p:nvSpPr>
        <p:spPr>
          <a:xfrm>
            <a:off x="457200" y="2267712"/>
            <a:ext cx="8458200" cy="914400"/>
          </a:xfrm>
          <a:prstGeom prst="roundRect">
            <a:avLst/>
          </a:prstGeom>
          <a:solidFill>
            <a:srgbClr val="FFF8B8"/>
          </a:solidFill>
          <a:ln w="10160">
            <a:solidFill>
              <a:srgbClr val="D9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lane-2"/>
          <p:cNvSpPr/>
          <p:nvPr/>
        </p:nvSpPr>
        <p:spPr>
          <a:xfrm>
            <a:off x="457200" y="3438144"/>
            <a:ext cx="8458200" cy="914400"/>
          </a:xfrm>
          <a:prstGeom prst="roundRect">
            <a:avLst/>
          </a:prstGeom>
          <a:solidFill>
            <a:srgbClr val="FFF8B8"/>
          </a:solidFill>
          <a:ln w="10160">
            <a:solidFill>
              <a:srgbClr val="D9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lane-3"/>
          <p:cNvSpPr/>
          <p:nvPr/>
        </p:nvSpPr>
        <p:spPr>
          <a:xfrm>
            <a:off x="457200" y="4608576"/>
            <a:ext cx="8458200" cy="914400"/>
          </a:xfrm>
          <a:prstGeom prst="roundRect">
            <a:avLst/>
          </a:prstGeom>
          <a:solidFill>
            <a:srgbClr val="FFF8B8"/>
          </a:solidFill>
          <a:ln w="10160">
            <a:solidFill>
              <a:srgbClr val="D9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workbench-rail-shell"/>
          <p:cNvSpPr/>
          <p:nvPr/>
        </p:nvSpPr>
        <p:spPr>
          <a:xfrm>
            <a:off x="9189720" y="1097280"/>
            <a:ext cx="2542032" cy="48920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lane-label-0"/>
          <p:cNvSpPr/>
          <p:nvPr/>
        </p:nvSpPr>
        <p:spPr>
          <a:xfrm>
            <a:off x="457200" y="1097280"/>
            <a:ext cx="1097280" cy="914400"/>
          </a:xfrm>
          <a:prstGeom prst="rect">
            <a:avLst/>
          </a:prstGeom>
          <a:solidFill>
            <a:srgbClr val="1A1A2E"/>
          </a:solidFill>
          <a:ln w="1016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lane-label-1"/>
          <p:cNvSpPr/>
          <p:nvPr/>
        </p:nvSpPr>
        <p:spPr>
          <a:xfrm>
            <a:off x="457200" y="2267712"/>
            <a:ext cx="1097280" cy="914400"/>
          </a:xfrm>
          <a:prstGeom prst="rect">
            <a:avLst/>
          </a:prstGeom>
          <a:solidFill>
            <a:srgbClr val="E8FF3B"/>
          </a:solidFill>
          <a:ln w="10160">
            <a:solidFill>
              <a:srgbClr val="E8FF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lane-label-2"/>
          <p:cNvSpPr/>
          <p:nvPr/>
        </p:nvSpPr>
        <p:spPr>
          <a:xfrm>
            <a:off x="457200" y="3438144"/>
            <a:ext cx="1097280" cy="914400"/>
          </a:xfrm>
          <a:prstGeom prst="rect">
            <a:avLst/>
          </a:prstGeom>
          <a:solidFill>
            <a:srgbClr val="4ECDC4"/>
          </a:solidFill>
          <a:ln w="1016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lane-label-3"/>
          <p:cNvSpPr/>
          <p:nvPr/>
        </p:nvSpPr>
        <p:spPr>
          <a:xfrm>
            <a:off x="457200" y="4608576"/>
            <a:ext cx="1097280" cy="914400"/>
          </a:xfrm>
          <a:prstGeom prst="rect">
            <a:avLst/>
          </a:prstGeom>
          <a:solidFill>
            <a:srgbClr val="4ECDC4"/>
          </a:solidFill>
          <a:ln w="1016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workbench-rail-accent"/>
          <p:cNvSpPr/>
          <p:nvPr/>
        </p:nvSpPr>
        <p:spPr>
          <a:xfrm>
            <a:off x="9189720" y="1097280"/>
            <a:ext cx="73152" cy="4892040"/>
          </a:xfrm>
          <a:prstGeom prst="rect">
            <a:avLst/>
          </a:prstGeom>
          <a:solidFill>
            <a:srgbClr val="1A1A2E"/>
          </a:solidFill>
          <a:ln w="1016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hart-axis"/>
          <p:cNvCxnSpPr/>
          <p:nvPr/>
        </p:nvCxnSpPr>
        <p:spPr>
          <a:xfrm>
            <a:off x="9400032" y="4718304"/>
            <a:ext cx="2048256" cy="0"/>
          </a:xfrm>
          <a:prstGeom prst="line">
            <a:avLst/>
          </a:prstGeom>
          <a:ln w="13970">
            <a:solidFill>
              <a:srgbClr val="D9D9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ask-0-0"/>
          <p:cNvSpPr/>
          <p:nvPr/>
        </p:nvSpPr>
        <p:spPr>
          <a:xfrm>
            <a:off x="1773936" y="1234440"/>
            <a:ext cx="1161288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ask-0-1"/>
          <p:cNvSpPr/>
          <p:nvPr/>
        </p:nvSpPr>
        <p:spPr>
          <a:xfrm>
            <a:off x="3127248" y="1234440"/>
            <a:ext cx="1161288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ask-0-2"/>
          <p:cNvSpPr/>
          <p:nvPr/>
        </p:nvSpPr>
        <p:spPr>
          <a:xfrm>
            <a:off x="4480560" y="1234440"/>
            <a:ext cx="1161288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ask-0-3"/>
          <p:cNvSpPr/>
          <p:nvPr/>
        </p:nvSpPr>
        <p:spPr>
          <a:xfrm>
            <a:off x="5833872" y="1234440"/>
            <a:ext cx="1161288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ask-0-4"/>
          <p:cNvSpPr/>
          <p:nvPr/>
        </p:nvSpPr>
        <p:spPr>
          <a:xfrm>
            <a:off x="7187184" y="1234440"/>
            <a:ext cx="1161288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ask-1-0"/>
          <p:cNvSpPr/>
          <p:nvPr/>
        </p:nvSpPr>
        <p:spPr>
          <a:xfrm>
            <a:off x="1773936" y="2404872"/>
            <a:ext cx="1161288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8FF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ask-1-1"/>
          <p:cNvSpPr/>
          <p:nvPr/>
        </p:nvSpPr>
        <p:spPr>
          <a:xfrm>
            <a:off x="3127248" y="2404872"/>
            <a:ext cx="1161288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8FF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ask-1-2"/>
          <p:cNvSpPr/>
          <p:nvPr/>
        </p:nvSpPr>
        <p:spPr>
          <a:xfrm>
            <a:off x="4480560" y="2404872"/>
            <a:ext cx="1161288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8FF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ask-1-3"/>
          <p:cNvSpPr/>
          <p:nvPr/>
        </p:nvSpPr>
        <p:spPr>
          <a:xfrm>
            <a:off x="5833872" y="2404872"/>
            <a:ext cx="1161288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8FF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ask-1-4"/>
          <p:cNvSpPr/>
          <p:nvPr/>
        </p:nvSpPr>
        <p:spPr>
          <a:xfrm>
            <a:off x="7187184" y="2404872"/>
            <a:ext cx="1161288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8FF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ask-2-0"/>
          <p:cNvSpPr/>
          <p:nvPr/>
        </p:nvSpPr>
        <p:spPr>
          <a:xfrm>
            <a:off x="1773936" y="3575304"/>
            <a:ext cx="1161288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ask-2-1"/>
          <p:cNvSpPr/>
          <p:nvPr/>
        </p:nvSpPr>
        <p:spPr>
          <a:xfrm>
            <a:off x="3127248" y="3575304"/>
            <a:ext cx="1161288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ask-2-2"/>
          <p:cNvSpPr/>
          <p:nvPr/>
        </p:nvSpPr>
        <p:spPr>
          <a:xfrm>
            <a:off x="4480560" y="3575304"/>
            <a:ext cx="1161288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ask-2-3"/>
          <p:cNvSpPr/>
          <p:nvPr/>
        </p:nvSpPr>
        <p:spPr>
          <a:xfrm>
            <a:off x="5833872" y="3575304"/>
            <a:ext cx="1161288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ask-2-4"/>
          <p:cNvSpPr/>
          <p:nvPr/>
        </p:nvSpPr>
        <p:spPr>
          <a:xfrm>
            <a:off x="7187184" y="3575304"/>
            <a:ext cx="1161288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ask-3-0"/>
          <p:cNvSpPr/>
          <p:nvPr/>
        </p:nvSpPr>
        <p:spPr>
          <a:xfrm>
            <a:off x="1773936" y="4745736"/>
            <a:ext cx="1161288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ask-3-1"/>
          <p:cNvSpPr/>
          <p:nvPr/>
        </p:nvSpPr>
        <p:spPr>
          <a:xfrm>
            <a:off x="3127248" y="4745736"/>
            <a:ext cx="1161288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ask-3-2"/>
          <p:cNvSpPr/>
          <p:nvPr/>
        </p:nvSpPr>
        <p:spPr>
          <a:xfrm>
            <a:off x="4480560" y="4745736"/>
            <a:ext cx="1161288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ask-3-3"/>
          <p:cNvSpPr/>
          <p:nvPr/>
        </p:nvSpPr>
        <p:spPr>
          <a:xfrm>
            <a:off x="5833872" y="4745736"/>
            <a:ext cx="1161288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ask-3-4"/>
          <p:cNvSpPr/>
          <p:nvPr/>
        </p:nvSpPr>
        <p:spPr>
          <a:xfrm>
            <a:off x="7187184" y="4745736"/>
            <a:ext cx="1161288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bar-0"/>
          <p:cNvSpPr/>
          <p:nvPr/>
        </p:nvSpPr>
        <p:spPr>
          <a:xfrm>
            <a:off x="9454896" y="3771900"/>
            <a:ext cx="155448" cy="946403"/>
          </a:xfrm>
          <a:prstGeom prst="roundRect">
            <a:avLst/>
          </a:prstGeom>
          <a:solidFill>
            <a:srgbClr val="1A1A2E"/>
          </a:solidFill>
          <a:ln w="1016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bar-1"/>
          <p:cNvSpPr/>
          <p:nvPr/>
        </p:nvSpPr>
        <p:spPr>
          <a:xfrm>
            <a:off x="9701784" y="3204057"/>
            <a:ext cx="155448" cy="1514246"/>
          </a:xfrm>
          <a:prstGeom prst="roundRect">
            <a:avLst/>
          </a:prstGeom>
          <a:solidFill>
            <a:srgbClr val="E8FF3B"/>
          </a:solidFill>
          <a:ln w="10160">
            <a:solidFill>
              <a:srgbClr val="E8FF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bar-2"/>
          <p:cNvSpPr/>
          <p:nvPr/>
        </p:nvSpPr>
        <p:spPr>
          <a:xfrm>
            <a:off x="9948672" y="3498494"/>
            <a:ext cx="155448" cy="1219809"/>
          </a:xfrm>
          <a:prstGeom prst="roundRect">
            <a:avLst/>
          </a:prstGeom>
          <a:solidFill>
            <a:srgbClr val="4ECDC4"/>
          </a:solidFill>
          <a:ln w="1016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bar-3"/>
          <p:cNvSpPr/>
          <p:nvPr/>
        </p:nvSpPr>
        <p:spPr>
          <a:xfrm>
            <a:off x="10195560" y="2909620"/>
            <a:ext cx="155448" cy="1808683"/>
          </a:xfrm>
          <a:prstGeom prst="roundRect">
            <a:avLst/>
          </a:prstGeom>
          <a:solidFill>
            <a:srgbClr val="4ECDC4"/>
          </a:solidFill>
          <a:ln w="1016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bar-4"/>
          <p:cNvSpPr/>
          <p:nvPr/>
        </p:nvSpPr>
        <p:spPr>
          <a:xfrm>
            <a:off x="10442448" y="3330244"/>
            <a:ext cx="155448" cy="1388059"/>
          </a:xfrm>
          <a:prstGeom prst="roundRect">
            <a:avLst/>
          </a:prstGeom>
          <a:solidFill>
            <a:srgbClr val="1A1A2E"/>
          </a:solidFill>
          <a:ln w="1016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bar-5"/>
          <p:cNvSpPr/>
          <p:nvPr/>
        </p:nvSpPr>
        <p:spPr>
          <a:xfrm>
            <a:off x="10689336" y="2783433"/>
            <a:ext cx="155448" cy="1934870"/>
          </a:xfrm>
          <a:prstGeom prst="roundRect">
            <a:avLst/>
          </a:prstGeom>
          <a:solidFill>
            <a:srgbClr val="E8FF3B"/>
          </a:solidFill>
          <a:ln w="10160">
            <a:solidFill>
              <a:srgbClr val="E8FF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bar-6"/>
          <p:cNvSpPr/>
          <p:nvPr/>
        </p:nvSpPr>
        <p:spPr>
          <a:xfrm>
            <a:off x="10936224" y="3119932"/>
            <a:ext cx="155448" cy="1598371"/>
          </a:xfrm>
          <a:prstGeom prst="roundRect">
            <a:avLst/>
          </a:prstGeom>
          <a:solidFill>
            <a:srgbClr val="4ECDC4"/>
          </a:solidFill>
          <a:ln w="1016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bar-7"/>
          <p:cNvSpPr/>
          <p:nvPr/>
        </p:nvSpPr>
        <p:spPr>
          <a:xfrm>
            <a:off x="11183112" y="3603650"/>
            <a:ext cx="155448" cy="1114653"/>
          </a:xfrm>
          <a:prstGeom prst="roundRect">
            <a:avLst/>
          </a:prstGeom>
          <a:solidFill>
            <a:srgbClr val="4ECDC4"/>
          </a:solidFill>
          <a:ln w="1016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check-dot-0"/>
          <p:cNvSpPr/>
          <p:nvPr/>
        </p:nvSpPr>
        <p:spPr>
          <a:xfrm>
            <a:off x="9436608" y="5321808"/>
            <a:ext cx="91440" cy="91440"/>
          </a:xfrm>
          <a:prstGeom prst="ellipse">
            <a:avLst/>
          </a:prstGeom>
          <a:solidFill>
            <a:srgbClr val="4ECDC4"/>
          </a:solidFill>
          <a:ln w="1016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check-dot-1"/>
          <p:cNvSpPr/>
          <p:nvPr/>
        </p:nvSpPr>
        <p:spPr>
          <a:xfrm>
            <a:off x="9436608" y="5486400"/>
            <a:ext cx="91440" cy="91440"/>
          </a:xfrm>
          <a:prstGeom prst="ellipse">
            <a:avLst/>
          </a:prstGeom>
          <a:solidFill>
            <a:srgbClr val="4ECDC4"/>
          </a:solidFill>
          <a:ln w="1016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check-dot-2"/>
          <p:cNvSpPr/>
          <p:nvPr/>
        </p:nvSpPr>
        <p:spPr>
          <a:xfrm>
            <a:off x="9436608" y="5650992"/>
            <a:ext cx="91440" cy="91440"/>
          </a:xfrm>
          <a:prstGeom prst="ellipse">
            <a:avLst/>
          </a:prstGeom>
          <a:solidFill>
            <a:srgbClr val="4ECDC4"/>
          </a:solidFill>
          <a:ln w="1016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check-dot-3"/>
          <p:cNvSpPr/>
          <p:nvPr/>
        </p:nvSpPr>
        <p:spPr>
          <a:xfrm>
            <a:off x="9436608" y="5815584"/>
            <a:ext cx="91440" cy="91440"/>
          </a:xfrm>
          <a:prstGeom prst="ellipse">
            <a:avLst/>
          </a:prstGeom>
          <a:solidFill>
            <a:srgbClr val="4ECDC4"/>
          </a:solidFill>
          <a:ln w="1016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profile-tag"/>
          <p:cNvSpPr txBox="1"/>
          <p:nvPr/>
        </p:nvSpPr>
        <p:spPr>
          <a:xfrm>
            <a:off x="457200" y="201168"/>
            <a:ext cx="768096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1" lang="en-US">
                <a:solidFill>
                  <a:srgbClr val="1A1A2E"/>
                </a:solidFill>
                <a:latin typeface="Aptos"/>
              </a:rPr>
              <a:t>V3 STRESS SUITE  ·  BENTO GRID  ·  DELIVERY WORKBENCH</a:t>
            </a:r>
          </a:p>
        </p:txBody>
      </p:sp>
      <p:sp>
        <p:nvSpPr>
          <p:cNvPr id="48" name="slide-index"/>
          <p:cNvSpPr txBox="1"/>
          <p:nvPr/>
        </p:nvSpPr>
        <p:spPr>
          <a:xfrm>
            <a:off x="10808208" y="201168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00" b="1" lang="en-US">
                <a:solidFill>
                  <a:srgbClr val="4D4D66"/>
                </a:solidFill>
                <a:latin typeface="Aptos"/>
              </a:rPr>
              <a:t>15/60</a:t>
            </a:r>
          </a:p>
        </p:txBody>
      </p:sp>
      <p:sp>
        <p:nvSpPr>
          <p:cNvPr id="49" name="title"/>
          <p:cNvSpPr txBox="1"/>
          <p:nvPr/>
        </p:nvSpPr>
        <p:spPr>
          <a:xfrm>
            <a:off x="457200" y="484632"/>
            <a:ext cx="11274552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200" b="1" lang="en-US">
                <a:solidFill>
                  <a:srgbClr val="1A1A2E"/>
                </a:solidFill>
                <a:latin typeface="Aptos Display"/>
              </a:rPr>
              <a:t>Delivery workbenches keep parallel work lanes legible under load</a:t>
            </a:r>
          </a:p>
        </p:txBody>
      </p:sp>
      <p:sp>
        <p:nvSpPr>
          <p:cNvPr id="50" name="footer"/>
          <p:cNvSpPr txBox="1"/>
          <p:nvPr/>
        </p:nvSpPr>
        <p:spPr>
          <a:xfrm>
            <a:off x="457200" y="6473952"/>
            <a:ext cx="1051560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0" lang="en-US">
                <a:solidFill>
                  <a:srgbClr val="4D4D66"/>
                </a:solidFill>
                <a:latin typeface="Aptos"/>
              </a:rPr>
              <a:t>Native-object stress fixture · asymmetric modular cells with one navy anchor tile · editable geometry and recorded style lock</a:t>
            </a:r>
          </a:p>
        </p:txBody>
      </p:sp>
      <p:sp>
        <p:nvSpPr>
          <p:cNvPr id="51" name="lane-name-0"/>
          <p:cNvSpPr txBox="1"/>
          <p:nvPr/>
        </p:nvSpPr>
        <p:spPr>
          <a:xfrm>
            <a:off x="566928" y="1444752"/>
            <a:ext cx="868680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lang="en-US">
                <a:solidFill>
                  <a:srgbClr val="FFFFFF"/>
                </a:solidFill>
                <a:latin typeface="Aptos"/>
              </a:rPr>
              <a:t>INTAKE</a:t>
            </a:r>
          </a:p>
        </p:txBody>
      </p:sp>
      <p:sp>
        <p:nvSpPr>
          <p:cNvPr id="52" name="task-title-0-0"/>
          <p:cNvSpPr txBox="1"/>
          <p:nvPr/>
        </p:nvSpPr>
        <p:spPr>
          <a:xfrm>
            <a:off x="1847088" y="1362456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1A1A2E"/>
                </a:solidFill>
                <a:latin typeface="Aptos"/>
              </a:rPr>
              <a:t>Scope</a:t>
            </a:r>
          </a:p>
        </p:txBody>
      </p:sp>
      <p:sp>
        <p:nvSpPr>
          <p:cNvPr id="53" name="task-state-0-0"/>
          <p:cNvSpPr txBox="1"/>
          <p:nvPr/>
        </p:nvSpPr>
        <p:spPr>
          <a:xfrm>
            <a:off x="1847088" y="1545336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1A1A2E"/>
                </a:solidFill>
                <a:latin typeface="Aptos"/>
              </a:rPr>
              <a:t>new</a:t>
            </a:r>
          </a:p>
        </p:txBody>
      </p:sp>
      <p:sp>
        <p:nvSpPr>
          <p:cNvPr id="54" name="task-title-0-1"/>
          <p:cNvSpPr txBox="1"/>
          <p:nvPr/>
        </p:nvSpPr>
        <p:spPr>
          <a:xfrm>
            <a:off x="3200400" y="1362456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1A1A2E"/>
                </a:solidFill>
                <a:latin typeface="Aptos"/>
              </a:rPr>
              <a:t>Profile</a:t>
            </a:r>
          </a:p>
        </p:txBody>
      </p:sp>
      <p:sp>
        <p:nvSpPr>
          <p:cNvPr id="55" name="task-state-0-1"/>
          <p:cNvSpPr txBox="1"/>
          <p:nvPr/>
        </p:nvSpPr>
        <p:spPr>
          <a:xfrm>
            <a:off x="3200400" y="1545336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1A1A2E"/>
                </a:solidFill>
                <a:latin typeface="Aptos"/>
              </a:rPr>
              <a:t>locked</a:t>
            </a:r>
          </a:p>
        </p:txBody>
      </p:sp>
      <p:sp>
        <p:nvSpPr>
          <p:cNvPr id="56" name="task-title-0-2"/>
          <p:cNvSpPr txBox="1"/>
          <p:nvPr/>
        </p:nvSpPr>
        <p:spPr>
          <a:xfrm>
            <a:off x="4553712" y="1362456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1A1A2E"/>
                </a:solidFill>
                <a:latin typeface="Aptos"/>
              </a:rPr>
              <a:t>Spec</a:t>
            </a:r>
          </a:p>
        </p:txBody>
      </p:sp>
      <p:sp>
        <p:nvSpPr>
          <p:cNvPr id="57" name="task-state-0-2"/>
          <p:cNvSpPr txBox="1"/>
          <p:nvPr/>
        </p:nvSpPr>
        <p:spPr>
          <a:xfrm>
            <a:off x="4553712" y="1545336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1A1A2E"/>
                </a:solidFill>
                <a:latin typeface="Aptos"/>
              </a:rPr>
              <a:t>ready</a:t>
            </a:r>
          </a:p>
        </p:txBody>
      </p:sp>
      <p:sp>
        <p:nvSpPr>
          <p:cNvPr id="58" name="task-title-0-3"/>
          <p:cNvSpPr txBox="1"/>
          <p:nvPr/>
        </p:nvSpPr>
        <p:spPr>
          <a:xfrm>
            <a:off x="5907024" y="1362456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1A1A2E"/>
                </a:solidFill>
                <a:latin typeface="Aptos"/>
              </a:rPr>
              <a:t>Audit</a:t>
            </a:r>
          </a:p>
        </p:txBody>
      </p:sp>
      <p:sp>
        <p:nvSpPr>
          <p:cNvPr id="59" name="task-state-0-3"/>
          <p:cNvSpPr txBox="1"/>
          <p:nvPr/>
        </p:nvSpPr>
        <p:spPr>
          <a:xfrm>
            <a:off x="5907024" y="1545336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1A1A2E"/>
                </a:solidFill>
                <a:latin typeface="Aptos"/>
              </a:rPr>
              <a:t>pass</a:t>
            </a:r>
          </a:p>
        </p:txBody>
      </p:sp>
      <p:sp>
        <p:nvSpPr>
          <p:cNvPr id="60" name="task-title-0-4"/>
          <p:cNvSpPr txBox="1"/>
          <p:nvPr/>
        </p:nvSpPr>
        <p:spPr>
          <a:xfrm>
            <a:off x="7260336" y="1362456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1A1A2E"/>
                </a:solidFill>
                <a:latin typeface="Aptos"/>
              </a:rPr>
              <a:t>Owner</a:t>
            </a:r>
          </a:p>
        </p:txBody>
      </p:sp>
      <p:sp>
        <p:nvSpPr>
          <p:cNvPr id="61" name="task-state-0-4"/>
          <p:cNvSpPr txBox="1"/>
          <p:nvPr/>
        </p:nvSpPr>
        <p:spPr>
          <a:xfrm>
            <a:off x="7260336" y="1545336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1A1A2E"/>
                </a:solidFill>
                <a:latin typeface="Aptos"/>
              </a:rPr>
              <a:t>assigned</a:t>
            </a:r>
          </a:p>
        </p:txBody>
      </p:sp>
      <p:sp>
        <p:nvSpPr>
          <p:cNvPr id="62" name="lane-name-1"/>
          <p:cNvSpPr txBox="1"/>
          <p:nvPr/>
        </p:nvSpPr>
        <p:spPr>
          <a:xfrm>
            <a:off x="566928" y="2615184"/>
            <a:ext cx="868680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lang="en-US">
                <a:solidFill>
                  <a:srgbClr val="111111"/>
                </a:solidFill>
                <a:latin typeface="Aptos"/>
              </a:rPr>
              <a:t>AUTHOR</a:t>
            </a:r>
          </a:p>
        </p:txBody>
      </p:sp>
      <p:sp>
        <p:nvSpPr>
          <p:cNvPr id="63" name="task-title-1-0"/>
          <p:cNvSpPr txBox="1"/>
          <p:nvPr/>
        </p:nvSpPr>
        <p:spPr>
          <a:xfrm>
            <a:off x="1847088" y="2532888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1A1A2E"/>
                </a:solidFill>
                <a:latin typeface="Aptos"/>
              </a:rPr>
              <a:t>Scope</a:t>
            </a:r>
          </a:p>
        </p:txBody>
      </p:sp>
      <p:sp>
        <p:nvSpPr>
          <p:cNvPr id="64" name="task-state-1-0"/>
          <p:cNvSpPr txBox="1"/>
          <p:nvPr/>
        </p:nvSpPr>
        <p:spPr>
          <a:xfrm>
            <a:off x="1847088" y="2715768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E8FF3B"/>
                </a:solidFill>
                <a:latin typeface="Aptos"/>
              </a:rPr>
              <a:t>locked</a:t>
            </a:r>
          </a:p>
        </p:txBody>
      </p:sp>
      <p:sp>
        <p:nvSpPr>
          <p:cNvPr id="65" name="task-title-1-1"/>
          <p:cNvSpPr txBox="1"/>
          <p:nvPr/>
        </p:nvSpPr>
        <p:spPr>
          <a:xfrm>
            <a:off x="3200400" y="2532888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1A1A2E"/>
                </a:solidFill>
                <a:latin typeface="Aptos"/>
              </a:rPr>
              <a:t>Profile</a:t>
            </a:r>
          </a:p>
        </p:txBody>
      </p:sp>
      <p:sp>
        <p:nvSpPr>
          <p:cNvPr id="66" name="task-state-1-1"/>
          <p:cNvSpPr txBox="1"/>
          <p:nvPr/>
        </p:nvSpPr>
        <p:spPr>
          <a:xfrm>
            <a:off x="3200400" y="2715768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E8FF3B"/>
                </a:solidFill>
                <a:latin typeface="Aptos"/>
              </a:rPr>
              <a:t>ready</a:t>
            </a:r>
          </a:p>
        </p:txBody>
      </p:sp>
      <p:sp>
        <p:nvSpPr>
          <p:cNvPr id="67" name="task-title-1-2"/>
          <p:cNvSpPr txBox="1"/>
          <p:nvPr/>
        </p:nvSpPr>
        <p:spPr>
          <a:xfrm>
            <a:off x="4553712" y="2532888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1A1A2E"/>
                </a:solidFill>
                <a:latin typeface="Aptos"/>
              </a:rPr>
              <a:t>Spec</a:t>
            </a:r>
          </a:p>
        </p:txBody>
      </p:sp>
      <p:sp>
        <p:nvSpPr>
          <p:cNvPr id="68" name="task-state-1-2"/>
          <p:cNvSpPr txBox="1"/>
          <p:nvPr/>
        </p:nvSpPr>
        <p:spPr>
          <a:xfrm>
            <a:off x="4553712" y="2715768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E8FF3B"/>
                </a:solidFill>
                <a:latin typeface="Aptos"/>
              </a:rPr>
              <a:t>pass</a:t>
            </a:r>
          </a:p>
        </p:txBody>
      </p:sp>
      <p:sp>
        <p:nvSpPr>
          <p:cNvPr id="69" name="task-title-1-3"/>
          <p:cNvSpPr txBox="1"/>
          <p:nvPr/>
        </p:nvSpPr>
        <p:spPr>
          <a:xfrm>
            <a:off x="5907024" y="2532888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1A1A2E"/>
                </a:solidFill>
                <a:latin typeface="Aptos"/>
              </a:rPr>
              <a:t>Audit</a:t>
            </a:r>
          </a:p>
        </p:txBody>
      </p:sp>
      <p:sp>
        <p:nvSpPr>
          <p:cNvPr id="70" name="task-state-1-3"/>
          <p:cNvSpPr txBox="1"/>
          <p:nvPr/>
        </p:nvSpPr>
        <p:spPr>
          <a:xfrm>
            <a:off x="5907024" y="2715768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E8FF3B"/>
                </a:solidFill>
                <a:latin typeface="Aptos"/>
              </a:rPr>
              <a:t>assigned</a:t>
            </a:r>
          </a:p>
        </p:txBody>
      </p:sp>
      <p:sp>
        <p:nvSpPr>
          <p:cNvPr id="71" name="task-title-1-4"/>
          <p:cNvSpPr txBox="1"/>
          <p:nvPr/>
        </p:nvSpPr>
        <p:spPr>
          <a:xfrm>
            <a:off x="7260336" y="2532888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1A1A2E"/>
                </a:solidFill>
                <a:latin typeface="Aptos"/>
              </a:rPr>
              <a:t>Owner</a:t>
            </a:r>
          </a:p>
        </p:txBody>
      </p:sp>
      <p:sp>
        <p:nvSpPr>
          <p:cNvPr id="72" name="task-state-1-4"/>
          <p:cNvSpPr txBox="1"/>
          <p:nvPr/>
        </p:nvSpPr>
        <p:spPr>
          <a:xfrm>
            <a:off x="7260336" y="2715768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E8FF3B"/>
                </a:solidFill>
                <a:latin typeface="Aptos"/>
              </a:rPr>
              <a:t>new</a:t>
            </a:r>
          </a:p>
        </p:txBody>
      </p:sp>
      <p:sp>
        <p:nvSpPr>
          <p:cNvPr id="73" name="lane-name-2"/>
          <p:cNvSpPr txBox="1"/>
          <p:nvPr/>
        </p:nvSpPr>
        <p:spPr>
          <a:xfrm>
            <a:off x="566928" y="3785615"/>
            <a:ext cx="868680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lang="en-US">
                <a:solidFill>
                  <a:srgbClr val="111111"/>
                </a:solidFill>
                <a:latin typeface="Aptos"/>
              </a:rPr>
              <a:t>VERIFY</a:t>
            </a:r>
          </a:p>
        </p:txBody>
      </p:sp>
      <p:sp>
        <p:nvSpPr>
          <p:cNvPr id="74" name="task-title-2-0"/>
          <p:cNvSpPr txBox="1"/>
          <p:nvPr/>
        </p:nvSpPr>
        <p:spPr>
          <a:xfrm>
            <a:off x="1847088" y="3703320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1A1A2E"/>
                </a:solidFill>
                <a:latin typeface="Aptos"/>
              </a:rPr>
              <a:t>Scope</a:t>
            </a:r>
          </a:p>
        </p:txBody>
      </p:sp>
      <p:sp>
        <p:nvSpPr>
          <p:cNvPr id="75" name="task-state-2-0"/>
          <p:cNvSpPr txBox="1"/>
          <p:nvPr/>
        </p:nvSpPr>
        <p:spPr>
          <a:xfrm>
            <a:off x="1847088" y="3886200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4ECDC4"/>
                </a:solidFill>
                <a:latin typeface="Aptos"/>
              </a:rPr>
              <a:t>ready</a:t>
            </a:r>
          </a:p>
        </p:txBody>
      </p:sp>
      <p:sp>
        <p:nvSpPr>
          <p:cNvPr id="76" name="task-title-2-1"/>
          <p:cNvSpPr txBox="1"/>
          <p:nvPr/>
        </p:nvSpPr>
        <p:spPr>
          <a:xfrm>
            <a:off x="3200400" y="3703320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1A1A2E"/>
                </a:solidFill>
                <a:latin typeface="Aptos"/>
              </a:rPr>
              <a:t>Profile</a:t>
            </a:r>
          </a:p>
        </p:txBody>
      </p:sp>
      <p:sp>
        <p:nvSpPr>
          <p:cNvPr id="77" name="task-state-2-1"/>
          <p:cNvSpPr txBox="1"/>
          <p:nvPr/>
        </p:nvSpPr>
        <p:spPr>
          <a:xfrm>
            <a:off x="3200400" y="3886200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4ECDC4"/>
                </a:solidFill>
                <a:latin typeface="Aptos"/>
              </a:rPr>
              <a:t>pass</a:t>
            </a:r>
          </a:p>
        </p:txBody>
      </p:sp>
      <p:sp>
        <p:nvSpPr>
          <p:cNvPr id="78" name="task-title-2-2"/>
          <p:cNvSpPr txBox="1"/>
          <p:nvPr/>
        </p:nvSpPr>
        <p:spPr>
          <a:xfrm>
            <a:off x="4553712" y="3703320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1A1A2E"/>
                </a:solidFill>
                <a:latin typeface="Aptos"/>
              </a:rPr>
              <a:t>Spec</a:t>
            </a:r>
          </a:p>
        </p:txBody>
      </p:sp>
      <p:sp>
        <p:nvSpPr>
          <p:cNvPr id="79" name="task-state-2-2"/>
          <p:cNvSpPr txBox="1"/>
          <p:nvPr/>
        </p:nvSpPr>
        <p:spPr>
          <a:xfrm>
            <a:off x="4553712" y="3886200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4ECDC4"/>
                </a:solidFill>
                <a:latin typeface="Aptos"/>
              </a:rPr>
              <a:t>assigned</a:t>
            </a:r>
          </a:p>
        </p:txBody>
      </p:sp>
      <p:sp>
        <p:nvSpPr>
          <p:cNvPr id="80" name="task-title-2-3"/>
          <p:cNvSpPr txBox="1"/>
          <p:nvPr/>
        </p:nvSpPr>
        <p:spPr>
          <a:xfrm>
            <a:off x="5907024" y="3703320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1A1A2E"/>
                </a:solidFill>
                <a:latin typeface="Aptos"/>
              </a:rPr>
              <a:t>Audit</a:t>
            </a:r>
          </a:p>
        </p:txBody>
      </p:sp>
      <p:sp>
        <p:nvSpPr>
          <p:cNvPr id="81" name="task-state-2-3"/>
          <p:cNvSpPr txBox="1"/>
          <p:nvPr/>
        </p:nvSpPr>
        <p:spPr>
          <a:xfrm>
            <a:off x="5907024" y="3886200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4ECDC4"/>
                </a:solidFill>
                <a:latin typeface="Aptos"/>
              </a:rPr>
              <a:t>new</a:t>
            </a:r>
          </a:p>
        </p:txBody>
      </p:sp>
      <p:sp>
        <p:nvSpPr>
          <p:cNvPr id="82" name="task-title-2-4"/>
          <p:cNvSpPr txBox="1"/>
          <p:nvPr/>
        </p:nvSpPr>
        <p:spPr>
          <a:xfrm>
            <a:off x="7260336" y="3703320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1A1A2E"/>
                </a:solidFill>
                <a:latin typeface="Aptos"/>
              </a:rPr>
              <a:t>Owner</a:t>
            </a:r>
          </a:p>
        </p:txBody>
      </p:sp>
      <p:sp>
        <p:nvSpPr>
          <p:cNvPr id="83" name="task-state-2-4"/>
          <p:cNvSpPr txBox="1"/>
          <p:nvPr/>
        </p:nvSpPr>
        <p:spPr>
          <a:xfrm>
            <a:off x="7260336" y="3886200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4ECDC4"/>
                </a:solidFill>
                <a:latin typeface="Aptos"/>
              </a:rPr>
              <a:t>locked</a:t>
            </a:r>
          </a:p>
        </p:txBody>
      </p:sp>
      <p:sp>
        <p:nvSpPr>
          <p:cNvPr id="84" name="lane-name-3"/>
          <p:cNvSpPr txBox="1"/>
          <p:nvPr/>
        </p:nvSpPr>
        <p:spPr>
          <a:xfrm>
            <a:off x="566928" y="4956048"/>
            <a:ext cx="868680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lang="en-US">
                <a:solidFill>
                  <a:srgbClr val="111111"/>
                </a:solidFill>
                <a:latin typeface="Aptos"/>
              </a:rPr>
              <a:t>SHIP</a:t>
            </a:r>
          </a:p>
        </p:txBody>
      </p:sp>
      <p:sp>
        <p:nvSpPr>
          <p:cNvPr id="85" name="task-title-3-0"/>
          <p:cNvSpPr txBox="1"/>
          <p:nvPr/>
        </p:nvSpPr>
        <p:spPr>
          <a:xfrm>
            <a:off x="1847088" y="4873752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1A1A2E"/>
                </a:solidFill>
                <a:latin typeface="Aptos"/>
              </a:rPr>
              <a:t>Scope</a:t>
            </a:r>
          </a:p>
        </p:txBody>
      </p:sp>
      <p:sp>
        <p:nvSpPr>
          <p:cNvPr id="86" name="task-state-3-0"/>
          <p:cNvSpPr txBox="1"/>
          <p:nvPr/>
        </p:nvSpPr>
        <p:spPr>
          <a:xfrm>
            <a:off x="1847088" y="5056632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4ECDC4"/>
                </a:solidFill>
                <a:latin typeface="Aptos"/>
              </a:rPr>
              <a:t>pass</a:t>
            </a:r>
          </a:p>
        </p:txBody>
      </p:sp>
      <p:sp>
        <p:nvSpPr>
          <p:cNvPr id="87" name="task-title-3-1"/>
          <p:cNvSpPr txBox="1"/>
          <p:nvPr/>
        </p:nvSpPr>
        <p:spPr>
          <a:xfrm>
            <a:off x="3200400" y="4873752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1A1A2E"/>
                </a:solidFill>
                <a:latin typeface="Aptos"/>
              </a:rPr>
              <a:t>Profile</a:t>
            </a:r>
          </a:p>
        </p:txBody>
      </p:sp>
      <p:sp>
        <p:nvSpPr>
          <p:cNvPr id="88" name="task-state-3-1"/>
          <p:cNvSpPr txBox="1"/>
          <p:nvPr/>
        </p:nvSpPr>
        <p:spPr>
          <a:xfrm>
            <a:off x="3200400" y="5056632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4ECDC4"/>
                </a:solidFill>
                <a:latin typeface="Aptos"/>
              </a:rPr>
              <a:t>assigned</a:t>
            </a:r>
          </a:p>
        </p:txBody>
      </p:sp>
      <p:sp>
        <p:nvSpPr>
          <p:cNvPr id="89" name="task-title-3-2"/>
          <p:cNvSpPr txBox="1"/>
          <p:nvPr/>
        </p:nvSpPr>
        <p:spPr>
          <a:xfrm>
            <a:off x="4553712" y="4873752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1A1A2E"/>
                </a:solidFill>
                <a:latin typeface="Aptos"/>
              </a:rPr>
              <a:t>Spec</a:t>
            </a:r>
          </a:p>
        </p:txBody>
      </p:sp>
      <p:sp>
        <p:nvSpPr>
          <p:cNvPr id="90" name="task-state-3-2"/>
          <p:cNvSpPr txBox="1"/>
          <p:nvPr/>
        </p:nvSpPr>
        <p:spPr>
          <a:xfrm>
            <a:off x="4553712" y="5056632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4ECDC4"/>
                </a:solidFill>
                <a:latin typeface="Aptos"/>
              </a:rPr>
              <a:t>new</a:t>
            </a:r>
          </a:p>
        </p:txBody>
      </p:sp>
      <p:sp>
        <p:nvSpPr>
          <p:cNvPr id="91" name="task-title-3-3"/>
          <p:cNvSpPr txBox="1"/>
          <p:nvPr/>
        </p:nvSpPr>
        <p:spPr>
          <a:xfrm>
            <a:off x="5907024" y="4873752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1A1A2E"/>
                </a:solidFill>
                <a:latin typeface="Aptos"/>
              </a:rPr>
              <a:t>Audit</a:t>
            </a:r>
          </a:p>
        </p:txBody>
      </p:sp>
      <p:sp>
        <p:nvSpPr>
          <p:cNvPr id="92" name="task-state-3-3"/>
          <p:cNvSpPr txBox="1"/>
          <p:nvPr/>
        </p:nvSpPr>
        <p:spPr>
          <a:xfrm>
            <a:off x="5907024" y="5056632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4ECDC4"/>
                </a:solidFill>
                <a:latin typeface="Aptos"/>
              </a:rPr>
              <a:t>locked</a:t>
            </a:r>
          </a:p>
        </p:txBody>
      </p:sp>
      <p:sp>
        <p:nvSpPr>
          <p:cNvPr id="93" name="task-title-3-4"/>
          <p:cNvSpPr txBox="1"/>
          <p:nvPr/>
        </p:nvSpPr>
        <p:spPr>
          <a:xfrm>
            <a:off x="7260336" y="4873752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1A1A2E"/>
                </a:solidFill>
                <a:latin typeface="Aptos"/>
              </a:rPr>
              <a:t>Owner</a:t>
            </a:r>
          </a:p>
        </p:txBody>
      </p:sp>
      <p:sp>
        <p:nvSpPr>
          <p:cNvPr id="94" name="task-state-3-4"/>
          <p:cNvSpPr txBox="1"/>
          <p:nvPr/>
        </p:nvSpPr>
        <p:spPr>
          <a:xfrm>
            <a:off x="7260336" y="5056632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4ECDC4"/>
                </a:solidFill>
                <a:latin typeface="Aptos"/>
              </a:rPr>
              <a:t>ready</a:t>
            </a:r>
          </a:p>
        </p:txBody>
      </p:sp>
      <p:sp>
        <p:nvSpPr>
          <p:cNvPr id="95" name="workbench-rail-title"/>
          <p:cNvSpPr txBox="1"/>
          <p:nvPr/>
        </p:nvSpPr>
        <p:spPr>
          <a:xfrm>
            <a:off x="9436608" y="1325880"/>
            <a:ext cx="196596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1" lang="en-US">
                <a:solidFill>
                  <a:srgbClr val="1A1A2E"/>
                </a:solidFill>
                <a:latin typeface="Aptos"/>
              </a:rPr>
              <a:t>BUILD SIGNALS</a:t>
            </a:r>
          </a:p>
        </p:txBody>
      </p:sp>
      <p:sp>
        <p:nvSpPr>
          <p:cNvPr id="96" name="chart-label"/>
          <p:cNvSpPr txBox="1"/>
          <p:nvPr/>
        </p:nvSpPr>
        <p:spPr>
          <a:xfrm>
            <a:off x="9436608" y="4956048"/>
            <a:ext cx="192024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0" lang="en-US">
                <a:solidFill>
                  <a:srgbClr val="4D4D66"/>
                </a:solidFill>
                <a:latin typeface="Aptos"/>
              </a:rPr>
              <a:t>completion by work lane</a:t>
            </a:r>
          </a:p>
        </p:txBody>
      </p:sp>
      <p:sp>
        <p:nvSpPr>
          <p:cNvPr id="97" name="check-label-0"/>
          <p:cNvSpPr txBox="1"/>
          <p:nvPr/>
        </p:nvSpPr>
        <p:spPr>
          <a:xfrm>
            <a:off x="9619488" y="5303520"/>
            <a:ext cx="141732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1" lang="en-US">
                <a:solidFill>
                  <a:srgbClr val="1A1A2E"/>
                </a:solidFill>
                <a:latin typeface="Aptos"/>
              </a:rPr>
              <a:t>bounds</a:t>
            </a:r>
          </a:p>
        </p:txBody>
      </p:sp>
      <p:sp>
        <p:nvSpPr>
          <p:cNvPr id="98" name="check-label-1"/>
          <p:cNvSpPr txBox="1"/>
          <p:nvPr/>
        </p:nvSpPr>
        <p:spPr>
          <a:xfrm>
            <a:off x="9619488" y="5468112"/>
            <a:ext cx="141732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1" lang="en-US">
                <a:solidFill>
                  <a:srgbClr val="1A1A2E"/>
                </a:solidFill>
                <a:latin typeface="Aptos"/>
              </a:rPr>
              <a:t>content</a:t>
            </a:r>
          </a:p>
        </p:txBody>
      </p:sp>
      <p:sp>
        <p:nvSpPr>
          <p:cNvPr id="99" name="check-label-2"/>
          <p:cNvSpPr txBox="1"/>
          <p:nvPr/>
        </p:nvSpPr>
        <p:spPr>
          <a:xfrm>
            <a:off x="9619488" y="5632704"/>
            <a:ext cx="141732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1" lang="en-US">
                <a:solidFill>
                  <a:srgbClr val="1A1A2E"/>
                </a:solidFill>
                <a:latin typeface="Aptos"/>
              </a:rPr>
              <a:t>tables</a:t>
            </a:r>
          </a:p>
        </p:txBody>
      </p:sp>
      <p:sp>
        <p:nvSpPr>
          <p:cNvPr id="100" name="check-label-3"/>
          <p:cNvSpPr txBox="1"/>
          <p:nvPr/>
        </p:nvSpPr>
        <p:spPr>
          <a:xfrm>
            <a:off x="9619488" y="5797296"/>
            <a:ext cx="141732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1" lang="en-US">
                <a:solidFill>
                  <a:srgbClr val="1A1A2E"/>
                </a:solidFill>
                <a:latin typeface="Aptos"/>
              </a:rPr>
              <a:t>order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B61FF"/>
          </a:solidFill>
          <a:ln w="10160">
            <a:solidFill>
              <a:srgbClr val="7B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glow-0"/>
          <p:cNvSpPr/>
          <p:nvPr/>
        </p:nvSpPr>
        <p:spPr>
          <a:xfrm>
            <a:off x="8046720" y="320040"/>
            <a:ext cx="2926080" cy="2926080"/>
          </a:xfrm>
          <a:prstGeom prst="ellipse">
            <a:avLst/>
          </a:prstGeom>
          <a:solidFill>
            <a:srgbClr val="00D4FF"/>
          </a:solidFill>
          <a:ln w="1016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glow-1"/>
          <p:cNvSpPr/>
          <p:nvPr/>
        </p:nvSpPr>
        <p:spPr>
          <a:xfrm>
            <a:off x="9509760" y="3383280"/>
            <a:ext cx="2011680" cy="2011680"/>
          </a:xfrm>
          <a:prstGeom prst="ellipse">
            <a:avLst/>
          </a:prstGeom>
          <a:solidFill>
            <a:srgbClr val="FF6EC7"/>
          </a:solidFill>
          <a:ln w="10160">
            <a:solidFill>
              <a:srgbClr val="FF6E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glow-2"/>
          <p:cNvSpPr/>
          <p:nvPr/>
        </p:nvSpPr>
        <p:spPr>
          <a:xfrm>
            <a:off x="7132320" y="4663440"/>
            <a:ext cx="1645920" cy="1645920"/>
          </a:xfrm>
          <a:prstGeom prst="ellipse">
            <a:avLst/>
          </a:prstGeom>
          <a:solidFill>
            <a:srgbClr val="FFB347"/>
          </a:solidFill>
          <a:ln w="10160">
            <a:solidFill>
              <a:srgbClr val="FFB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op-band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D4FF"/>
          </a:solidFill>
          <a:ln w="1016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nav-shell"/>
          <p:cNvSpPr/>
          <p:nvPr/>
        </p:nvSpPr>
        <p:spPr>
          <a:xfrm>
            <a:off x="457200" y="1078992"/>
            <a:ext cx="1572768" cy="5102352"/>
          </a:xfrm>
          <a:prstGeom prst="roundRect">
            <a:avLst/>
          </a:prstGeom>
          <a:solidFill>
            <a:srgbClr val="FF6EC7"/>
          </a:solidFill>
          <a:ln w="10160">
            <a:solidFill>
              <a:srgbClr val="B6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metric-0-shell"/>
          <p:cNvSpPr/>
          <p:nvPr/>
        </p:nvSpPr>
        <p:spPr>
          <a:xfrm>
            <a:off x="2249424" y="1078992"/>
            <a:ext cx="1161288" cy="768096"/>
          </a:xfrm>
          <a:prstGeom prst="roundRect">
            <a:avLst/>
          </a:prstGeom>
          <a:solidFill>
            <a:srgbClr val="6B52DC"/>
          </a:solidFill>
          <a:ln w="10160">
            <a:solidFill>
              <a:srgbClr val="B6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metric-1-shell"/>
          <p:cNvSpPr/>
          <p:nvPr/>
        </p:nvSpPr>
        <p:spPr>
          <a:xfrm>
            <a:off x="3557016" y="1078992"/>
            <a:ext cx="1161288" cy="768096"/>
          </a:xfrm>
          <a:prstGeom prst="roundRect">
            <a:avLst/>
          </a:prstGeom>
          <a:solidFill>
            <a:srgbClr val="6B52DC"/>
          </a:solidFill>
          <a:ln w="10160">
            <a:solidFill>
              <a:srgbClr val="B6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metric-2-shell"/>
          <p:cNvSpPr/>
          <p:nvPr/>
        </p:nvSpPr>
        <p:spPr>
          <a:xfrm>
            <a:off x="4864608" y="1078992"/>
            <a:ext cx="1161288" cy="768096"/>
          </a:xfrm>
          <a:prstGeom prst="roundRect">
            <a:avLst/>
          </a:prstGeom>
          <a:solidFill>
            <a:srgbClr val="6B52DC"/>
          </a:solidFill>
          <a:ln w="10160">
            <a:solidFill>
              <a:srgbClr val="B6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metric-3-shell"/>
          <p:cNvSpPr/>
          <p:nvPr/>
        </p:nvSpPr>
        <p:spPr>
          <a:xfrm>
            <a:off x="6172200" y="1078992"/>
            <a:ext cx="1161288" cy="768096"/>
          </a:xfrm>
          <a:prstGeom prst="roundRect">
            <a:avLst/>
          </a:prstGeom>
          <a:solidFill>
            <a:srgbClr val="6B52DC"/>
          </a:solidFill>
          <a:ln w="10160">
            <a:solidFill>
              <a:srgbClr val="B6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metric-4-shell"/>
          <p:cNvSpPr/>
          <p:nvPr/>
        </p:nvSpPr>
        <p:spPr>
          <a:xfrm>
            <a:off x="7479792" y="1078992"/>
            <a:ext cx="1161288" cy="768096"/>
          </a:xfrm>
          <a:prstGeom prst="roundRect">
            <a:avLst/>
          </a:prstGeom>
          <a:solidFill>
            <a:srgbClr val="6B52DC"/>
          </a:solidFill>
          <a:ln w="10160">
            <a:solidFill>
              <a:srgbClr val="B6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isk-rail-shell"/>
          <p:cNvSpPr/>
          <p:nvPr/>
        </p:nvSpPr>
        <p:spPr>
          <a:xfrm>
            <a:off x="9052560" y="1078992"/>
            <a:ext cx="2679192" cy="4389120"/>
          </a:xfrm>
          <a:prstGeom prst="roundRect">
            <a:avLst/>
          </a:prstGeom>
          <a:solidFill>
            <a:srgbClr val="FF6EC7"/>
          </a:solidFill>
          <a:ln w="10160">
            <a:solidFill>
              <a:srgbClr val="B6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nav-accent"/>
          <p:cNvSpPr/>
          <p:nvPr/>
        </p:nvSpPr>
        <p:spPr>
          <a:xfrm>
            <a:off x="457200" y="1078992"/>
            <a:ext cx="73152" cy="5102352"/>
          </a:xfrm>
          <a:prstGeom prst="rect">
            <a:avLst/>
          </a:prstGeom>
          <a:solidFill>
            <a:srgbClr val="00D4FF"/>
          </a:solidFill>
          <a:ln w="1016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nav-0"/>
          <p:cNvSpPr/>
          <p:nvPr/>
        </p:nvSpPr>
        <p:spPr>
          <a:xfrm>
            <a:off x="658368" y="1874519"/>
            <a:ext cx="1143000" cy="329184"/>
          </a:xfrm>
          <a:prstGeom prst="roundRect">
            <a:avLst/>
          </a:prstGeom>
          <a:solidFill>
            <a:srgbClr val="00D4FF"/>
          </a:solidFill>
          <a:ln w="10160">
            <a:solidFill>
              <a:srgbClr val="B6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nav-1"/>
          <p:cNvSpPr/>
          <p:nvPr/>
        </p:nvSpPr>
        <p:spPr>
          <a:xfrm>
            <a:off x="658368" y="2386584"/>
            <a:ext cx="1143000" cy="329184"/>
          </a:xfrm>
          <a:prstGeom prst="roundRect">
            <a:avLst/>
          </a:prstGeom>
          <a:solidFill>
            <a:srgbClr val="6B52DC"/>
          </a:solidFill>
          <a:ln w="10160">
            <a:solidFill>
              <a:srgbClr val="B6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nav-2"/>
          <p:cNvSpPr/>
          <p:nvPr/>
        </p:nvSpPr>
        <p:spPr>
          <a:xfrm>
            <a:off x="658368" y="2898648"/>
            <a:ext cx="1143000" cy="329184"/>
          </a:xfrm>
          <a:prstGeom prst="roundRect">
            <a:avLst/>
          </a:prstGeom>
          <a:solidFill>
            <a:srgbClr val="6B52DC"/>
          </a:solidFill>
          <a:ln w="10160">
            <a:solidFill>
              <a:srgbClr val="B6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nav-3"/>
          <p:cNvSpPr/>
          <p:nvPr/>
        </p:nvSpPr>
        <p:spPr>
          <a:xfrm>
            <a:off x="658368" y="3410712"/>
            <a:ext cx="1143000" cy="329184"/>
          </a:xfrm>
          <a:prstGeom prst="roundRect">
            <a:avLst/>
          </a:prstGeom>
          <a:solidFill>
            <a:srgbClr val="6B52DC"/>
          </a:solidFill>
          <a:ln w="10160">
            <a:solidFill>
              <a:srgbClr val="B6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nav-4"/>
          <p:cNvSpPr/>
          <p:nvPr/>
        </p:nvSpPr>
        <p:spPr>
          <a:xfrm>
            <a:off x="658368" y="3922776"/>
            <a:ext cx="1143000" cy="329184"/>
          </a:xfrm>
          <a:prstGeom prst="roundRect">
            <a:avLst/>
          </a:prstGeom>
          <a:solidFill>
            <a:srgbClr val="6B52DC"/>
          </a:solidFill>
          <a:ln w="10160">
            <a:solidFill>
              <a:srgbClr val="B6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nav-5"/>
          <p:cNvSpPr/>
          <p:nvPr/>
        </p:nvSpPr>
        <p:spPr>
          <a:xfrm>
            <a:off x="658368" y="4434840"/>
            <a:ext cx="1143000" cy="329184"/>
          </a:xfrm>
          <a:prstGeom prst="roundRect">
            <a:avLst/>
          </a:prstGeom>
          <a:solidFill>
            <a:srgbClr val="6B52DC"/>
          </a:solidFill>
          <a:ln w="10160">
            <a:solidFill>
              <a:srgbClr val="B6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nav-6"/>
          <p:cNvSpPr/>
          <p:nvPr/>
        </p:nvSpPr>
        <p:spPr>
          <a:xfrm>
            <a:off x="658368" y="4946904"/>
            <a:ext cx="1143000" cy="329184"/>
          </a:xfrm>
          <a:prstGeom prst="roundRect">
            <a:avLst/>
          </a:prstGeom>
          <a:solidFill>
            <a:srgbClr val="6B52DC"/>
          </a:solidFill>
          <a:ln w="10160">
            <a:solidFill>
              <a:srgbClr val="B6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metric-0-accent"/>
          <p:cNvSpPr/>
          <p:nvPr/>
        </p:nvSpPr>
        <p:spPr>
          <a:xfrm>
            <a:off x="2249424" y="1078992"/>
            <a:ext cx="73152" cy="768096"/>
          </a:xfrm>
          <a:prstGeom prst="rect">
            <a:avLst/>
          </a:prstGeom>
          <a:solidFill>
            <a:srgbClr val="00D4FF"/>
          </a:solidFill>
          <a:ln w="1016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metric-1-accent"/>
          <p:cNvSpPr/>
          <p:nvPr/>
        </p:nvSpPr>
        <p:spPr>
          <a:xfrm>
            <a:off x="3557016" y="1078992"/>
            <a:ext cx="73152" cy="768096"/>
          </a:xfrm>
          <a:prstGeom prst="rect">
            <a:avLst/>
          </a:prstGeom>
          <a:solidFill>
            <a:srgbClr val="FF6EC7"/>
          </a:solidFill>
          <a:ln w="10160">
            <a:solidFill>
              <a:srgbClr val="FF6E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metric-2-accent"/>
          <p:cNvSpPr/>
          <p:nvPr/>
        </p:nvSpPr>
        <p:spPr>
          <a:xfrm>
            <a:off x="4864608" y="1078992"/>
            <a:ext cx="73152" cy="768096"/>
          </a:xfrm>
          <a:prstGeom prst="rect">
            <a:avLst/>
          </a:prstGeom>
          <a:solidFill>
            <a:srgbClr val="FFB347"/>
          </a:solidFill>
          <a:ln w="10160">
            <a:solidFill>
              <a:srgbClr val="FFB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metric-3-accent"/>
          <p:cNvSpPr/>
          <p:nvPr/>
        </p:nvSpPr>
        <p:spPr>
          <a:xfrm>
            <a:off x="6172200" y="1078992"/>
            <a:ext cx="73152" cy="768096"/>
          </a:xfrm>
          <a:prstGeom prst="rect">
            <a:avLst/>
          </a:prstGeom>
          <a:solidFill>
            <a:srgbClr val="FFB347"/>
          </a:solidFill>
          <a:ln w="10160">
            <a:solidFill>
              <a:srgbClr val="FFB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metric-4-accent"/>
          <p:cNvSpPr/>
          <p:nvPr/>
        </p:nvSpPr>
        <p:spPr>
          <a:xfrm>
            <a:off x="7479792" y="1078992"/>
            <a:ext cx="73152" cy="768096"/>
          </a:xfrm>
          <a:prstGeom prst="rect">
            <a:avLst/>
          </a:prstGeom>
          <a:solidFill>
            <a:srgbClr val="00D4FF"/>
          </a:solidFill>
          <a:ln w="1016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isk-rail-accent"/>
          <p:cNvSpPr/>
          <p:nvPr/>
        </p:nvSpPr>
        <p:spPr>
          <a:xfrm>
            <a:off x="9052560" y="1078992"/>
            <a:ext cx="73152" cy="4389120"/>
          </a:xfrm>
          <a:prstGeom prst="rect">
            <a:avLst/>
          </a:prstGeom>
          <a:solidFill>
            <a:srgbClr val="00D4FF"/>
          </a:solidFill>
          <a:ln w="1016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progress-track"/>
          <p:cNvSpPr/>
          <p:nvPr/>
        </p:nvSpPr>
        <p:spPr>
          <a:xfrm>
            <a:off x="2249424" y="5687568"/>
            <a:ext cx="9482328" cy="384048"/>
          </a:xfrm>
          <a:prstGeom prst="roundRect">
            <a:avLst/>
          </a:prstGeom>
          <a:solidFill>
            <a:srgbClr val="FF6EC7"/>
          </a:solidFill>
          <a:ln w="10160">
            <a:solidFill>
              <a:srgbClr val="B6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29" name="signal-table"/>
          <p:cNvGraphicFramePr>
            <a:graphicFrameLocks noGrp="1"/>
          </p:cNvGraphicFramePr>
          <p:nvPr/>
        </p:nvGraphicFramePr>
        <p:xfrm>
          <a:off x="2249424" y="2066543"/>
          <a:ext cx="6537960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7592"/>
                <a:gridCol w="1307592"/>
                <a:gridCol w="1307592"/>
                <a:gridCol w="1307592"/>
                <a:gridCol w="1307592"/>
              </a:tblGrid>
              <a:tr h="425196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7B61FF"/>
                          </a:solidFill>
                          <a:latin typeface="Aptos"/>
                        </a:rPr>
                        <a:t>Signal</a:t>
                      </a:r>
                    </a:p>
                  </a:txBody>
                  <a:tcPr marL="54864" marR="54864" marT="18288" marB="18288">
                    <a:solidFill>
                      <a:srgbClr val="00D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7B61FF"/>
                          </a:solidFill>
                          <a:latin typeface="Aptos"/>
                        </a:rPr>
                        <a:t>Owner</a:t>
                      </a:r>
                    </a:p>
                  </a:txBody>
                  <a:tcPr marL="54864" marR="54864" marT="18288" marB="18288">
                    <a:solidFill>
                      <a:srgbClr val="00D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7B61FF"/>
                          </a:solidFill>
                          <a:latin typeface="Aptos"/>
                        </a:rPr>
                        <a:t>State</a:t>
                      </a:r>
                    </a:p>
                  </a:txBody>
                  <a:tcPr marL="54864" marR="54864" marT="18288" marB="18288">
                    <a:solidFill>
                      <a:srgbClr val="00D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7B61FF"/>
                          </a:solidFill>
                          <a:latin typeface="Aptos"/>
                        </a:rPr>
                        <a:t>Gate</a:t>
                      </a:r>
                    </a:p>
                  </a:txBody>
                  <a:tcPr marL="54864" marR="54864" marT="18288" marB="18288">
                    <a:solidFill>
                      <a:srgbClr val="00D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7B61FF"/>
                          </a:solidFill>
                          <a:latin typeface="Aptos"/>
                        </a:rPr>
                        <a:t>Next</a:t>
                      </a:r>
                    </a:p>
                  </a:txBody>
                  <a:tcPr marL="54864" marR="54864" marT="18288" marB="18288">
                    <a:solidFill>
                      <a:srgbClr val="00D4FF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FFFFFF"/>
                          </a:solidFill>
                          <a:latin typeface="Aptos"/>
                        </a:rPr>
                        <a:t>S-01</a:t>
                      </a:r>
                    </a:p>
                  </a:txBody>
                  <a:tcPr marL="54864" marR="54864" marT="18288" marB="18288">
                    <a:solidFill>
                      <a:srgbClr val="6B52D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Aptos"/>
                        </a:rPr>
                        <a:t>Reviewer</a:t>
                      </a:r>
                    </a:p>
                  </a:txBody>
                  <a:tcPr marL="54864" marR="54864" marT="18288" marB="18288">
                    <a:solidFill>
                      <a:srgbClr val="6B52D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Aptos"/>
                        </a:rPr>
                        <a:t>Watch</a:t>
                      </a:r>
                    </a:p>
                  </a:txBody>
                  <a:tcPr marL="54864" marR="54864" marT="18288" marB="18288">
                    <a:solidFill>
                      <a:srgbClr val="6B52D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Aptos"/>
                        </a:rPr>
                        <a:t>Review</a:t>
                      </a:r>
                    </a:p>
                  </a:txBody>
                  <a:tcPr marL="54864" marR="54864" marT="18288" marB="18288">
                    <a:solidFill>
                      <a:srgbClr val="6B52D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Aptos"/>
                        </a:rPr>
                        <a:t>Check</a:t>
                      </a:r>
                    </a:p>
                  </a:txBody>
                  <a:tcPr marL="54864" marR="54864" marT="18288" marB="18288">
                    <a:solidFill>
                      <a:srgbClr val="6B52DC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FFFFFF"/>
                          </a:solidFill>
                          <a:latin typeface="Aptos"/>
                        </a:rPr>
                        <a:t>S-02</a:t>
                      </a:r>
                    </a:p>
                  </a:txBody>
                  <a:tcPr marL="54864" marR="54864" marT="18288" marB="18288">
                    <a:solidFill>
                      <a:srgbClr val="FF6EC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Aptos"/>
                        </a:rPr>
                        <a:t>Auditor</a:t>
                      </a:r>
                    </a:p>
                  </a:txBody>
                  <a:tcPr marL="54864" marR="54864" marT="18288" marB="18288">
                    <a:solidFill>
                      <a:srgbClr val="FF6EC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Aptos"/>
                        </a:rPr>
                        <a:t>Hold</a:t>
                      </a:r>
                    </a:p>
                  </a:txBody>
                  <a:tcPr marL="54864" marR="54864" marT="18288" marB="18288">
                    <a:solidFill>
                      <a:srgbClr val="FF6EC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Aptos"/>
                        </a:rPr>
                        <a:t>Repair</a:t>
                      </a:r>
                    </a:p>
                  </a:txBody>
                  <a:tcPr marL="54864" marR="54864" marT="18288" marB="18288">
                    <a:solidFill>
                      <a:srgbClr val="FF6EC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Aptos"/>
                        </a:rPr>
                        <a:t>Fix</a:t>
                      </a:r>
                    </a:p>
                  </a:txBody>
                  <a:tcPr marL="54864" marR="54864" marT="18288" marB="18288">
                    <a:solidFill>
                      <a:srgbClr val="FF6EC7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FFFFFF"/>
                          </a:solidFill>
                          <a:latin typeface="Aptos"/>
                        </a:rPr>
                        <a:t>S-03</a:t>
                      </a:r>
                    </a:p>
                  </a:txBody>
                  <a:tcPr marL="54864" marR="54864" marT="18288" marB="18288">
                    <a:solidFill>
                      <a:srgbClr val="6B52D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Aptos"/>
                        </a:rPr>
                        <a:t>Author</a:t>
                      </a:r>
                    </a:p>
                  </a:txBody>
                  <a:tcPr marL="54864" marR="54864" marT="18288" marB="18288">
                    <a:solidFill>
                      <a:srgbClr val="6B52D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Aptos"/>
                        </a:rPr>
                        <a:t>Ready</a:t>
                      </a:r>
                    </a:p>
                  </a:txBody>
                  <a:tcPr marL="54864" marR="54864" marT="18288" marB="18288">
                    <a:solidFill>
                      <a:srgbClr val="6B52D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Aptos"/>
                        </a:rPr>
                        <a:t>Pass</a:t>
                      </a:r>
                    </a:p>
                  </a:txBody>
                  <a:tcPr marL="54864" marR="54864" marT="18288" marB="18288">
                    <a:solidFill>
                      <a:srgbClr val="6B52D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Aptos"/>
                        </a:rPr>
                        <a:t>Ship</a:t>
                      </a:r>
                    </a:p>
                  </a:txBody>
                  <a:tcPr marL="54864" marR="54864" marT="18288" marB="18288">
                    <a:solidFill>
                      <a:srgbClr val="6B52DC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FFFFFF"/>
                          </a:solidFill>
                          <a:latin typeface="Aptos"/>
                        </a:rPr>
                        <a:t>S-04</a:t>
                      </a:r>
                    </a:p>
                  </a:txBody>
                  <a:tcPr marL="54864" marR="54864" marT="18288" marB="18288">
                    <a:solidFill>
                      <a:srgbClr val="FF6EC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Aptos"/>
                        </a:rPr>
                        <a:t>Reviewer</a:t>
                      </a:r>
                    </a:p>
                  </a:txBody>
                  <a:tcPr marL="54864" marR="54864" marT="18288" marB="18288">
                    <a:solidFill>
                      <a:srgbClr val="FF6EC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Aptos"/>
                        </a:rPr>
                        <a:t>Watch</a:t>
                      </a:r>
                    </a:p>
                  </a:txBody>
                  <a:tcPr marL="54864" marR="54864" marT="18288" marB="18288">
                    <a:solidFill>
                      <a:srgbClr val="FF6EC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Aptos"/>
                        </a:rPr>
                        <a:t>Review</a:t>
                      </a:r>
                    </a:p>
                  </a:txBody>
                  <a:tcPr marL="54864" marR="54864" marT="18288" marB="18288">
                    <a:solidFill>
                      <a:srgbClr val="FF6EC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Aptos"/>
                        </a:rPr>
                        <a:t>Check</a:t>
                      </a:r>
                    </a:p>
                  </a:txBody>
                  <a:tcPr marL="54864" marR="54864" marT="18288" marB="18288">
                    <a:solidFill>
                      <a:srgbClr val="FF6EC7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FFFFFF"/>
                          </a:solidFill>
                          <a:latin typeface="Aptos"/>
                        </a:rPr>
                        <a:t>S-05</a:t>
                      </a:r>
                    </a:p>
                  </a:txBody>
                  <a:tcPr marL="54864" marR="54864" marT="18288" marB="18288">
                    <a:solidFill>
                      <a:srgbClr val="6B52D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Aptos"/>
                        </a:rPr>
                        <a:t>Auditor</a:t>
                      </a:r>
                    </a:p>
                  </a:txBody>
                  <a:tcPr marL="54864" marR="54864" marT="18288" marB="18288">
                    <a:solidFill>
                      <a:srgbClr val="6B52D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Aptos"/>
                        </a:rPr>
                        <a:t>Hold</a:t>
                      </a:r>
                    </a:p>
                  </a:txBody>
                  <a:tcPr marL="54864" marR="54864" marT="18288" marB="18288">
                    <a:solidFill>
                      <a:srgbClr val="6B52D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Aptos"/>
                        </a:rPr>
                        <a:t>Repair</a:t>
                      </a:r>
                    </a:p>
                  </a:txBody>
                  <a:tcPr marL="54864" marR="54864" marT="18288" marB="18288">
                    <a:solidFill>
                      <a:srgbClr val="6B52D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Aptos"/>
                        </a:rPr>
                        <a:t>Fix</a:t>
                      </a:r>
                    </a:p>
                  </a:txBody>
                  <a:tcPr marL="54864" marR="54864" marT="18288" marB="18288">
                    <a:solidFill>
                      <a:srgbClr val="6B52DC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FFFFFF"/>
                          </a:solidFill>
                          <a:latin typeface="Aptos"/>
                        </a:rPr>
                        <a:t>S-06</a:t>
                      </a:r>
                    </a:p>
                  </a:txBody>
                  <a:tcPr marL="54864" marR="54864" marT="18288" marB="18288">
                    <a:solidFill>
                      <a:srgbClr val="FF6EC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Aptos"/>
                        </a:rPr>
                        <a:t>Author</a:t>
                      </a:r>
                    </a:p>
                  </a:txBody>
                  <a:tcPr marL="54864" marR="54864" marT="18288" marB="18288">
                    <a:solidFill>
                      <a:srgbClr val="FF6EC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Aptos"/>
                        </a:rPr>
                        <a:t>Ready</a:t>
                      </a:r>
                    </a:p>
                  </a:txBody>
                  <a:tcPr marL="54864" marR="54864" marT="18288" marB="18288">
                    <a:solidFill>
                      <a:srgbClr val="FF6EC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Aptos"/>
                        </a:rPr>
                        <a:t>Pass</a:t>
                      </a:r>
                    </a:p>
                  </a:txBody>
                  <a:tcPr marL="54864" marR="54864" marT="18288" marB="18288">
                    <a:solidFill>
                      <a:srgbClr val="FF6EC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Aptos"/>
                        </a:rPr>
                        <a:t>Ship</a:t>
                      </a:r>
                    </a:p>
                  </a:txBody>
                  <a:tcPr marL="54864" marR="54864" marT="18288" marB="18288">
                    <a:solidFill>
                      <a:srgbClr val="FF6EC7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FFFFFF"/>
                          </a:solidFill>
                          <a:latin typeface="Aptos"/>
                        </a:rPr>
                        <a:t>S-07</a:t>
                      </a:r>
                    </a:p>
                  </a:txBody>
                  <a:tcPr marL="54864" marR="54864" marT="18288" marB="18288">
                    <a:solidFill>
                      <a:srgbClr val="6B52D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Aptos"/>
                        </a:rPr>
                        <a:t>Reviewer</a:t>
                      </a:r>
                    </a:p>
                  </a:txBody>
                  <a:tcPr marL="54864" marR="54864" marT="18288" marB="18288">
                    <a:solidFill>
                      <a:srgbClr val="6B52D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Aptos"/>
                        </a:rPr>
                        <a:t>Watch</a:t>
                      </a:r>
                    </a:p>
                  </a:txBody>
                  <a:tcPr marL="54864" marR="54864" marT="18288" marB="18288">
                    <a:solidFill>
                      <a:srgbClr val="6B52D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Aptos"/>
                        </a:rPr>
                        <a:t>Review</a:t>
                      </a:r>
                    </a:p>
                  </a:txBody>
                  <a:tcPr marL="54864" marR="54864" marT="18288" marB="18288">
                    <a:solidFill>
                      <a:srgbClr val="6B52D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Aptos"/>
                        </a:rPr>
                        <a:t>Check</a:t>
                      </a:r>
                    </a:p>
                  </a:txBody>
                  <a:tcPr marL="54864" marR="54864" marT="18288" marB="18288">
                    <a:solidFill>
                      <a:srgbClr val="6B52DC"/>
                    </a:solidFill>
                  </a:tcPr>
                </a:tc>
              </a:tr>
            </a:tbl>
          </a:graphicData>
        </a:graphic>
      </p:graphicFrame>
      <p:sp>
        <p:nvSpPr>
          <p:cNvPr id="30" name="risk-dot-0"/>
          <p:cNvSpPr/>
          <p:nvPr/>
        </p:nvSpPr>
        <p:spPr>
          <a:xfrm>
            <a:off x="9308592" y="1746504"/>
            <a:ext cx="164592" cy="164592"/>
          </a:xfrm>
          <a:prstGeom prst="ellipse">
            <a:avLst/>
          </a:prstGeom>
          <a:solidFill>
            <a:srgbClr val="00D4FF"/>
          </a:solidFill>
          <a:ln w="1016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isk-dot-1"/>
          <p:cNvSpPr/>
          <p:nvPr/>
        </p:nvSpPr>
        <p:spPr>
          <a:xfrm>
            <a:off x="9308592" y="2276856"/>
            <a:ext cx="164592" cy="164592"/>
          </a:xfrm>
          <a:prstGeom prst="ellipse">
            <a:avLst/>
          </a:prstGeom>
          <a:solidFill>
            <a:srgbClr val="00D4FF"/>
          </a:solidFill>
          <a:ln w="1016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isk-dot-2"/>
          <p:cNvSpPr/>
          <p:nvPr/>
        </p:nvSpPr>
        <p:spPr>
          <a:xfrm>
            <a:off x="9308592" y="2807208"/>
            <a:ext cx="164592" cy="164592"/>
          </a:xfrm>
          <a:prstGeom prst="ellipse">
            <a:avLst/>
          </a:prstGeom>
          <a:solidFill>
            <a:srgbClr val="FFB347"/>
          </a:solidFill>
          <a:ln w="10160">
            <a:solidFill>
              <a:srgbClr val="FFB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isk-dot-3"/>
          <p:cNvSpPr/>
          <p:nvPr/>
        </p:nvSpPr>
        <p:spPr>
          <a:xfrm>
            <a:off x="9308592" y="3337560"/>
            <a:ext cx="164592" cy="164592"/>
          </a:xfrm>
          <a:prstGeom prst="ellipse">
            <a:avLst/>
          </a:prstGeom>
          <a:solidFill>
            <a:srgbClr val="00D4FF"/>
          </a:solidFill>
          <a:ln w="1016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isk-dot-4"/>
          <p:cNvSpPr/>
          <p:nvPr/>
        </p:nvSpPr>
        <p:spPr>
          <a:xfrm>
            <a:off x="9308592" y="3867912"/>
            <a:ext cx="164592" cy="164592"/>
          </a:xfrm>
          <a:prstGeom prst="ellipse">
            <a:avLst/>
          </a:prstGeom>
          <a:solidFill>
            <a:srgbClr val="FFB347"/>
          </a:solidFill>
          <a:ln w="10160">
            <a:solidFill>
              <a:srgbClr val="FFB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isk-dot-5"/>
          <p:cNvSpPr/>
          <p:nvPr/>
        </p:nvSpPr>
        <p:spPr>
          <a:xfrm>
            <a:off x="9308592" y="4398264"/>
            <a:ext cx="164592" cy="164592"/>
          </a:xfrm>
          <a:prstGeom prst="ellipse">
            <a:avLst/>
          </a:prstGeom>
          <a:solidFill>
            <a:srgbClr val="00D4FF"/>
          </a:solidFill>
          <a:ln w="1016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progress-fill"/>
          <p:cNvSpPr/>
          <p:nvPr/>
        </p:nvSpPr>
        <p:spPr>
          <a:xfrm>
            <a:off x="2249424" y="5687568"/>
            <a:ext cx="7406640" cy="384048"/>
          </a:xfrm>
          <a:prstGeom prst="roundRect">
            <a:avLst/>
          </a:prstGeom>
          <a:solidFill>
            <a:srgbClr val="00D4FF"/>
          </a:solidFill>
          <a:ln w="1016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profile-tag"/>
          <p:cNvSpPr txBox="1"/>
          <p:nvPr/>
        </p:nvSpPr>
        <p:spPr>
          <a:xfrm>
            <a:off x="457200" y="201168"/>
            <a:ext cx="768096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1" lang="en-US">
                <a:solidFill>
                  <a:srgbClr val="00D4FF"/>
                </a:solidFill>
                <a:latin typeface="Aptos"/>
              </a:rPr>
              <a:t>V3 STRESS SUITE  ·  GRADIENT MESH  ·  CONTROL ROOM</a:t>
            </a:r>
          </a:p>
        </p:txBody>
      </p:sp>
      <p:sp>
        <p:nvSpPr>
          <p:cNvPr id="38" name="slide-index"/>
          <p:cNvSpPr txBox="1"/>
          <p:nvPr/>
        </p:nvSpPr>
        <p:spPr>
          <a:xfrm>
            <a:off x="10808208" y="201168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00" b="1" lang="en-US">
                <a:solidFill>
                  <a:srgbClr val="F7F3FF"/>
                </a:solidFill>
                <a:latin typeface="Aptos"/>
              </a:rPr>
              <a:t>16/60</a:t>
            </a:r>
          </a:p>
        </p:txBody>
      </p:sp>
      <p:sp>
        <p:nvSpPr>
          <p:cNvPr id="39" name="title"/>
          <p:cNvSpPr txBox="1"/>
          <p:nvPr/>
        </p:nvSpPr>
        <p:spPr>
          <a:xfrm>
            <a:off x="457200" y="484632"/>
            <a:ext cx="11274552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200" b="1" lang="en-US">
                <a:solidFill>
                  <a:srgbClr val="FFFFFF"/>
                </a:solidFill>
                <a:latin typeface="Aptos Display"/>
              </a:rPr>
              <a:t>Control room layouts keep dense delivery signals governable</a:t>
            </a:r>
          </a:p>
        </p:txBody>
      </p:sp>
      <p:sp>
        <p:nvSpPr>
          <p:cNvPr id="40" name="footer"/>
          <p:cNvSpPr txBox="1"/>
          <p:nvPr/>
        </p:nvSpPr>
        <p:spPr>
          <a:xfrm>
            <a:off x="457200" y="6473952"/>
            <a:ext cx="1051560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0" lang="en-US">
                <a:solidFill>
                  <a:srgbClr val="F7F3FF"/>
                </a:solidFill>
                <a:latin typeface="Aptos"/>
              </a:rPr>
              <a:t>Native-object stress fixture · multi-point pink-violet-cyan-orange mesh and oversized type · editable geometry and recorded style lock</a:t>
            </a:r>
          </a:p>
        </p:txBody>
      </p:sp>
      <p:sp>
        <p:nvSpPr>
          <p:cNvPr id="41" name="nav-title"/>
          <p:cNvSpPr txBox="1"/>
          <p:nvPr/>
        </p:nvSpPr>
        <p:spPr>
          <a:xfrm>
            <a:off x="667512" y="1298448"/>
            <a:ext cx="1078992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1" lang="en-US">
                <a:solidFill>
                  <a:srgbClr val="00D4FF"/>
                </a:solidFill>
                <a:latin typeface="Aptos"/>
              </a:rPr>
              <a:t>CONTROL
PLANES</a:t>
            </a:r>
          </a:p>
        </p:txBody>
      </p:sp>
      <p:sp>
        <p:nvSpPr>
          <p:cNvPr id="42" name="nav-label-0"/>
          <p:cNvSpPr txBox="1"/>
          <p:nvPr/>
        </p:nvSpPr>
        <p:spPr>
          <a:xfrm>
            <a:off x="749808" y="1965960"/>
            <a:ext cx="932688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1" lang="en-US">
                <a:solidFill>
                  <a:srgbClr val="111111"/>
                </a:solidFill>
                <a:latin typeface="Aptos"/>
              </a:rPr>
              <a:t>INBOX</a:t>
            </a:r>
          </a:p>
        </p:txBody>
      </p:sp>
      <p:sp>
        <p:nvSpPr>
          <p:cNvPr id="43" name="nav-label-1"/>
          <p:cNvSpPr txBox="1"/>
          <p:nvPr/>
        </p:nvSpPr>
        <p:spPr>
          <a:xfrm>
            <a:off x="749808" y="2478024"/>
            <a:ext cx="932688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0" lang="en-US">
                <a:solidFill>
                  <a:srgbClr val="FFFFFF"/>
                </a:solidFill>
                <a:latin typeface="Aptos"/>
              </a:rPr>
              <a:t>SIGNALS</a:t>
            </a:r>
          </a:p>
        </p:txBody>
      </p:sp>
      <p:sp>
        <p:nvSpPr>
          <p:cNvPr id="44" name="nav-label-2"/>
          <p:cNvSpPr txBox="1"/>
          <p:nvPr/>
        </p:nvSpPr>
        <p:spPr>
          <a:xfrm>
            <a:off x="749808" y="2990088"/>
            <a:ext cx="932688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0" lang="en-US">
                <a:solidFill>
                  <a:srgbClr val="FFFFFF"/>
                </a:solidFill>
                <a:latin typeface="Aptos"/>
              </a:rPr>
              <a:t>EVIDENCE</a:t>
            </a:r>
          </a:p>
        </p:txBody>
      </p:sp>
      <p:sp>
        <p:nvSpPr>
          <p:cNvPr id="45" name="nav-label-3"/>
          <p:cNvSpPr txBox="1"/>
          <p:nvPr/>
        </p:nvSpPr>
        <p:spPr>
          <a:xfrm>
            <a:off x="749808" y="3502152"/>
            <a:ext cx="932688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0" lang="en-US">
                <a:solidFill>
                  <a:srgbClr val="FFFFFF"/>
                </a:solidFill>
                <a:latin typeface="Aptos"/>
              </a:rPr>
              <a:t>POLICY</a:t>
            </a:r>
          </a:p>
        </p:txBody>
      </p:sp>
      <p:sp>
        <p:nvSpPr>
          <p:cNvPr id="46" name="nav-label-4"/>
          <p:cNvSpPr txBox="1"/>
          <p:nvPr/>
        </p:nvSpPr>
        <p:spPr>
          <a:xfrm>
            <a:off x="749808" y="4014215"/>
            <a:ext cx="932688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0" lang="en-US">
                <a:solidFill>
                  <a:srgbClr val="FFFFFF"/>
                </a:solidFill>
                <a:latin typeface="Aptos"/>
              </a:rPr>
              <a:t>REPAIR</a:t>
            </a:r>
          </a:p>
        </p:txBody>
      </p:sp>
      <p:sp>
        <p:nvSpPr>
          <p:cNvPr id="47" name="nav-label-5"/>
          <p:cNvSpPr txBox="1"/>
          <p:nvPr/>
        </p:nvSpPr>
        <p:spPr>
          <a:xfrm>
            <a:off x="749808" y="4526280"/>
            <a:ext cx="932688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0" lang="en-US">
                <a:solidFill>
                  <a:srgbClr val="FFFFFF"/>
                </a:solidFill>
                <a:latin typeface="Aptos"/>
              </a:rPr>
              <a:t>RELEASE</a:t>
            </a:r>
          </a:p>
        </p:txBody>
      </p:sp>
      <p:sp>
        <p:nvSpPr>
          <p:cNvPr id="48" name="nav-label-6"/>
          <p:cNvSpPr txBox="1"/>
          <p:nvPr/>
        </p:nvSpPr>
        <p:spPr>
          <a:xfrm>
            <a:off x="749808" y="5038344"/>
            <a:ext cx="932688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0" lang="en-US">
                <a:solidFill>
                  <a:srgbClr val="FFFFFF"/>
                </a:solidFill>
                <a:latin typeface="Aptos"/>
              </a:rPr>
              <a:t>ARCHIVE</a:t>
            </a:r>
          </a:p>
        </p:txBody>
      </p:sp>
      <p:sp>
        <p:nvSpPr>
          <p:cNvPr id="49" name="metric-v-0"/>
          <p:cNvSpPr txBox="1"/>
          <p:nvPr/>
        </p:nvSpPr>
        <p:spPr>
          <a:xfrm>
            <a:off x="2432304" y="1234440"/>
            <a:ext cx="80467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lang="en-US">
                <a:solidFill>
                  <a:srgbClr val="FFFFFF"/>
                </a:solidFill>
                <a:latin typeface="Aptos Display"/>
              </a:rPr>
              <a:t>48</a:t>
            </a:r>
          </a:p>
        </p:txBody>
      </p:sp>
      <p:sp>
        <p:nvSpPr>
          <p:cNvPr id="50" name="metric-l-0"/>
          <p:cNvSpPr txBox="1"/>
          <p:nvPr/>
        </p:nvSpPr>
        <p:spPr>
          <a:xfrm>
            <a:off x="2359152" y="1581912"/>
            <a:ext cx="932688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F7F3FF"/>
                </a:solidFill>
                <a:latin typeface="Aptos"/>
              </a:rPr>
              <a:t>WORK</a:t>
            </a:r>
          </a:p>
        </p:txBody>
      </p:sp>
      <p:sp>
        <p:nvSpPr>
          <p:cNvPr id="51" name="metric-v-1"/>
          <p:cNvSpPr txBox="1"/>
          <p:nvPr/>
        </p:nvSpPr>
        <p:spPr>
          <a:xfrm>
            <a:off x="3739896" y="1234440"/>
            <a:ext cx="80467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lang="en-US">
                <a:solidFill>
                  <a:srgbClr val="FFFFFF"/>
                </a:solidFill>
                <a:latin typeface="Aptos Display"/>
              </a:rPr>
              <a:t>06</a:t>
            </a:r>
          </a:p>
        </p:txBody>
      </p:sp>
      <p:sp>
        <p:nvSpPr>
          <p:cNvPr id="52" name="metric-l-1"/>
          <p:cNvSpPr txBox="1"/>
          <p:nvPr/>
        </p:nvSpPr>
        <p:spPr>
          <a:xfrm>
            <a:off x="3666744" y="1581912"/>
            <a:ext cx="932688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F7F3FF"/>
                </a:solidFill>
                <a:latin typeface="Aptos"/>
              </a:rPr>
              <a:t>FLAGS</a:t>
            </a:r>
          </a:p>
        </p:txBody>
      </p:sp>
      <p:sp>
        <p:nvSpPr>
          <p:cNvPr id="53" name="metric-v-2"/>
          <p:cNvSpPr txBox="1"/>
          <p:nvPr/>
        </p:nvSpPr>
        <p:spPr>
          <a:xfrm>
            <a:off x="5047488" y="1234440"/>
            <a:ext cx="80467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lang="en-US">
                <a:solidFill>
                  <a:srgbClr val="FFFFFF"/>
                </a:solidFill>
                <a:latin typeface="Aptos Display"/>
              </a:rPr>
              <a:t>31</a:t>
            </a:r>
          </a:p>
        </p:txBody>
      </p:sp>
      <p:sp>
        <p:nvSpPr>
          <p:cNvPr id="54" name="metric-l-2"/>
          <p:cNvSpPr txBox="1"/>
          <p:nvPr/>
        </p:nvSpPr>
        <p:spPr>
          <a:xfrm>
            <a:off x="4974336" y="1581912"/>
            <a:ext cx="932688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F7F3FF"/>
                </a:solidFill>
                <a:latin typeface="Aptos"/>
              </a:rPr>
              <a:t>READY</a:t>
            </a:r>
          </a:p>
        </p:txBody>
      </p:sp>
      <p:sp>
        <p:nvSpPr>
          <p:cNvPr id="55" name="metric-v-3"/>
          <p:cNvSpPr txBox="1"/>
          <p:nvPr/>
        </p:nvSpPr>
        <p:spPr>
          <a:xfrm>
            <a:off x="6355080" y="1234440"/>
            <a:ext cx="80467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lang="en-US">
                <a:solidFill>
                  <a:srgbClr val="FFFFFF"/>
                </a:solidFill>
                <a:latin typeface="Aptos Display"/>
              </a:rPr>
              <a:t>04</a:t>
            </a:r>
          </a:p>
        </p:txBody>
      </p:sp>
      <p:sp>
        <p:nvSpPr>
          <p:cNvPr id="56" name="metric-l-3"/>
          <p:cNvSpPr txBox="1"/>
          <p:nvPr/>
        </p:nvSpPr>
        <p:spPr>
          <a:xfrm>
            <a:off x="6281928" y="1581912"/>
            <a:ext cx="932688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F7F3FF"/>
                </a:solidFill>
                <a:latin typeface="Aptos"/>
              </a:rPr>
              <a:t>HOLD</a:t>
            </a:r>
          </a:p>
        </p:txBody>
      </p:sp>
      <p:sp>
        <p:nvSpPr>
          <p:cNvPr id="57" name="metric-v-4"/>
          <p:cNvSpPr txBox="1"/>
          <p:nvPr/>
        </p:nvSpPr>
        <p:spPr>
          <a:xfrm>
            <a:off x="7662672" y="1234440"/>
            <a:ext cx="80467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lang="en-US">
                <a:solidFill>
                  <a:srgbClr val="FFFFFF"/>
                </a:solidFill>
                <a:latin typeface="Aptos Display"/>
              </a:rPr>
              <a:t>12</a:t>
            </a:r>
          </a:p>
        </p:txBody>
      </p:sp>
      <p:sp>
        <p:nvSpPr>
          <p:cNvPr id="58" name="metric-l-4"/>
          <p:cNvSpPr txBox="1"/>
          <p:nvPr/>
        </p:nvSpPr>
        <p:spPr>
          <a:xfrm>
            <a:off x="7589520" y="1581912"/>
            <a:ext cx="932688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F7F3FF"/>
                </a:solidFill>
                <a:latin typeface="Aptos"/>
              </a:rPr>
              <a:t>STYLE</a:t>
            </a:r>
          </a:p>
        </p:txBody>
      </p:sp>
      <p:sp>
        <p:nvSpPr>
          <p:cNvPr id="59" name="risk-title"/>
          <p:cNvSpPr txBox="1"/>
          <p:nvPr/>
        </p:nvSpPr>
        <p:spPr>
          <a:xfrm>
            <a:off x="9308592" y="1298448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1" lang="en-US">
                <a:solidFill>
                  <a:srgbClr val="00D4FF"/>
                </a:solidFill>
                <a:latin typeface="Aptos"/>
              </a:rPr>
              <a:t>LIVE REVIEW QUEUE</a:t>
            </a:r>
          </a:p>
        </p:txBody>
      </p:sp>
      <p:sp>
        <p:nvSpPr>
          <p:cNvPr id="60" name="risk-label-0"/>
          <p:cNvSpPr txBox="1"/>
          <p:nvPr/>
        </p:nvSpPr>
        <p:spPr>
          <a:xfrm>
            <a:off x="9619488" y="1691640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50" b="1" lang="en-US">
                <a:solidFill>
                  <a:srgbClr val="FFFFFF"/>
                </a:solidFill>
                <a:latin typeface="Aptos"/>
              </a:rPr>
              <a:t>Scope stable</a:t>
            </a:r>
          </a:p>
        </p:txBody>
      </p:sp>
      <p:sp>
        <p:nvSpPr>
          <p:cNvPr id="61" name="risk-state-0"/>
          <p:cNvSpPr txBox="1"/>
          <p:nvPr/>
        </p:nvSpPr>
        <p:spPr>
          <a:xfrm>
            <a:off x="10972800" y="169164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00" b="1" lang="en-US">
                <a:solidFill>
                  <a:srgbClr val="00D4FF"/>
                </a:solidFill>
                <a:latin typeface="Aptos"/>
              </a:rPr>
              <a:t>PASS</a:t>
            </a:r>
          </a:p>
        </p:txBody>
      </p:sp>
      <p:sp>
        <p:nvSpPr>
          <p:cNvPr id="62" name="risk-label-1"/>
          <p:cNvSpPr txBox="1"/>
          <p:nvPr/>
        </p:nvSpPr>
        <p:spPr>
          <a:xfrm>
            <a:off x="9619488" y="2221992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50" b="1" lang="en-US">
                <a:solidFill>
                  <a:srgbClr val="FFFFFF"/>
                </a:solidFill>
                <a:latin typeface="Aptos"/>
              </a:rPr>
              <a:t>Text capacity</a:t>
            </a:r>
          </a:p>
        </p:txBody>
      </p:sp>
      <p:sp>
        <p:nvSpPr>
          <p:cNvPr id="63" name="risk-state-1"/>
          <p:cNvSpPr txBox="1"/>
          <p:nvPr/>
        </p:nvSpPr>
        <p:spPr>
          <a:xfrm>
            <a:off x="10972800" y="2221992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00" b="1" lang="en-US">
                <a:solidFill>
                  <a:srgbClr val="00D4FF"/>
                </a:solidFill>
                <a:latin typeface="Aptos"/>
              </a:rPr>
              <a:t>PASS</a:t>
            </a:r>
          </a:p>
        </p:txBody>
      </p:sp>
      <p:sp>
        <p:nvSpPr>
          <p:cNvPr id="64" name="risk-label-2"/>
          <p:cNvSpPr txBox="1"/>
          <p:nvPr/>
        </p:nvSpPr>
        <p:spPr>
          <a:xfrm>
            <a:off x="9619488" y="2752344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50" b="1" lang="en-US">
                <a:solidFill>
                  <a:srgbClr val="FFFFFF"/>
                </a:solidFill>
                <a:latin typeface="Aptos"/>
              </a:rPr>
              <a:t>Contrast check</a:t>
            </a:r>
          </a:p>
        </p:txBody>
      </p:sp>
      <p:sp>
        <p:nvSpPr>
          <p:cNvPr id="65" name="risk-state-2"/>
          <p:cNvSpPr txBox="1"/>
          <p:nvPr/>
        </p:nvSpPr>
        <p:spPr>
          <a:xfrm>
            <a:off x="10972800" y="275234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00" b="1" lang="en-US">
                <a:solidFill>
                  <a:srgbClr val="FFB347"/>
                </a:solidFill>
                <a:latin typeface="Aptos"/>
              </a:rPr>
              <a:t>WATCH</a:t>
            </a:r>
          </a:p>
        </p:txBody>
      </p:sp>
      <p:sp>
        <p:nvSpPr>
          <p:cNvPr id="66" name="risk-label-3"/>
          <p:cNvSpPr txBox="1"/>
          <p:nvPr/>
        </p:nvSpPr>
        <p:spPr>
          <a:xfrm>
            <a:off x="9619488" y="3282696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50" b="1" lang="en-US">
                <a:solidFill>
                  <a:srgbClr val="FFFFFF"/>
                </a:solidFill>
                <a:latin typeface="Aptos"/>
              </a:rPr>
              <a:t>Table fit</a:t>
            </a:r>
          </a:p>
        </p:txBody>
      </p:sp>
      <p:sp>
        <p:nvSpPr>
          <p:cNvPr id="67" name="risk-state-3"/>
          <p:cNvSpPr txBox="1"/>
          <p:nvPr/>
        </p:nvSpPr>
        <p:spPr>
          <a:xfrm>
            <a:off x="10972800" y="3282696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00" b="1" lang="en-US">
                <a:solidFill>
                  <a:srgbClr val="00D4FF"/>
                </a:solidFill>
                <a:latin typeface="Aptos"/>
              </a:rPr>
              <a:t>PASS</a:t>
            </a:r>
          </a:p>
        </p:txBody>
      </p:sp>
      <p:sp>
        <p:nvSpPr>
          <p:cNvPr id="68" name="risk-label-4"/>
          <p:cNvSpPr txBox="1"/>
          <p:nvPr/>
        </p:nvSpPr>
        <p:spPr>
          <a:xfrm>
            <a:off x="9619488" y="3813048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50" b="1" lang="en-US">
                <a:solidFill>
                  <a:srgbClr val="FFFFFF"/>
                </a:solidFill>
                <a:latin typeface="Aptos"/>
              </a:rPr>
              <a:t>Read order</a:t>
            </a:r>
          </a:p>
        </p:txBody>
      </p:sp>
      <p:sp>
        <p:nvSpPr>
          <p:cNvPr id="69" name="risk-state-4"/>
          <p:cNvSpPr txBox="1"/>
          <p:nvPr/>
        </p:nvSpPr>
        <p:spPr>
          <a:xfrm>
            <a:off x="10972800" y="3813048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00" b="1" lang="en-US">
                <a:solidFill>
                  <a:srgbClr val="FFB347"/>
                </a:solidFill>
                <a:latin typeface="Aptos"/>
              </a:rPr>
              <a:t>WATCH</a:t>
            </a:r>
          </a:p>
        </p:txBody>
      </p:sp>
      <p:sp>
        <p:nvSpPr>
          <p:cNvPr id="70" name="risk-label-5"/>
          <p:cNvSpPr txBox="1"/>
          <p:nvPr/>
        </p:nvSpPr>
        <p:spPr>
          <a:xfrm>
            <a:off x="9619488" y="4343400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50" b="1" lang="en-US">
                <a:solidFill>
                  <a:srgbClr val="FFFFFF"/>
                </a:solidFill>
                <a:latin typeface="Aptos"/>
              </a:rPr>
              <a:t>Package</a:t>
            </a:r>
          </a:p>
        </p:txBody>
      </p:sp>
      <p:sp>
        <p:nvSpPr>
          <p:cNvPr id="71" name="risk-state-5"/>
          <p:cNvSpPr txBox="1"/>
          <p:nvPr/>
        </p:nvSpPr>
        <p:spPr>
          <a:xfrm>
            <a:off x="10972800" y="434340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00" b="1" lang="en-US">
                <a:solidFill>
                  <a:srgbClr val="00D4FF"/>
                </a:solidFill>
                <a:latin typeface="Aptos"/>
              </a:rPr>
              <a:t>PASS</a:t>
            </a:r>
          </a:p>
        </p:txBody>
      </p:sp>
      <p:sp>
        <p:nvSpPr>
          <p:cNvPr id="72" name="progress-label"/>
          <p:cNvSpPr txBox="1"/>
          <p:nvPr/>
        </p:nvSpPr>
        <p:spPr>
          <a:xfrm>
            <a:off x="2468880" y="5788152"/>
            <a:ext cx="886968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50" b="1" lang="en-US">
                <a:solidFill>
                  <a:srgbClr val="111111"/>
                </a:solidFill>
                <a:latin typeface="Aptos"/>
              </a:rPr>
              <a:t>Stress workload: 78% complete · 12 profiles locked · 0 geometry regressions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B61FF"/>
          </a:solidFill>
          <a:ln w="10160">
            <a:solidFill>
              <a:srgbClr val="7B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glow-0"/>
          <p:cNvSpPr/>
          <p:nvPr/>
        </p:nvSpPr>
        <p:spPr>
          <a:xfrm>
            <a:off x="8046720" y="320040"/>
            <a:ext cx="2926080" cy="2926080"/>
          </a:xfrm>
          <a:prstGeom prst="ellipse">
            <a:avLst/>
          </a:prstGeom>
          <a:solidFill>
            <a:srgbClr val="00D4FF"/>
          </a:solidFill>
          <a:ln w="1016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glow-1"/>
          <p:cNvSpPr/>
          <p:nvPr/>
        </p:nvSpPr>
        <p:spPr>
          <a:xfrm>
            <a:off x="9509760" y="3383280"/>
            <a:ext cx="2011680" cy="2011680"/>
          </a:xfrm>
          <a:prstGeom prst="ellipse">
            <a:avLst/>
          </a:prstGeom>
          <a:solidFill>
            <a:srgbClr val="FF6EC7"/>
          </a:solidFill>
          <a:ln w="10160">
            <a:solidFill>
              <a:srgbClr val="FF6E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glow-2"/>
          <p:cNvSpPr/>
          <p:nvPr/>
        </p:nvSpPr>
        <p:spPr>
          <a:xfrm>
            <a:off x="7132320" y="4663440"/>
            <a:ext cx="1645920" cy="1645920"/>
          </a:xfrm>
          <a:prstGeom prst="ellipse">
            <a:avLst/>
          </a:prstGeom>
          <a:solidFill>
            <a:srgbClr val="FFB347"/>
          </a:solidFill>
          <a:ln w="10160">
            <a:solidFill>
              <a:srgbClr val="FFB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op-band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D4FF"/>
          </a:solidFill>
          <a:ln w="1016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mesh-shell"/>
          <p:cNvSpPr/>
          <p:nvPr/>
        </p:nvSpPr>
        <p:spPr>
          <a:xfrm>
            <a:off x="457200" y="1078992"/>
            <a:ext cx="7360920" cy="5029200"/>
          </a:xfrm>
          <a:prstGeom prst="roundRect">
            <a:avLst/>
          </a:prstGeom>
          <a:solidFill>
            <a:srgbClr val="FF6EC7"/>
          </a:solidFill>
          <a:ln w="10160">
            <a:solidFill>
              <a:srgbClr val="B6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mesh-rail-shell"/>
          <p:cNvSpPr/>
          <p:nvPr/>
        </p:nvSpPr>
        <p:spPr>
          <a:xfrm>
            <a:off x="8092440" y="1078992"/>
            <a:ext cx="3639312" cy="5029200"/>
          </a:xfrm>
          <a:prstGeom prst="roundRect">
            <a:avLst/>
          </a:prstGeom>
          <a:solidFill>
            <a:srgbClr val="6B52DC"/>
          </a:solidFill>
          <a:ln w="10160">
            <a:solidFill>
              <a:srgbClr val="B6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mesh-accent"/>
          <p:cNvSpPr/>
          <p:nvPr/>
        </p:nvSpPr>
        <p:spPr>
          <a:xfrm>
            <a:off x="457200" y="1078992"/>
            <a:ext cx="73152" cy="5029200"/>
          </a:xfrm>
          <a:prstGeom prst="rect">
            <a:avLst/>
          </a:prstGeom>
          <a:solidFill>
            <a:srgbClr val="00D4FF"/>
          </a:solidFill>
          <a:ln w="1016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mesh-edge-0"/>
          <p:cNvCxnSpPr/>
          <p:nvPr/>
        </p:nvCxnSpPr>
        <p:spPr>
          <a:xfrm flipV="1">
            <a:off x="1618488" y="1920240"/>
            <a:ext cx="1828800" cy="320040"/>
          </a:xfrm>
          <a:prstGeom prst="line">
            <a:avLst/>
          </a:prstGeom>
          <a:ln w="13970">
            <a:solidFill>
              <a:srgbClr val="B6A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mesh-edge-1"/>
          <p:cNvCxnSpPr/>
          <p:nvPr/>
        </p:nvCxnSpPr>
        <p:spPr>
          <a:xfrm>
            <a:off x="3447288" y="1920240"/>
            <a:ext cx="1920240" cy="320040"/>
          </a:xfrm>
          <a:prstGeom prst="line">
            <a:avLst/>
          </a:prstGeom>
          <a:ln w="13970">
            <a:solidFill>
              <a:srgbClr val="B6A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mesh-edge-2"/>
          <p:cNvCxnSpPr/>
          <p:nvPr/>
        </p:nvCxnSpPr>
        <p:spPr>
          <a:xfrm>
            <a:off x="1618488" y="2240280"/>
            <a:ext cx="868680" cy="1325880"/>
          </a:xfrm>
          <a:prstGeom prst="line">
            <a:avLst/>
          </a:prstGeom>
          <a:ln w="13970">
            <a:solidFill>
              <a:srgbClr val="B6A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mesh-edge-3"/>
          <p:cNvCxnSpPr/>
          <p:nvPr/>
        </p:nvCxnSpPr>
        <p:spPr>
          <a:xfrm flipH="1">
            <a:off x="2487168" y="1920240"/>
            <a:ext cx="960120" cy="1645920"/>
          </a:xfrm>
          <a:prstGeom prst="line">
            <a:avLst/>
          </a:prstGeom>
          <a:ln w="13970">
            <a:solidFill>
              <a:srgbClr val="B6A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mesh-edge-4"/>
          <p:cNvCxnSpPr/>
          <p:nvPr/>
        </p:nvCxnSpPr>
        <p:spPr>
          <a:xfrm>
            <a:off x="3447288" y="1920240"/>
            <a:ext cx="1005840" cy="1307592"/>
          </a:xfrm>
          <a:prstGeom prst="line">
            <a:avLst/>
          </a:prstGeom>
          <a:ln w="13970">
            <a:solidFill>
              <a:srgbClr val="B6A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mesh-edge-5"/>
          <p:cNvCxnSpPr/>
          <p:nvPr/>
        </p:nvCxnSpPr>
        <p:spPr>
          <a:xfrm flipH="1">
            <a:off x="4453128" y="2240280"/>
            <a:ext cx="914400" cy="987552"/>
          </a:xfrm>
          <a:prstGeom prst="line">
            <a:avLst/>
          </a:prstGeom>
          <a:ln w="13970">
            <a:solidFill>
              <a:srgbClr val="B6A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mesh-edge-6"/>
          <p:cNvCxnSpPr/>
          <p:nvPr/>
        </p:nvCxnSpPr>
        <p:spPr>
          <a:xfrm>
            <a:off x="5367528" y="2240280"/>
            <a:ext cx="1005840" cy="1325880"/>
          </a:xfrm>
          <a:prstGeom prst="line">
            <a:avLst/>
          </a:prstGeom>
          <a:ln w="13970">
            <a:solidFill>
              <a:srgbClr val="B6A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mesh-edge-7"/>
          <p:cNvCxnSpPr/>
          <p:nvPr/>
        </p:nvCxnSpPr>
        <p:spPr>
          <a:xfrm flipV="1">
            <a:off x="2487168" y="3227832"/>
            <a:ext cx="1965960" cy="338328"/>
          </a:xfrm>
          <a:prstGeom prst="line">
            <a:avLst/>
          </a:prstGeom>
          <a:ln w="13970">
            <a:solidFill>
              <a:srgbClr val="B6A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mesh-edge-8"/>
          <p:cNvCxnSpPr/>
          <p:nvPr/>
        </p:nvCxnSpPr>
        <p:spPr>
          <a:xfrm>
            <a:off x="4453128" y="3227832"/>
            <a:ext cx="1920240" cy="338328"/>
          </a:xfrm>
          <a:prstGeom prst="line">
            <a:avLst/>
          </a:prstGeom>
          <a:ln w="13970">
            <a:solidFill>
              <a:srgbClr val="B6A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mesh-edge-9"/>
          <p:cNvCxnSpPr/>
          <p:nvPr/>
        </p:nvCxnSpPr>
        <p:spPr>
          <a:xfrm>
            <a:off x="2487168" y="3566160"/>
            <a:ext cx="960120" cy="1325880"/>
          </a:xfrm>
          <a:prstGeom prst="line">
            <a:avLst/>
          </a:prstGeom>
          <a:ln w="13970">
            <a:solidFill>
              <a:srgbClr val="B6A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mesh-edge-10"/>
          <p:cNvCxnSpPr/>
          <p:nvPr/>
        </p:nvCxnSpPr>
        <p:spPr>
          <a:xfrm flipH="1">
            <a:off x="3447288" y="3227832"/>
            <a:ext cx="1005840" cy="1664208"/>
          </a:xfrm>
          <a:prstGeom prst="line">
            <a:avLst/>
          </a:prstGeom>
          <a:ln w="13970">
            <a:solidFill>
              <a:srgbClr val="B6A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mesh-edge-11"/>
          <p:cNvCxnSpPr/>
          <p:nvPr/>
        </p:nvCxnSpPr>
        <p:spPr>
          <a:xfrm>
            <a:off x="4453128" y="3227832"/>
            <a:ext cx="914400" cy="1664208"/>
          </a:xfrm>
          <a:prstGeom prst="line">
            <a:avLst/>
          </a:prstGeom>
          <a:ln w="13970">
            <a:solidFill>
              <a:srgbClr val="B6A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mesh-edge-12"/>
          <p:cNvCxnSpPr/>
          <p:nvPr/>
        </p:nvCxnSpPr>
        <p:spPr>
          <a:xfrm flipH="1">
            <a:off x="5367528" y="3566160"/>
            <a:ext cx="1005840" cy="1325880"/>
          </a:xfrm>
          <a:prstGeom prst="line">
            <a:avLst/>
          </a:prstGeom>
          <a:ln w="13970">
            <a:solidFill>
              <a:srgbClr val="B6A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mesh-edge-13"/>
          <p:cNvCxnSpPr/>
          <p:nvPr/>
        </p:nvCxnSpPr>
        <p:spPr>
          <a:xfrm>
            <a:off x="3447288" y="4892040"/>
            <a:ext cx="1920240" cy="0"/>
          </a:xfrm>
          <a:prstGeom prst="line">
            <a:avLst/>
          </a:prstGeom>
          <a:ln w="13970">
            <a:solidFill>
              <a:srgbClr val="B6A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mesh-rail-accent"/>
          <p:cNvSpPr/>
          <p:nvPr/>
        </p:nvSpPr>
        <p:spPr>
          <a:xfrm>
            <a:off x="8092440" y="1078992"/>
            <a:ext cx="73152" cy="5029200"/>
          </a:xfrm>
          <a:prstGeom prst="rect">
            <a:avLst/>
          </a:prstGeom>
          <a:solidFill>
            <a:srgbClr val="00D4FF"/>
          </a:solidFill>
          <a:ln w="1016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trace-line-0"/>
          <p:cNvCxnSpPr/>
          <p:nvPr/>
        </p:nvCxnSpPr>
        <p:spPr>
          <a:xfrm>
            <a:off x="8577072" y="2029968"/>
            <a:ext cx="0" cy="164592"/>
          </a:xfrm>
          <a:prstGeom prst="line">
            <a:avLst/>
          </a:prstGeom>
          <a:ln w="1397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trace-line-1"/>
          <p:cNvCxnSpPr/>
          <p:nvPr/>
        </p:nvCxnSpPr>
        <p:spPr>
          <a:xfrm>
            <a:off x="8577072" y="2596896"/>
            <a:ext cx="0" cy="164592"/>
          </a:xfrm>
          <a:prstGeom prst="line">
            <a:avLst/>
          </a:prstGeom>
          <a:ln w="13970">
            <a:solidFill>
              <a:srgbClr val="FF6E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trace-line-2"/>
          <p:cNvCxnSpPr/>
          <p:nvPr/>
        </p:nvCxnSpPr>
        <p:spPr>
          <a:xfrm>
            <a:off x="8577072" y="3163824"/>
            <a:ext cx="0" cy="164592"/>
          </a:xfrm>
          <a:prstGeom prst="line">
            <a:avLst/>
          </a:prstGeom>
          <a:ln w="13970">
            <a:solidFill>
              <a:srgbClr val="FFB3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trace-line-3"/>
          <p:cNvCxnSpPr/>
          <p:nvPr/>
        </p:nvCxnSpPr>
        <p:spPr>
          <a:xfrm>
            <a:off x="8577072" y="3730752"/>
            <a:ext cx="0" cy="164592"/>
          </a:xfrm>
          <a:prstGeom prst="line">
            <a:avLst/>
          </a:prstGeom>
          <a:ln w="13970">
            <a:solidFill>
              <a:srgbClr val="FFB3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trace-line-4"/>
          <p:cNvCxnSpPr/>
          <p:nvPr/>
        </p:nvCxnSpPr>
        <p:spPr>
          <a:xfrm>
            <a:off x="8577072" y="4297680"/>
            <a:ext cx="0" cy="164592"/>
          </a:xfrm>
          <a:prstGeom prst="line">
            <a:avLst/>
          </a:prstGeom>
          <a:ln w="1397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trace-line-5"/>
          <p:cNvCxnSpPr/>
          <p:nvPr/>
        </p:nvCxnSpPr>
        <p:spPr>
          <a:xfrm>
            <a:off x="8577072" y="4864608"/>
            <a:ext cx="0" cy="164592"/>
          </a:xfrm>
          <a:prstGeom prst="line">
            <a:avLst/>
          </a:prstGeom>
          <a:ln w="13970">
            <a:solidFill>
              <a:srgbClr val="FF6E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mesh-node-0"/>
          <p:cNvSpPr/>
          <p:nvPr/>
        </p:nvSpPr>
        <p:spPr>
          <a:xfrm>
            <a:off x="1051560" y="1920240"/>
            <a:ext cx="1143000" cy="640080"/>
          </a:xfrm>
          <a:prstGeom prst="roundRect">
            <a:avLst/>
          </a:prstGeom>
          <a:solidFill>
            <a:srgbClr val="00D4FF"/>
          </a:solidFill>
          <a:ln w="1016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mesh-node-1"/>
          <p:cNvSpPr/>
          <p:nvPr/>
        </p:nvSpPr>
        <p:spPr>
          <a:xfrm>
            <a:off x="2880360" y="1600200"/>
            <a:ext cx="1143000" cy="640080"/>
          </a:xfrm>
          <a:prstGeom prst="roundRect">
            <a:avLst/>
          </a:prstGeom>
          <a:solidFill>
            <a:srgbClr val="FF6EC7"/>
          </a:solidFill>
          <a:ln w="10160">
            <a:solidFill>
              <a:srgbClr val="FF6E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mesh-node-2"/>
          <p:cNvSpPr/>
          <p:nvPr/>
        </p:nvSpPr>
        <p:spPr>
          <a:xfrm>
            <a:off x="4800600" y="1920240"/>
            <a:ext cx="1143000" cy="640080"/>
          </a:xfrm>
          <a:prstGeom prst="roundRect">
            <a:avLst/>
          </a:prstGeom>
          <a:solidFill>
            <a:srgbClr val="FFB347"/>
          </a:solidFill>
          <a:ln w="10160">
            <a:solidFill>
              <a:srgbClr val="FFB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mesh-node-3"/>
          <p:cNvSpPr/>
          <p:nvPr/>
        </p:nvSpPr>
        <p:spPr>
          <a:xfrm>
            <a:off x="1920240" y="3246120"/>
            <a:ext cx="1143000" cy="640080"/>
          </a:xfrm>
          <a:prstGeom prst="roundRect">
            <a:avLst/>
          </a:prstGeom>
          <a:solidFill>
            <a:srgbClr val="00D4FF"/>
          </a:solidFill>
          <a:ln w="1016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mesh-node-4"/>
          <p:cNvSpPr/>
          <p:nvPr/>
        </p:nvSpPr>
        <p:spPr>
          <a:xfrm>
            <a:off x="3886200" y="2907792"/>
            <a:ext cx="1143000" cy="640080"/>
          </a:xfrm>
          <a:prstGeom prst="roundRect">
            <a:avLst/>
          </a:prstGeom>
          <a:solidFill>
            <a:srgbClr val="FFB347"/>
          </a:solidFill>
          <a:ln w="10160">
            <a:solidFill>
              <a:srgbClr val="FFB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mesh-node-5"/>
          <p:cNvSpPr/>
          <p:nvPr/>
        </p:nvSpPr>
        <p:spPr>
          <a:xfrm>
            <a:off x="5806440" y="3246120"/>
            <a:ext cx="1143000" cy="640080"/>
          </a:xfrm>
          <a:prstGeom prst="roundRect">
            <a:avLst/>
          </a:prstGeom>
          <a:solidFill>
            <a:srgbClr val="00D4FF"/>
          </a:solidFill>
          <a:ln w="1016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mesh-node-6"/>
          <p:cNvSpPr/>
          <p:nvPr/>
        </p:nvSpPr>
        <p:spPr>
          <a:xfrm>
            <a:off x="2880360" y="4572000"/>
            <a:ext cx="1143000" cy="640080"/>
          </a:xfrm>
          <a:prstGeom prst="roundRect">
            <a:avLst/>
          </a:prstGeom>
          <a:solidFill>
            <a:srgbClr val="FF6EC7"/>
          </a:solidFill>
          <a:ln w="10160">
            <a:solidFill>
              <a:srgbClr val="FF6E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mesh-node-7"/>
          <p:cNvSpPr/>
          <p:nvPr/>
        </p:nvSpPr>
        <p:spPr>
          <a:xfrm>
            <a:off x="4800600" y="4572000"/>
            <a:ext cx="1143000" cy="640080"/>
          </a:xfrm>
          <a:prstGeom prst="roundRect">
            <a:avLst/>
          </a:prstGeom>
          <a:solidFill>
            <a:srgbClr val="00D4FF"/>
          </a:solidFill>
          <a:ln w="1016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race-badge-0"/>
          <p:cNvSpPr/>
          <p:nvPr/>
        </p:nvSpPr>
        <p:spPr>
          <a:xfrm>
            <a:off x="8357616" y="1682496"/>
            <a:ext cx="438912" cy="347472"/>
          </a:xfrm>
          <a:prstGeom prst="roundRect">
            <a:avLst/>
          </a:prstGeom>
          <a:solidFill>
            <a:srgbClr val="00D4FF"/>
          </a:solidFill>
          <a:ln w="1016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race-badge-1"/>
          <p:cNvSpPr/>
          <p:nvPr/>
        </p:nvSpPr>
        <p:spPr>
          <a:xfrm>
            <a:off x="8357616" y="2249424"/>
            <a:ext cx="438912" cy="347472"/>
          </a:xfrm>
          <a:prstGeom prst="roundRect">
            <a:avLst/>
          </a:prstGeom>
          <a:solidFill>
            <a:srgbClr val="FF6EC7"/>
          </a:solidFill>
          <a:ln w="10160">
            <a:solidFill>
              <a:srgbClr val="FF6E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race-badge-2"/>
          <p:cNvSpPr/>
          <p:nvPr/>
        </p:nvSpPr>
        <p:spPr>
          <a:xfrm>
            <a:off x="8357616" y="2816352"/>
            <a:ext cx="438912" cy="347472"/>
          </a:xfrm>
          <a:prstGeom prst="roundRect">
            <a:avLst/>
          </a:prstGeom>
          <a:solidFill>
            <a:srgbClr val="FFB347"/>
          </a:solidFill>
          <a:ln w="10160">
            <a:solidFill>
              <a:srgbClr val="FFB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race-badge-3"/>
          <p:cNvSpPr/>
          <p:nvPr/>
        </p:nvSpPr>
        <p:spPr>
          <a:xfrm>
            <a:off x="8357616" y="3383280"/>
            <a:ext cx="438912" cy="347472"/>
          </a:xfrm>
          <a:prstGeom prst="roundRect">
            <a:avLst/>
          </a:prstGeom>
          <a:solidFill>
            <a:srgbClr val="FFB347"/>
          </a:solidFill>
          <a:ln w="10160">
            <a:solidFill>
              <a:srgbClr val="FFB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race-badge-4"/>
          <p:cNvSpPr/>
          <p:nvPr/>
        </p:nvSpPr>
        <p:spPr>
          <a:xfrm>
            <a:off x="8357616" y="3950208"/>
            <a:ext cx="438912" cy="347472"/>
          </a:xfrm>
          <a:prstGeom prst="roundRect">
            <a:avLst/>
          </a:prstGeom>
          <a:solidFill>
            <a:srgbClr val="00D4FF"/>
          </a:solidFill>
          <a:ln w="1016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race-badge-5"/>
          <p:cNvSpPr/>
          <p:nvPr/>
        </p:nvSpPr>
        <p:spPr>
          <a:xfrm>
            <a:off x="8357616" y="4517136"/>
            <a:ext cx="438912" cy="347472"/>
          </a:xfrm>
          <a:prstGeom prst="roundRect">
            <a:avLst/>
          </a:prstGeom>
          <a:solidFill>
            <a:srgbClr val="FF6EC7"/>
          </a:solidFill>
          <a:ln w="10160">
            <a:solidFill>
              <a:srgbClr val="FF6E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profile-tag"/>
          <p:cNvSpPr txBox="1"/>
          <p:nvPr/>
        </p:nvSpPr>
        <p:spPr>
          <a:xfrm>
            <a:off x="457200" y="201168"/>
            <a:ext cx="768096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1" lang="en-US">
                <a:solidFill>
                  <a:srgbClr val="00D4FF"/>
                </a:solidFill>
                <a:latin typeface="Aptos"/>
              </a:rPr>
              <a:t>V3 STRESS SUITE  ·  GRADIENT MESH  ·  EVIDENCE MESH</a:t>
            </a:r>
          </a:p>
        </p:txBody>
      </p:sp>
      <p:sp>
        <p:nvSpPr>
          <p:cNvPr id="46" name="slide-index"/>
          <p:cNvSpPr txBox="1"/>
          <p:nvPr/>
        </p:nvSpPr>
        <p:spPr>
          <a:xfrm>
            <a:off x="10808208" y="201168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00" b="1" lang="en-US">
                <a:solidFill>
                  <a:srgbClr val="F7F3FF"/>
                </a:solidFill>
                <a:latin typeface="Aptos"/>
              </a:rPr>
              <a:t>17/60</a:t>
            </a:r>
          </a:p>
        </p:txBody>
      </p:sp>
      <p:sp>
        <p:nvSpPr>
          <p:cNvPr id="47" name="title"/>
          <p:cNvSpPr txBox="1"/>
          <p:nvPr/>
        </p:nvSpPr>
        <p:spPr>
          <a:xfrm>
            <a:off x="457200" y="484632"/>
            <a:ext cx="11274552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200" b="1" lang="en-US">
                <a:solidFill>
                  <a:srgbClr val="FFFFFF"/>
                </a:solidFill>
                <a:latin typeface="Aptos Display"/>
              </a:rPr>
              <a:t>Evidence meshes preserve traceability across a dense editable graph</a:t>
            </a:r>
          </a:p>
        </p:txBody>
      </p:sp>
      <p:sp>
        <p:nvSpPr>
          <p:cNvPr id="48" name="footer"/>
          <p:cNvSpPr txBox="1"/>
          <p:nvPr/>
        </p:nvSpPr>
        <p:spPr>
          <a:xfrm>
            <a:off x="457200" y="6473952"/>
            <a:ext cx="1051560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0" lang="en-US">
                <a:solidFill>
                  <a:srgbClr val="F7F3FF"/>
                </a:solidFill>
                <a:latin typeface="Aptos"/>
              </a:rPr>
              <a:t>Native-object stress fixture · multi-point pink-violet-cyan-orange mesh and oversized type · editable geometry and recorded style lock</a:t>
            </a:r>
          </a:p>
        </p:txBody>
      </p:sp>
      <p:sp>
        <p:nvSpPr>
          <p:cNvPr id="49" name="mesh-title"/>
          <p:cNvSpPr txBox="1"/>
          <p:nvPr/>
        </p:nvSpPr>
        <p:spPr>
          <a:xfrm>
            <a:off x="713232" y="1298448"/>
            <a:ext cx="320040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1" lang="en-US">
                <a:solidFill>
                  <a:srgbClr val="00D4FF"/>
                </a:solidFill>
                <a:latin typeface="Aptos"/>
              </a:rPr>
              <a:t>EVIDENCE ROUTING MESH</a:t>
            </a:r>
          </a:p>
        </p:txBody>
      </p:sp>
      <p:sp>
        <p:nvSpPr>
          <p:cNvPr id="50" name="mesh-label-0"/>
          <p:cNvSpPr txBox="1"/>
          <p:nvPr/>
        </p:nvSpPr>
        <p:spPr>
          <a:xfrm>
            <a:off x="1143000" y="2139696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lang="en-US">
                <a:solidFill>
                  <a:srgbClr val="111111"/>
                </a:solidFill>
                <a:latin typeface="Aptos"/>
              </a:rPr>
              <a:t>Request</a:t>
            </a:r>
          </a:p>
        </p:txBody>
      </p:sp>
      <p:sp>
        <p:nvSpPr>
          <p:cNvPr id="51" name="mesh-label-1"/>
          <p:cNvSpPr txBox="1"/>
          <p:nvPr/>
        </p:nvSpPr>
        <p:spPr>
          <a:xfrm>
            <a:off x="2971800" y="1819656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lang="en-US">
                <a:solidFill>
                  <a:srgbClr val="111111"/>
                </a:solidFill>
                <a:latin typeface="Aptos"/>
              </a:rPr>
              <a:t>Profile</a:t>
            </a:r>
          </a:p>
        </p:txBody>
      </p:sp>
      <p:sp>
        <p:nvSpPr>
          <p:cNvPr id="52" name="mesh-label-2"/>
          <p:cNvSpPr txBox="1"/>
          <p:nvPr/>
        </p:nvSpPr>
        <p:spPr>
          <a:xfrm>
            <a:off x="4892040" y="2139696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lang="en-US">
                <a:solidFill>
                  <a:srgbClr val="111111"/>
                </a:solidFill>
                <a:latin typeface="Aptos"/>
              </a:rPr>
              <a:t>Source</a:t>
            </a:r>
          </a:p>
        </p:txBody>
      </p:sp>
      <p:sp>
        <p:nvSpPr>
          <p:cNvPr id="53" name="mesh-label-3"/>
          <p:cNvSpPr txBox="1"/>
          <p:nvPr/>
        </p:nvSpPr>
        <p:spPr>
          <a:xfrm>
            <a:off x="2011680" y="3465576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lang="en-US">
                <a:solidFill>
                  <a:srgbClr val="111111"/>
                </a:solidFill>
                <a:latin typeface="Aptos"/>
              </a:rPr>
              <a:t>Spec</a:t>
            </a:r>
          </a:p>
        </p:txBody>
      </p:sp>
      <p:sp>
        <p:nvSpPr>
          <p:cNvPr id="54" name="mesh-label-4"/>
          <p:cNvSpPr txBox="1"/>
          <p:nvPr/>
        </p:nvSpPr>
        <p:spPr>
          <a:xfrm>
            <a:off x="3977639" y="3127248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lang="en-US">
                <a:solidFill>
                  <a:srgbClr val="111111"/>
                </a:solidFill>
                <a:latin typeface="Aptos"/>
              </a:rPr>
              <a:t>Audit</a:t>
            </a:r>
          </a:p>
        </p:txBody>
      </p:sp>
      <p:sp>
        <p:nvSpPr>
          <p:cNvPr id="55" name="mesh-label-5"/>
          <p:cNvSpPr txBox="1"/>
          <p:nvPr/>
        </p:nvSpPr>
        <p:spPr>
          <a:xfrm>
            <a:off x="5897880" y="3465576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lang="en-US">
                <a:solidFill>
                  <a:srgbClr val="111111"/>
                </a:solidFill>
                <a:latin typeface="Aptos"/>
              </a:rPr>
              <a:t>Render</a:t>
            </a:r>
          </a:p>
        </p:txBody>
      </p:sp>
      <p:sp>
        <p:nvSpPr>
          <p:cNvPr id="56" name="mesh-label-6"/>
          <p:cNvSpPr txBox="1"/>
          <p:nvPr/>
        </p:nvSpPr>
        <p:spPr>
          <a:xfrm>
            <a:off x="2971800" y="4791456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lang="en-US">
                <a:solidFill>
                  <a:srgbClr val="111111"/>
                </a:solidFill>
                <a:latin typeface="Aptos"/>
              </a:rPr>
              <a:t>Repair</a:t>
            </a:r>
          </a:p>
        </p:txBody>
      </p:sp>
      <p:sp>
        <p:nvSpPr>
          <p:cNvPr id="57" name="mesh-label-7"/>
          <p:cNvSpPr txBox="1"/>
          <p:nvPr/>
        </p:nvSpPr>
        <p:spPr>
          <a:xfrm>
            <a:off x="4892040" y="4791456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lang="en-US">
                <a:solidFill>
                  <a:srgbClr val="111111"/>
                </a:solidFill>
                <a:latin typeface="Aptos"/>
              </a:rPr>
              <a:t>Ship</a:t>
            </a:r>
          </a:p>
        </p:txBody>
      </p:sp>
      <p:sp>
        <p:nvSpPr>
          <p:cNvPr id="58" name="mesh-rail-title"/>
          <p:cNvSpPr txBox="1"/>
          <p:nvPr/>
        </p:nvSpPr>
        <p:spPr>
          <a:xfrm>
            <a:off x="8357616" y="1298448"/>
            <a:ext cx="265176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1" lang="en-US">
                <a:solidFill>
                  <a:srgbClr val="00D4FF"/>
                </a:solidFill>
                <a:latin typeface="Aptos"/>
              </a:rPr>
              <a:t>TRACEABILITY</a:t>
            </a:r>
          </a:p>
        </p:txBody>
      </p:sp>
      <p:sp>
        <p:nvSpPr>
          <p:cNvPr id="59" name="trace-number-0"/>
          <p:cNvSpPr txBox="1"/>
          <p:nvPr/>
        </p:nvSpPr>
        <p:spPr>
          <a:xfrm>
            <a:off x="8375904" y="1783080"/>
            <a:ext cx="402336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111111"/>
                </a:solidFill>
                <a:latin typeface="Aptos"/>
              </a:rPr>
              <a:t>01</a:t>
            </a:r>
          </a:p>
        </p:txBody>
      </p:sp>
      <p:sp>
        <p:nvSpPr>
          <p:cNvPr id="60" name="trace-label-0"/>
          <p:cNvSpPr txBox="1"/>
          <p:nvPr/>
        </p:nvSpPr>
        <p:spPr>
          <a:xfrm>
            <a:off x="8979408" y="173736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1" lang="en-US">
                <a:solidFill>
                  <a:srgbClr val="FFFFFF"/>
                </a:solidFill>
                <a:latin typeface="Aptos"/>
              </a:rPr>
              <a:t>Intent</a:t>
            </a:r>
          </a:p>
        </p:txBody>
      </p:sp>
      <p:sp>
        <p:nvSpPr>
          <p:cNvPr id="61" name="trace-number-1"/>
          <p:cNvSpPr txBox="1"/>
          <p:nvPr/>
        </p:nvSpPr>
        <p:spPr>
          <a:xfrm>
            <a:off x="8375904" y="2350008"/>
            <a:ext cx="402336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111111"/>
                </a:solidFill>
                <a:latin typeface="Aptos"/>
              </a:rPr>
              <a:t>02</a:t>
            </a:r>
          </a:p>
        </p:txBody>
      </p:sp>
      <p:sp>
        <p:nvSpPr>
          <p:cNvPr id="62" name="trace-label-1"/>
          <p:cNvSpPr txBox="1"/>
          <p:nvPr/>
        </p:nvSpPr>
        <p:spPr>
          <a:xfrm>
            <a:off x="8979408" y="2304288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1" lang="en-US">
                <a:solidFill>
                  <a:srgbClr val="FFFFFF"/>
                </a:solidFill>
                <a:latin typeface="Aptos"/>
              </a:rPr>
              <a:t>Profile lock</a:t>
            </a:r>
          </a:p>
        </p:txBody>
      </p:sp>
      <p:sp>
        <p:nvSpPr>
          <p:cNvPr id="63" name="trace-number-2"/>
          <p:cNvSpPr txBox="1"/>
          <p:nvPr/>
        </p:nvSpPr>
        <p:spPr>
          <a:xfrm>
            <a:off x="8375904" y="2916936"/>
            <a:ext cx="402336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111111"/>
                </a:solidFill>
                <a:latin typeface="Aptos"/>
              </a:rPr>
              <a:t>03</a:t>
            </a:r>
          </a:p>
        </p:txBody>
      </p:sp>
      <p:sp>
        <p:nvSpPr>
          <p:cNvPr id="64" name="trace-label-2"/>
          <p:cNvSpPr txBox="1"/>
          <p:nvPr/>
        </p:nvSpPr>
        <p:spPr>
          <a:xfrm>
            <a:off x="8979408" y="2871216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1" lang="en-US">
                <a:solidFill>
                  <a:srgbClr val="FFFFFF"/>
                </a:solidFill>
                <a:latin typeface="Aptos"/>
              </a:rPr>
              <a:t>Object spec</a:t>
            </a:r>
          </a:p>
        </p:txBody>
      </p:sp>
      <p:sp>
        <p:nvSpPr>
          <p:cNvPr id="65" name="trace-number-3"/>
          <p:cNvSpPr txBox="1"/>
          <p:nvPr/>
        </p:nvSpPr>
        <p:spPr>
          <a:xfrm>
            <a:off x="8375904" y="3483864"/>
            <a:ext cx="402336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111111"/>
                </a:solidFill>
                <a:latin typeface="Aptos"/>
              </a:rPr>
              <a:t>04</a:t>
            </a:r>
          </a:p>
        </p:txBody>
      </p:sp>
      <p:sp>
        <p:nvSpPr>
          <p:cNvPr id="66" name="trace-label-3"/>
          <p:cNvSpPr txBox="1"/>
          <p:nvPr/>
        </p:nvSpPr>
        <p:spPr>
          <a:xfrm>
            <a:off x="8979408" y="3438144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1" lang="en-US">
                <a:solidFill>
                  <a:srgbClr val="FFFFFF"/>
                </a:solidFill>
                <a:latin typeface="Aptos"/>
              </a:rPr>
              <a:t>Quality gate</a:t>
            </a:r>
          </a:p>
        </p:txBody>
      </p:sp>
      <p:sp>
        <p:nvSpPr>
          <p:cNvPr id="67" name="trace-number-4"/>
          <p:cNvSpPr txBox="1"/>
          <p:nvPr/>
        </p:nvSpPr>
        <p:spPr>
          <a:xfrm>
            <a:off x="8375904" y="4050791"/>
            <a:ext cx="402336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111111"/>
                </a:solidFill>
                <a:latin typeface="Aptos"/>
              </a:rPr>
              <a:t>05</a:t>
            </a:r>
          </a:p>
        </p:txBody>
      </p:sp>
      <p:sp>
        <p:nvSpPr>
          <p:cNvPr id="68" name="trace-label-4"/>
          <p:cNvSpPr txBox="1"/>
          <p:nvPr/>
        </p:nvSpPr>
        <p:spPr>
          <a:xfrm>
            <a:off x="8979408" y="400507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1" lang="en-US">
                <a:solidFill>
                  <a:srgbClr val="FFFFFF"/>
                </a:solidFill>
                <a:latin typeface="Aptos"/>
              </a:rPr>
              <a:t>Repair trace</a:t>
            </a:r>
          </a:p>
        </p:txBody>
      </p:sp>
      <p:sp>
        <p:nvSpPr>
          <p:cNvPr id="69" name="trace-number-5"/>
          <p:cNvSpPr txBox="1"/>
          <p:nvPr/>
        </p:nvSpPr>
        <p:spPr>
          <a:xfrm>
            <a:off x="8375904" y="4617720"/>
            <a:ext cx="402336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111111"/>
                </a:solidFill>
                <a:latin typeface="Aptos"/>
              </a:rPr>
              <a:t>06</a:t>
            </a:r>
          </a:p>
        </p:txBody>
      </p:sp>
      <p:sp>
        <p:nvSpPr>
          <p:cNvPr id="70" name="trace-label-5"/>
          <p:cNvSpPr txBox="1"/>
          <p:nvPr/>
        </p:nvSpPr>
        <p:spPr>
          <a:xfrm>
            <a:off x="8979408" y="457200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1" lang="en-US">
                <a:solidFill>
                  <a:srgbClr val="FFFFFF"/>
                </a:solidFill>
                <a:latin typeface="Aptos"/>
              </a:rPr>
              <a:t>Artifact</a:t>
            </a:r>
          </a:p>
        </p:txBody>
      </p:sp>
      <p:sp>
        <p:nvSpPr>
          <p:cNvPr id="71" name="mesh-note"/>
          <p:cNvSpPr txBox="1"/>
          <p:nvPr/>
        </p:nvSpPr>
        <p:spPr>
          <a:xfrm>
            <a:off x="8357616" y="5321808"/>
            <a:ext cx="2834640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00" b="0" lang="en-US">
                <a:solidFill>
                  <a:srgbClr val="F7F3FF"/>
                </a:solidFill>
                <a:latin typeface="Aptos"/>
              </a:rPr>
              <a:t>Fourteen editable links prove dense graph routing and layering.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B61FF"/>
          </a:solidFill>
          <a:ln w="10160">
            <a:solidFill>
              <a:srgbClr val="7B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glow-0"/>
          <p:cNvSpPr/>
          <p:nvPr/>
        </p:nvSpPr>
        <p:spPr>
          <a:xfrm>
            <a:off x="8046720" y="320040"/>
            <a:ext cx="2926080" cy="2926080"/>
          </a:xfrm>
          <a:prstGeom prst="ellipse">
            <a:avLst/>
          </a:prstGeom>
          <a:solidFill>
            <a:srgbClr val="00D4FF"/>
          </a:solidFill>
          <a:ln w="1016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glow-1"/>
          <p:cNvSpPr/>
          <p:nvPr/>
        </p:nvSpPr>
        <p:spPr>
          <a:xfrm>
            <a:off x="9509760" y="3383280"/>
            <a:ext cx="2011680" cy="2011680"/>
          </a:xfrm>
          <a:prstGeom prst="ellipse">
            <a:avLst/>
          </a:prstGeom>
          <a:solidFill>
            <a:srgbClr val="FF6EC7"/>
          </a:solidFill>
          <a:ln w="10160">
            <a:solidFill>
              <a:srgbClr val="FF6E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glow-2"/>
          <p:cNvSpPr/>
          <p:nvPr/>
        </p:nvSpPr>
        <p:spPr>
          <a:xfrm>
            <a:off x="7132320" y="4663440"/>
            <a:ext cx="1645920" cy="1645920"/>
          </a:xfrm>
          <a:prstGeom prst="ellipse">
            <a:avLst/>
          </a:prstGeom>
          <a:solidFill>
            <a:srgbClr val="FFB347"/>
          </a:solidFill>
          <a:ln w="10160">
            <a:solidFill>
              <a:srgbClr val="FFB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op-band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D4FF"/>
          </a:solidFill>
          <a:ln w="1016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matrix-rail-shell"/>
          <p:cNvSpPr/>
          <p:nvPr/>
        </p:nvSpPr>
        <p:spPr>
          <a:xfrm>
            <a:off x="8823960" y="1143000"/>
            <a:ext cx="2907792" cy="4443984"/>
          </a:xfrm>
          <a:prstGeom prst="roundRect">
            <a:avLst/>
          </a:prstGeom>
          <a:solidFill>
            <a:srgbClr val="FF6EC7"/>
          </a:solidFill>
          <a:ln w="10160">
            <a:solidFill>
              <a:srgbClr val="B6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matrix-rail-accent"/>
          <p:cNvSpPr/>
          <p:nvPr/>
        </p:nvSpPr>
        <p:spPr>
          <a:xfrm>
            <a:off x="8823960" y="1143000"/>
            <a:ext cx="73152" cy="4443984"/>
          </a:xfrm>
          <a:prstGeom prst="rect">
            <a:avLst/>
          </a:prstGeom>
          <a:solidFill>
            <a:srgbClr val="00D4FF"/>
          </a:solidFill>
          <a:ln w="1016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adar-ring-0.45"/>
          <p:cNvSpPr/>
          <p:nvPr/>
        </p:nvSpPr>
        <p:spPr>
          <a:xfrm>
            <a:off x="9866376" y="2834640"/>
            <a:ext cx="822960" cy="822960"/>
          </a:xfrm>
          <a:prstGeom prst="ellipse">
            <a:avLst/>
          </a:prstGeom>
          <a:solidFill>
            <a:srgbClr val="FF6EC7"/>
          </a:solidFill>
          <a:ln w="10160">
            <a:solidFill>
              <a:srgbClr val="B6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adar-ring-0.85"/>
          <p:cNvSpPr/>
          <p:nvPr/>
        </p:nvSpPr>
        <p:spPr>
          <a:xfrm>
            <a:off x="9500616" y="2468880"/>
            <a:ext cx="1554480" cy="1554480"/>
          </a:xfrm>
          <a:prstGeom prst="ellipse">
            <a:avLst/>
          </a:prstGeom>
          <a:solidFill>
            <a:srgbClr val="FF6EC7"/>
          </a:solidFill>
          <a:ln w="10160">
            <a:solidFill>
              <a:srgbClr val="B6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adar-ring-1.25"/>
          <p:cNvSpPr/>
          <p:nvPr/>
        </p:nvSpPr>
        <p:spPr>
          <a:xfrm>
            <a:off x="9134856" y="2103120"/>
            <a:ext cx="2286000" cy="2286000"/>
          </a:xfrm>
          <a:prstGeom prst="ellipse">
            <a:avLst/>
          </a:prstGeom>
          <a:solidFill>
            <a:srgbClr val="FF6EC7"/>
          </a:solidFill>
          <a:ln w="10160">
            <a:solidFill>
              <a:srgbClr val="B6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radar-axis-0"/>
          <p:cNvCxnSpPr/>
          <p:nvPr/>
        </p:nvCxnSpPr>
        <p:spPr>
          <a:xfrm flipV="1">
            <a:off x="10277856" y="1828799"/>
            <a:ext cx="0" cy="1417321"/>
          </a:xfrm>
          <a:prstGeom prst="line">
            <a:avLst/>
          </a:prstGeom>
          <a:ln w="13970">
            <a:solidFill>
              <a:srgbClr val="B6A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radar-axis-1"/>
          <p:cNvCxnSpPr/>
          <p:nvPr/>
        </p:nvCxnSpPr>
        <p:spPr>
          <a:xfrm flipV="1">
            <a:off x="10277856" y="2537460"/>
            <a:ext cx="1227435" cy="708660"/>
          </a:xfrm>
          <a:prstGeom prst="line">
            <a:avLst/>
          </a:prstGeom>
          <a:ln w="13970">
            <a:solidFill>
              <a:srgbClr val="B6A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radar-axis-2"/>
          <p:cNvCxnSpPr/>
          <p:nvPr/>
        </p:nvCxnSpPr>
        <p:spPr>
          <a:xfrm>
            <a:off x="10277856" y="3246120"/>
            <a:ext cx="1227435" cy="708659"/>
          </a:xfrm>
          <a:prstGeom prst="line">
            <a:avLst/>
          </a:prstGeom>
          <a:ln w="13970">
            <a:solidFill>
              <a:srgbClr val="B6A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radar-axis-3"/>
          <p:cNvCxnSpPr/>
          <p:nvPr/>
        </p:nvCxnSpPr>
        <p:spPr>
          <a:xfrm>
            <a:off x="10277856" y="3246120"/>
            <a:ext cx="0" cy="1417320"/>
          </a:xfrm>
          <a:prstGeom prst="line">
            <a:avLst/>
          </a:prstGeom>
          <a:ln w="13970">
            <a:solidFill>
              <a:srgbClr val="B6A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radar-axis-4"/>
          <p:cNvCxnSpPr/>
          <p:nvPr/>
        </p:nvCxnSpPr>
        <p:spPr>
          <a:xfrm flipH="1">
            <a:off x="9050420" y="3246120"/>
            <a:ext cx="1227436" cy="708659"/>
          </a:xfrm>
          <a:prstGeom prst="line">
            <a:avLst/>
          </a:prstGeom>
          <a:ln w="13970">
            <a:solidFill>
              <a:srgbClr val="B6A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radar-axis-5"/>
          <p:cNvCxnSpPr/>
          <p:nvPr/>
        </p:nvCxnSpPr>
        <p:spPr>
          <a:xfrm flipH="1" flipV="1">
            <a:off x="9050420" y="2537459"/>
            <a:ext cx="1227436" cy="708661"/>
          </a:xfrm>
          <a:prstGeom prst="line">
            <a:avLst/>
          </a:prstGeom>
          <a:ln w="13970">
            <a:solidFill>
              <a:srgbClr val="B6A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flow-link-0"/>
          <p:cNvCxnSpPr/>
          <p:nvPr/>
        </p:nvCxnSpPr>
        <p:spPr>
          <a:xfrm>
            <a:off x="2066543" y="5934456"/>
            <a:ext cx="265177" cy="0"/>
          </a:xfrm>
          <a:prstGeom prst="line">
            <a:avLst/>
          </a:prstGeom>
          <a:ln w="1397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flow-link-1"/>
          <p:cNvCxnSpPr/>
          <p:nvPr/>
        </p:nvCxnSpPr>
        <p:spPr>
          <a:xfrm>
            <a:off x="3959352" y="5934456"/>
            <a:ext cx="265175" cy="0"/>
          </a:xfrm>
          <a:prstGeom prst="line">
            <a:avLst/>
          </a:prstGeom>
          <a:ln w="13970">
            <a:solidFill>
              <a:srgbClr val="FF6E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flow-link-2"/>
          <p:cNvCxnSpPr/>
          <p:nvPr/>
        </p:nvCxnSpPr>
        <p:spPr>
          <a:xfrm>
            <a:off x="5852159" y="5934456"/>
            <a:ext cx="265177" cy="0"/>
          </a:xfrm>
          <a:prstGeom prst="line">
            <a:avLst/>
          </a:prstGeom>
          <a:ln w="13970">
            <a:solidFill>
              <a:srgbClr val="FFB3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flow-link-3"/>
          <p:cNvCxnSpPr/>
          <p:nvPr/>
        </p:nvCxnSpPr>
        <p:spPr>
          <a:xfrm>
            <a:off x="7744967" y="5934456"/>
            <a:ext cx="265176" cy="0"/>
          </a:xfrm>
          <a:prstGeom prst="line">
            <a:avLst/>
          </a:prstGeom>
          <a:ln w="13970">
            <a:solidFill>
              <a:srgbClr val="FFB3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flow-link-4"/>
          <p:cNvCxnSpPr/>
          <p:nvPr/>
        </p:nvCxnSpPr>
        <p:spPr>
          <a:xfrm>
            <a:off x="9637776" y="5934456"/>
            <a:ext cx="265175" cy="0"/>
          </a:xfrm>
          <a:prstGeom prst="line">
            <a:avLst/>
          </a:prstGeom>
          <a:ln w="1397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operating-table"/>
          <p:cNvGraphicFramePr>
            <a:graphicFrameLocks noGrp="1"/>
          </p:cNvGraphicFramePr>
          <p:nvPr/>
        </p:nvGraphicFramePr>
        <p:xfrm>
          <a:off x="457200" y="1143000"/>
          <a:ext cx="8092440" cy="44439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8740"/>
                <a:gridCol w="1348740"/>
                <a:gridCol w="1348740"/>
                <a:gridCol w="1348740"/>
                <a:gridCol w="1348740"/>
                <a:gridCol w="1348740"/>
              </a:tblGrid>
              <a:tr h="444398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7B61FF"/>
                          </a:solidFill>
                          <a:latin typeface="Aptos"/>
                        </a:rPr>
                        <a:t>Workstream</a:t>
                      </a:r>
                    </a:p>
                  </a:txBody>
                  <a:tcPr marL="54864" marR="54864" marT="18288" marB="18288">
                    <a:solidFill>
                      <a:srgbClr val="00D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7B61FF"/>
                          </a:solidFill>
                          <a:latin typeface="Aptos"/>
                        </a:rPr>
                        <a:t>Profile</a:t>
                      </a:r>
                    </a:p>
                  </a:txBody>
                  <a:tcPr marL="54864" marR="54864" marT="18288" marB="18288">
                    <a:solidFill>
                      <a:srgbClr val="00D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7B61FF"/>
                          </a:solidFill>
                          <a:latin typeface="Aptos"/>
                        </a:rPr>
                        <a:t>Structure</a:t>
                      </a:r>
                    </a:p>
                  </a:txBody>
                  <a:tcPr marL="54864" marR="54864" marT="18288" marB="18288">
                    <a:solidFill>
                      <a:srgbClr val="00D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7B61FF"/>
                          </a:solidFill>
                          <a:latin typeface="Aptos"/>
                        </a:rPr>
                        <a:t>Density</a:t>
                      </a:r>
                    </a:p>
                  </a:txBody>
                  <a:tcPr marL="54864" marR="54864" marT="18288" marB="18288">
                    <a:solidFill>
                      <a:srgbClr val="00D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7B61FF"/>
                          </a:solidFill>
                          <a:latin typeface="Aptos"/>
                        </a:rPr>
                        <a:t>Gate</a:t>
                      </a:r>
                    </a:p>
                  </a:txBody>
                  <a:tcPr marL="54864" marR="54864" marT="18288" marB="18288">
                    <a:solidFill>
                      <a:srgbClr val="00D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7B61FF"/>
                          </a:solidFill>
                          <a:latin typeface="Aptos"/>
                        </a:rPr>
                        <a:t>Owner</a:t>
                      </a:r>
                    </a:p>
                  </a:txBody>
                  <a:tcPr marL="54864" marR="54864" marT="18288" marB="18288">
                    <a:solidFill>
                      <a:srgbClr val="00D4FF"/>
                    </a:solidFill>
                  </a:tcPr>
                </a:tc>
              </a:tr>
              <a:tr h="444398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FFFFFF"/>
                          </a:solidFill>
                          <a:latin typeface="Aptos"/>
                        </a:rPr>
                        <a:t>W-01</a:t>
                      </a:r>
                    </a:p>
                  </a:txBody>
                  <a:tcPr marL="54864" marR="54864" marT="18288" marB="18288">
                    <a:solidFill>
                      <a:srgbClr val="6B52D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Aptos"/>
                        </a:rPr>
                        <a:t>Ember</a:t>
                      </a:r>
                    </a:p>
                  </a:txBody>
                  <a:tcPr marL="54864" marR="54864" marT="18288" marB="18288">
                    <a:solidFill>
                      <a:srgbClr val="6B52D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Aptos"/>
                        </a:rPr>
                        <a:t>Mesh</a:t>
                      </a:r>
                    </a:p>
                  </a:txBody>
                  <a:tcPr marL="54864" marR="54864" marT="18288" marB="18288">
                    <a:solidFill>
                      <a:srgbClr val="6B52D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Aptos"/>
                        </a:rPr>
                        <a:t>Dense</a:t>
                      </a:r>
                    </a:p>
                  </a:txBody>
                  <a:tcPr marL="54864" marR="54864" marT="18288" marB="18288">
                    <a:solidFill>
                      <a:srgbClr val="6B52D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Aptos"/>
                        </a:rPr>
                        <a:t>Watch</a:t>
                      </a:r>
                    </a:p>
                  </a:txBody>
                  <a:tcPr marL="54864" marR="54864" marT="18288" marB="18288">
                    <a:solidFill>
                      <a:srgbClr val="6B52D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Aptos"/>
                        </a:rPr>
                        <a:t>R</a:t>
                      </a:r>
                    </a:p>
                  </a:txBody>
                  <a:tcPr marL="54864" marR="54864" marT="18288" marB="18288">
                    <a:solidFill>
                      <a:srgbClr val="6B52DC"/>
                    </a:solidFill>
                  </a:tcPr>
                </a:tc>
              </a:tr>
              <a:tr h="444398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FFFFFF"/>
                          </a:solidFill>
                          <a:latin typeface="Aptos"/>
                        </a:rPr>
                        <a:t>W-02</a:t>
                      </a:r>
                    </a:p>
                  </a:txBody>
                  <a:tcPr marL="54864" marR="54864" marT="18288" marB="18288">
                    <a:solidFill>
                      <a:srgbClr val="FF6EC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Aptos"/>
                        </a:rPr>
                        <a:t>Signal</a:t>
                      </a:r>
                    </a:p>
                  </a:txBody>
                  <a:tcPr marL="54864" marR="54864" marT="18288" marB="18288">
                    <a:solidFill>
                      <a:srgbClr val="FF6EC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Aptos"/>
                        </a:rPr>
                        <a:t>Matrix</a:t>
                      </a:r>
                    </a:p>
                  </a:txBody>
                  <a:tcPr marL="54864" marR="54864" marT="18288" marB="18288">
                    <a:solidFill>
                      <a:srgbClr val="FF6EC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Aptos"/>
                        </a:rPr>
                        <a:t>Layered</a:t>
                      </a:r>
                    </a:p>
                  </a:txBody>
                  <a:tcPr marL="54864" marR="54864" marT="18288" marB="18288">
                    <a:solidFill>
                      <a:srgbClr val="FF6EC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Aptos"/>
                        </a:rPr>
                        <a:t>Repair</a:t>
                      </a:r>
                    </a:p>
                  </a:txBody>
                  <a:tcPr marL="54864" marR="54864" marT="18288" marB="18288">
                    <a:solidFill>
                      <a:srgbClr val="FF6EC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Aptos"/>
                        </a:rPr>
                        <a:t>C</a:t>
                      </a:r>
                    </a:p>
                  </a:txBody>
                  <a:tcPr marL="54864" marR="54864" marT="18288" marB="18288">
                    <a:solidFill>
                      <a:srgbClr val="FF6EC7"/>
                    </a:solidFill>
                  </a:tcPr>
                </a:tc>
              </a:tr>
              <a:tr h="444398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FFFFFF"/>
                          </a:solidFill>
                          <a:latin typeface="Aptos"/>
                        </a:rPr>
                        <a:t>W-03</a:t>
                      </a:r>
                    </a:p>
                  </a:txBody>
                  <a:tcPr marL="54864" marR="54864" marT="18288" marB="18288">
                    <a:solidFill>
                      <a:srgbClr val="6B52D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Aptos"/>
                        </a:rPr>
                        <a:t>Grove</a:t>
                      </a:r>
                    </a:p>
                  </a:txBody>
                  <a:tcPr marL="54864" marR="54864" marT="18288" marB="18288">
                    <a:solidFill>
                      <a:srgbClr val="6B52D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Aptos"/>
                        </a:rPr>
                        <a:t>Board</a:t>
                      </a:r>
                    </a:p>
                  </a:txBody>
                  <a:tcPr marL="54864" marR="54864" marT="18288" marB="18288">
                    <a:solidFill>
                      <a:srgbClr val="6B52D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Aptos"/>
                        </a:rPr>
                        <a:t>Packed</a:t>
                      </a:r>
                    </a:p>
                  </a:txBody>
                  <a:tcPr marL="54864" marR="54864" marT="18288" marB="18288">
                    <a:solidFill>
                      <a:srgbClr val="6B52D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Aptos"/>
                        </a:rPr>
                        <a:t>Pass</a:t>
                      </a:r>
                    </a:p>
                  </a:txBody>
                  <a:tcPr marL="54864" marR="54864" marT="18288" marB="18288">
                    <a:solidFill>
                      <a:srgbClr val="6B52D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Aptos"/>
                        </a:rPr>
                        <a:t>I</a:t>
                      </a:r>
                    </a:p>
                  </a:txBody>
                  <a:tcPr marL="54864" marR="54864" marT="18288" marB="18288">
                    <a:solidFill>
                      <a:srgbClr val="6B52DC"/>
                    </a:solidFill>
                  </a:tcPr>
                </a:tc>
              </a:tr>
              <a:tr h="444398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FFFFFF"/>
                          </a:solidFill>
                          <a:latin typeface="Aptos"/>
                        </a:rPr>
                        <a:t>W-04</a:t>
                      </a:r>
                    </a:p>
                  </a:txBody>
                  <a:tcPr marL="54864" marR="54864" marT="18288" marB="18288">
                    <a:solidFill>
                      <a:srgbClr val="FF6EC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Aptos"/>
                        </a:rPr>
                        <a:t>Atlas</a:t>
                      </a:r>
                    </a:p>
                  </a:txBody>
                  <a:tcPr marL="54864" marR="54864" marT="18288" marB="18288">
                    <a:solidFill>
                      <a:srgbClr val="FF6EC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Aptos"/>
                        </a:rPr>
                        <a:t>Cards</a:t>
                      </a:r>
                    </a:p>
                  </a:txBody>
                  <a:tcPr marL="54864" marR="54864" marT="18288" marB="18288">
                    <a:solidFill>
                      <a:srgbClr val="FF6EC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Aptos"/>
                        </a:rPr>
                        <a:t>High</a:t>
                      </a:r>
                    </a:p>
                  </a:txBody>
                  <a:tcPr marL="54864" marR="54864" marT="18288" marB="18288">
                    <a:solidFill>
                      <a:srgbClr val="FF6EC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Aptos"/>
                        </a:rPr>
                        <a:t>Pass</a:t>
                      </a:r>
                    </a:p>
                  </a:txBody>
                  <a:tcPr marL="54864" marR="54864" marT="18288" marB="18288">
                    <a:solidFill>
                      <a:srgbClr val="FF6EC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Aptos"/>
                        </a:rPr>
                        <a:t>A</a:t>
                      </a:r>
                    </a:p>
                  </a:txBody>
                  <a:tcPr marL="54864" marR="54864" marT="18288" marB="18288">
                    <a:solidFill>
                      <a:srgbClr val="FF6EC7"/>
                    </a:solidFill>
                  </a:tcPr>
                </a:tc>
              </a:tr>
              <a:tr h="444398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FFFFFF"/>
                          </a:solidFill>
                          <a:latin typeface="Aptos"/>
                        </a:rPr>
                        <a:t>W-05</a:t>
                      </a:r>
                    </a:p>
                  </a:txBody>
                  <a:tcPr marL="54864" marR="54864" marT="18288" marB="18288">
                    <a:solidFill>
                      <a:srgbClr val="6B52D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Aptos"/>
                        </a:rPr>
                        <a:t>Ember</a:t>
                      </a:r>
                    </a:p>
                  </a:txBody>
                  <a:tcPr marL="54864" marR="54864" marT="18288" marB="18288">
                    <a:solidFill>
                      <a:srgbClr val="6B52D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Aptos"/>
                        </a:rPr>
                        <a:t>Mesh</a:t>
                      </a:r>
                    </a:p>
                  </a:txBody>
                  <a:tcPr marL="54864" marR="54864" marT="18288" marB="18288">
                    <a:solidFill>
                      <a:srgbClr val="6B52D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Aptos"/>
                        </a:rPr>
                        <a:t>Dense</a:t>
                      </a:r>
                    </a:p>
                  </a:txBody>
                  <a:tcPr marL="54864" marR="54864" marT="18288" marB="18288">
                    <a:solidFill>
                      <a:srgbClr val="6B52D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Aptos"/>
                        </a:rPr>
                        <a:t>Watch</a:t>
                      </a:r>
                    </a:p>
                  </a:txBody>
                  <a:tcPr marL="54864" marR="54864" marT="18288" marB="18288">
                    <a:solidFill>
                      <a:srgbClr val="6B52D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Aptos"/>
                        </a:rPr>
                        <a:t>R</a:t>
                      </a:r>
                    </a:p>
                  </a:txBody>
                  <a:tcPr marL="54864" marR="54864" marT="18288" marB="18288">
                    <a:solidFill>
                      <a:srgbClr val="6B52DC"/>
                    </a:solidFill>
                  </a:tcPr>
                </a:tc>
              </a:tr>
              <a:tr h="444398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FFFFFF"/>
                          </a:solidFill>
                          <a:latin typeface="Aptos"/>
                        </a:rPr>
                        <a:t>W-06</a:t>
                      </a:r>
                    </a:p>
                  </a:txBody>
                  <a:tcPr marL="54864" marR="54864" marT="18288" marB="18288">
                    <a:solidFill>
                      <a:srgbClr val="FF6EC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Aptos"/>
                        </a:rPr>
                        <a:t>Signal</a:t>
                      </a:r>
                    </a:p>
                  </a:txBody>
                  <a:tcPr marL="54864" marR="54864" marT="18288" marB="18288">
                    <a:solidFill>
                      <a:srgbClr val="FF6EC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Aptos"/>
                        </a:rPr>
                        <a:t>Matrix</a:t>
                      </a:r>
                    </a:p>
                  </a:txBody>
                  <a:tcPr marL="54864" marR="54864" marT="18288" marB="18288">
                    <a:solidFill>
                      <a:srgbClr val="FF6EC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Aptos"/>
                        </a:rPr>
                        <a:t>Layered</a:t>
                      </a:r>
                    </a:p>
                  </a:txBody>
                  <a:tcPr marL="54864" marR="54864" marT="18288" marB="18288">
                    <a:solidFill>
                      <a:srgbClr val="FF6EC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Aptos"/>
                        </a:rPr>
                        <a:t>Repair</a:t>
                      </a:r>
                    </a:p>
                  </a:txBody>
                  <a:tcPr marL="54864" marR="54864" marT="18288" marB="18288">
                    <a:solidFill>
                      <a:srgbClr val="FF6EC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Aptos"/>
                        </a:rPr>
                        <a:t>C</a:t>
                      </a:r>
                    </a:p>
                  </a:txBody>
                  <a:tcPr marL="54864" marR="54864" marT="18288" marB="18288">
                    <a:solidFill>
                      <a:srgbClr val="FF6EC7"/>
                    </a:solidFill>
                  </a:tcPr>
                </a:tc>
              </a:tr>
              <a:tr h="444398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FFFFFF"/>
                          </a:solidFill>
                          <a:latin typeface="Aptos"/>
                        </a:rPr>
                        <a:t>W-07</a:t>
                      </a:r>
                    </a:p>
                  </a:txBody>
                  <a:tcPr marL="54864" marR="54864" marT="18288" marB="18288">
                    <a:solidFill>
                      <a:srgbClr val="6B52D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Aptos"/>
                        </a:rPr>
                        <a:t>Grove</a:t>
                      </a:r>
                    </a:p>
                  </a:txBody>
                  <a:tcPr marL="54864" marR="54864" marT="18288" marB="18288">
                    <a:solidFill>
                      <a:srgbClr val="6B52D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Aptos"/>
                        </a:rPr>
                        <a:t>Board</a:t>
                      </a:r>
                    </a:p>
                  </a:txBody>
                  <a:tcPr marL="54864" marR="54864" marT="18288" marB="18288">
                    <a:solidFill>
                      <a:srgbClr val="6B52D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Aptos"/>
                        </a:rPr>
                        <a:t>Packed</a:t>
                      </a:r>
                    </a:p>
                  </a:txBody>
                  <a:tcPr marL="54864" marR="54864" marT="18288" marB="18288">
                    <a:solidFill>
                      <a:srgbClr val="6B52D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Aptos"/>
                        </a:rPr>
                        <a:t>Pass</a:t>
                      </a:r>
                    </a:p>
                  </a:txBody>
                  <a:tcPr marL="54864" marR="54864" marT="18288" marB="18288">
                    <a:solidFill>
                      <a:srgbClr val="6B52D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Aptos"/>
                        </a:rPr>
                        <a:t>I</a:t>
                      </a:r>
                    </a:p>
                  </a:txBody>
                  <a:tcPr marL="54864" marR="54864" marT="18288" marB="18288">
                    <a:solidFill>
                      <a:srgbClr val="6B52DC"/>
                    </a:solidFill>
                  </a:tcPr>
                </a:tc>
              </a:tr>
              <a:tr h="444398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FFFFFF"/>
                          </a:solidFill>
                          <a:latin typeface="Aptos"/>
                        </a:rPr>
                        <a:t>W-08</a:t>
                      </a:r>
                    </a:p>
                  </a:txBody>
                  <a:tcPr marL="54864" marR="54864" marT="18288" marB="18288">
                    <a:solidFill>
                      <a:srgbClr val="FF6EC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Aptos"/>
                        </a:rPr>
                        <a:t>Atlas</a:t>
                      </a:r>
                    </a:p>
                  </a:txBody>
                  <a:tcPr marL="54864" marR="54864" marT="18288" marB="18288">
                    <a:solidFill>
                      <a:srgbClr val="FF6EC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Aptos"/>
                        </a:rPr>
                        <a:t>Cards</a:t>
                      </a:r>
                    </a:p>
                  </a:txBody>
                  <a:tcPr marL="54864" marR="54864" marT="18288" marB="18288">
                    <a:solidFill>
                      <a:srgbClr val="FF6EC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Aptos"/>
                        </a:rPr>
                        <a:t>High</a:t>
                      </a:r>
                    </a:p>
                  </a:txBody>
                  <a:tcPr marL="54864" marR="54864" marT="18288" marB="18288">
                    <a:solidFill>
                      <a:srgbClr val="FF6EC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Aptos"/>
                        </a:rPr>
                        <a:t>Pass</a:t>
                      </a:r>
                    </a:p>
                  </a:txBody>
                  <a:tcPr marL="54864" marR="54864" marT="18288" marB="18288">
                    <a:solidFill>
                      <a:srgbClr val="FF6EC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Aptos"/>
                        </a:rPr>
                        <a:t>A</a:t>
                      </a:r>
                    </a:p>
                  </a:txBody>
                  <a:tcPr marL="54864" marR="54864" marT="18288" marB="18288">
                    <a:solidFill>
                      <a:srgbClr val="FF6EC7"/>
                    </a:solidFill>
                  </a:tcPr>
                </a:tc>
              </a:tr>
              <a:tr h="444402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FFFFFF"/>
                          </a:solidFill>
                          <a:latin typeface="Aptos"/>
                        </a:rPr>
                        <a:t>W-09</a:t>
                      </a:r>
                    </a:p>
                  </a:txBody>
                  <a:tcPr marL="54864" marR="54864" marT="18288" marB="18288">
                    <a:solidFill>
                      <a:srgbClr val="6B52D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Aptos"/>
                        </a:rPr>
                        <a:t>Ember</a:t>
                      </a:r>
                    </a:p>
                  </a:txBody>
                  <a:tcPr marL="54864" marR="54864" marT="18288" marB="18288">
                    <a:solidFill>
                      <a:srgbClr val="6B52D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Aptos"/>
                        </a:rPr>
                        <a:t>Mesh</a:t>
                      </a:r>
                    </a:p>
                  </a:txBody>
                  <a:tcPr marL="54864" marR="54864" marT="18288" marB="18288">
                    <a:solidFill>
                      <a:srgbClr val="6B52D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Aptos"/>
                        </a:rPr>
                        <a:t>Dense</a:t>
                      </a:r>
                    </a:p>
                  </a:txBody>
                  <a:tcPr marL="54864" marR="54864" marT="18288" marB="18288">
                    <a:solidFill>
                      <a:srgbClr val="6B52D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Aptos"/>
                        </a:rPr>
                        <a:t>Watch</a:t>
                      </a:r>
                    </a:p>
                  </a:txBody>
                  <a:tcPr marL="54864" marR="54864" marT="18288" marB="18288">
                    <a:solidFill>
                      <a:srgbClr val="6B52D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Aptos"/>
                        </a:rPr>
                        <a:t>R</a:t>
                      </a:r>
                    </a:p>
                  </a:txBody>
                  <a:tcPr marL="54864" marR="54864" marT="18288" marB="18288">
                    <a:solidFill>
                      <a:srgbClr val="6B52DC"/>
                    </a:solidFill>
                  </a:tcPr>
                </a:tc>
              </a:tr>
            </a:tbl>
          </a:graphicData>
        </a:graphic>
      </p:graphicFrame>
      <p:sp>
        <p:nvSpPr>
          <p:cNvPr id="24" name="flow-0"/>
          <p:cNvSpPr/>
          <p:nvPr/>
        </p:nvSpPr>
        <p:spPr>
          <a:xfrm>
            <a:off x="457200" y="5742432"/>
            <a:ext cx="1600200" cy="384048"/>
          </a:xfrm>
          <a:prstGeom prst="roundRect">
            <a:avLst/>
          </a:prstGeom>
          <a:solidFill>
            <a:srgbClr val="6B52DC"/>
          </a:solidFill>
          <a:ln w="1016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low-1"/>
          <p:cNvSpPr/>
          <p:nvPr/>
        </p:nvSpPr>
        <p:spPr>
          <a:xfrm>
            <a:off x="2350008" y="5742432"/>
            <a:ext cx="1600200" cy="384048"/>
          </a:xfrm>
          <a:prstGeom prst="roundRect">
            <a:avLst/>
          </a:prstGeom>
          <a:solidFill>
            <a:srgbClr val="6B52DC"/>
          </a:solidFill>
          <a:ln w="10160">
            <a:solidFill>
              <a:srgbClr val="FF6E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low-2"/>
          <p:cNvSpPr/>
          <p:nvPr/>
        </p:nvSpPr>
        <p:spPr>
          <a:xfrm>
            <a:off x="4242816" y="5742432"/>
            <a:ext cx="1600200" cy="384048"/>
          </a:xfrm>
          <a:prstGeom prst="roundRect">
            <a:avLst/>
          </a:prstGeom>
          <a:solidFill>
            <a:srgbClr val="6B52DC"/>
          </a:solidFill>
          <a:ln w="10160">
            <a:solidFill>
              <a:srgbClr val="FFB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low-3"/>
          <p:cNvSpPr/>
          <p:nvPr/>
        </p:nvSpPr>
        <p:spPr>
          <a:xfrm>
            <a:off x="6135624" y="5742432"/>
            <a:ext cx="1600200" cy="384048"/>
          </a:xfrm>
          <a:prstGeom prst="roundRect">
            <a:avLst/>
          </a:prstGeom>
          <a:solidFill>
            <a:srgbClr val="6B52DC"/>
          </a:solidFill>
          <a:ln w="10160">
            <a:solidFill>
              <a:srgbClr val="FFB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low-4"/>
          <p:cNvSpPr/>
          <p:nvPr/>
        </p:nvSpPr>
        <p:spPr>
          <a:xfrm>
            <a:off x="8028431" y="5742432"/>
            <a:ext cx="1600200" cy="384048"/>
          </a:xfrm>
          <a:prstGeom prst="roundRect">
            <a:avLst/>
          </a:prstGeom>
          <a:solidFill>
            <a:srgbClr val="6B52DC"/>
          </a:solidFill>
          <a:ln w="1016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low-5"/>
          <p:cNvSpPr/>
          <p:nvPr/>
        </p:nvSpPr>
        <p:spPr>
          <a:xfrm>
            <a:off x="9921240" y="5742432"/>
            <a:ext cx="1600200" cy="384048"/>
          </a:xfrm>
          <a:prstGeom prst="roundRect">
            <a:avLst/>
          </a:prstGeom>
          <a:solidFill>
            <a:srgbClr val="6B52DC"/>
          </a:solidFill>
          <a:ln w="1016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profile-tag"/>
          <p:cNvSpPr txBox="1"/>
          <p:nvPr/>
        </p:nvSpPr>
        <p:spPr>
          <a:xfrm>
            <a:off x="457200" y="201168"/>
            <a:ext cx="768096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1" lang="en-US">
                <a:solidFill>
                  <a:srgbClr val="00D4FF"/>
                </a:solidFill>
                <a:latin typeface="Aptos"/>
              </a:rPr>
              <a:t>V3 STRESS SUITE  ·  GRADIENT MESH  ·  OPERATING MATRIX</a:t>
            </a:r>
          </a:p>
        </p:txBody>
      </p:sp>
      <p:sp>
        <p:nvSpPr>
          <p:cNvPr id="31" name="slide-index"/>
          <p:cNvSpPr txBox="1"/>
          <p:nvPr/>
        </p:nvSpPr>
        <p:spPr>
          <a:xfrm>
            <a:off x="10808208" y="201168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00" b="1" lang="en-US">
                <a:solidFill>
                  <a:srgbClr val="F7F3FF"/>
                </a:solidFill>
                <a:latin typeface="Aptos"/>
              </a:rPr>
              <a:t>18/60</a:t>
            </a:r>
          </a:p>
        </p:txBody>
      </p:sp>
      <p:sp>
        <p:nvSpPr>
          <p:cNvPr id="32" name="title"/>
          <p:cNvSpPr txBox="1"/>
          <p:nvPr/>
        </p:nvSpPr>
        <p:spPr>
          <a:xfrm>
            <a:off x="457200" y="484632"/>
            <a:ext cx="11274552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200" b="1" lang="en-US">
                <a:solidFill>
                  <a:srgbClr val="FFFFFF"/>
                </a:solidFill>
                <a:latin typeface="Aptos Display"/>
              </a:rPr>
              <a:t>Operating matrices make quality ownership visible at a glance</a:t>
            </a:r>
          </a:p>
        </p:txBody>
      </p:sp>
      <p:sp>
        <p:nvSpPr>
          <p:cNvPr id="33" name="footer"/>
          <p:cNvSpPr txBox="1"/>
          <p:nvPr/>
        </p:nvSpPr>
        <p:spPr>
          <a:xfrm>
            <a:off x="457200" y="6473952"/>
            <a:ext cx="1051560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0" lang="en-US">
                <a:solidFill>
                  <a:srgbClr val="F7F3FF"/>
                </a:solidFill>
                <a:latin typeface="Aptos"/>
              </a:rPr>
              <a:t>Native-object stress fixture · multi-point pink-violet-cyan-orange mesh and oversized type · editable geometry and recorded style lock</a:t>
            </a:r>
          </a:p>
        </p:txBody>
      </p:sp>
      <p:sp>
        <p:nvSpPr>
          <p:cNvPr id="34" name="matrix-rail-title"/>
          <p:cNvSpPr txBox="1"/>
          <p:nvPr/>
        </p:nvSpPr>
        <p:spPr>
          <a:xfrm>
            <a:off x="9089136" y="1371600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1" lang="en-US">
                <a:solidFill>
                  <a:srgbClr val="00D4FF"/>
                </a:solidFill>
                <a:latin typeface="Aptos"/>
              </a:rPr>
              <a:t>QUALITY RADAR</a:t>
            </a:r>
          </a:p>
        </p:txBody>
      </p:sp>
      <p:sp>
        <p:nvSpPr>
          <p:cNvPr id="35" name="radar-label-0"/>
          <p:cNvSpPr txBox="1"/>
          <p:nvPr/>
        </p:nvSpPr>
        <p:spPr>
          <a:xfrm>
            <a:off x="9893808" y="1737360"/>
            <a:ext cx="768096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F7F3FF"/>
                </a:solidFill>
                <a:latin typeface="Aptos"/>
              </a:rPr>
              <a:t>Bounds</a:t>
            </a:r>
          </a:p>
        </p:txBody>
      </p:sp>
      <p:sp>
        <p:nvSpPr>
          <p:cNvPr id="36" name="radar-label-1"/>
          <p:cNvSpPr txBox="1"/>
          <p:nvPr/>
        </p:nvSpPr>
        <p:spPr>
          <a:xfrm>
            <a:off x="11120932" y="2446020"/>
            <a:ext cx="768096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F7F3FF"/>
                </a:solidFill>
                <a:latin typeface="Aptos"/>
              </a:rPr>
              <a:t>Fonts</a:t>
            </a:r>
          </a:p>
        </p:txBody>
      </p:sp>
      <p:sp>
        <p:nvSpPr>
          <p:cNvPr id="37" name="radar-label-2"/>
          <p:cNvSpPr txBox="1"/>
          <p:nvPr/>
        </p:nvSpPr>
        <p:spPr>
          <a:xfrm>
            <a:off x="11120932" y="3863339"/>
            <a:ext cx="768096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F7F3FF"/>
                </a:solidFill>
                <a:latin typeface="Aptos"/>
              </a:rPr>
              <a:t>Tables</a:t>
            </a:r>
          </a:p>
        </p:txBody>
      </p:sp>
      <p:sp>
        <p:nvSpPr>
          <p:cNvPr id="38" name="radar-label-3"/>
          <p:cNvSpPr txBox="1"/>
          <p:nvPr/>
        </p:nvSpPr>
        <p:spPr>
          <a:xfrm>
            <a:off x="9893808" y="4572000"/>
            <a:ext cx="768096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F7F3FF"/>
                </a:solidFill>
                <a:latin typeface="Aptos"/>
              </a:rPr>
              <a:t>Contrast</a:t>
            </a:r>
          </a:p>
        </p:txBody>
      </p:sp>
      <p:sp>
        <p:nvSpPr>
          <p:cNvPr id="39" name="radar-label-4"/>
          <p:cNvSpPr txBox="1"/>
          <p:nvPr/>
        </p:nvSpPr>
        <p:spPr>
          <a:xfrm>
            <a:off x="8666683" y="3863339"/>
            <a:ext cx="768096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F7F3FF"/>
                </a:solidFill>
                <a:latin typeface="Aptos"/>
              </a:rPr>
              <a:t>Order</a:t>
            </a:r>
          </a:p>
        </p:txBody>
      </p:sp>
      <p:sp>
        <p:nvSpPr>
          <p:cNvPr id="40" name="radar-label-5"/>
          <p:cNvSpPr txBox="1"/>
          <p:nvPr/>
        </p:nvSpPr>
        <p:spPr>
          <a:xfrm>
            <a:off x="8666683" y="2446020"/>
            <a:ext cx="768096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F7F3FF"/>
                </a:solidFill>
                <a:latin typeface="Aptos"/>
              </a:rPr>
              <a:t>Style</a:t>
            </a:r>
          </a:p>
        </p:txBody>
      </p:sp>
      <p:sp>
        <p:nvSpPr>
          <p:cNvPr id="41" name="radar-point-0"/>
          <p:cNvSpPr/>
          <p:nvPr/>
        </p:nvSpPr>
        <p:spPr>
          <a:xfrm>
            <a:off x="10204704" y="2258568"/>
            <a:ext cx="146304" cy="146304"/>
          </a:xfrm>
          <a:prstGeom prst="ellipse">
            <a:avLst/>
          </a:prstGeom>
          <a:solidFill>
            <a:srgbClr val="FFB347"/>
          </a:solidFill>
          <a:ln w="10160">
            <a:solidFill>
              <a:srgbClr val="FFB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adar-point-1"/>
          <p:cNvSpPr/>
          <p:nvPr/>
        </p:nvSpPr>
        <p:spPr>
          <a:xfrm>
            <a:off x="10806379" y="2825496"/>
            <a:ext cx="146304" cy="146304"/>
          </a:xfrm>
          <a:prstGeom prst="ellipse">
            <a:avLst/>
          </a:prstGeom>
          <a:solidFill>
            <a:srgbClr val="FFB347"/>
          </a:solidFill>
          <a:ln w="10160">
            <a:solidFill>
              <a:srgbClr val="FFB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adar-point-2"/>
          <p:cNvSpPr/>
          <p:nvPr/>
        </p:nvSpPr>
        <p:spPr>
          <a:xfrm>
            <a:off x="11139220" y="3712463"/>
            <a:ext cx="146304" cy="146304"/>
          </a:xfrm>
          <a:prstGeom prst="ellipse">
            <a:avLst/>
          </a:prstGeom>
          <a:solidFill>
            <a:srgbClr val="FFB347"/>
          </a:solidFill>
          <a:ln w="10160">
            <a:solidFill>
              <a:srgbClr val="FFB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adar-point-3"/>
          <p:cNvSpPr/>
          <p:nvPr/>
        </p:nvSpPr>
        <p:spPr>
          <a:xfrm>
            <a:off x="10204704" y="3995928"/>
            <a:ext cx="146304" cy="146304"/>
          </a:xfrm>
          <a:prstGeom prst="ellipse">
            <a:avLst/>
          </a:prstGeom>
          <a:solidFill>
            <a:srgbClr val="FFB347"/>
          </a:solidFill>
          <a:ln w="10160">
            <a:solidFill>
              <a:srgbClr val="FFB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adar-point-4"/>
          <p:cNvSpPr/>
          <p:nvPr/>
        </p:nvSpPr>
        <p:spPr>
          <a:xfrm>
            <a:off x="9317736" y="3685032"/>
            <a:ext cx="146304" cy="146304"/>
          </a:xfrm>
          <a:prstGeom prst="ellipse">
            <a:avLst/>
          </a:prstGeom>
          <a:solidFill>
            <a:srgbClr val="FFB347"/>
          </a:solidFill>
          <a:ln w="10160">
            <a:solidFill>
              <a:srgbClr val="FFB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adar-point-5"/>
          <p:cNvSpPr/>
          <p:nvPr/>
        </p:nvSpPr>
        <p:spPr>
          <a:xfrm>
            <a:off x="9650577" y="2852928"/>
            <a:ext cx="146304" cy="146304"/>
          </a:xfrm>
          <a:prstGeom prst="ellipse">
            <a:avLst/>
          </a:prstGeom>
          <a:solidFill>
            <a:srgbClr val="FFB347"/>
          </a:solidFill>
          <a:ln w="10160">
            <a:solidFill>
              <a:srgbClr val="FFB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matrix-note"/>
          <p:cNvSpPr txBox="1"/>
          <p:nvPr/>
        </p:nvSpPr>
        <p:spPr>
          <a:xfrm>
            <a:off x="9089136" y="4800600"/>
            <a:ext cx="2267712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00" b="0" lang="en-US">
                <a:solidFill>
                  <a:srgbClr val="F7F3FF"/>
                </a:solidFill>
                <a:latin typeface="Aptos"/>
              </a:rPr>
              <a:t>Editable table and quality geometry share one governed frame.</a:t>
            </a:r>
          </a:p>
        </p:txBody>
      </p:sp>
      <p:sp>
        <p:nvSpPr>
          <p:cNvPr id="48" name="flow-label-0"/>
          <p:cNvSpPr txBox="1"/>
          <p:nvPr/>
        </p:nvSpPr>
        <p:spPr>
          <a:xfrm>
            <a:off x="566928" y="5852160"/>
            <a:ext cx="137160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50" b="1" lang="en-US">
                <a:solidFill>
                  <a:srgbClr val="00D4FF"/>
                </a:solidFill>
                <a:latin typeface="Aptos"/>
              </a:rPr>
              <a:t>Lock</a:t>
            </a:r>
          </a:p>
        </p:txBody>
      </p:sp>
      <p:sp>
        <p:nvSpPr>
          <p:cNvPr id="49" name="flow-label-1"/>
          <p:cNvSpPr txBox="1"/>
          <p:nvPr/>
        </p:nvSpPr>
        <p:spPr>
          <a:xfrm>
            <a:off x="2459736" y="5852160"/>
            <a:ext cx="137160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50" b="1" lang="en-US">
                <a:solidFill>
                  <a:srgbClr val="FF6EC7"/>
                </a:solidFill>
                <a:latin typeface="Aptos"/>
              </a:rPr>
              <a:t>Compose</a:t>
            </a:r>
          </a:p>
        </p:txBody>
      </p:sp>
      <p:sp>
        <p:nvSpPr>
          <p:cNvPr id="50" name="flow-label-2"/>
          <p:cNvSpPr txBox="1"/>
          <p:nvPr/>
        </p:nvSpPr>
        <p:spPr>
          <a:xfrm>
            <a:off x="4352544" y="5852160"/>
            <a:ext cx="137160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50" b="1" lang="en-US">
                <a:solidFill>
                  <a:srgbClr val="FFB347"/>
                </a:solidFill>
                <a:latin typeface="Aptos"/>
              </a:rPr>
              <a:t>Validate</a:t>
            </a:r>
          </a:p>
        </p:txBody>
      </p:sp>
      <p:sp>
        <p:nvSpPr>
          <p:cNvPr id="51" name="flow-label-3"/>
          <p:cNvSpPr txBox="1"/>
          <p:nvPr/>
        </p:nvSpPr>
        <p:spPr>
          <a:xfrm>
            <a:off x="6245352" y="5852160"/>
            <a:ext cx="137160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50" b="1" lang="en-US">
                <a:solidFill>
                  <a:srgbClr val="FFB347"/>
                </a:solidFill>
                <a:latin typeface="Aptos"/>
              </a:rPr>
              <a:t>Render</a:t>
            </a:r>
          </a:p>
        </p:txBody>
      </p:sp>
      <p:sp>
        <p:nvSpPr>
          <p:cNvPr id="52" name="flow-label-4"/>
          <p:cNvSpPr txBox="1"/>
          <p:nvPr/>
        </p:nvSpPr>
        <p:spPr>
          <a:xfrm>
            <a:off x="8138160" y="5852160"/>
            <a:ext cx="137160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50" b="1" lang="en-US">
                <a:solidFill>
                  <a:srgbClr val="00D4FF"/>
                </a:solidFill>
                <a:latin typeface="Aptos"/>
              </a:rPr>
              <a:t>Inspect</a:t>
            </a:r>
          </a:p>
        </p:txBody>
      </p:sp>
      <p:sp>
        <p:nvSpPr>
          <p:cNvPr id="53" name="flow-label-5"/>
          <p:cNvSpPr txBox="1"/>
          <p:nvPr/>
        </p:nvSpPr>
        <p:spPr>
          <a:xfrm>
            <a:off x="10030968" y="5852160"/>
            <a:ext cx="137160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50" b="1" lang="en-US">
                <a:solidFill>
                  <a:srgbClr val="00D4FF"/>
                </a:solidFill>
                <a:latin typeface="Aptos"/>
              </a:rPr>
              <a:t>Publish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B61FF"/>
          </a:solidFill>
          <a:ln w="10160">
            <a:solidFill>
              <a:srgbClr val="7B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glow-0"/>
          <p:cNvSpPr/>
          <p:nvPr/>
        </p:nvSpPr>
        <p:spPr>
          <a:xfrm>
            <a:off x="8046720" y="320040"/>
            <a:ext cx="2926080" cy="2926080"/>
          </a:xfrm>
          <a:prstGeom prst="ellipse">
            <a:avLst/>
          </a:prstGeom>
          <a:solidFill>
            <a:srgbClr val="00D4FF"/>
          </a:solidFill>
          <a:ln w="1016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glow-1"/>
          <p:cNvSpPr/>
          <p:nvPr/>
        </p:nvSpPr>
        <p:spPr>
          <a:xfrm>
            <a:off x="9509760" y="3383280"/>
            <a:ext cx="2011680" cy="2011680"/>
          </a:xfrm>
          <a:prstGeom prst="ellipse">
            <a:avLst/>
          </a:prstGeom>
          <a:solidFill>
            <a:srgbClr val="FF6EC7"/>
          </a:solidFill>
          <a:ln w="10160">
            <a:solidFill>
              <a:srgbClr val="FF6E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glow-2"/>
          <p:cNvSpPr/>
          <p:nvPr/>
        </p:nvSpPr>
        <p:spPr>
          <a:xfrm>
            <a:off x="7132320" y="4663440"/>
            <a:ext cx="1645920" cy="1645920"/>
          </a:xfrm>
          <a:prstGeom prst="ellipse">
            <a:avLst/>
          </a:prstGeom>
          <a:solidFill>
            <a:srgbClr val="FFB347"/>
          </a:solidFill>
          <a:ln w="10160">
            <a:solidFill>
              <a:srgbClr val="FFB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op-band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D4FF"/>
          </a:solidFill>
          <a:ln w="1016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ortfolio-0-shell"/>
          <p:cNvSpPr/>
          <p:nvPr/>
        </p:nvSpPr>
        <p:spPr>
          <a:xfrm>
            <a:off x="457200" y="1097280"/>
            <a:ext cx="2395728" cy="2057400"/>
          </a:xfrm>
          <a:prstGeom prst="roundRect">
            <a:avLst/>
          </a:prstGeom>
          <a:solidFill>
            <a:srgbClr val="6B52DC"/>
          </a:solidFill>
          <a:ln w="10160">
            <a:solidFill>
              <a:srgbClr val="B6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ortfolio-1-shell"/>
          <p:cNvSpPr/>
          <p:nvPr/>
        </p:nvSpPr>
        <p:spPr>
          <a:xfrm>
            <a:off x="3054096" y="1097280"/>
            <a:ext cx="2395728" cy="2057400"/>
          </a:xfrm>
          <a:prstGeom prst="roundRect">
            <a:avLst/>
          </a:prstGeom>
          <a:solidFill>
            <a:srgbClr val="6B52DC"/>
          </a:solidFill>
          <a:ln w="10160">
            <a:solidFill>
              <a:srgbClr val="B6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ortfolio-2-shell"/>
          <p:cNvSpPr/>
          <p:nvPr/>
        </p:nvSpPr>
        <p:spPr>
          <a:xfrm>
            <a:off x="5650992" y="1097280"/>
            <a:ext cx="2395728" cy="2057400"/>
          </a:xfrm>
          <a:prstGeom prst="roundRect">
            <a:avLst/>
          </a:prstGeom>
          <a:solidFill>
            <a:srgbClr val="6B52DC"/>
          </a:solidFill>
          <a:ln w="10160">
            <a:solidFill>
              <a:srgbClr val="B6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ortfolio-3-shell"/>
          <p:cNvSpPr/>
          <p:nvPr/>
        </p:nvSpPr>
        <p:spPr>
          <a:xfrm>
            <a:off x="457200" y="3429000"/>
            <a:ext cx="2395728" cy="2057400"/>
          </a:xfrm>
          <a:prstGeom prst="roundRect">
            <a:avLst/>
          </a:prstGeom>
          <a:solidFill>
            <a:srgbClr val="6B52DC"/>
          </a:solidFill>
          <a:ln w="10160">
            <a:solidFill>
              <a:srgbClr val="B6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portfolio-4-shell"/>
          <p:cNvSpPr/>
          <p:nvPr/>
        </p:nvSpPr>
        <p:spPr>
          <a:xfrm>
            <a:off x="3054096" y="3429000"/>
            <a:ext cx="2395728" cy="2057400"/>
          </a:xfrm>
          <a:prstGeom prst="roundRect">
            <a:avLst/>
          </a:prstGeom>
          <a:solidFill>
            <a:srgbClr val="6B52DC"/>
          </a:solidFill>
          <a:ln w="10160">
            <a:solidFill>
              <a:srgbClr val="B6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portfolio-5-shell"/>
          <p:cNvSpPr/>
          <p:nvPr/>
        </p:nvSpPr>
        <p:spPr>
          <a:xfrm>
            <a:off x="5650992" y="3429000"/>
            <a:ext cx="2395728" cy="2057400"/>
          </a:xfrm>
          <a:prstGeom prst="roundRect">
            <a:avLst/>
          </a:prstGeom>
          <a:solidFill>
            <a:srgbClr val="6B52DC"/>
          </a:solidFill>
          <a:ln w="10160">
            <a:solidFill>
              <a:srgbClr val="B6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ortfolio-rail-shell"/>
          <p:cNvSpPr/>
          <p:nvPr/>
        </p:nvSpPr>
        <p:spPr>
          <a:xfrm>
            <a:off x="8458200" y="1097280"/>
            <a:ext cx="3273552" cy="4892040"/>
          </a:xfrm>
          <a:prstGeom prst="roundRect">
            <a:avLst/>
          </a:prstGeom>
          <a:solidFill>
            <a:srgbClr val="FF6EC7"/>
          </a:solidFill>
          <a:ln w="10160">
            <a:solidFill>
              <a:srgbClr val="B6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ortfolio-0-accent"/>
          <p:cNvSpPr/>
          <p:nvPr/>
        </p:nvSpPr>
        <p:spPr>
          <a:xfrm>
            <a:off x="457200" y="1097280"/>
            <a:ext cx="73152" cy="2057400"/>
          </a:xfrm>
          <a:prstGeom prst="rect">
            <a:avLst/>
          </a:prstGeom>
          <a:solidFill>
            <a:srgbClr val="00D4FF"/>
          </a:solidFill>
          <a:ln w="1016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portfolio-1-accent"/>
          <p:cNvSpPr/>
          <p:nvPr/>
        </p:nvSpPr>
        <p:spPr>
          <a:xfrm>
            <a:off x="3054096" y="1097280"/>
            <a:ext cx="73152" cy="2057400"/>
          </a:xfrm>
          <a:prstGeom prst="rect">
            <a:avLst/>
          </a:prstGeom>
          <a:solidFill>
            <a:srgbClr val="00D4FF"/>
          </a:solidFill>
          <a:ln w="1016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portfolio-2-accent"/>
          <p:cNvSpPr/>
          <p:nvPr/>
        </p:nvSpPr>
        <p:spPr>
          <a:xfrm>
            <a:off x="5650992" y="1097280"/>
            <a:ext cx="73152" cy="2057400"/>
          </a:xfrm>
          <a:prstGeom prst="rect">
            <a:avLst/>
          </a:prstGeom>
          <a:solidFill>
            <a:srgbClr val="00D4FF"/>
          </a:solidFill>
          <a:ln w="1016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portfolio-3-accent"/>
          <p:cNvSpPr/>
          <p:nvPr/>
        </p:nvSpPr>
        <p:spPr>
          <a:xfrm>
            <a:off x="457200" y="3429000"/>
            <a:ext cx="73152" cy="2057400"/>
          </a:xfrm>
          <a:prstGeom prst="rect">
            <a:avLst/>
          </a:prstGeom>
          <a:solidFill>
            <a:srgbClr val="00D4FF"/>
          </a:solidFill>
          <a:ln w="1016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portfolio-4-accent"/>
          <p:cNvSpPr/>
          <p:nvPr/>
        </p:nvSpPr>
        <p:spPr>
          <a:xfrm>
            <a:off x="3054096" y="3429000"/>
            <a:ext cx="73152" cy="2057400"/>
          </a:xfrm>
          <a:prstGeom prst="rect">
            <a:avLst/>
          </a:prstGeom>
          <a:solidFill>
            <a:srgbClr val="00D4FF"/>
          </a:solidFill>
          <a:ln w="1016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portfolio-5-accent"/>
          <p:cNvSpPr/>
          <p:nvPr/>
        </p:nvSpPr>
        <p:spPr>
          <a:xfrm>
            <a:off x="5650992" y="3429000"/>
            <a:ext cx="73152" cy="2057400"/>
          </a:xfrm>
          <a:prstGeom prst="rect">
            <a:avLst/>
          </a:prstGeom>
          <a:solidFill>
            <a:srgbClr val="00D4FF"/>
          </a:solidFill>
          <a:ln w="1016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portfolio-rail-accent"/>
          <p:cNvSpPr/>
          <p:nvPr/>
        </p:nvSpPr>
        <p:spPr>
          <a:xfrm>
            <a:off x="8458200" y="1097280"/>
            <a:ext cx="73152" cy="4892040"/>
          </a:xfrm>
          <a:prstGeom prst="rect">
            <a:avLst/>
          </a:prstGeom>
          <a:solidFill>
            <a:srgbClr val="00D4FF"/>
          </a:solidFill>
          <a:ln w="1016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portfolio-micro-0-0"/>
          <p:cNvSpPr/>
          <p:nvPr/>
        </p:nvSpPr>
        <p:spPr>
          <a:xfrm>
            <a:off x="676656" y="2139696"/>
            <a:ext cx="859536" cy="256032"/>
          </a:xfrm>
          <a:prstGeom prst="roundRect">
            <a:avLst/>
          </a:prstGeom>
          <a:solidFill>
            <a:srgbClr val="FF6EC7"/>
          </a:solidFill>
          <a:ln w="1016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portfolio-micro-0-1"/>
          <p:cNvSpPr/>
          <p:nvPr/>
        </p:nvSpPr>
        <p:spPr>
          <a:xfrm>
            <a:off x="1664208" y="2139696"/>
            <a:ext cx="859536" cy="256032"/>
          </a:xfrm>
          <a:prstGeom prst="roundRect">
            <a:avLst/>
          </a:prstGeom>
          <a:solidFill>
            <a:srgbClr val="FF6EC7"/>
          </a:solidFill>
          <a:ln w="1016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portfolio-micro-0-2"/>
          <p:cNvSpPr/>
          <p:nvPr/>
        </p:nvSpPr>
        <p:spPr>
          <a:xfrm>
            <a:off x="676656" y="2523744"/>
            <a:ext cx="859536" cy="256032"/>
          </a:xfrm>
          <a:prstGeom prst="roundRect">
            <a:avLst/>
          </a:prstGeom>
          <a:solidFill>
            <a:srgbClr val="FF6EC7"/>
          </a:solidFill>
          <a:ln w="1016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portfolio-micro-0-3"/>
          <p:cNvSpPr/>
          <p:nvPr/>
        </p:nvSpPr>
        <p:spPr>
          <a:xfrm>
            <a:off x="1664208" y="2523744"/>
            <a:ext cx="859536" cy="256032"/>
          </a:xfrm>
          <a:prstGeom prst="roundRect">
            <a:avLst/>
          </a:prstGeom>
          <a:solidFill>
            <a:srgbClr val="FF6EC7"/>
          </a:solidFill>
          <a:ln w="1016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portfolio-micro-1-0"/>
          <p:cNvSpPr/>
          <p:nvPr/>
        </p:nvSpPr>
        <p:spPr>
          <a:xfrm>
            <a:off x="3273552" y="2139696"/>
            <a:ext cx="859536" cy="256032"/>
          </a:xfrm>
          <a:prstGeom prst="roundRect">
            <a:avLst/>
          </a:prstGeom>
          <a:solidFill>
            <a:srgbClr val="FF6EC7"/>
          </a:solidFill>
          <a:ln w="10160">
            <a:solidFill>
              <a:srgbClr val="FF6E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portfolio-micro-1-1"/>
          <p:cNvSpPr/>
          <p:nvPr/>
        </p:nvSpPr>
        <p:spPr>
          <a:xfrm>
            <a:off x="4261104" y="2139696"/>
            <a:ext cx="859536" cy="256032"/>
          </a:xfrm>
          <a:prstGeom prst="roundRect">
            <a:avLst/>
          </a:prstGeom>
          <a:solidFill>
            <a:srgbClr val="FF6EC7"/>
          </a:solidFill>
          <a:ln w="10160">
            <a:solidFill>
              <a:srgbClr val="FF6E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portfolio-micro-1-2"/>
          <p:cNvSpPr/>
          <p:nvPr/>
        </p:nvSpPr>
        <p:spPr>
          <a:xfrm>
            <a:off x="3273552" y="2523744"/>
            <a:ext cx="859536" cy="256032"/>
          </a:xfrm>
          <a:prstGeom prst="roundRect">
            <a:avLst/>
          </a:prstGeom>
          <a:solidFill>
            <a:srgbClr val="FF6EC7"/>
          </a:solidFill>
          <a:ln w="10160">
            <a:solidFill>
              <a:srgbClr val="FF6E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portfolio-micro-1-3"/>
          <p:cNvSpPr/>
          <p:nvPr/>
        </p:nvSpPr>
        <p:spPr>
          <a:xfrm>
            <a:off x="4261104" y="2523744"/>
            <a:ext cx="859536" cy="256032"/>
          </a:xfrm>
          <a:prstGeom prst="roundRect">
            <a:avLst/>
          </a:prstGeom>
          <a:solidFill>
            <a:srgbClr val="FF6EC7"/>
          </a:solidFill>
          <a:ln w="10160">
            <a:solidFill>
              <a:srgbClr val="FF6E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portfolio-micro-2-0"/>
          <p:cNvSpPr/>
          <p:nvPr/>
        </p:nvSpPr>
        <p:spPr>
          <a:xfrm>
            <a:off x="5870448" y="2139696"/>
            <a:ext cx="859536" cy="256032"/>
          </a:xfrm>
          <a:prstGeom prst="roundRect">
            <a:avLst/>
          </a:prstGeom>
          <a:solidFill>
            <a:srgbClr val="FF6EC7"/>
          </a:solidFill>
          <a:ln w="10160">
            <a:solidFill>
              <a:srgbClr val="FFB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portfolio-micro-2-1"/>
          <p:cNvSpPr/>
          <p:nvPr/>
        </p:nvSpPr>
        <p:spPr>
          <a:xfrm>
            <a:off x="6858000" y="2139696"/>
            <a:ext cx="859536" cy="256032"/>
          </a:xfrm>
          <a:prstGeom prst="roundRect">
            <a:avLst/>
          </a:prstGeom>
          <a:solidFill>
            <a:srgbClr val="FF6EC7"/>
          </a:solidFill>
          <a:ln w="10160">
            <a:solidFill>
              <a:srgbClr val="FFB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portfolio-micro-2-2"/>
          <p:cNvSpPr/>
          <p:nvPr/>
        </p:nvSpPr>
        <p:spPr>
          <a:xfrm>
            <a:off x="5870448" y="2523744"/>
            <a:ext cx="859536" cy="256032"/>
          </a:xfrm>
          <a:prstGeom prst="roundRect">
            <a:avLst/>
          </a:prstGeom>
          <a:solidFill>
            <a:srgbClr val="FF6EC7"/>
          </a:solidFill>
          <a:ln w="10160">
            <a:solidFill>
              <a:srgbClr val="FFB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portfolio-micro-2-3"/>
          <p:cNvSpPr/>
          <p:nvPr/>
        </p:nvSpPr>
        <p:spPr>
          <a:xfrm>
            <a:off x="6858000" y="2523744"/>
            <a:ext cx="859536" cy="256032"/>
          </a:xfrm>
          <a:prstGeom prst="roundRect">
            <a:avLst/>
          </a:prstGeom>
          <a:solidFill>
            <a:srgbClr val="FF6EC7"/>
          </a:solidFill>
          <a:ln w="10160">
            <a:solidFill>
              <a:srgbClr val="FFB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portfolio-micro-3-0"/>
          <p:cNvSpPr/>
          <p:nvPr/>
        </p:nvSpPr>
        <p:spPr>
          <a:xfrm>
            <a:off x="676656" y="4471416"/>
            <a:ext cx="859536" cy="256032"/>
          </a:xfrm>
          <a:prstGeom prst="roundRect">
            <a:avLst/>
          </a:prstGeom>
          <a:solidFill>
            <a:srgbClr val="FF6EC7"/>
          </a:solidFill>
          <a:ln w="1016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portfolio-micro-3-1"/>
          <p:cNvSpPr/>
          <p:nvPr/>
        </p:nvSpPr>
        <p:spPr>
          <a:xfrm>
            <a:off x="1664208" y="4471416"/>
            <a:ext cx="859536" cy="256032"/>
          </a:xfrm>
          <a:prstGeom prst="roundRect">
            <a:avLst/>
          </a:prstGeom>
          <a:solidFill>
            <a:srgbClr val="FF6EC7"/>
          </a:solidFill>
          <a:ln w="1016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portfolio-micro-3-2"/>
          <p:cNvSpPr/>
          <p:nvPr/>
        </p:nvSpPr>
        <p:spPr>
          <a:xfrm>
            <a:off x="676656" y="4855464"/>
            <a:ext cx="859536" cy="256032"/>
          </a:xfrm>
          <a:prstGeom prst="roundRect">
            <a:avLst/>
          </a:prstGeom>
          <a:solidFill>
            <a:srgbClr val="FF6EC7"/>
          </a:solidFill>
          <a:ln w="1016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portfolio-micro-3-3"/>
          <p:cNvSpPr/>
          <p:nvPr/>
        </p:nvSpPr>
        <p:spPr>
          <a:xfrm>
            <a:off x="1664208" y="4855464"/>
            <a:ext cx="859536" cy="256032"/>
          </a:xfrm>
          <a:prstGeom prst="roundRect">
            <a:avLst/>
          </a:prstGeom>
          <a:solidFill>
            <a:srgbClr val="FF6EC7"/>
          </a:solidFill>
          <a:ln w="1016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portfolio-micro-4-0"/>
          <p:cNvSpPr/>
          <p:nvPr/>
        </p:nvSpPr>
        <p:spPr>
          <a:xfrm>
            <a:off x="3273552" y="4471416"/>
            <a:ext cx="859536" cy="256032"/>
          </a:xfrm>
          <a:prstGeom prst="roundRect">
            <a:avLst/>
          </a:prstGeom>
          <a:solidFill>
            <a:srgbClr val="FF6EC7"/>
          </a:solidFill>
          <a:ln w="10160">
            <a:solidFill>
              <a:srgbClr val="FFB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portfolio-micro-4-1"/>
          <p:cNvSpPr/>
          <p:nvPr/>
        </p:nvSpPr>
        <p:spPr>
          <a:xfrm>
            <a:off x="4261104" y="4471416"/>
            <a:ext cx="859536" cy="256032"/>
          </a:xfrm>
          <a:prstGeom prst="roundRect">
            <a:avLst/>
          </a:prstGeom>
          <a:solidFill>
            <a:srgbClr val="FF6EC7"/>
          </a:solidFill>
          <a:ln w="10160">
            <a:solidFill>
              <a:srgbClr val="FFB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portfolio-micro-4-2"/>
          <p:cNvSpPr/>
          <p:nvPr/>
        </p:nvSpPr>
        <p:spPr>
          <a:xfrm>
            <a:off x="3273552" y="4855464"/>
            <a:ext cx="859536" cy="256032"/>
          </a:xfrm>
          <a:prstGeom prst="roundRect">
            <a:avLst/>
          </a:prstGeom>
          <a:solidFill>
            <a:srgbClr val="FF6EC7"/>
          </a:solidFill>
          <a:ln w="10160">
            <a:solidFill>
              <a:srgbClr val="FFB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portfolio-micro-4-3"/>
          <p:cNvSpPr/>
          <p:nvPr/>
        </p:nvSpPr>
        <p:spPr>
          <a:xfrm>
            <a:off x="4261104" y="4855464"/>
            <a:ext cx="859536" cy="256032"/>
          </a:xfrm>
          <a:prstGeom prst="roundRect">
            <a:avLst/>
          </a:prstGeom>
          <a:solidFill>
            <a:srgbClr val="FF6EC7"/>
          </a:solidFill>
          <a:ln w="10160">
            <a:solidFill>
              <a:srgbClr val="FFB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portfolio-micro-5-0"/>
          <p:cNvSpPr/>
          <p:nvPr/>
        </p:nvSpPr>
        <p:spPr>
          <a:xfrm>
            <a:off x="5870448" y="4471416"/>
            <a:ext cx="859536" cy="256032"/>
          </a:xfrm>
          <a:prstGeom prst="roundRect">
            <a:avLst/>
          </a:prstGeom>
          <a:solidFill>
            <a:srgbClr val="FF6EC7"/>
          </a:solidFill>
          <a:ln w="10160">
            <a:solidFill>
              <a:srgbClr val="FF6E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portfolio-micro-5-1"/>
          <p:cNvSpPr/>
          <p:nvPr/>
        </p:nvSpPr>
        <p:spPr>
          <a:xfrm>
            <a:off x="6858000" y="4471416"/>
            <a:ext cx="859536" cy="256032"/>
          </a:xfrm>
          <a:prstGeom prst="roundRect">
            <a:avLst/>
          </a:prstGeom>
          <a:solidFill>
            <a:srgbClr val="FF6EC7"/>
          </a:solidFill>
          <a:ln w="10160">
            <a:solidFill>
              <a:srgbClr val="FF6E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portfolio-micro-5-2"/>
          <p:cNvSpPr/>
          <p:nvPr/>
        </p:nvSpPr>
        <p:spPr>
          <a:xfrm>
            <a:off x="5870448" y="4855464"/>
            <a:ext cx="859536" cy="256032"/>
          </a:xfrm>
          <a:prstGeom prst="roundRect">
            <a:avLst/>
          </a:prstGeom>
          <a:solidFill>
            <a:srgbClr val="FF6EC7"/>
          </a:solidFill>
          <a:ln w="10160">
            <a:solidFill>
              <a:srgbClr val="FF6E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portfolio-micro-5-3"/>
          <p:cNvSpPr/>
          <p:nvPr/>
        </p:nvSpPr>
        <p:spPr>
          <a:xfrm>
            <a:off x="6858000" y="4855464"/>
            <a:ext cx="859536" cy="256032"/>
          </a:xfrm>
          <a:prstGeom prst="roundRect">
            <a:avLst/>
          </a:prstGeom>
          <a:solidFill>
            <a:srgbClr val="FF6EC7"/>
          </a:solidFill>
          <a:ln w="10160">
            <a:solidFill>
              <a:srgbClr val="FF6E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lease-cell-0"/>
          <p:cNvSpPr/>
          <p:nvPr/>
        </p:nvSpPr>
        <p:spPr>
          <a:xfrm>
            <a:off x="8723376" y="1737360"/>
            <a:ext cx="2697480" cy="512064"/>
          </a:xfrm>
          <a:prstGeom prst="roundRect">
            <a:avLst/>
          </a:prstGeom>
          <a:solidFill>
            <a:srgbClr val="6B52DC"/>
          </a:solidFill>
          <a:ln w="10160">
            <a:solidFill>
              <a:srgbClr val="B6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lease-cell-1"/>
          <p:cNvSpPr/>
          <p:nvPr/>
        </p:nvSpPr>
        <p:spPr>
          <a:xfrm>
            <a:off x="8723376" y="2432304"/>
            <a:ext cx="2697480" cy="512064"/>
          </a:xfrm>
          <a:prstGeom prst="roundRect">
            <a:avLst/>
          </a:prstGeom>
          <a:solidFill>
            <a:srgbClr val="6B52DC"/>
          </a:solidFill>
          <a:ln w="10160">
            <a:solidFill>
              <a:srgbClr val="B6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lease-cell-2"/>
          <p:cNvSpPr/>
          <p:nvPr/>
        </p:nvSpPr>
        <p:spPr>
          <a:xfrm>
            <a:off x="8723376" y="3127248"/>
            <a:ext cx="2697480" cy="512064"/>
          </a:xfrm>
          <a:prstGeom prst="roundRect">
            <a:avLst/>
          </a:prstGeom>
          <a:solidFill>
            <a:srgbClr val="6B52DC"/>
          </a:solidFill>
          <a:ln w="10160">
            <a:solidFill>
              <a:srgbClr val="B6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lease-cell-3"/>
          <p:cNvSpPr/>
          <p:nvPr/>
        </p:nvSpPr>
        <p:spPr>
          <a:xfrm>
            <a:off x="8723376" y="3822191"/>
            <a:ext cx="2697480" cy="512064"/>
          </a:xfrm>
          <a:prstGeom prst="roundRect">
            <a:avLst/>
          </a:prstGeom>
          <a:solidFill>
            <a:srgbClr val="6B52DC"/>
          </a:solidFill>
          <a:ln w="10160">
            <a:solidFill>
              <a:srgbClr val="B6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lease-cell-4"/>
          <p:cNvSpPr/>
          <p:nvPr/>
        </p:nvSpPr>
        <p:spPr>
          <a:xfrm>
            <a:off x="8723376" y="4517136"/>
            <a:ext cx="2697480" cy="512064"/>
          </a:xfrm>
          <a:prstGeom prst="roundRect">
            <a:avLst/>
          </a:prstGeom>
          <a:solidFill>
            <a:srgbClr val="6B52DC"/>
          </a:solidFill>
          <a:ln w="10160">
            <a:solidFill>
              <a:srgbClr val="B6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portfolio-banner"/>
          <p:cNvSpPr/>
          <p:nvPr/>
        </p:nvSpPr>
        <p:spPr>
          <a:xfrm>
            <a:off x="457200" y="5559552"/>
            <a:ext cx="7882127" cy="438912"/>
          </a:xfrm>
          <a:prstGeom prst="roundRect">
            <a:avLst/>
          </a:prstGeom>
          <a:solidFill>
            <a:srgbClr val="00D4FF"/>
          </a:solidFill>
          <a:ln w="1016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profile-tag"/>
          <p:cNvSpPr txBox="1"/>
          <p:nvPr/>
        </p:nvSpPr>
        <p:spPr>
          <a:xfrm>
            <a:off x="457200" y="201168"/>
            <a:ext cx="768096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1" lang="en-US">
                <a:solidFill>
                  <a:srgbClr val="00D4FF"/>
                </a:solidFill>
                <a:latin typeface="Aptos"/>
              </a:rPr>
              <a:t>V3 STRESS SUITE  ·  GRADIENT MESH  ·  PORTFOLIO GRID</a:t>
            </a:r>
          </a:p>
        </p:txBody>
      </p:sp>
      <p:sp>
        <p:nvSpPr>
          <p:cNvPr id="52" name="slide-index"/>
          <p:cNvSpPr txBox="1"/>
          <p:nvPr/>
        </p:nvSpPr>
        <p:spPr>
          <a:xfrm>
            <a:off x="10808208" y="201168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00" b="1" lang="en-US">
                <a:solidFill>
                  <a:srgbClr val="F7F3FF"/>
                </a:solidFill>
                <a:latin typeface="Aptos"/>
              </a:rPr>
              <a:t>19/60</a:t>
            </a:r>
          </a:p>
        </p:txBody>
      </p:sp>
      <p:sp>
        <p:nvSpPr>
          <p:cNvPr id="53" name="title"/>
          <p:cNvSpPr txBox="1"/>
          <p:nvPr/>
        </p:nvSpPr>
        <p:spPr>
          <a:xfrm>
            <a:off x="457200" y="484632"/>
            <a:ext cx="11274552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200" b="1" lang="en-US">
                <a:solidFill>
                  <a:srgbClr val="FFFFFF"/>
                </a:solidFill>
                <a:latin typeface="Aptos Display"/>
              </a:rPr>
              <a:t>Portfolio grids compress six validated capability views into one scan</a:t>
            </a:r>
          </a:p>
        </p:txBody>
      </p:sp>
      <p:sp>
        <p:nvSpPr>
          <p:cNvPr id="54" name="footer"/>
          <p:cNvSpPr txBox="1"/>
          <p:nvPr/>
        </p:nvSpPr>
        <p:spPr>
          <a:xfrm>
            <a:off x="457200" y="6473952"/>
            <a:ext cx="1051560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0" lang="en-US">
                <a:solidFill>
                  <a:srgbClr val="F7F3FF"/>
                </a:solidFill>
                <a:latin typeface="Aptos"/>
              </a:rPr>
              <a:t>Native-object stress fixture · multi-point pink-violet-cyan-orange mesh and oversized type · editable geometry and recorded style lock</a:t>
            </a:r>
          </a:p>
        </p:txBody>
      </p:sp>
      <p:sp>
        <p:nvSpPr>
          <p:cNvPr id="55" name="portfolio-num-0"/>
          <p:cNvSpPr txBox="1"/>
          <p:nvPr/>
        </p:nvSpPr>
        <p:spPr>
          <a:xfrm>
            <a:off x="676656" y="1298448"/>
            <a:ext cx="566928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1" lang="en-US">
                <a:solidFill>
                  <a:srgbClr val="00D4FF"/>
                </a:solidFill>
                <a:latin typeface="Aptos Display"/>
              </a:rPr>
              <a:t>01</a:t>
            </a:r>
          </a:p>
        </p:txBody>
      </p:sp>
      <p:sp>
        <p:nvSpPr>
          <p:cNvPr id="56" name="portfolio-name-0"/>
          <p:cNvSpPr txBox="1"/>
          <p:nvPr/>
        </p:nvSpPr>
        <p:spPr>
          <a:xfrm>
            <a:off x="676656" y="1719072"/>
            <a:ext cx="192024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50" b="1" lang="en-US">
                <a:solidFill>
                  <a:srgbClr val="FFFFFF"/>
                </a:solidFill>
                <a:latin typeface="Aptos"/>
              </a:rPr>
              <a:t>Profile lock</a:t>
            </a:r>
          </a:p>
        </p:txBody>
      </p:sp>
      <p:sp>
        <p:nvSpPr>
          <p:cNvPr id="57" name="portfolio-micro-label-0-0"/>
          <p:cNvSpPr txBox="1"/>
          <p:nvPr/>
        </p:nvSpPr>
        <p:spPr>
          <a:xfrm>
            <a:off x="722376" y="2208276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00D4FF"/>
                </a:solidFill>
                <a:latin typeface="Aptos"/>
              </a:rPr>
              <a:t>spec</a:t>
            </a:r>
          </a:p>
        </p:txBody>
      </p:sp>
      <p:sp>
        <p:nvSpPr>
          <p:cNvPr id="58" name="portfolio-micro-label-0-1"/>
          <p:cNvSpPr txBox="1"/>
          <p:nvPr/>
        </p:nvSpPr>
        <p:spPr>
          <a:xfrm>
            <a:off x="1709928" y="2208276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00D4FF"/>
                </a:solidFill>
                <a:latin typeface="Aptos"/>
              </a:rPr>
              <a:t>audit</a:t>
            </a:r>
          </a:p>
        </p:txBody>
      </p:sp>
      <p:sp>
        <p:nvSpPr>
          <p:cNvPr id="59" name="portfolio-micro-label-0-2"/>
          <p:cNvSpPr txBox="1"/>
          <p:nvPr/>
        </p:nvSpPr>
        <p:spPr>
          <a:xfrm>
            <a:off x="722376" y="2592324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00D4FF"/>
                </a:solidFill>
                <a:latin typeface="Aptos"/>
              </a:rPr>
              <a:t>trace</a:t>
            </a:r>
          </a:p>
        </p:txBody>
      </p:sp>
      <p:sp>
        <p:nvSpPr>
          <p:cNvPr id="60" name="portfolio-micro-label-0-3"/>
          <p:cNvSpPr txBox="1"/>
          <p:nvPr/>
        </p:nvSpPr>
        <p:spPr>
          <a:xfrm>
            <a:off x="1709928" y="2592324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00D4FF"/>
                </a:solidFill>
                <a:latin typeface="Aptos"/>
              </a:rPr>
              <a:t>pass</a:t>
            </a:r>
          </a:p>
        </p:txBody>
      </p:sp>
      <p:sp>
        <p:nvSpPr>
          <p:cNvPr id="61" name="portfolio-num-1"/>
          <p:cNvSpPr txBox="1"/>
          <p:nvPr/>
        </p:nvSpPr>
        <p:spPr>
          <a:xfrm>
            <a:off x="3273552" y="1298448"/>
            <a:ext cx="566928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1" lang="en-US">
                <a:solidFill>
                  <a:srgbClr val="FF6EC7"/>
                </a:solidFill>
                <a:latin typeface="Aptos Display"/>
              </a:rPr>
              <a:t>02</a:t>
            </a:r>
          </a:p>
        </p:txBody>
      </p:sp>
      <p:sp>
        <p:nvSpPr>
          <p:cNvPr id="62" name="portfolio-name-1"/>
          <p:cNvSpPr txBox="1"/>
          <p:nvPr/>
        </p:nvSpPr>
        <p:spPr>
          <a:xfrm>
            <a:off x="3273552" y="1719072"/>
            <a:ext cx="192024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50" b="1" lang="en-US">
                <a:solidFill>
                  <a:srgbClr val="FFFFFF"/>
                </a:solidFill>
                <a:latin typeface="Aptos"/>
              </a:rPr>
              <a:t>Narrative</a:t>
            </a:r>
          </a:p>
        </p:txBody>
      </p:sp>
      <p:sp>
        <p:nvSpPr>
          <p:cNvPr id="63" name="portfolio-micro-label-1-0"/>
          <p:cNvSpPr txBox="1"/>
          <p:nvPr/>
        </p:nvSpPr>
        <p:spPr>
          <a:xfrm>
            <a:off x="3319272" y="2208276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FF6EC7"/>
                </a:solidFill>
                <a:latin typeface="Aptos"/>
              </a:rPr>
              <a:t>spec</a:t>
            </a:r>
          </a:p>
        </p:txBody>
      </p:sp>
      <p:sp>
        <p:nvSpPr>
          <p:cNvPr id="64" name="portfolio-micro-label-1-1"/>
          <p:cNvSpPr txBox="1"/>
          <p:nvPr/>
        </p:nvSpPr>
        <p:spPr>
          <a:xfrm>
            <a:off x="4306824" y="2208276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FF6EC7"/>
                </a:solidFill>
                <a:latin typeface="Aptos"/>
              </a:rPr>
              <a:t>audit</a:t>
            </a:r>
          </a:p>
        </p:txBody>
      </p:sp>
      <p:sp>
        <p:nvSpPr>
          <p:cNvPr id="65" name="portfolio-micro-label-1-2"/>
          <p:cNvSpPr txBox="1"/>
          <p:nvPr/>
        </p:nvSpPr>
        <p:spPr>
          <a:xfrm>
            <a:off x="3319272" y="2592324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FF6EC7"/>
                </a:solidFill>
                <a:latin typeface="Aptos"/>
              </a:rPr>
              <a:t>trace</a:t>
            </a:r>
          </a:p>
        </p:txBody>
      </p:sp>
      <p:sp>
        <p:nvSpPr>
          <p:cNvPr id="66" name="portfolio-micro-label-1-3"/>
          <p:cNvSpPr txBox="1"/>
          <p:nvPr/>
        </p:nvSpPr>
        <p:spPr>
          <a:xfrm>
            <a:off x="4306824" y="2592324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FF6EC7"/>
                </a:solidFill>
                <a:latin typeface="Aptos"/>
              </a:rPr>
              <a:t>pass</a:t>
            </a:r>
          </a:p>
        </p:txBody>
      </p:sp>
      <p:sp>
        <p:nvSpPr>
          <p:cNvPr id="67" name="portfolio-num-2"/>
          <p:cNvSpPr txBox="1"/>
          <p:nvPr/>
        </p:nvSpPr>
        <p:spPr>
          <a:xfrm>
            <a:off x="5870448" y="1298448"/>
            <a:ext cx="566928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1" lang="en-US">
                <a:solidFill>
                  <a:srgbClr val="FFB347"/>
                </a:solidFill>
                <a:latin typeface="Aptos Display"/>
              </a:rPr>
              <a:t>03</a:t>
            </a:r>
          </a:p>
        </p:txBody>
      </p:sp>
      <p:sp>
        <p:nvSpPr>
          <p:cNvPr id="68" name="portfolio-name-2"/>
          <p:cNvSpPr txBox="1"/>
          <p:nvPr/>
        </p:nvSpPr>
        <p:spPr>
          <a:xfrm>
            <a:off x="5870448" y="1719072"/>
            <a:ext cx="192024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50" b="1" lang="en-US">
                <a:solidFill>
                  <a:srgbClr val="FFFFFF"/>
                </a:solidFill>
                <a:latin typeface="Aptos"/>
              </a:rPr>
              <a:t>Geometry</a:t>
            </a:r>
          </a:p>
        </p:txBody>
      </p:sp>
      <p:sp>
        <p:nvSpPr>
          <p:cNvPr id="69" name="portfolio-micro-label-2-0"/>
          <p:cNvSpPr txBox="1"/>
          <p:nvPr/>
        </p:nvSpPr>
        <p:spPr>
          <a:xfrm>
            <a:off x="5916168" y="2208276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FFB347"/>
                </a:solidFill>
                <a:latin typeface="Aptos"/>
              </a:rPr>
              <a:t>spec</a:t>
            </a:r>
          </a:p>
        </p:txBody>
      </p:sp>
      <p:sp>
        <p:nvSpPr>
          <p:cNvPr id="70" name="portfolio-micro-label-2-1"/>
          <p:cNvSpPr txBox="1"/>
          <p:nvPr/>
        </p:nvSpPr>
        <p:spPr>
          <a:xfrm>
            <a:off x="6903720" y="2208276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FFB347"/>
                </a:solidFill>
                <a:latin typeface="Aptos"/>
              </a:rPr>
              <a:t>audit</a:t>
            </a:r>
          </a:p>
        </p:txBody>
      </p:sp>
      <p:sp>
        <p:nvSpPr>
          <p:cNvPr id="71" name="portfolio-micro-label-2-2"/>
          <p:cNvSpPr txBox="1"/>
          <p:nvPr/>
        </p:nvSpPr>
        <p:spPr>
          <a:xfrm>
            <a:off x="5916168" y="2592324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FFB347"/>
                </a:solidFill>
                <a:latin typeface="Aptos"/>
              </a:rPr>
              <a:t>trace</a:t>
            </a:r>
          </a:p>
        </p:txBody>
      </p:sp>
      <p:sp>
        <p:nvSpPr>
          <p:cNvPr id="72" name="portfolio-micro-label-2-3"/>
          <p:cNvSpPr txBox="1"/>
          <p:nvPr/>
        </p:nvSpPr>
        <p:spPr>
          <a:xfrm>
            <a:off x="6903720" y="2592324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FFB347"/>
                </a:solidFill>
                <a:latin typeface="Aptos"/>
              </a:rPr>
              <a:t>pass</a:t>
            </a:r>
          </a:p>
        </p:txBody>
      </p:sp>
      <p:sp>
        <p:nvSpPr>
          <p:cNvPr id="73" name="portfolio-num-3"/>
          <p:cNvSpPr txBox="1"/>
          <p:nvPr/>
        </p:nvSpPr>
        <p:spPr>
          <a:xfrm>
            <a:off x="676656" y="3630168"/>
            <a:ext cx="566928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1" lang="en-US">
                <a:solidFill>
                  <a:srgbClr val="00D4FF"/>
                </a:solidFill>
                <a:latin typeface="Aptos Display"/>
              </a:rPr>
              <a:t>04</a:t>
            </a:r>
          </a:p>
        </p:txBody>
      </p:sp>
      <p:sp>
        <p:nvSpPr>
          <p:cNvPr id="74" name="portfolio-name-3"/>
          <p:cNvSpPr txBox="1"/>
          <p:nvPr/>
        </p:nvSpPr>
        <p:spPr>
          <a:xfrm>
            <a:off x="676656" y="4050791"/>
            <a:ext cx="192024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50" b="1" lang="en-US">
                <a:solidFill>
                  <a:srgbClr val="FFFFFF"/>
                </a:solidFill>
                <a:latin typeface="Aptos"/>
              </a:rPr>
              <a:t>Visuals</a:t>
            </a:r>
          </a:p>
        </p:txBody>
      </p:sp>
      <p:sp>
        <p:nvSpPr>
          <p:cNvPr id="75" name="portfolio-micro-label-3-0"/>
          <p:cNvSpPr txBox="1"/>
          <p:nvPr/>
        </p:nvSpPr>
        <p:spPr>
          <a:xfrm>
            <a:off x="722376" y="4539996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00D4FF"/>
                </a:solidFill>
                <a:latin typeface="Aptos"/>
              </a:rPr>
              <a:t>spec</a:t>
            </a:r>
          </a:p>
        </p:txBody>
      </p:sp>
      <p:sp>
        <p:nvSpPr>
          <p:cNvPr id="76" name="portfolio-micro-label-3-1"/>
          <p:cNvSpPr txBox="1"/>
          <p:nvPr/>
        </p:nvSpPr>
        <p:spPr>
          <a:xfrm>
            <a:off x="1709928" y="4539996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00D4FF"/>
                </a:solidFill>
                <a:latin typeface="Aptos"/>
              </a:rPr>
              <a:t>audit</a:t>
            </a:r>
          </a:p>
        </p:txBody>
      </p:sp>
      <p:sp>
        <p:nvSpPr>
          <p:cNvPr id="77" name="portfolio-micro-label-3-2"/>
          <p:cNvSpPr txBox="1"/>
          <p:nvPr/>
        </p:nvSpPr>
        <p:spPr>
          <a:xfrm>
            <a:off x="722376" y="4924044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00D4FF"/>
                </a:solidFill>
                <a:latin typeface="Aptos"/>
              </a:rPr>
              <a:t>trace</a:t>
            </a:r>
          </a:p>
        </p:txBody>
      </p:sp>
      <p:sp>
        <p:nvSpPr>
          <p:cNvPr id="78" name="portfolio-micro-label-3-3"/>
          <p:cNvSpPr txBox="1"/>
          <p:nvPr/>
        </p:nvSpPr>
        <p:spPr>
          <a:xfrm>
            <a:off x="1709928" y="4924044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00D4FF"/>
                </a:solidFill>
                <a:latin typeface="Aptos"/>
              </a:rPr>
              <a:t>pass</a:t>
            </a:r>
          </a:p>
        </p:txBody>
      </p:sp>
      <p:sp>
        <p:nvSpPr>
          <p:cNvPr id="79" name="portfolio-num-4"/>
          <p:cNvSpPr txBox="1"/>
          <p:nvPr/>
        </p:nvSpPr>
        <p:spPr>
          <a:xfrm>
            <a:off x="3273552" y="3630168"/>
            <a:ext cx="566928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1" lang="en-US">
                <a:solidFill>
                  <a:srgbClr val="FFB347"/>
                </a:solidFill>
                <a:latin typeface="Aptos Display"/>
              </a:rPr>
              <a:t>05</a:t>
            </a:r>
          </a:p>
        </p:txBody>
      </p:sp>
      <p:sp>
        <p:nvSpPr>
          <p:cNvPr id="80" name="portfolio-name-4"/>
          <p:cNvSpPr txBox="1"/>
          <p:nvPr/>
        </p:nvSpPr>
        <p:spPr>
          <a:xfrm>
            <a:off x="3273552" y="4050791"/>
            <a:ext cx="192024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50" b="1" lang="en-US">
                <a:solidFill>
                  <a:srgbClr val="FFFFFF"/>
                </a:solidFill>
                <a:latin typeface="Aptos"/>
              </a:rPr>
              <a:t>Accessibility</a:t>
            </a:r>
          </a:p>
        </p:txBody>
      </p:sp>
      <p:sp>
        <p:nvSpPr>
          <p:cNvPr id="81" name="portfolio-micro-label-4-0"/>
          <p:cNvSpPr txBox="1"/>
          <p:nvPr/>
        </p:nvSpPr>
        <p:spPr>
          <a:xfrm>
            <a:off x="3319272" y="4539996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FFB347"/>
                </a:solidFill>
                <a:latin typeface="Aptos"/>
              </a:rPr>
              <a:t>spec</a:t>
            </a:r>
          </a:p>
        </p:txBody>
      </p:sp>
      <p:sp>
        <p:nvSpPr>
          <p:cNvPr id="82" name="portfolio-micro-label-4-1"/>
          <p:cNvSpPr txBox="1"/>
          <p:nvPr/>
        </p:nvSpPr>
        <p:spPr>
          <a:xfrm>
            <a:off x="4306824" y="4539996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FFB347"/>
                </a:solidFill>
                <a:latin typeface="Aptos"/>
              </a:rPr>
              <a:t>audit</a:t>
            </a:r>
          </a:p>
        </p:txBody>
      </p:sp>
      <p:sp>
        <p:nvSpPr>
          <p:cNvPr id="83" name="portfolio-micro-label-4-2"/>
          <p:cNvSpPr txBox="1"/>
          <p:nvPr/>
        </p:nvSpPr>
        <p:spPr>
          <a:xfrm>
            <a:off x="3319272" y="4924044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FFB347"/>
                </a:solidFill>
                <a:latin typeface="Aptos"/>
              </a:rPr>
              <a:t>trace</a:t>
            </a:r>
          </a:p>
        </p:txBody>
      </p:sp>
      <p:sp>
        <p:nvSpPr>
          <p:cNvPr id="84" name="portfolio-micro-label-4-3"/>
          <p:cNvSpPr txBox="1"/>
          <p:nvPr/>
        </p:nvSpPr>
        <p:spPr>
          <a:xfrm>
            <a:off x="4306824" y="4924044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FFB347"/>
                </a:solidFill>
                <a:latin typeface="Aptos"/>
              </a:rPr>
              <a:t>pass</a:t>
            </a:r>
          </a:p>
        </p:txBody>
      </p:sp>
      <p:sp>
        <p:nvSpPr>
          <p:cNvPr id="85" name="portfolio-num-5"/>
          <p:cNvSpPr txBox="1"/>
          <p:nvPr/>
        </p:nvSpPr>
        <p:spPr>
          <a:xfrm>
            <a:off x="5870448" y="3630168"/>
            <a:ext cx="566928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1" lang="en-US">
                <a:solidFill>
                  <a:srgbClr val="FF6EC7"/>
                </a:solidFill>
                <a:latin typeface="Aptos Display"/>
              </a:rPr>
              <a:t>06</a:t>
            </a:r>
          </a:p>
        </p:txBody>
      </p:sp>
      <p:sp>
        <p:nvSpPr>
          <p:cNvPr id="86" name="portfolio-name-5"/>
          <p:cNvSpPr txBox="1"/>
          <p:nvPr/>
        </p:nvSpPr>
        <p:spPr>
          <a:xfrm>
            <a:off x="5870448" y="4050791"/>
            <a:ext cx="192024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50" b="1" lang="en-US">
                <a:solidFill>
                  <a:srgbClr val="FFFFFF"/>
                </a:solidFill>
                <a:latin typeface="Aptos"/>
              </a:rPr>
              <a:t>Package</a:t>
            </a:r>
          </a:p>
        </p:txBody>
      </p:sp>
      <p:sp>
        <p:nvSpPr>
          <p:cNvPr id="87" name="portfolio-micro-label-5-0"/>
          <p:cNvSpPr txBox="1"/>
          <p:nvPr/>
        </p:nvSpPr>
        <p:spPr>
          <a:xfrm>
            <a:off x="5916168" y="4539996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FF6EC7"/>
                </a:solidFill>
                <a:latin typeface="Aptos"/>
              </a:rPr>
              <a:t>spec</a:t>
            </a:r>
          </a:p>
        </p:txBody>
      </p:sp>
      <p:sp>
        <p:nvSpPr>
          <p:cNvPr id="88" name="portfolio-micro-label-5-1"/>
          <p:cNvSpPr txBox="1"/>
          <p:nvPr/>
        </p:nvSpPr>
        <p:spPr>
          <a:xfrm>
            <a:off x="6903720" y="4539996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FF6EC7"/>
                </a:solidFill>
                <a:latin typeface="Aptos"/>
              </a:rPr>
              <a:t>audit</a:t>
            </a:r>
          </a:p>
        </p:txBody>
      </p:sp>
      <p:sp>
        <p:nvSpPr>
          <p:cNvPr id="89" name="portfolio-micro-label-5-2"/>
          <p:cNvSpPr txBox="1"/>
          <p:nvPr/>
        </p:nvSpPr>
        <p:spPr>
          <a:xfrm>
            <a:off x="5916168" y="4924044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FF6EC7"/>
                </a:solidFill>
                <a:latin typeface="Aptos"/>
              </a:rPr>
              <a:t>trace</a:t>
            </a:r>
          </a:p>
        </p:txBody>
      </p:sp>
      <p:sp>
        <p:nvSpPr>
          <p:cNvPr id="90" name="portfolio-micro-label-5-3"/>
          <p:cNvSpPr txBox="1"/>
          <p:nvPr/>
        </p:nvSpPr>
        <p:spPr>
          <a:xfrm>
            <a:off x="6903720" y="4924044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FF6EC7"/>
                </a:solidFill>
                <a:latin typeface="Aptos"/>
              </a:rPr>
              <a:t>pass</a:t>
            </a:r>
          </a:p>
        </p:txBody>
      </p:sp>
      <p:sp>
        <p:nvSpPr>
          <p:cNvPr id="91" name="portfolio-rail-title"/>
          <p:cNvSpPr txBox="1"/>
          <p:nvPr/>
        </p:nvSpPr>
        <p:spPr>
          <a:xfrm>
            <a:off x="8723376" y="1325880"/>
            <a:ext cx="246888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1" lang="en-US">
                <a:solidFill>
                  <a:srgbClr val="00D4FF"/>
                </a:solidFill>
                <a:latin typeface="Aptos"/>
              </a:rPr>
              <a:t>RELEASE BOARD</a:t>
            </a:r>
          </a:p>
        </p:txBody>
      </p:sp>
      <p:sp>
        <p:nvSpPr>
          <p:cNvPr id="92" name="release-label-0"/>
          <p:cNvSpPr txBox="1"/>
          <p:nvPr/>
        </p:nvSpPr>
        <p:spPr>
          <a:xfrm>
            <a:off x="8906256" y="1847088"/>
            <a:ext cx="137160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50" b="1" lang="en-US">
                <a:solidFill>
                  <a:srgbClr val="F7F3FF"/>
                </a:solidFill>
                <a:latin typeface="Aptos"/>
              </a:rPr>
              <a:t>Layouts</a:t>
            </a:r>
          </a:p>
        </p:txBody>
      </p:sp>
      <p:sp>
        <p:nvSpPr>
          <p:cNvPr id="93" name="release-value-0"/>
          <p:cNvSpPr txBox="1"/>
          <p:nvPr/>
        </p:nvSpPr>
        <p:spPr>
          <a:xfrm>
            <a:off x="10378440" y="1828800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1100" b="1" lang="en-US">
                <a:solidFill>
                  <a:srgbClr val="00D4FF"/>
                </a:solidFill>
                <a:latin typeface="Aptos"/>
              </a:rPr>
              <a:t>60</a:t>
            </a:r>
          </a:p>
        </p:txBody>
      </p:sp>
      <p:sp>
        <p:nvSpPr>
          <p:cNvPr id="94" name="release-label-1"/>
          <p:cNvSpPr txBox="1"/>
          <p:nvPr/>
        </p:nvSpPr>
        <p:spPr>
          <a:xfrm>
            <a:off x="8906256" y="2542032"/>
            <a:ext cx="137160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50" b="1" lang="en-US">
                <a:solidFill>
                  <a:srgbClr val="F7F3FF"/>
                </a:solidFill>
                <a:latin typeface="Aptos"/>
              </a:rPr>
              <a:t>Profiles</a:t>
            </a:r>
          </a:p>
        </p:txBody>
      </p:sp>
      <p:sp>
        <p:nvSpPr>
          <p:cNvPr id="95" name="release-value-1"/>
          <p:cNvSpPr txBox="1"/>
          <p:nvPr/>
        </p:nvSpPr>
        <p:spPr>
          <a:xfrm>
            <a:off x="10378440" y="2523744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1100" b="1" lang="en-US">
                <a:solidFill>
                  <a:srgbClr val="FF6EC7"/>
                </a:solidFill>
                <a:latin typeface="Aptos"/>
              </a:rPr>
              <a:t>12</a:t>
            </a:r>
          </a:p>
        </p:txBody>
      </p:sp>
      <p:sp>
        <p:nvSpPr>
          <p:cNvPr id="96" name="release-label-2"/>
          <p:cNvSpPr txBox="1"/>
          <p:nvPr/>
        </p:nvSpPr>
        <p:spPr>
          <a:xfrm>
            <a:off x="8906256" y="3236976"/>
            <a:ext cx="137160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50" b="1" lang="en-US">
                <a:solidFill>
                  <a:srgbClr val="F7F3FF"/>
                </a:solidFill>
                <a:latin typeface="Aptos"/>
              </a:rPr>
              <a:t>Gate checks</a:t>
            </a:r>
          </a:p>
        </p:txBody>
      </p:sp>
      <p:sp>
        <p:nvSpPr>
          <p:cNvPr id="97" name="release-value-2"/>
          <p:cNvSpPr txBox="1"/>
          <p:nvPr/>
        </p:nvSpPr>
        <p:spPr>
          <a:xfrm>
            <a:off x="10378440" y="3218688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1100" b="1" lang="en-US">
                <a:solidFill>
                  <a:srgbClr val="FFB347"/>
                </a:solidFill>
                <a:latin typeface="Aptos"/>
              </a:rPr>
              <a:t>11</a:t>
            </a:r>
          </a:p>
        </p:txBody>
      </p:sp>
      <p:sp>
        <p:nvSpPr>
          <p:cNvPr id="98" name="release-label-3"/>
          <p:cNvSpPr txBox="1"/>
          <p:nvPr/>
        </p:nvSpPr>
        <p:spPr>
          <a:xfrm>
            <a:off x="8906256" y="3931920"/>
            <a:ext cx="137160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50" b="1" lang="en-US">
                <a:solidFill>
                  <a:srgbClr val="F7F3FF"/>
                </a:solidFill>
                <a:latin typeface="Aptos"/>
              </a:rPr>
              <a:t>Defects</a:t>
            </a:r>
          </a:p>
        </p:txBody>
      </p:sp>
      <p:sp>
        <p:nvSpPr>
          <p:cNvPr id="99" name="release-value-3"/>
          <p:cNvSpPr txBox="1"/>
          <p:nvPr/>
        </p:nvSpPr>
        <p:spPr>
          <a:xfrm>
            <a:off x="10378440" y="3913632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1100" b="1" lang="en-US">
                <a:solidFill>
                  <a:srgbClr val="00D4FF"/>
                </a:solidFill>
                <a:latin typeface="Aptos"/>
              </a:rPr>
              <a:t>00</a:t>
            </a:r>
          </a:p>
        </p:txBody>
      </p:sp>
      <p:sp>
        <p:nvSpPr>
          <p:cNvPr id="100" name="release-label-4"/>
          <p:cNvSpPr txBox="1"/>
          <p:nvPr/>
        </p:nvSpPr>
        <p:spPr>
          <a:xfrm>
            <a:off x="8906256" y="4626864"/>
            <a:ext cx="137160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50" b="1" lang="en-US">
                <a:solidFill>
                  <a:srgbClr val="F7F3FF"/>
                </a:solidFill>
                <a:latin typeface="Aptos"/>
              </a:rPr>
              <a:t>Evidence</a:t>
            </a:r>
          </a:p>
        </p:txBody>
      </p:sp>
      <p:sp>
        <p:nvSpPr>
          <p:cNvPr id="101" name="release-value-4"/>
          <p:cNvSpPr txBox="1"/>
          <p:nvPr/>
        </p:nvSpPr>
        <p:spPr>
          <a:xfrm>
            <a:off x="10378440" y="4608576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1100" b="1" lang="en-US">
                <a:solidFill>
                  <a:srgbClr val="FFB347"/>
                </a:solidFill>
                <a:latin typeface="Aptos"/>
              </a:rPr>
              <a:t>native</a:t>
            </a:r>
          </a:p>
        </p:txBody>
      </p:sp>
      <p:sp>
        <p:nvSpPr>
          <p:cNvPr id="102" name="portfolio-banner-label"/>
          <p:cNvSpPr txBox="1"/>
          <p:nvPr/>
        </p:nvSpPr>
        <p:spPr>
          <a:xfrm>
            <a:off x="713232" y="5687568"/>
            <a:ext cx="740664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50" b="1" lang="en-US">
                <a:solidFill>
                  <a:srgbClr val="111111"/>
                </a:solidFill>
                <a:latin typeface="Aptos"/>
              </a:rPr>
              <a:t>Six dense tiles test nested cards, micro-labels, hierarchy, and high-information scanning.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B61FF"/>
          </a:solidFill>
          <a:ln w="10160">
            <a:solidFill>
              <a:srgbClr val="7B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glow-0"/>
          <p:cNvSpPr/>
          <p:nvPr/>
        </p:nvSpPr>
        <p:spPr>
          <a:xfrm>
            <a:off x="8046720" y="320040"/>
            <a:ext cx="2926080" cy="2926080"/>
          </a:xfrm>
          <a:prstGeom prst="ellipse">
            <a:avLst/>
          </a:prstGeom>
          <a:solidFill>
            <a:srgbClr val="00D4FF"/>
          </a:solidFill>
          <a:ln w="1016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glow-1"/>
          <p:cNvSpPr/>
          <p:nvPr/>
        </p:nvSpPr>
        <p:spPr>
          <a:xfrm>
            <a:off x="9509760" y="3383280"/>
            <a:ext cx="2011680" cy="2011680"/>
          </a:xfrm>
          <a:prstGeom prst="ellipse">
            <a:avLst/>
          </a:prstGeom>
          <a:solidFill>
            <a:srgbClr val="FF6EC7"/>
          </a:solidFill>
          <a:ln w="10160">
            <a:solidFill>
              <a:srgbClr val="FF6E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glow-2"/>
          <p:cNvSpPr/>
          <p:nvPr/>
        </p:nvSpPr>
        <p:spPr>
          <a:xfrm>
            <a:off x="7132320" y="4663440"/>
            <a:ext cx="1645920" cy="1645920"/>
          </a:xfrm>
          <a:prstGeom prst="ellipse">
            <a:avLst/>
          </a:prstGeom>
          <a:solidFill>
            <a:srgbClr val="FFB347"/>
          </a:solidFill>
          <a:ln w="10160">
            <a:solidFill>
              <a:srgbClr val="FFB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op-band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D4FF"/>
          </a:solidFill>
          <a:ln w="1016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lane-0"/>
          <p:cNvSpPr/>
          <p:nvPr/>
        </p:nvSpPr>
        <p:spPr>
          <a:xfrm>
            <a:off x="457200" y="1097280"/>
            <a:ext cx="8458200" cy="914400"/>
          </a:xfrm>
          <a:prstGeom prst="roundRect">
            <a:avLst/>
          </a:prstGeom>
          <a:solidFill>
            <a:srgbClr val="FF6EC7"/>
          </a:solidFill>
          <a:ln w="10160">
            <a:solidFill>
              <a:srgbClr val="B6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lane-1"/>
          <p:cNvSpPr/>
          <p:nvPr/>
        </p:nvSpPr>
        <p:spPr>
          <a:xfrm>
            <a:off x="457200" y="2267712"/>
            <a:ext cx="8458200" cy="914400"/>
          </a:xfrm>
          <a:prstGeom prst="roundRect">
            <a:avLst/>
          </a:prstGeom>
          <a:solidFill>
            <a:srgbClr val="FF6EC7"/>
          </a:solidFill>
          <a:ln w="10160">
            <a:solidFill>
              <a:srgbClr val="B6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lane-2"/>
          <p:cNvSpPr/>
          <p:nvPr/>
        </p:nvSpPr>
        <p:spPr>
          <a:xfrm>
            <a:off x="457200" y="3438144"/>
            <a:ext cx="8458200" cy="914400"/>
          </a:xfrm>
          <a:prstGeom prst="roundRect">
            <a:avLst/>
          </a:prstGeom>
          <a:solidFill>
            <a:srgbClr val="FF6EC7"/>
          </a:solidFill>
          <a:ln w="10160">
            <a:solidFill>
              <a:srgbClr val="B6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lane-3"/>
          <p:cNvSpPr/>
          <p:nvPr/>
        </p:nvSpPr>
        <p:spPr>
          <a:xfrm>
            <a:off x="457200" y="4608576"/>
            <a:ext cx="8458200" cy="914400"/>
          </a:xfrm>
          <a:prstGeom prst="roundRect">
            <a:avLst/>
          </a:prstGeom>
          <a:solidFill>
            <a:srgbClr val="FF6EC7"/>
          </a:solidFill>
          <a:ln w="10160">
            <a:solidFill>
              <a:srgbClr val="B6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workbench-rail-shell"/>
          <p:cNvSpPr/>
          <p:nvPr/>
        </p:nvSpPr>
        <p:spPr>
          <a:xfrm>
            <a:off x="9189720" y="1097280"/>
            <a:ext cx="2542032" cy="4892040"/>
          </a:xfrm>
          <a:prstGeom prst="roundRect">
            <a:avLst/>
          </a:prstGeom>
          <a:solidFill>
            <a:srgbClr val="6B52DC"/>
          </a:solidFill>
          <a:ln w="10160">
            <a:solidFill>
              <a:srgbClr val="B6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lane-label-0"/>
          <p:cNvSpPr/>
          <p:nvPr/>
        </p:nvSpPr>
        <p:spPr>
          <a:xfrm>
            <a:off x="457200" y="1097280"/>
            <a:ext cx="1097280" cy="914400"/>
          </a:xfrm>
          <a:prstGeom prst="rect">
            <a:avLst/>
          </a:prstGeom>
          <a:solidFill>
            <a:srgbClr val="00D4FF"/>
          </a:solidFill>
          <a:ln w="1016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lane-label-1"/>
          <p:cNvSpPr/>
          <p:nvPr/>
        </p:nvSpPr>
        <p:spPr>
          <a:xfrm>
            <a:off x="457200" y="2267712"/>
            <a:ext cx="1097280" cy="914400"/>
          </a:xfrm>
          <a:prstGeom prst="rect">
            <a:avLst/>
          </a:prstGeom>
          <a:solidFill>
            <a:srgbClr val="FF6EC7"/>
          </a:solidFill>
          <a:ln w="10160">
            <a:solidFill>
              <a:srgbClr val="FF6E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lane-label-2"/>
          <p:cNvSpPr/>
          <p:nvPr/>
        </p:nvSpPr>
        <p:spPr>
          <a:xfrm>
            <a:off x="457200" y="3438144"/>
            <a:ext cx="1097280" cy="914400"/>
          </a:xfrm>
          <a:prstGeom prst="rect">
            <a:avLst/>
          </a:prstGeom>
          <a:solidFill>
            <a:srgbClr val="FFB347"/>
          </a:solidFill>
          <a:ln w="10160">
            <a:solidFill>
              <a:srgbClr val="FFB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lane-label-3"/>
          <p:cNvSpPr/>
          <p:nvPr/>
        </p:nvSpPr>
        <p:spPr>
          <a:xfrm>
            <a:off x="457200" y="4608576"/>
            <a:ext cx="1097280" cy="914400"/>
          </a:xfrm>
          <a:prstGeom prst="rect">
            <a:avLst/>
          </a:prstGeom>
          <a:solidFill>
            <a:srgbClr val="00D4FF"/>
          </a:solidFill>
          <a:ln w="1016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workbench-rail-accent"/>
          <p:cNvSpPr/>
          <p:nvPr/>
        </p:nvSpPr>
        <p:spPr>
          <a:xfrm>
            <a:off x="9189720" y="1097280"/>
            <a:ext cx="73152" cy="4892040"/>
          </a:xfrm>
          <a:prstGeom prst="rect">
            <a:avLst/>
          </a:prstGeom>
          <a:solidFill>
            <a:srgbClr val="00D4FF"/>
          </a:solidFill>
          <a:ln w="1016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hart-axis"/>
          <p:cNvCxnSpPr/>
          <p:nvPr/>
        </p:nvCxnSpPr>
        <p:spPr>
          <a:xfrm>
            <a:off x="9400032" y="4718304"/>
            <a:ext cx="2048256" cy="0"/>
          </a:xfrm>
          <a:prstGeom prst="line">
            <a:avLst/>
          </a:prstGeom>
          <a:ln w="13970">
            <a:solidFill>
              <a:srgbClr val="B6A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ask-0-0"/>
          <p:cNvSpPr/>
          <p:nvPr/>
        </p:nvSpPr>
        <p:spPr>
          <a:xfrm>
            <a:off x="1773936" y="1234440"/>
            <a:ext cx="1161288" cy="621792"/>
          </a:xfrm>
          <a:prstGeom prst="roundRect">
            <a:avLst/>
          </a:prstGeom>
          <a:solidFill>
            <a:srgbClr val="6B52DC"/>
          </a:solidFill>
          <a:ln w="1016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ask-0-1"/>
          <p:cNvSpPr/>
          <p:nvPr/>
        </p:nvSpPr>
        <p:spPr>
          <a:xfrm>
            <a:off x="3127248" y="1234440"/>
            <a:ext cx="1161288" cy="621792"/>
          </a:xfrm>
          <a:prstGeom prst="roundRect">
            <a:avLst/>
          </a:prstGeom>
          <a:solidFill>
            <a:srgbClr val="6B52DC"/>
          </a:solidFill>
          <a:ln w="1016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ask-0-2"/>
          <p:cNvSpPr/>
          <p:nvPr/>
        </p:nvSpPr>
        <p:spPr>
          <a:xfrm>
            <a:off x="4480560" y="1234440"/>
            <a:ext cx="1161288" cy="621792"/>
          </a:xfrm>
          <a:prstGeom prst="roundRect">
            <a:avLst/>
          </a:prstGeom>
          <a:solidFill>
            <a:srgbClr val="6B52DC"/>
          </a:solidFill>
          <a:ln w="1016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ask-0-3"/>
          <p:cNvSpPr/>
          <p:nvPr/>
        </p:nvSpPr>
        <p:spPr>
          <a:xfrm>
            <a:off x="5833872" y="1234440"/>
            <a:ext cx="1161288" cy="621792"/>
          </a:xfrm>
          <a:prstGeom prst="roundRect">
            <a:avLst/>
          </a:prstGeom>
          <a:solidFill>
            <a:srgbClr val="6B52DC"/>
          </a:solidFill>
          <a:ln w="1016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ask-0-4"/>
          <p:cNvSpPr/>
          <p:nvPr/>
        </p:nvSpPr>
        <p:spPr>
          <a:xfrm>
            <a:off x="7187184" y="1234440"/>
            <a:ext cx="1161288" cy="621792"/>
          </a:xfrm>
          <a:prstGeom prst="roundRect">
            <a:avLst/>
          </a:prstGeom>
          <a:solidFill>
            <a:srgbClr val="6B52DC"/>
          </a:solidFill>
          <a:ln w="1016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ask-1-0"/>
          <p:cNvSpPr/>
          <p:nvPr/>
        </p:nvSpPr>
        <p:spPr>
          <a:xfrm>
            <a:off x="1773936" y="2404872"/>
            <a:ext cx="1161288" cy="621792"/>
          </a:xfrm>
          <a:prstGeom prst="roundRect">
            <a:avLst/>
          </a:prstGeom>
          <a:solidFill>
            <a:srgbClr val="6B52DC"/>
          </a:solidFill>
          <a:ln w="10160">
            <a:solidFill>
              <a:srgbClr val="FF6E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ask-1-1"/>
          <p:cNvSpPr/>
          <p:nvPr/>
        </p:nvSpPr>
        <p:spPr>
          <a:xfrm>
            <a:off x="3127248" y="2404872"/>
            <a:ext cx="1161288" cy="621792"/>
          </a:xfrm>
          <a:prstGeom prst="roundRect">
            <a:avLst/>
          </a:prstGeom>
          <a:solidFill>
            <a:srgbClr val="6B52DC"/>
          </a:solidFill>
          <a:ln w="10160">
            <a:solidFill>
              <a:srgbClr val="FF6E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ask-1-2"/>
          <p:cNvSpPr/>
          <p:nvPr/>
        </p:nvSpPr>
        <p:spPr>
          <a:xfrm>
            <a:off x="4480560" y="2404872"/>
            <a:ext cx="1161288" cy="621792"/>
          </a:xfrm>
          <a:prstGeom prst="roundRect">
            <a:avLst/>
          </a:prstGeom>
          <a:solidFill>
            <a:srgbClr val="6B52DC"/>
          </a:solidFill>
          <a:ln w="10160">
            <a:solidFill>
              <a:srgbClr val="FF6E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ask-1-3"/>
          <p:cNvSpPr/>
          <p:nvPr/>
        </p:nvSpPr>
        <p:spPr>
          <a:xfrm>
            <a:off x="5833872" y="2404872"/>
            <a:ext cx="1161288" cy="621792"/>
          </a:xfrm>
          <a:prstGeom prst="roundRect">
            <a:avLst/>
          </a:prstGeom>
          <a:solidFill>
            <a:srgbClr val="6B52DC"/>
          </a:solidFill>
          <a:ln w="10160">
            <a:solidFill>
              <a:srgbClr val="FF6E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ask-1-4"/>
          <p:cNvSpPr/>
          <p:nvPr/>
        </p:nvSpPr>
        <p:spPr>
          <a:xfrm>
            <a:off x="7187184" y="2404872"/>
            <a:ext cx="1161288" cy="621792"/>
          </a:xfrm>
          <a:prstGeom prst="roundRect">
            <a:avLst/>
          </a:prstGeom>
          <a:solidFill>
            <a:srgbClr val="6B52DC"/>
          </a:solidFill>
          <a:ln w="10160">
            <a:solidFill>
              <a:srgbClr val="FF6E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ask-2-0"/>
          <p:cNvSpPr/>
          <p:nvPr/>
        </p:nvSpPr>
        <p:spPr>
          <a:xfrm>
            <a:off x="1773936" y="3575304"/>
            <a:ext cx="1161288" cy="621792"/>
          </a:xfrm>
          <a:prstGeom prst="roundRect">
            <a:avLst/>
          </a:prstGeom>
          <a:solidFill>
            <a:srgbClr val="6B52DC"/>
          </a:solidFill>
          <a:ln w="10160">
            <a:solidFill>
              <a:srgbClr val="FFB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ask-2-1"/>
          <p:cNvSpPr/>
          <p:nvPr/>
        </p:nvSpPr>
        <p:spPr>
          <a:xfrm>
            <a:off x="3127248" y="3575304"/>
            <a:ext cx="1161288" cy="621792"/>
          </a:xfrm>
          <a:prstGeom prst="roundRect">
            <a:avLst/>
          </a:prstGeom>
          <a:solidFill>
            <a:srgbClr val="6B52DC"/>
          </a:solidFill>
          <a:ln w="10160">
            <a:solidFill>
              <a:srgbClr val="FFB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ask-2-2"/>
          <p:cNvSpPr/>
          <p:nvPr/>
        </p:nvSpPr>
        <p:spPr>
          <a:xfrm>
            <a:off x="4480560" y="3575304"/>
            <a:ext cx="1161288" cy="621792"/>
          </a:xfrm>
          <a:prstGeom prst="roundRect">
            <a:avLst/>
          </a:prstGeom>
          <a:solidFill>
            <a:srgbClr val="6B52DC"/>
          </a:solidFill>
          <a:ln w="10160">
            <a:solidFill>
              <a:srgbClr val="FFB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ask-2-3"/>
          <p:cNvSpPr/>
          <p:nvPr/>
        </p:nvSpPr>
        <p:spPr>
          <a:xfrm>
            <a:off x="5833872" y="3575304"/>
            <a:ext cx="1161288" cy="621792"/>
          </a:xfrm>
          <a:prstGeom prst="roundRect">
            <a:avLst/>
          </a:prstGeom>
          <a:solidFill>
            <a:srgbClr val="6B52DC"/>
          </a:solidFill>
          <a:ln w="10160">
            <a:solidFill>
              <a:srgbClr val="FFB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ask-2-4"/>
          <p:cNvSpPr/>
          <p:nvPr/>
        </p:nvSpPr>
        <p:spPr>
          <a:xfrm>
            <a:off x="7187184" y="3575304"/>
            <a:ext cx="1161288" cy="621792"/>
          </a:xfrm>
          <a:prstGeom prst="roundRect">
            <a:avLst/>
          </a:prstGeom>
          <a:solidFill>
            <a:srgbClr val="6B52DC"/>
          </a:solidFill>
          <a:ln w="10160">
            <a:solidFill>
              <a:srgbClr val="FFB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ask-3-0"/>
          <p:cNvSpPr/>
          <p:nvPr/>
        </p:nvSpPr>
        <p:spPr>
          <a:xfrm>
            <a:off x="1773936" y="4745736"/>
            <a:ext cx="1161288" cy="621792"/>
          </a:xfrm>
          <a:prstGeom prst="roundRect">
            <a:avLst/>
          </a:prstGeom>
          <a:solidFill>
            <a:srgbClr val="6B52DC"/>
          </a:solidFill>
          <a:ln w="1016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ask-3-1"/>
          <p:cNvSpPr/>
          <p:nvPr/>
        </p:nvSpPr>
        <p:spPr>
          <a:xfrm>
            <a:off x="3127248" y="4745736"/>
            <a:ext cx="1161288" cy="621792"/>
          </a:xfrm>
          <a:prstGeom prst="roundRect">
            <a:avLst/>
          </a:prstGeom>
          <a:solidFill>
            <a:srgbClr val="6B52DC"/>
          </a:solidFill>
          <a:ln w="1016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ask-3-2"/>
          <p:cNvSpPr/>
          <p:nvPr/>
        </p:nvSpPr>
        <p:spPr>
          <a:xfrm>
            <a:off x="4480560" y="4745736"/>
            <a:ext cx="1161288" cy="621792"/>
          </a:xfrm>
          <a:prstGeom prst="roundRect">
            <a:avLst/>
          </a:prstGeom>
          <a:solidFill>
            <a:srgbClr val="6B52DC"/>
          </a:solidFill>
          <a:ln w="1016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ask-3-3"/>
          <p:cNvSpPr/>
          <p:nvPr/>
        </p:nvSpPr>
        <p:spPr>
          <a:xfrm>
            <a:off x="5833872" y="4745736"/>
            <a:ext cx="1161288" cy="621792"/>
          </a:xfrm>
          <a:prstGeom prst="roundRect">
            <a:avLst/>
          </a:prstGeom>
          <a:solidFill>
            <a:srgbClr val="6B52DC"/>
          </a:solidFill>
          <a:ln w="1016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ask-3-4"/>
          <p:cNvSpPr/>
          <p:nvPr/>
        </p:nvSpPr>
        <p:spPr>
          <a:xfrm>
            <a:off x="7187184" y="4745736"/>
            <a:ext cx="1161288" cy="621792"/>
          </a:xfrm>
          <a:prstGeom prst="roundRect">
            <a:avLst/>
          </a:prstGeom>
          <a:solidFill>
            <a:srgbClr val="6B52DC"/>
          </a:solidFill>
          <a:ln w="1016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bar-0"/>
          <p:cNvSpPr/>
          <p:nvPr/>
        </p:nvSpPr>
        <p:spPr>
          <a:xfrm>
            <a:off x="9454896" y="3771900"/>
            <a:ext cx="155448" cy="946403"/>
          </a:xfrm>
          <a:prstGeom prst="roundRect">
            <a:avLst/>
          </a:prstGeom>
          <a:solidFill>
            <a:srgbClr val="00D4FF"/>
          </a:solidFill>
          <a:ln w="1016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bar-1"/>
          <p:cNvSpPr/>
          <p:nvPr/>
        </p:nvSpPr>
        <p:spPr>
          <a:xfrm>
            <a:off x="9701784" y="3204057"/>
            <a:ext cx="155448" cy="1514246"/>
          </a:xfrm>
          <a:prstGeom prst="roundRect">
            <a:avLst/>
          </a:prstGeom>
          <a:solidFill>
            <a:srgbClr val="FF6EC7"/>
          </a:solidFill>
          <a:ln w="10160">
            <a:solidFill>
              <a:srgbClr val="FF6E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bar-2"/>
          <p:cNvSpPr/>
          <p:nvPr/>
        </p:nvSpPr>
        <p:spPr>
          <a:xfrm>
            <a:off x="9948672" y="3498494"/>
            <a:ext cx="155448" cy="1219809"/>
          </a:xfrm>
          <a:prstGeom prst="roundRect">
            <a:avLst/>
          </a:prstGeom>
          <a:solidFill>
            <a:srgbClr val="FFB347"/>
          </a:solidFill>
          <a:ln w="10160">
            <a:solidFill>
              <a:srgbClr val="FFB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bar-3"/>
          <p:cNvSpPr/>
          <p:nvPr/>
        </p:nvSpPr>
        <p:spPr>
          <a:xfrm>
            <a:off x="10195560" y="2909620"/>
            <a:ext cx="155448" cy="1808683"/>
          </a:xfrm>
          <a:prstGeom prst="roundRect">
            <a:avLst/>
          </a:prstGeom>
          <a:solidFill>
            <a:srgbClr val="00D4FF"/>
          </a:solidFill>
          <a:ln w="1016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bar-4"/>
          <p:cNvSpPr/>
          <p:nvPr/>
        </p:nvSpPr>
        <p:spPr>
          <a:xfrm>
            <a:off x="10442448" y="3330244"/>
            <a:ext cx="155448" cy="1388059"/>
          </a:xfrm>
          <a:prstGeom prst="roundRect">
            <a:avLst/>
          </a:prstGeom>
          <a:solidFill>
            <a:srgbClr val="00D4FF"/>
          </a:solidFill>
          <a:ln w="1016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bar-5"/>
          <p:cNvSpPr/>
          <p:nvPr/>
        </p:nvSpPr>
        <p:spPr>
          <a:xfrm>
            <a:off x="10689336" y="2783433"/>
            <a:ext cx="155448" cy="1934870"/>
          </a:xfrm>
          <a:prstGeom prst="roundRect">
            <a:avLst/>
          </a:prstGeom>
          <a:solidFill>
            <a:srgbClr val="FF6EC7"/>
          </a:solidFill>
          <a:ln w="10160">
            <a:solidFill>
              <a:srgbClr val="FF6E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bar-6"/>
          <p:cNvSpPr/>
          <p:nvPr/>
        </p:nvSpPr>
        <p:spPr>
          <a:xfrm>
            <a:off x="10936224" y="3119932"/>
            <a:ext cx="155448" cy="1598371"/>
          </a:xfrm>
          <a:prstGeom prst="roundRect">
            <a:avLst/>
          </a:prstGeom>
          <a:solidFill>
            <a:srgbClr val="FFB347"/>
          </a:solidFill>
          <a:ln w="10160">
            <a:solidFill>
              <a:srgbClr val="FFB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bar-7"/>
          <p:cNvSpPr/>
          <p:nvPr/>
        </p:nvSpPr>
        <p:spPr>
          <a:xfrm>
            <a:off x="11183112" y="3603650"/>
            <a:ext cx="155448" cy="1114653"/>
          </a:xfrm>
          <a:prstGeom prst="roundRect">
            <a:avLst/>
          </a:prstGeom>
          <a:solidFill>
            <a:srgbClr val="00D4FF"/>
          </a:solidFill>
          <a:ln w="1016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check-dot-0"/>
          <p:cNvSpPr/>
          <p:nvPr/>
        </p:nvSpPr>
        <p:spPr>
          <a:xfrm>
            <a:off x="9436608" y="5321808"/>
            <a:ext cx="91440" cy="91440"/>
          </a:xfrm>
          <a:prstGeom prst="ellipse">
            <a:avLst/>
          </a:prstGeom>
          <a:solidFill>
            <a:srgbClr val="00D4FF"/>
          </a:solidFill>
          <a:ln w="1016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check-dot-1"/>
          <p:cNvSpPr/>
          <p:nvPr/>
        </p:nvSpPr>
        <p:spPr>
          <a:xfrm>
            <a:off x="9436608" y="5486400"/>
            <a:ext cx="91440" cy="91440"/>
          </a:xfrm>
          <a:prstGeom prst="ellipse">
            <a:avLst/>
          </a:prstGeom>
          <a:solidFill>
            <a:srgbClr val="00D4FF"/>
          </a:solidFill>
          <a:ln w="1016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check-dot-2"/>
          <p:cNvSpPr/>
          <p:nvPr/>
        </p:nvSpPr>
        <p:spPr>
          <a:xfrm>
            <a:off x="9436608" y="5650992"/>
            <a:ext cx="91440" cy="91440"/>
          </a:xfrm>
          <a:prstGeom prst="ellipse">
            <a:avLst/>
          </a:prstGeom>
          <a:solidFill>
            <a:srgbClr val="00D4FF"/>
          </a:solidFill>
          <a:ln w="1016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check-dot-3"/>
          <p:cNvSpPr/>
          <p:nvPr/>
        </p:nvSpPr>
        <p:spPr>
          <a:xfrm>
            <a:off x="9436608" y="5815584"/>
            <a:ext cx="91440" cy="91440"/>
          </a:xfrm>
          <a:prstGeom prst="ellipse">
            <a:avLst/>
          </a:prstGeom>
          <a:solidFill>
            <a:srgbClr val="FFB347"/>
          </a:solidFill>
          <a:ln w="10160">
            <a:solidFill>
              <a:srgbClr val="FFB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profile-tag"/>
          <p:cNvSpPr txBox="1"/>
          <p:nvPr/>
        </p:nvSpPr>
        <p:spPr>
          <a:xfrm>
            <a:off x="457200" y="201168"/>
            <a:ext cx="768096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1" lang="en-US">
                <a:solidFill>
                  <a:srgbClr val="00D4FF"/>
                </a:solidFill>
                <a:latin typeface="Aptos"/>
              </a:rPr>
              <a:t>V3 STRESS SUITE  ·  GRADIENT MESH  ·  DELIVERY WORKBENCH</a:t>
            </a:r>
          </a:p>
        </p:txBody>
      </p:sp>
      <p:sp>
        <p:nvSpPr>
          <p:cNvPr id="51" name="slide-index"/>
          <p:cNvSpPr txBox="1"/>
          <p:nvPr/>
        </p:nvSpPr>
        <p:spPr>
          <a:xfrm>
            <a:off x="10808208" y="201168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00" b="1" lang="en-US">
                <a:solidFill>
                  <a:srgbClr val="F7F3FF"/>
                </a:solidFill>
                <a:latin typeface="Aptos"/>
              </a:rPr>
              <a:t>20/60</a:t>
            </a:r>
          </a:p>
        </p:txBody>
      </p:sp>
      <p:sp>
        <p:nvSpPr>
          <p:cNvPr id="52" name="title"/>
          <p:cNvSpPr txBox="1"/>
          <p:nvPr/>
        </p:nvSpPr>
        <p:spPr>
          <a:xfrm>
            <a:off x="457200" y="484632"/>
            <a:ext cx="11274552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200" b="1" lang="en-US">
                <a:solidFill>
                  <a:srgbClr val="FFFFFF"/>
                </a:solidFill>
                <a:latin typeface="Aptos Display"/>
              </a:rPr>
              <a:t>Delivery workbenches keep parallel work lanes legible under load</a:t>
            </a:r>
          </a:p>
        </p:txBody>
      </p:sp>
      <p:sp>
        <p:nvSpPr>
          <p:cNvPr id="53" name="footer"/>
          <p:cNvSpPr txBox="1"/>
          <p:nvPr/>
        </p:nvSpPr>
        <p:spPr>
          <a:xfrm>
            <a:off x="457200" y="6473952"/>
            <a:ext cx="1051560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0" lang="en-US">
                <a:solidFill>
                  <a:srgbClr val="F7F3FF"/>
                </a:solidFill>
                <a:latin typeface="Aptos"/>
              </a:rPr>
              <a:t>Native-object stress fixture · multi-point pink-violet-cyan-orange mesh and oversized type · editable geometry and recorded style lock</a:t>
            </a:r>
          </a:p>
        </p:txBody>
      </p:sp>
      <p:sp>
        <p:nvSpPr>
          <p:cNvPr id="54" name="lane-name-0"/>
          <p:cNvSpPr txBox="1"/>
          <p:nvPr/>
        </p:nvSpPr>
        <p:spPr>
          <a:xfrm>
            <a:off x="566928" y="1444752"/>
            <a:ext cx="868680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lang="en-US">
                <a:solidFill>
                  <a:srgbClr val="111111"/>
                </a:solidFill>
                <a:latin typeface="Aptos"/>
              </a:rPr>
              <a:t>INTAKE</a:t>
            </a:r>
          </a:p>
        </p:txBody>
      </p:sp>
      <p:sp>
        <p:nvSpPr>
          <p:cNvPr id="55" name="task-title-0-0"/>
          <p:cNvSpPr txBox="1"/>
          <p:nvPr/>
        </p:nvSpPr>
        <p:spPr>
          <a:xfrm>
            <a:off x="1847088" y="1362456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FFFFFF"/>
                </a:solidFill>
                <a:latin typeface="Aptos"/>
              </a:rPr>
              <a:t>Scope</a:t>
            </a:r>
          </a:p>
        </p:txBody>
      </p:sp>
      <p:sp>
        <p:nvSpPr>
          <p:cNvPr id="56" name="task-state-0-0"/>
          <p:cNvSpPr txBox="1"/>
          <p:nvPr/>
        </p:nvSpPr>
        <p:spPr>
          <a:xfrm>
            <a:off x="1847088" y="1545336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00D4FF"/>
                </a:solidFill>
                <a:latin typeface="Aptos"/>
              </a:rPr>
              <a:t>new</a:t>
            </a:r>
          </a:p>
        </p:txBody>
      </p:sp>
      <p:sp>
        <p:nvSpPr>
          <p:cNvPr id="57" name="task-title-0-1"/>
          <p:cNvSpPr txBox="1"/>
          <p:nvPr/>
        </p:nvSpPr>
        <p:spPr>
          <a:xfrm>
            <a:off x="3200400" y="1362456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FFFFFF"/>
                </a:solidFill>
                <a:latin typeface="Aptos"/>
              </a:rPr>
              <a:t>Profile</a:t>
            </a:r>
          </a:p>
        </p:txBody>
      </p:sp>
      <p:sp>
        <p:nvSpPr>
          <p:cNvPr id="58" name="task-state-0-1"/>
          <p:cNvSpPr txBox="1"/>
          <p:nvPr/>
        </p:nvSpPr>
        <p:spPr>
          <a:xfrm>
            <a:off x="3200400" y="1545336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00D4FF"/>
                </a:solidFill>
                <a:latin typeface="Aptos"/>
              </a:rPr>
              <a:t>locked</a:t>
            </a:r>
          </a:p>
        </p:txBody>
      </p:sp>
      <p:sp>
        <p:nvSpPr>
          <p:cNvPr id="59" name="task-title-0-2"/>
          <p:cNvSpPr txBox="1"/>
          <p:nvPr/>
        </p:nvSpPr>
        <p:spPr>
          <a:xfrm>
            <a:off x="4553712" y="1362456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FFFFFF"/>
                </a:solidFill>
                <a:latin typeface="Aptos"/>
              </a:rPr>
              <a:t>Spec</a:t>
            </a:r>
          </a:p>
        </p:txBody>
      </p:sp>
      <p:sp>
        <p:nvSpPr>
          <p:cNvPr id="60" name="task-state-0-2"/>
          <p:cNvSpPr txBox="1"/>
          <p:nvPr/>
        </p:nvSpPr>
        <p:spPr>
          <a:xfrm>
            <a:off x="4553712" y="1545336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00D4FF"/>
                </a:solidFill>
                <a:latin typeface="Aptos"/>
              </a:rPr>
              <a:t>ready</a:t>
            </a:r>
          </a:p>
        </p:txBody>
      </p:sp>
      <p:sp>
        <p:nvSpPr>
          <p:cNvPr id="61" name="task-title-0-3"/>
          <p:cNvSpPr txBox="1"/>
          <p:nvPr/>
        </p:nvSpPr>
        <p:spPr>
          <a:xfrm>
            <a:off x="5907024" y="1362456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FFFFFF"/>
                </a:solidFill>
                <a:latin typeface="Aptos"/>
              </a:rPr>
              <a:t>Audit</a:t>
            </a:r>
          </a:p>
        </p:txBody>
      </p:sp>
      <p:sp>
        <p:nvSpPr>
          <p:cNvPr id="62" name="task-state-0-3"/>
          <p:cNvSpPr txBox="1"/>
          <p:nvPr/>
        </p:nvSpPr>
        <p:spPr>
          <a:xfrm>
            <a:off x="5907024" y="1545336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00D4FF"/>
                </a:solidFill>
                <a:latin typeface="Aptos"/>
              </a:rPr>
              <a:t>pass</a:t>
            </a:r>
          </a:p>
        </p:txBody>
      </p:sp>
      <p:sp>
        <p:nvSpPr>
          <p:cNvPr id="63" name="task-title-0-4"/>
          <p:cNvSpPr txBox="1"/>
          <p:nvPr/>
        </p:nvSpPr>
        <p:spPr>
          <a:xfrm>
            <a:off x="7260336" y="1362456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FFFFFF"/>
                </a:solidFill>
                <a:latin typeface="Aptos"/>
              </a:rPr>
              <a:t>Owner</a:t>
            </a:r>
          </a:p>
        </p:txBody>
      </p:sp>
      <p:sp>
        <p:nvSpPr>
          <p:cNvPr id="64" name="task-state-0-4"/>
          <p:cNvSpPr txBox="1"/>
          <p:nvPr/>
        </p:nvSpPr>
        <p:spPr>
          <a:xfrm>
            <a:off x="7260336" y="1545336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00D4FF"/>
                </a:solidFill>
                <a:latin typeface="Aptos"/>
              </a:rPr>
              <a:t>assigned</a:t>
            </a:r>
          </a:p>
        </p:txBody>
      </p:sp>
      <p:sp>
        <p:nvSpPr>
          <p:cNvPr id="65" name="lane-name-1"/>
          <p:cNvSpPr txBox="1"/>
          <p:nvPr/>
        </p:nvSpPr>
        <p:spPr>
          <a:xfrm>
            <a:off x="566928" y="2615184"/>
            <a:ext cx="868680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lang="en-US">
                <a:solidFill>
                  <a:srgbClr val="111111"/>
                </a:solidFill>
                <a:latin typeface="Aptos"/>
              </a:rPr>
              <a:t>AUTHOR</a:t>
            </a:r>
          </a:p>
        </p:txBody>
      </p:sp>
      <p:sp>
        <p:nvSpPr>
          <p:cNvPr id="66" name="task-title-1-0"/>
          <p:cNvSpPr txBox="1"/>
          <p:nvPr/>
        </p:nvSpPr>
        <p:spPr>
          <a:xfrm>
            <a:off x="1847088" y="2532888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FFFFFF"/>
                </a:solidFill>
                <a:latin typeface="Aptos"/>
              </a:rPr>
              <a:t>Scope</a:t>
            </a:r>
          </a:p>
        </p:txBody>
      </p:sp>
      <p:sp>
        <p:nvSpPr>
          <p:cNvPr id="67" name="task-state-1-0"/>
          <p:cNvSpPr txBox="1"/>
          <p:nvPr/>
        </p:nvSpPr>
        <p:spPr>
          <a:xfrm>
            <a:off x="1847088" y="2715768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FF6EC7"/>
                </a:solidFill>
                <a:latin typeface="Aptos"/>
              </a:rPr>
              <a:t>locked</a:t>
            </a:r>
          </a:p>
        </p:txBody>
      </p:sp>
      <p:sp>
        <p:nvSpPr>
          <p:cNvPr id="68" name="task-title-1-1"/>
          <p:cNvSpPr txBox="1"/>
          <p:nvPr/>
        </p:nvSpPr>
        <p:spPr>
          <a:xfrm>
            <a:off x="3200400" y="2532888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FFFFFF"/>
                </a:solidFill>
                <a:latin typeface="Aptos"/>
              </a:rPr>
              <a:t>Profile</a:t>
            </a:r>
          </a:p>
        </p:txBody>
      </p:sp>
      <p:sp>
        <p:nvSpPr>
          <p:cNvPr id="69" name="task-state-1-1"/>
          <p:cNvSpPr txBox="1"/>
          <p:nvPr/>
        </p:nvSpPr>
        <p:spPr>
          <a:xfrm>
            <a:off x="3200400" y="2715768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FF6EC7"/>
                </a:solidFill>
                <a:latin typeface="Aptos"/>
              </a:rPr>
              <a:t>ready</a:t>
            </a:r>
          </a:p>
        </p:txBody>
      </p:sp>
      <p:sp>
        <p:nvSpPr>
          <p:cNvPr id="70" name="task-title-1-2"/>
          <p:cNvSpPr txBox="1"/>
          <p:nvPr/>
        </p:nvSpPr>
        <p:spPr>
          <a:xfrm>
            <a:off x="4553712" y="2532888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FFFFFF"/>
                </a:solidFill>
                <a:latin typeface="Aptos"/>
              </a:rPr>
              <a:t>Spec</a:t>
            </a:r>
          </a:p>
        </p:txBody>
      </p:sp>
      <p:sp>
        <p:nvSpPr>
          <p:cNvPr id="71" name="task-state-1-2"/>
          <p:cNvSpPr txBox="1"/>
          <p:nvPr/>
        </p:nvSpPr>
        <p:spPr>
          <a:xfrm>
            <a:off x="4553712" y="2715768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FF6EC7"/>
                </a:solidFill>
                <a:latin typeface="Aptos"/>
              </a:rPr>
              <a:t>pass</a:t>
            </a:r>
          </a:p>
        </p:txBody>
      </p:sp>
      <p:sp>
        <p:nvSpPr>
          <p:cNvPr id="72" name="task-title-1-3"/>
          <p:cNvSpPr txBox="1"/>
          <p:nvPr/>
        </p:nvSpPr>
        <p:spPr>
          <a:xfrm>
            <a:off x="5907024" y="2532888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FFFFFF"/>
                </a:solidFill>
                <a:latin typeface="Aptos"/>
              </a:rPr>
              <a:t>Audit</a:t>
            </a:r>
          </a:p>
        </p:txBody>
      </p:sp>
      <p:sp>
        <p:nvSpPr>
          <p:cNvPr id="73" name="task-state-1-3"/>
          <p:cNvSpPr txBox="1"/>
          <p:nvPr/>
        </p:nvSpPr>
        <p:spPr>
          <a:xfrm>
            <a:off x="5907024" y="2715768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FF6EC7"/>
                </a:solidFill>
                <a:latin typeface="Aptos"/>
              </a:rPr>
              <a:t>assigned</a:t>
            </a:r>
          </a:p>
        </p:txBody>
      </p:sp>
      <p:sp>
        <p:nvSpPr>
          <p:cNvPr id="74" name="task-title-1-4"/>
          <p:cNvSpPr txBox="1"/>
          <p:nvPr/>
        </p:nvSpPr>
        <p:spPr>
          <a:xfrm>
            <a:off x="7260336" y="2532888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FFFFFF"/>
                </a:solidFill>
                <a:latin typeface="Aptos"/>
              </a:rPr>
              <a:t>Owner</a:t>
            </a:r>
          </a:p>
        </p:txBody>
      </p:sp>
      <p:sp>
        <p:nvSpPr>
          <p:cNvPr id="75" name="task-state-1-4"/>
          <p:cNvSpPr txBox="1"/>
          <p:nvPr/>
        </p:nvSpPr>
        <p:spPr>
          <a:xfrm>
            <a:off x="7260336" y="2715768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FF6EC7"/>
                </a:solidFill>
                <a:latin typeface="Aptos"/>
              </a:rPr>
              <a:t>new</a:t>
            </a:r>
          </a:p>
        </p:txBody>
      </p:sp>
      <p:sp>
        <p:nvSpPr>
          <p:cNvPr id="76" name="lane-name-2"/>
          <p:cNvSpPr txBox="1"/>
          <p:nvPr/>
        </p:nvSpPr>
        <p:spPr>
          <a:xfrm>
            <a:off x="566928" y="3785615"/>
            <a:ext cx="868680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lang="en-US">
                <a:solidFill>
                  <a:srgbClr val="111111"/>
                </a:solidFill>
                <a:latin typeface="Aptos"/>
              </a:rPr>
              <a:t>VERIFY</a:t>
            </a:r>
          </a:p>
        </p:txBody>
      </p:sp>
      <p:sp>
        <p:nvSpPr>
          <p:cNvPr id="77" name="task-title-2-0"/>
          <p:cNvSpPr txBox="1"/>
          <p:nvPr/>
        </p:nvSpPr>
        <p:spPr>
          <a:xfrm>
            <a:off x="1847088" y="3703320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FFFFFF"/>
                </a:solidFill>
                <a:latin typeface="Aptos"/>
              </a:rPr>
              <a:t>Scope</a:t>
            </a:r>
          </a:p>
        </p:txBody>
      </p:sp>
      <p:sp>
        <p:nvSpPr>
          <p:cNvPr id="78" name="task-state-2-0"/>
          <p:cNvSpPr txBox="1"/>
          <p:nvPr/>
        </p:nvSpPr>
        <p:spPr>
          <a:xfrm>
            <a:off x="1847088" y="3886200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FFB347"/>
                </a:solidFill>
                <a:latin typeface="Aptos"/>
              </a:rPr>
              <a:t>ready</a:t>
            </a:r>
          </a:p>
        </p:txBody>
      </p:sp>
      <p:sp>
        <p:nvSpPr>
          <p:cNvPr id="79" name="task-title-2-1"/>
          <p:cNvSpPr txBox="1"/>
          <p:nvPr/>
        </p:nvSpPr>
        <p:spPr>
          <a:xfrm>
            <a:off x="3200400" y="3703320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FFFFFF"/>
                </a:solidFill>
                <a:latin typeface="Aptos"/>
              </a:rPr>
              <a:t>Profile</a:t>
            </a:r>
          </a:p>
        </p:txBody>
      </p:sp>
      <p:sp>
        <p:nvSpPr>
          <p:cNvPr id="80" name="task-state-2-1"/>
          <p:cNvSpPr txBox="1"/>
          <p:nvPr/>
        </p:nvSpPr>
        <p:spPr>
          <a:xfrm>
            <a:off x="3200400" y="3886200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FFB347"/>
                </a:solidFill>
                <a:latin typeface="Aptos"/>
              </a:rPr>
              <a:t>pass</a:t>
            </a:r>
          </a:p>
        </p:txBody>
      </p:sp>
      <p:sp>
        <p:nvSpPr>
          <p:cNvPr id="81" name="task-title-2-2"/>
          <p:cNvSpPr txBox="1"/>
          <p:nvPr/>
        </p:nvSpPr>
        <p:spPr>
          <a:xfrm>
            <a:off x="4553712" y="3703320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FFFFFF"/>
                </a:solidFill>
                <a:latin typeface="Aptos"/>
              </a:rPr>
              <a:t>Spec</a:t>
            </a:r>
          </a:p>
        </p:txBody>
      </p:sp>
      <p:sp>
        <p:nvSpPr>
          <p:cNvPr id="82" name="task-state-2-2"/>
          <p:cNvSpPr txBox="1"/>
          <p:nvPr/>
        </p:nvSpPr>
        <p:spPr>
          <a:xfrm>
            <a:off x="4553712" y="3886200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FFB347"/>
                </a:solidFill>
                <a:latin typeface="Aptos"/>
              </a:rPr>
              <a:t>assigned</a:t>
            </a:r>
          </a:p>
        </p:txBody>
      </p:sp>
      <p:sp>
        <p:nvSpPr>
          <p:cNvPr id="83" name="task-title-2-3"/>
          <p:cNvSpPr txBox="1"/>
          <p:nvPr/>
        </p:nvSpPr>
        <p:spPr>
          <a:xfrm>
            <a:off x="5907024" y="3703320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FFFFFF"/>
                </a:solidFill>
                <a:latin typeface="Aptos"/>
              </a:rPr>
              <a:t>Audit</a:t>
            </a:r>
          </a:p>
        </p:txBody>
      </p:sp>
      <p:sp>
        <p:nvSpPr>
          <p:cNvPr id="84" name="task-state-2-3"/>
          <p:cNvSpPr txBox="1"/>
          <p:nvPr/>
        </p:nvSpPr>
        <p:spPr>
          <a:xfrm>
            <a:off x="5907024" y="3886200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FFB347"/>
                </a:solidFill>
                <a:latin typeface="Aptos"/>
              </a:rPr>
              <a:t>new</a:t>
            </a:r>
          </a:p>
        </p:txBody>
      </p:sp>
      <p:sp>
        <p:nvSpPr>
          <p:cNvPr id="85" name="task-title-2-4"/>
          <p:cNvSpPr txBox="1"/>
          <p:nvPr/>
        </p:nvSpPr>
        <p:spPr>
          <a:xfrm>
            <a:off x="7260336" y="3703320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FFFFFF"/>
                </a:solidFill>
                <a:latin typeface="Aptos"/>
              </a:rPr>
              <a:t>Owner</a:t>
            </a:r>
          </a:p>
        </p:txBody>
      </p:sp>
      <p:sp>
        <p:nvSpPr>
          <p:cNvPr id="86" name="task-state-2-4"/>
          <p:cNvSpPr txBox="1"/>
          <p:nvPr/>
        </p:nvSpPr>
        <p:spPr>
          <a:xfrm>
            <a:off x="7260336" y="3886200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FFB347"/>
                </a:solidFill>
                <a:latin typeface="Aptos"/>
              </a:rPr>
              <a:t>locked</a:t>
            </a:r>
          </a:p>
        </p:txBody>
      </p:sp>
      <p:sp>
        <p:nvSpPr>
          <p:cNvPr id="87" name="lane-name-3"/>
          <p:cNvSpPr txBox="1"/>
          <p:nvPr/>
        </p:nvSpPr>
        <p:spPr>
          <a:xfrm>
            <a:off x="566928" y="4956048"/>
            <a:ext cx="868680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lang="en-US">
                <a:solidFill>
                  <a:srgbClr val="111111"/>
                </a:solidFill>
                <a:latin typeface="Aptos"/>
              </a:rPr>
              <a:t>SHIP</a:t>
            </a:r>
          </a:p>
        </p:txBody>
      </p:sp>
      <p:sp>
        <p:nvSpPr>
          <p:cNvPr id="88" name="task-title-3-0"/>
          <p:cNvSpPr txBox="1"/>
          <p:nvPr/>
        </p:nvSpPr>
        <p:spPr>
          <a:xfrm>
            <a:off x="1847088" y="4873752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FFFFFF"/>
                </a:solidFill>
                <a:latin typeface="Aptos"/>
              </a:rPr>
              <a:t>Scope</a:t>
            </a:r>
          </a:p>
        </p:txBody>
      </p:sp>
      <p:sp>
        <p:nvSpPr>
          <p:cNvPr id="89" name="task-state-3-0"/>
          <p:cNvSpPr txBox="1"/>
          <p:nvPr/>
        </p:nvSpPr>
        <p:spPr>
          <a:xfrm>
            <a:off x="1847088" y="5056632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00D4FF"/>
                </a:solidFill>
                <a:latin typeface="Aptos"/>
              </a:rPr>
              <a:t>pass</a:t>
            </a:r>
          </a:p>
        </p:txBody>
      </p:sp>
      <p:sp>
        <p:nvSpPr>
          <p:cNvPr id="90" name="task-title-3-1"/>
          <p:cNvSpPr txBox="1"/>
          <p:nvPr/>
        </p:nvSpPr>
        <p:spPr>
          <a:xfrm>
            <a:off x="3200400" y="4873752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FFFFFF"/>
                </a:solidFill>
                <a:latin typeface="Aptos"/>
              </a:rPr>
              <a:t>Profile</a:t>
            </a:r>
          </a:p>
        </p:txBody>
      </p:sp>
      <p:sp>
        <p:nvSpPr>
          <p:cNvPr id="91" name="task-state-3-1"/>
          <p:cNvSpPr txBox="1"/>
          <p:nvPr/>
        </p:nvSpPr>
        <p:spPr>
          <a:xfrm>
            <a:off x="3200400" y="5056632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00D4FF"/>
                </a:solidFill>
                <a:latin typeface="Aptos"/>
              </a:rPr>
              <a:t>assigned</a:t>
            </a:r>
          </a:p>
        </p:txBody>
      </p:sp>
      <p:sp>
        <p:nvSpPr>
          <p:cNvPr id="92" name="task-title-3-2"/>
          <p:cNvSpPr txBox="1"/>
          <p:nvPr/>
        </p:nvSpPr>
        <p:spPr>
          <a:xfrm>
            <a:off x="4553712" y="4873752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FFFFFF"/>
                </a:solidFill>
                <a:latin typeface="Aptos"/>
              </a:rPr>
              <a:t>Spec</a:t>
            </a:r>
          </a:p>
        </p:txBody>
      </p:sp>
      <p:sp>
        <p:nvSpPr>
          <p:cNvPr id="93" name="task-state-3-2"/>
          <p:cNvSpPr txBox="1"/>
          <p:nvPr/>
        </p:nvSpPr>
        <p:spPr>
          <a:xfrm>
            <a:off x="4553712" y="5056632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00D4FF"/>
                </a:solidFill>
                <a:latin typeface="Aptos"/>
              </a:rPr>
              <a:t>new</a:t>
            </a:r>
          </a:p>
        </p:txBody>
      </p:sp>
      <p:sp>
        <p:nvSpPr>
          <p:cNvPr id="94" name="task-title-3-3"/>
          <p:cNvSpPr txBox="1"/>
          <p:nvPr/>
        </p:nvSpPr>
        <p:spPr>
          <a:xfrm>
            <a:off x="5907024" y="4873752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FFFFFF"/>
                </a:solidFill>
                <a:latin typeface="Aptos"/>
              </a:rPr>
              <a:t>Audit</a:t>
            </a:r>
          </a:p>
        </p:txBody>
      </p:sp>
      <p:sp>
        <p:nvSpPr>
          <p:cNvPr id="95" name="task-state-3-3"/>
          <p:cNvSpPr txBox="1"/>
          <p:nvPr/>
        </p:nvSpPr>
        <p:spPr>
          <a:xfrm>
            <a:off x="5907024" y="5056632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00D4FF"/>
                </a:solidFill>
                <a:latin typeface="Aptos"/>
              </a:rPr>
              <a:t>locked</a:t>
            </a:r>
          </a:p>
        </p:txBody>
      </p:sp>
      <p:sp>
        <p:nvSpPr>
          <p:cNvPr id="96" name="task-title-3-4"/>
          <p:cNvSpPr txBox="1"/>
          <p:nvPr/>
        </p:nvSpPr>
        <p:spPr>
          <a:xfrm>
            <a:off x="7260336" y="4873752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FFFFFF"/>
                </a:solidFill>
                <a:latin typeface="Aptos"/>
              </a:rPr>
              <a:t>Owner</a:t>
            </a:r>
          </a:p>
        </p:txBody>
      </p:sp>
      <p:sp>
        <p:nvSpPr>
          <p:cNvPr id="97" name="task-state-3-4"/>
          <p:cNvSpPr txBox="1"/>
          <p:nvPr/>
        </p:nvSpPr>
        <p:spPr>
          <a:xfrm>
            <a:off x="7260336" y="5056632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00D4FF"/>
                </a:solidFill>
                <a:latin typeface="Aptos"/>
              </a:rPr>
              <a:t>ready</a:t>
            </a:r>
          </a:p>
        </p:txBody>
      </p:sp>
      <p:sp>
        <p:nvSpPr>
          <p:cNvPr id="98" name="workbench-rail-title"/>
          <p:cNvSpPr txBox="1"/>
          <p:nvPr/>
        </p:nvSpPr>
        <p:spPr>
          <a:xfrm>
            <a:off x="9436608" y="1325880"/>
            <a:ext cx="196596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1" lang="en-US">
                <a:solidFill>
                  <a:srgbClr val="00D4FF"/>
                </a:solidFill>
                <a:latin typeface="Aptos"/>
              </a:rPr>
              <a:t>BUILD SIGNALS</a:t>
            </a:r>
          </a:p>
        </p:txBody>
      </p:sp>
      <p:sp>
        <p:nvSpPr>
          <p:cNvPr id="99" name="chart-label"/>
          <p:cNvSpPr txBox="1"/>
          <p:nvPr/>
        </p:nvSpPr>
        <p:spPr>
          <a:xfrm>
            <a:off x="9436608" y="4956048"/>
            <a:ext cx="192024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0" lang="en-US">
                <a:solidFill>
                  <a:srgbClr val="F7F3FF"/>
                </a:solidFill>
                <a:latin typeface="Aptos"/>
              </a:rPr>
              <a:t>completion by work lane</a:t>
            </a:r>
          </a:p>
        </p:txBody>
      </p:sp>
      <p:sp>
        <p:nvSpPr>
          <p:cNvPr id="100" name="check-label-0"/>
          <p:cNvSpPr txBox="1"/>
          <p:nvPr/>
        </p:nvSpPr>
        <p:spPr>
          <a:xfrm>
            <a:off x="9619488" y="5303520"/>
            <a:ext cx="141732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1" lang="en-US">
                <a:solidFill>
                  <a:srgbClr val="FFFFFF"/>
                </a:solidFill>
                <a:latin typeface="Aptos"/>
              </a:rPr>
              <a:t>bounds</a:t>
            </a:r>
          </a:p>
        </p:txBody>
      </p:sp>
      <p:sp>
        <p:nvSpPr>
          <p:cNvPr id="101" name="check-label-1"/>
          <p:cNvSpPr txBox="1"/>
          <p:nvPr/>
        </p:nvSpPr>
        <p:spPr>
          <a:xfrm>
            <a:off x="9619488" y="5468112"/>
            <a:ext cx="141732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1" lang="en-US">
                <a:solidFill>
                  <a:srgbClr val="FFFFFF"/>
                </a:solidFill>
                <a:latin typeface="Aptos"/>
              </a:rPr>
              <a:t>content</a:t>
            </a:r>
          </a:p>
        </p:txBody>
      </p:sp>
      <p:sp>
        <p:nvSpPr>
          <p:cNvPr id="102" name="check-label-2"/>
          <p:cNvSpPr txBox="1"/>
          <p:nvPr/>
        </p:nvSpPr>
        <p:spPr>
          <a:xfrm>
            <a:off x="9619488" y="5632704"/>
            <a:ext cx="141732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1" lang="en-US">
                <a:solidFill>
                  <a:srgbClr val="FFFFFF"/>
                </a:solidFill>
                <a:latin typeface="Aptos"/>
              </a:rPr>
              <a:t>tables</a:t>
            </a:r>
          </a:p>
        </p:txBody>
      </p:sp>
      <p:sp>
        <p:nvSpPr>
          <p:cNvPr id="103" name="check-label-3"/>
          <p:cNvSpPr txBox="1"/>
          <p:nvPr/>
        </p:nvSpPr>
        <p:spPr>
          <a:xfrm>
            <a:off x="9619488" y="5797296"/>
            <a:ext cx="141732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1" lang="en-US">
                <a:solidFill>
                  <a:srgbClr val="FFFFFF"/>
                </a:solidFill>
                <a:latin typeface="Aptos"/>
              </a:rPr>
              <a:t>order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wiss-rule"/>
          <p:cNvSpPr/>
          <p:nvPr/>
        </p:nvSpPr>
        <p:spPr>
          <a:xfrm>
            <a:off x="164592" y="0"/>
            <a:ext cx="91440" cy="6858000"/>
          </a:xfrm>
          <a:prstGeom prst="rect">
            <a:avLst/>
          </a:prstGeom>
          <a:solidFill>
            <a:srgbClr val="E8000D"/>
          </a:solidFill>
          <a:ln w="10160">
            <a:solidFill>
              <a:srgbClr val="E800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wiss-divider"/>
          <p:cNvSpPr/>
          <p:nvPr/>
        </p:nvSpPr>
        <p:spPr>
          <a:xfrm>
            <a:off x="457200" y="969264"/>
            <a:ext cx="11274552" cy="22860"/>
          </a:xfrm>
          <a:prstGeom prst="rect">
            <a:avLst/>
          </a:prstGeom>
          <a:solidFill>
            <a:srgbClr val="DDDDDD"/>
          </a:solidFill>
          <a:ln w="1016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op-band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000D"/>
          </a:solidFill>
          <a:ln w="10160">
            <a:solidFill>
              <a:srgbClr val="E800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nav-shell"/>
          <p:cNvSpPr/>
          <p:nvPr/>
        </p:nvSpPr>
        <p:spPr>
          <a:xfrm>
            <a:off x="457200" y="1078992"/>
            <a:ext cx="1572768" cy="5102352"/>
          </a:xfrm>
          <a:prstGeom prst="rect">
            <a:avLst/>
          </a:prstGeom>
          <a:solidFill>
            <a:srgbClr val="FAFAFA"/>
          </a:solidFill>
          <a:ln w="1016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metric-0-shell"/>
          <p:cNvSpPr/>
          <p:nvPr/>
        </p:nvSpPr>
        <p:spPr>
          <a:xfrm>
            <a:off x="2249424" y="1078992"/>
            <a:ext cx="1161288" cy="768096"/>
          </a:xfrm>
          <a:prstGeom prst="rect">
            <a:avLst/>
          </a:prstGeom>
          <a:solidFill>
            <a:srgbClr val="FFFFFF"/>
          </a:solidFill>
          <a:ln w="1016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metric-1-shell"/>
          <p:cNvSpPr/>
          <p:nvPr/>
        </p:nvSpPr>
        <p:spPr>
          <a:xfrm>
            <a:off x="3557016" y="1078992"/>
            <a:ext cx="1161288" cy="768096"/>
          </a:xfrm>
          <a:prstGeom prst="rect">
            <a:avLst/>
          </a:prstGeom>
          <a:solidFill>
            <a:srgbClr val="FFFFFF"/>
          </a:solidFill>
          <a:ln w="1016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metric-2-shell"/>
          <p:cNvSpPr/>
          <p:nvPr/>
        </p:nvSpPr>
        <p:spPr>
          <a:xfrm>
            <a:off x="4864608" y="1078992"/>
            <a:ext cx="1161288" cy="768096"/>
          </a:xfrm>
          <a:prstGeom prst="rect">
            <a:avLst/>
          </a:prstGeom>
          <a:solidFill>
            <a:srgbClr val="FFFFFF"/>
          </a:solidFill>
          <a:ln w="1016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metric-3-shell"/>
          <p:cNvSpPr/>
          <p:nvPr/>
        </p:nvSpPr>
        <p:spPr>
          <a:xfrm>
            <a:off x="6172200" y="1078992"/>
            <a:ext cx="1161288" cy="768096"/>
          </a:xfrm>
          <a:prstGeom prst="rect">
            <a:avLst/>
          </a:prstGeom>
          <a:solidFill>
            <a:srgbClr val="FFFFFF"/>
          </a:solidFill>
          <a:ln w="1016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metric-4-shell"/>
          <p:cNvSpPr/>
          <p:nvPr/>
        </p:nvSpPr>
        <p:spPr>
          <a:xfrm>
            <a:off x="7479792" y="1078992"/>
            <a:ext cx="1161288" cy="768096"/>
          </a:xfrm>
          <a:prstGeom prst="rect">
            <a:avLst/>
          </a:prstGeom>
          <a:solidFill>
            <a:srgbClr val="FFFFFF"/>
          </a:solidFill>
          <a:ln w="1016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isk-rail-shell"/>
          <p:cNvSpPr/>
          <p:nvPr/>
        </p:nvSpPr>
        <p:spPr>
          <a:xfrm>
            <a:off x="9052560" y="1078992"/>
            <a:ext cx="2679192" cy="4389120"/>
          </a:xfrm>
          <a:prstGeom prst="rect">
            <a:avLst/>
          </a:prstGeom>
          <a:solidFill>
            <a:srgbClr val="FAFAFA"/>
          </a:solidFill>
          <a:ln w="1016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nav-accent"/>
          <p:cNvSpPr/>
          <p:nvPr/>
        </p:nvSpPr>
        <p:spPr>
          <a:xfrm>
            <a:off x="457200" y="1078992"/>
            <a:ext cx="73152" cy="5102352"/>
          </a:xfrm>
          <a:prstGeom prst="rect">
            <a:avLst/>
          </a:prstGeom>
          <a:solidFill>
            <a:srgbClr val="E8000D"/>
          </a:solidFill>
          <a:ln w="10160">
            <a:solidFill>
              <a:srgbClr val="E800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nav-0"/>
          <p:cNvSpPr/>
          <p:nvPr/>
        </p:nvSpPr>
        <p:spPr>
          <a:xfrm>
            <a:off x="658368" y="1874519"/>
            <a:ext cx="1143000" cy="329184"/>
          </a:xfrm>
          <a:prstGeom prst="roundRect">
            <a:avLst/>
          </a:prstGeom>
          <a:solidFill>
            <a:srgbClr val="E8000D"/>
          </a:solidFill>
          <a:ln w="1016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nav-1"/>
          <p:cNvSpPr/>
          <p:nvPr/>
        </p:nvSpPr>
        <p:spPr>
          <a:xfrm>
            <a:off x="658368" y="2386584"/>
            <a:ext cx="1143000" cy="3291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nav-2"/>
          <p:cNvSpPr/>
          <p:nvPr/>
        </p:nvSpPr>
        <p:spPr>
          <a:xfrm>
            <a:off x="658368" y="2898648"/>
            <a:ext cx="1143000" cy="3291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nav-3"/>
          <p:cNvSpPr/>
          <p:nvPr/>
        </p:nvSpPr>
        <p:spPr>
          <a:xfrm>
            <a:off x="658368" y="3410712"/>
            <a:ext cx="1143000" cy="3291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nav-4"/>
          <p:cNvSpPr/>
          <p:nvPr/>
        </p:nvSpPr>
        <p:spPr>
          <a:xfrm>
            <a:off x="658368" y="3922776"/>
            <a:ext cx="1143000" cy="3291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nav-5"/>
          <p:cNvSpPr/>
          <p:nvPr/>
        </p:nvSpPr>
        <p:spPr>
          <a:xfrm>
            <a:off x="658368" y="4434840"/>
            <a:ext cx="1143000" cy="3291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nav-6"/>
          <p:cNvSpPr/>
          <p:nvPr/>
        </p:nvSpPr>
        <p:spPr>
          <a:xfrm>
            <a:off x="658368" y="4946904"/>
            <a:ext cx="1143000" cy="3291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metric-0-accent"/>
          <p:cNvSpPr/>
          <p:nvPr/>
        </p:nvSpPr>
        <p:spPr>
          <a:xfrm>
            <a:off x="2249424" y="1078992"/>
            <a:ext cx="73152" cy="768096"/>
          </a:xfrm>
          <a:prstGeom prst="rect">
            <a:avLst/>
          </a:prstGeom>
          <a:solidFill>
            <a:srgbClr val="E8000D"/>
          </a:solidFill>
          <a:ln w="10160">
            <a:solidFill>
              <a:srgbClr val="E800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metric-1-accent"/>
          <p:cNvSpPr/>
          <p:nvPr/>
        </p:nvSpPr>
        <p:spPr>
          <a:xfrm>
            <a:off x="3557016" y="1078992"/>
            <a:ext cx="73152" cy="768096"/>
          </a:xfrm>
          <a:prstGeom prst="rect">
            <a:avLst/>
          </a:prstGeom>
          <a:solidFill>
            <a:srgbClr val="111111"/>
          </a:solidFill>
          <a:ln w="1016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metric-2-accent"/>
          <p:cNvSpPr/>
          <p:nvPr/>
        </p:nvSpPr>
        <p:spPr>
          <a:xfrm>
            <a:off x="4864608" y="1078992"/>
            <a:ext cx="73152" cy="768096"/>
          </a:xfrm>
          <a:prstGeom prst="rect">
            <a:avLst/>
          </a:prstGeom>
          <a:solidFill>
            <a:srgbClr val="E8000D"/>
          </a:solidFill>
          <a:ln w="10160">
            <a:solidFill>
              <a:srgbClr val="E800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metric-3-accent"/>
          <p:cNvSpPr/>
          <p:nvPr/>
        </p:nvSpPr>
        <p:spPr>
          <a:xfrm>
            <a:off x="6172200" y="1078992"/>
            <a:ext cx="73152" cy="768096"/>
          </a:xfrm>
          <a:prstGeom prst="rect">
            <a:avLst/>
          </a:prstGeom>
          <a:solidFill>
            <a:srgbClr val="E8000D"/>
          </a:solidFill>
          <a:ln w="10160">
            <a:solidFill>
              <a:srgbClr val="E800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metric-4-accent"/>
          <p:cNvSpPr/>
          <p:nvPr/>
        </p:nvSpPr>
        <p:spPr>
          <a:xfrm>
            <a:off x="7479792" y="1078992"/>
            <a:ext cx="73152" cy="768096"/>
          </a:xfrm>
          <a:prstGeom prst="rect">
            <a:avLst/>
          </a:prstGeom>
          <a:solidFill>
            <a:srgbClr val="111111"/>
          </a:solidFill>
          <a:ln w="1016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isk-rail-accent"/>
          <p:cNvSpPr/>
          <p:nvPr/>
        </p:nvSpPr>
        <p:spPr>
          <a:xfrm>
            <a:off x="9052560" y="1078992"/>
            <a:ext cx="73152" cy="4389120"/>
          </a:xfrm>
          <a:prstGeom prst="rect">
            <a:avLst/>
          </a:prstGeom>
          <a:solidFill>
            <a:srgbClr val="E8000D"/>
          </a:solidFill>
          <a:ln w="10160">
            <a:solidFill>
              <a:srgbClr val="E800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progress-track"/>
          <p:cNvSpPr/>
          <p:nvPr/>
        </p:nvSpPr>
        <p:spPr>
          <a:xfrm>
            <a:off x="2249424" y="5687568"/>
            <a:ext cx="9482328" cy="384048"/>
          </a:xfrm>
          <a:prstGeom prst="roundRect">
            <a:avLst/>
          </a:prstGeom>
          <a:solidFill>
            <a:srgbClr val="FAFAFA"/>
          </a:solidFill>
          <a:ln w="1016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28" name="signal-table"/>
          <p:cNvGraphicFramePr>
            <a:graphicFrameLocks noGrp="1"/>
          </p:cNvGraphicFramePr>
          <p:nvPr/>
        </p:nvGraphicFramePr>
        <p:xfrm>
          <a:off x="2249424" y="2066543"/>
          <a:ext cx="6537960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7592"/>
                <a:gridCol w="1307592"/>
                <a:gridCol w="1307592"/>
                <a:gridCol w="1307592"/>
                <a:gridCol w="1307592"/>
              </a:tblGrid>
              <a:tr h="425196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FFFFFF"/>
                          </a:solidFill>
                          <a:latin typeface="Arial"/>
                        </a:rPr>
                        <a:t>Signal</a:t>
                      </a:r>
                    </a:p>
                  </a:txBody>
                  <a:tcPr marL="54864" marR="54864" marT="18288" marB="18288">
                    <a:solidFill>
                      <a:srgbClr val="E8000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FFFFFF"/>
                          </a:solidFill>
                          <a:latin typeface="Arial"/>
                        </a:rPr>
                        <a:t>Owner</a:t>
                      </a:r>
                    </a:p>
                  </a:txBody>
                  <a:tcPr marL="54864" marR="54864" marT="18288" marB="18288">
                    <a:solidFill>
                      <a:srgbClr val="E8000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FFFFFF"/>
                          </a:solidFill>
                          <a:latin typeface="Arial"/>
                        </a:rPr>
                        <a:t>State</a:t>
                      </a:r>
                    </a:p>
                  </a:txBody>
                  <a:tcPr marL="54864" marR="54864" marT="18288" marB="18288">
                    <a:solidFill>
                      <a:srgbClr val="E8000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FFFFFF"/>
                          </a:solidFill>
                          <a:latin typeface="Arial"/>
                        </a:rPr>
                        <a:t>Gate</a:t>
                      </a:r>
                    </a:p>
                  </a:txBody>
                  <a:tcPr marL="54864" marR="54864" marT="18288" marB="18288">
                    <a:solidFill>
                      <a:srgbClr val="E8000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FFFFFF"/>
                          </a:solidFill>
                          <a:latin typeface="Arial"/>
                        </a:rPr>
                        <a:t>Next</a:t>
                      </a:r>
                    </a:p>
                  </a:txBody>
                  <a:tcPr marL="54864" marR="54864" marT="18288" marB="18288">
                    <a:solidFill>
                      <a:srgbClr val="E8000D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111111"/>
                          </a:solidFill>
                          <a:latin typeface="Arial"/>
                        </a:rPr>
                        <a:t>S-01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11111"/>
                          </a:solidFill>
                          <a:latin typeface="Arial"/>
                        </a:rPr>
                        <a:t>Reviewer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11111"/>
                          </a:solidFill>
                          <a:latin typeface="Arial"/>
                        </a:rPr>
                        <a:t>Watch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11111"/>
                          </a:solidFill>
                          <a:latin typeface="Arial"/>
                        </a:rPr>
                        <a:t>Review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11111"/>
                          </a:solidFill>
                          <a:latin typeface="Arial"/>
                        </a:rPr>
                        <a:t>Check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111111"/>
                          </a:solidFill>
                          <a:latin typeface="Arial"/>
                        </a:rPr>
                        <a:t>S-02</a:t>
                      </a:r>
                    </a:p>
                  </a:txBody>
                  <a:tcPr marL="54864" marR="54864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11111"/>
                          </a:solidFill>
                          <a:latin typeface="Arial"/>
                        </a:rPr>
                        <a:t>Auditor</a:t>
                      </a:r>
                    </a:p>
                  </a:txBody>
                  <a:tcPr marL="54864" marR="54864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11111"/>
                          </a:solidFill>
                          <a:latin typeface="Arial"/>
                        </a:rPr>
                        <a:t>Hold</a:t>
                      </a:r>
                    </a:p>
                  </a:txBody>
                  <a:tcPr marL="54864" marR="54864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11111"/>
                          </a:solidFill>
                          <a:latin typeface="Arial"/>
                        </a:rPr>
                        <a:t>Repair</a:t>
                      </a:r>
                    </a:p>
                  </a:txBody>
                  <a:tcPr marL="54864" marR="54864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11111"/>
                          </a:solidFill>
                          <a:latin typeface="Arial"/>
                        </a:rPr>
                        <a:t>Fix</a:t>
                      </a:r>
                    </a:p>
                  </a:txBody>
                  <a:tcPr marL="54864" marR="54864" marT="18288" marB="18288">
                    <a:solidFill>
                      <a:srgbClr val="FAFAFA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111111"/>
                          </a:solidFill>
                          <a:latin typeface="Arial"/>
                        </a:rPr>
                        <a:t>S-03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11111"/>
                          </a:solidFill>
                          <a:latin typeface="Arial"/>
                        </a:rPr>
                        <a:t>Author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11111"/>
                          </a:solidFill>
                          <a:latin typeface="Arial"/>
                        </a:rPr>
                        <a:t>Ready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11111"/>
                          </a:solidFill>
                          <a:latin typeface="Arial"/>
                        </a:rPr>
                        <a:t>Pass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11111"/>
                          </a:solidFill>
                          <a:latin typeface="Arial"/>
                        </a:rPr>
                        <a:t>Ship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111111"/>
                          </a:solidFill>
                          <a:latin typeface="Arial"/>
                        </a:rPr>
                        <a:t>S-04</a:t>
                      </a:r>
                    </a:p>
                  </a:txBody>
                  <a:tcPr marL="54864" marR="54864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11111"/>
                          </a:solidFill>
                          <a:latin typeface="Arial"/>
                        </a:rPr>
                        <a:t>Reviewer</a:t>
                      </a:r>
                    </a:p>
                  </a:txBody>
                  <a:tcPr marL="54864" marR="54864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11111"/>
                          </a:solidFill>
                          <a:latin typeface="Arial"/>
                        </a:rPr>
                        <a:t>Watch</a:t>
                      </a:r>
                    </a:p>
                  </a:txBody>
                  <a:tcPr marL="54864" marR="54864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11111"/>
                          </a:solidFill>
                          <a:latin typeface="Arial"/>
                        </a:rPr>
                        <a:t>Review</a:t>
                      </a:r>
                    </a:p>
                  </a:txBody>
                  <a:tcPr marL="54864" marR="54864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11111"/>
                          </a:solidFill>
                          <a:latin typeface="Arial"/>
                        </a:rPr>
                        <a:t>Check</a:t>
                      </a:r>
                    </a:p>
                  </a:txBody>
                  <a:tcPr marL="54864" marR="54864" marT="18288" marB="18288">
                    <a:solidFill>
                      <a:srgbClr val="FAFAFA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111111"/>
                          </a:solidFill>
                          <a:latin typeface="Arial"/>
                        </a:rPr>
                        <a:t>S-05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11111"/>
                          </a:solidFill>
                          <a:latin typeface="Arial"/>
                        </a:rPr>
                        <a:t>Auditor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11111"/>
                          </a:solidFill>
                          <a:latin typeface="Arial"/>
                        </a:rPr>
                        <a:t>Hold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11111"/>
                          </a:solidFill>
                          <a:latin typeface="Arial"/>
                        </a:rPr>
                        <a:t>Repair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11111"/>
                          </a:solidFill>
                          <a:latin typeface="Arial"/>
                        </a:rPr>
                        <a:t>Fix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111111"/>
                          </a:solidFill>
                          <a:latin typeface="Arial"/>
                        </a:rPr>
                        <a:t>S-06</a:t>
                      </a:r>
                    </a:p>
                  </a:txBody>
                  <a:tcPr marL="54864" marR="54864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11111"/>
                          </a:solidFill>
                          <a:latin typeface="Arial"/>
                        </a:rPr>
                        <a:t>Author</a:t>
                      </a:r>
                    </a:p>
                  </a:txBody>
                  <a:tcPr marL="54864" marR="54864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11111"/>
                          </a:solidFill>
                          <a:latin typeface="Arial"/>
                        </a:rPr>
                        <a:t>Ready</a:t>
                      </a:r>
                    </a:p>
                  </a:txBody>
                  <a:tcPr marL="54864" marR="54864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11111"/>
                          </a:solidFill>
                          <a:latin typeface="Arial"/>
                        </a:rPr>
                        <a:t>Pass</a:t>
                      </a:r>
                    </a:p>
                  </a:txBody>
                  <a:tcPr marL="54864" marR="54864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11111"/>
                          </a:solidFill>
                          <a:latin typeface="Arial"/>
                        </a:rPr>
                        <a:t>Ship</a:t>
                      </a:r>
                    </a:p>
                  </a:txBody>
                  <a:tcPr marL="54864" marR="54864" marT="18288" marB="18288">
                    <a:solidFill>
                      <a:srgbClr val="FAFAFA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111111"/>
                          </a:solidFill>
                          <a:latin typeface="Arial"/>
                        </a:rPr>
                        <a:t>S-07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11111"/>
                          </a:solidFill>
                          <a:latin typeface="Arial"/>
                        </a:rPr>
                        <a:t>Reviewer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11111"/>
                          </a:solidFill>
                          <a:latin typeface="Arial"/>
                        </a:rPr>
                        <a:t>Watch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11111"/>
                          </a:solidFill>
                          <a:latin typeface="Arial"/>
                        </a:rPr>
                        <a:t>Review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11111"/>
                          </a:solidFill>
                          <a:latin typeface="Arial"/>
                        </a:rPr>
                        <a:t>Check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9" name="risk-dot-0"/>
          <p:cNvSpPr/>
          <p:nvPr/>
        </p:nvSpPr>
        <p:spPr>
          <a:xfrm>
            <a:off x="9308592" y="1746504"/>
            <a:ext cx="164592" cy="164592"/>
          </a:xfrm>
          <a:prstGeom prst="ellipse">
            <a:avLst/>
          </a:prstGeom>
          <a:solidFill>
            <a:srgbClr val="111111"/>
          </a:solidFill>
          <a:ln w="1016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isk-dot-1"/>
          <p:cNvSpPr/>
          <p:nvPr/>
        </p:nvSpPr>
        <p:spPr>
          <a:xfrm>
            <a:off x="9308592" y="2276856"/>
            <a:ext cx="164592" cy="164592"/>
          </a:xfrm>
          <a:prstGeom prst="ellipse">
            <a:avLst/>
          </a:prstGeom>
          <a:solidFill>
            <a:srgbClr val="111111"/>
          </a:solidFill>
          <a:ln w="1016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isk-dot-2"/>
          <p:cNvSpPr/>
          <p:nvPr/>
        </p:nvSpPr>
        <p:spPr>
          <a:xfrm>
            <a:off x="9308592" y="2807208"/>
            <a:ext cx="164592" cy="164592"/>
          </a:xfrm>
          <a:prstGeom prst="ellipse">
            <a:avLst/>
          </a:prstGeom>
          <a:solidFill>
            <a:srgbClr val="E8000D"/>
          </a:solidFill>
          <a:ln w="10160">
            <a:solidFill>
              <a:srgbClr val="E800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isk-dot-3"/>
          <p:cNvSpPr/>
          <p:nvPr/>
        </p:nvSpPr>
        <p:spPr>
          <a:xfrm>
            <a:off x="9308592" y="3337560"/>
            <a:ext cx="164592" cy="164592"/>
          </a:xfrm>
          <a:prstGeom prst="ellipse">
            <a:avLst/>
          </a:prstGeom>
          <a:solidFill>
            <a:srgbClr val="111111"/>
          </a:solidFill>
          <a:ln w="1016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isk-dot-4"/>
          <p:cNvSpPr/>
          <p:nvPr/>
        </p:nvSpPr>
        <p:spPr>
          <a:xfrm>
            <a:off x="9308592" y="3867912"/>
            <a:ext cx="164592" cy="164592"/>
          </a:xfrm>
          <a:prstGeom prst="ellipse">
            <a:avLst/>
          </a:prstGeom>
          <a:solidFill>
            <a:srgbClr val="E8000D"/>
          </a:solidFill>
          <a:ln w="10160">
            <a:solidFill>
              <a:srgbClr val="E800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isk-dot-5"/>
          <p:cNvSpPr/>
          <p:nvPr/>
        </p:nvSpPr>
        <p:spPr>
          <a:xfrm>
            <a:off x="9308592" y="4398264"/>
            <a:ext cx="164592" cy="164592"/>
          </a:xfrm>
          <a:prstGeom prst="ellipse">
            <a:avLst/>
          </a:prstGeom>
          <a:solidFill>
            <a:srgbClr val="111111"/>
          </a:solidFill>
          <a:ln w="1016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progress-fill"/>
          <p:cNvSpPr/>
          <p:nvPr/>
        </p:nvSpPr>
        <p:spPr>
          <a:xfrm>
            <a:off x="2249424" y="5687568"/>
            <a:ext cx="7406640" cy="384048"/>
          </a:xfrm>
          <a:prstGeom prst="roundRect">
            <a:avLst/>
          </a:prstGeom>
          <a:solidFill>
            <a:srgbClr val="E8000D"/>
          </a:solidFill>
          <a:ln w="10160">
            <a:solidFill>
              <a:srgbClr val="E800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profile-tag"/>
          <p:cNvSpPr txBox="1"/>
          <p:nvPr/>
        </p:nvSpPr>
        <p:spPr>
          <a:xfrm>
            <a:off x="457200" y="201168"/>
            <a:ext cx="768096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1" lang="en-US">
                <a:solidFill>
                  <a:srgbClr val="E8000D"/>
                </a:solidFill>
                <a:latin typeface="Arial"/>
              </a:rPr>
              <a:t>V3 STRESS SUITE  ·  SWISS INTERNATIONAL  ·  CONTROL ROOM</a:t>
            </a:r>
          </a:p>
        </p:txBody>
      </p:sp>
      <p:sp>
        <p:nvSpPr>
          <p:cNvPr id="37" name="slide-index"/>
          <p:cNvSpPr txBox="1"/>
          <p:nvPr/>
        </p:nvSpPr>
        <p:spPr>
          <a:xfrm>
            <a:off x="10808208" y="201168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00" b="1" lang="en-US">
                <a:solidFill>
                  <a:srgbClr val="444444"/>
                </a:solidFill>
                <a:latin typeface="Arial"/>
              </a:rPr>
              <a:t>21/60</a:t>
            </a:r>
          </a:p>
        </p:txBody>
      </p:sp>
      <p:sp>
        <p:nvSpPr>
          <p:cNvPr id="38" name="title"/>
          <p:cNvSpPr txBox="1"/>
          <p:nvPr/>
        </p:nvSpPr>
        <p:spPr>
          <a:xfrm>
            <a:off x="457200" y="484632"/>
            <a:ext cx="11274552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200" b="1" lang="en-US">
                <a:solidFill>
                  <a:srgbClr val="111111"/>
                </a:solidFill>
                <a:latin typeface="Arial"/>
              </a:rPr>
              <a:t>Control room layouts keep dense delivery signals governable</a:t>
            </a:r>
          </a:p>
        </p:txBody>
      </p:sp>
      <p:sp>
        <p:nvSpPr>
          <p:cNvPr id="39" name="footer"/>
          <p:cNvSpPr txBox="1"/>
          <p:nvPr/>
        </p:nvSpPr>
        <p:spPr>
          <a:xfrm>
            <a:off x="457200" y="6473952"/>
            <a:ext cx="1051560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0" lang="en-US">
                <a:solidFill>
                  <a:srgbClr val="444444"/>
                </a:solidFill>
                <a:latin typeface="Arial"/>
              </a:rPr>
              <a:t>Native-object stress fixture · strict grid, left red rule, and functional black typography · editable geometry and recorded style lock</a:t>
            </a:r>
          </a:p>
        </p:txBody>
      </p:sp>
      <p:sp>
        <p:nvSpPr>
          <p:cNvPr id="40" name="nav-title"/>
          <p:cNvSpPr txBox="1"/>
          <p:nvPr/>
        </p:nvSpPr>
        <p:spPr>
          <a:xfrm>
            <a:off x="667512" y="1298448"/>
            <a:ext cx="1078992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1" lang="en-US">
                <a:solidFill>
                  <a:srgbClr val="E8000D"/>
                </a:solidFill>
                <a:latin typeface="Arial"/>
              </a:rPr>
              <a:t>CONTROL
PLANES</a:t>
            </a:r>
          </a:p>
        </p:txBody>
      </p:sp>
      <p:sp>
        <p:nvSpPr>
          <p:cNvPr id="41" name="nav-label-0"/>
          <p:cNvSpPr txBox="1"/>
          <p:nvPr/>
        </p:nvSpPr>
        <p:spPr>
          <a:xfrm>
            <a:off x="749808" y="1965960"/>
            <a:ext cx="932688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1" lang="en-US">
                <a:solidFill>
                  <a:srgbClr val="FFFFFF"/>
                </a:solidFill>
                <a:latin typeface="Arial"/>
              </a:rPr>
              <a:t>INBOX</a:t>
            </a:r>
          </a:p>
        </p:txBody>
      </p:sp>
      <p:sp>
        <p:nvSpPr>
          <p:cNvPr id="42" name="nav-label-1"/>
          <p:cNvSpPr txBox="1"/>
          <p:nvPr/>
        </p:nvSpPr>
        <p:spPr>
          <a:xfrm>
            <a:off x="749808" y="2478024"/>
            <a:ext cx="932688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0" lang="en-US">
                <a:solidFill>
                  <a:srgbClr val="111111"/>
                </a:solidFill>
                <a:latin typeface="Arial"/>
              </a:rPr>
              <a:t>SIGNALS</a:t>
            </a:r>
          </a:p>
        </p:txBody>
      </p:sp>
      <p:sp>
        <p:nvSpPr>
          <p:cNvPr id="43" name="nav-label-2"/>
          <p:cNvSpPr txBox="1"/>
          <p:nvPr/>
        </p:nvSpPr>
        <p:spPr>
          <a:xfrm>
            <a:off x="749808" y="2990088"/>
            <a:ext cx="932688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0" lang="en-US">
                <a:solidFill>
                  <a:srgbClr val="111111"/>
                </a:solidFill>
                <a:latin typeface="Arial"/>
              </a:rPr>
              <a:t>EVIDENCE</a:t>
            </a:r>
          </a:p>
        </p:txBody>
      </p:sp>
      <p:sp>
        <p:nvSpPr>
          <p:cNvPr id="44" name="nav-label-3"/>
          <p:cNvSpPr txBox="1"/>
          <p:nvPr/>
        </p:nvSpPr>
        <p:spPr>
          <a:xfrm>
            <a:off x="749808" y="3502152"/>
            <a:ext cx="932688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0" lang="en-US">
                <a:solidFill>
                  <a:srgbClr val="111111"/>
                </a:solidFill>
                <a:latin typeface="Arial"/>
              </a:rPr>
              <a:t>POLICY</a:t>
            </a:r>
          </a:p>
        </p:txBody>
      </p:sp>
      <p:sp>
        <p:nvSpPr>
          <p:cNvPr id="45" name="nav-label-4"/>
          <p:cNvSpPr txBox="1"/>
          <p:nvPr/>
        </p:nvSpPr>
        <p:spPr>
          <a:xfrm>
            <a:off x="749808" y="4014215"/>
            <a:ext cx="932688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0" lang="en-US">
                <a:solidFill>
                  <a:srgbClr val="111111"/>
                </a:solidFill>
                <a:latin typeface="Arial"/>
              </a:rPr>
              <a:t>REPAIR</a:t>
            </a:r>
          </a:p>
        </p:txBody>
      </p:sp>
      <p:sp>
        <p:nvSpPr>
          <p:cNvPr id="46" name="nav-label-5"/>
          <p:cNvSpPr txBox="1"/>
          <p:nvPr/>
        </p:nvSpPr>
        <p:spPr>
          <a:xfrm>
            <a:off x="749808" y="4526280"/>
            <a:ext cx="932688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0" lang="en-US">
                <a:solidFill>
                  <a:srgbClr val="111111"/>
                </a:solidFill>
                <a:latin typeface="Arial"/>
              </a:rPr>
              <a:t>RELEASE</a:t>
            </a:r>
          </a:p>
        </p:txBody>
      </p:sp>
      <p:sp>
        <p:nvSpPr>
          <p:cNvPr id="47" name="nav-label-6"/>
          <p:cNvSpPr txBox="1"/>
          <p:nvPr/>
        </p:nvSpPr>
        <p:spPr>
          <a:xfrm>
            <a:off x="749808" y="5038344"/>
            <a:ext cx="932688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0" lang="en-US">
                <a:solidFill>
                  <a:srgbClr val="111111"/>
                </a:solidFill>
                <a:latin typeface="Arial"/>
              </a:rPr>
              <a:t>ARCHIVE</a:t>
            </a:r>
          </a:p>
        </p:txBody>
      </p:sp>
      <p:sp>
        <p:nvSpPr>
          <p:cNvPr id="48" name="metric-v-0"/>
          <p:cNvSpPr txBox="1"/>
          <p:nvPr/>
        </p:nvSpPr>
        <p:spPr>
          <a:xfrm>
            <a:off x="2432304" y="1234440"/>
            <a:ext cx="80467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lang="en-US">
                <a:solidFill>
                  <a:srgbClr val="111111"/>
                </a:solidFill>
                <a:latin typeface="Arial"/>
              </a:rPr>
              <a:t>48</a:t>
            </a:r>
          </a:p>
        </p:txBody>
      </p:sp>
      <p:sp>
        <p:nvSpPr>
          <p:cNvPr id="49" name="metric-l-0"/>
          <p:cNvSpPr txBox="1"/>
          <p:nvPr/>
        </p:nvSpPr>
        <p:spPr>
          <a:xfrm>
            <a:off x="2359152" y="1581912"/>
            <a:ext cx="932688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444444"/>
                </a:solidFill>
                <a:latin typeface="Arial"/>
              </a:rPr>
              <a:t>WORK</a:t>
            </a:r>
          </a:p>
        </p:txBody>
      </p:sp>
      <p:sp>
        <p:nvSpPr>
          <p:cNvPr id="50" name="metric-v-1"/>
          <p:cNvSpPr txBox="1"/>
          <p:nvPr/>
        </p:nvSpPr>
        <p:spPr>
          <a:xfrm>
            <a:off x="3739896" y="1234440"/>
            <a:ext cx="80467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lang="en-US">
                <a:solidFill>
                  <a:srgbClr val="111111"/>
                </a:solidFill>
                <a:latin typeface="Arial"/>
              </a:rPr>
              <a:t>06</a:t>
            </a:r>
          </a:p>
        </p:txBody>
      </p:sp>
      <p:sp>
        <p:nvSpPr>
          <p:cNvPr id="51" name="metric-l-1"/>
          <p:cNvSpPr txBox="1"/>
          <p:nvPr/>
        </p:nvSpPr>
        <p:spPr>
          <a:xfrm>
            <a:off x="3666744" y="1581912"/>
            <a:ext cx="932688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444444"/>
                </a:solidFill>
                <a:latin typeface="Arial"/>
              </a:rPr>
              <a:t>FLAGS</a:t>
            </a:r>
          </a:p>
        </p:txBody>
      </p:sp>
      <p:sp>
        <p:nvSpPr>
          <p:cNvPr id="52" name="metric-v-2"/>
          <p:cNvSpPr txBox="1"/>
          <p:nvPr/>
        </p:nvSpPr>
        <p:spPr>
          <a:xfrm>
            <a:off x="5047488" y="1234440"/>
            <a:ext cx="80467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lang="en-US">
                <a:solidFill>
                  <a:srgbClr val="111111"/>
                </a:solidFill>
                <a:latin typeface="Arial"/>
              </a:rPr>
              <a:t>31</a:t>
            </a:r>
          </a:p>
        </p:txBody>
      </p:sp>
      <p:sp>
        <p:nvSpPr>
          <p:cNvPr id="53" name="metric-l-2"/>
          <p:cNvSpPr txBox="1"/>
          <p:nvPr/>
        </p:nvSpPr>
        <p:spPr>
          <a:xfrm>
            <a:off x="4974336" y="1581912"/>
            <a:ext cx="932688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444444"/>
                </a:solidFill>
                <a:latin typeface="Arial"/>
              </a:rPr>
              <a:t>READY</a:t>
            </a:r>
          </a:p>
        </p:txBody>
      </p:sp>
      <p:sp>
        <p:nvSpPr>
          <p:cNvPr id="54" name="metric-v-3"/>
          <p:cNvSpPr txBox="1"/>
          <p:nvPr/>
        </p:nvSpPr>
        <p:spPr>
          <a:xfrm>
            <a:off x="6355080" y="1234440"/>
            <a:ext cx="80467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lang="en-US">
                <a:solidFill>
                  <a:srgbClr val="111111"/>
                </a:solidFill>
                <a:latin typeface="Arial"/>
              </a:rPr>
              <a:t>04</a:t>
            </a:r>
          </a:p>
        </p:txBody>
      </p:sp>
      <p:sp>
        <p:nvSpPr>
          <p:cNvPr id="55" name="metric-l-3"/>
          <p:cNvSpPr txBox="1"/>
          <p:nvPr/>
        </p:nvSpPr>
        <p:spPr>
          <a:xfrm>
            <a:off x="6281928" y="1581912"/>
            <a:ext cx="932688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444444"/>
                </a:solidFill>
                <a:latin typeface="Arial"/>
              </a:rPr>
              <a:t>HOLD</a:t>
            </a:r>
          </a:p>
        </p:txBody>
      </p:sp>
      <p:sp>
        <p:nvSpPr>
          <p:cNvPr id="56" name="metric-v-4"/>
          <p:cNvSpPr txBox="1"/>
          <p:nvPr/>
        </p:nvSpPr>
        <p:spPr>
          <a:xfrm>
            <a:off x="7662672" y="1234440"/>
            <a:ext cx="80467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lang="en-US">
                <a:solidFill>
                  <a:srgbClr val="111111"/>
                </a:solidFill>
                <a:latin typeface="Arial"/>
              </a:rPr>
              <a:t>12</a:t>
            </a:r>
          </a:p>
        </p:txBody>
      </p:sp>
      <p:sp>
        <p:nvSpPr>
          <p:cNvPr id="57" name="metric-l-4"/>
          <p:cNvSpPr txBox="1"/>
          <p:nvPr/>
        </p:nvSpPr>
        <p:spPr>
          <a:xfrm>
            <a:off x="7589520" y="1581912"/>
            <a:ext cx="932688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444444"/>
                </a:solidFill>
                <a:latin typeface="Arial"/>
              </a:rPr>
              <a:t>STYLE</a:t>
            </a:r>
          </a:p>
        </p:txBody>
      </p:sp>
      <p:sp>
        <p:nvSpPr>
          <p:cNvPr id="58" name="risk-title"/>
          <p:cNvSpPr txBox="1"/>
          <p:nvPr/>
        </p:nvSpPr>
        <p:spPr>
          <a:xfrm>
            <a:off x="9308592" y="1298448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1" lang="en-US">
                <a:solidFill>
                  <a:srgbClr val="E8000D"/>
                </a:solidFill>
                <a:latin typeface="Arial"/>
              </a:rPr>
              <a:t>LIVE REVIEW QUEUE</a:t>
            </a:r>
          </a:p>
        </p:txBody>
      </p:sp>
      <p:sp>
        <p:nvSpPr>
          <p:cNvPr id="59" name="risk-label-0"/>
          <p:cNvSpPr txBox="1"/>
          <p:nvPr/>
        </p:nvSpPr>
        <p:spPr>
          <a:xfrm>
            <a:off x="9619488" y="1691640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50" b="1" lang="en-US">
                <a:solidFill>
                  <a:srgbClr val="111111"/>
                </a:solidFill>
                <a:latin typeface="Arial"/>
              </a:rPr>
              <a:t>Scope stable</a:t>
            </a:r>
          </a:p>
        </p:txBody>
      </p:sp>
      <p:sp>
        <p:nvSpPr>
          <p:cNvPr id="60" name="risk-state-0"/>
          <p:cNvSpPr txBox="1"/>
          <p:nvPr/>
        </p:nvSpPr>
        <p:spPr>
          <a:xfrm>
            <a:off x="10972800" y="169164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00" b="1" lang="en-US">
                <a:solidFill>
                  <a:srgbClr val="111111"/>
                </a:solidFill>
                <a:latin typeface="Arial"/>
              </a:rPr>
              <a:t>PASS</a:t>
            </a:r>
          </a:p>
        </p:txBody>
      </p:sp>
      <p:sp>
        <p:nvSpPr>
          <p:cNvPr id="61" name="risk-label-1"/>
          <p:cNvSpPr txBox="1"/>
          <p:nvPr/>
        </p:nvSpPr>
        <p:spPr>
          <a:xfrm>
            <a:off x="9619488" y="2221992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50" b="1" lang="en-US">
                <a:solidFill>
                  <a:srgbClr val="111111"/>
                </a:solidFill>
                <a:latin typeface="Arial"/>
              </a:rPr>
              <a:t>Text capacity</a:t>
            </a:r>
          </a:p>
        </p:txBody>
      </p:sp>
      <p:sp>
        <p:nvSpPr>
          <p:cNvPr id="62" name="risk-state-1"/>
          <p:cNvSpPr txBox="1"/>
          <p:nvPr/>
        </p:nvSpPr>
        <p:spPr>
          <a:xfrm>
            <a:off x="10972800" y="2221992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00" b="1" lang="en-US">
                <a:solidFill>
                  <a:srgbClr val="111111"/>
                </a:solidFill>
                <a:latin typeface="Arial"/>
              </a:rPr>
              <a:t>PASS</a:t>
            </a:r>
          </a:p>
        </p:txBody>
      </p:sp>
      <p:sp>
        <p:nvSpPr>
          <p:cNvPr id="63" name="risk-label-2"/>
          <p:cNvSpPr txBox="1"/>
          <p:nvPr/>
        </p:nvSpPr>
        <p:spPr>
          <a:xfrm>
            <a:off x="9619488" y="2752344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50" b="1" lang="en-US">
                <a:solidFill>
                  <a:srgbClr val="111111"/>
                </a:solidFill>
                <a:latin typeface="Arial"/>
              </a:rPr>
              <a:t>Contrast check</a:t>
            </a:r>
          </a:p>
        </p:txBody>
      </p:sp>
      <p:sp>
        <p:nvSpPr>
          <p:cNvPr id="64" name="risk-state-2"/>
          <p:cNvSpPr txBox="1"/>
          <p:nvPr/>
        </p:nvSpPr>
        <p:spPr>
          <a:xfrm>
            <a:off x="10972800" y="275234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00" b="1" lang="en-US">
                <a:solidFill>
                  <a:srgbClr val="E8000D"/>
                </a:solidFill>
                <a:latin typeface="Arial"/>
              </a:rPr>
              <a:t>WATCH</a:t>
            </a:r>
          </a:p>
        </p:txBody>
      </p:sp>
      <p:sp>
        <p:nvSpPr>
          <p:cNvPr id="65" name="risk-label-3"/>
          <p:cNvSpPr txBox="1"/>
          <p:nvPr/>
        </p:nvSpPr>
        <p:spPr>
          <a:xfrm>
            <a:off x="9619488" y="3282696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50" b="1" lang="en-US">
                <a:solidFill>
                  <a:srgbClr val="111111"/>
                </a:solidFill>
                <a:latin typeface="Arial"/>
              </a:rPr>
              <a:t>Table fit</a:t>
            </a:r>
          </a:p>
        </p:txBody>
      </p:sp>
      <p:sp>
        <p:nvSpPr>
          <p:cNvPr id="66" name="risk-state-3"/>
          <p:cNvSpPr txBox="1"/>
          <p:nvPr/>
        </p:nvSpPr>
        <p:spPr>
          <a:xfrm>
            <a:off x="10972800" y="3282696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00" b="1" lang="en-US">
                <a:solidFill>
                  <a:srgbClr val="111111"/>
                </a:solidFill>
                <a:latin typeface="Arial"/>
              </a:rPr>
              <a:t>PASS</a:t>
            </a:r>
          </a:p>
        </p:txBody>
      </p:sp>
      <p:sp>
        <p:nvSpPr>
          <p:cNvPr id="67" name="risk-label-4"/>
          <p:cNvSpPr txBox="1"/>
          <p:nvPr/>
        </p:nvSpPr>
        <p:spPr>
          <a:xfrm>
            <a:off x="9619488" y="3813048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50" b="1" lang="en-US">
                <a:solidFill>
                  <a:srgbClr val="111111"/>
                </a:solidFill>
                <a:latin typeface="Arial"/>
              </a:rPr>
              <a:t>Read order</a:t>
            </a:r>
          </a:p>
        </p:txBody>
      </p:sp>
      <p:sp>
        <p:nvSpPr>
          <p:cNvPr id="68" name="risk-state-4"/>
          <p:cNvSpPr txBox="1"/>
          <p:nvPr/>
        </p:nvSpPr>
        <p:spPr>
          <a:xfrm>
            <a:off x="10972800" y="3813048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00" b="1" lang="en-US">
                <a:solidFill>
                  <a:srgbClr val="E8000D"/>
                </a:solidFill>
                <a:latin typeface="Arial"/>
              </a:rPr>
              <a:t>WATCH</a:t>
            </a:r>
          </a:p>
        </p:txBody>
      </p:sp>
      <p:sp>
        <p:nvSpPr>
          <p:cNvPr id="69" name="risk-label-5"/>
          <p:cNvSpPr txBox="1"/>
          <p:nvPr/>
        </p:nvSpPr>
        <p:spPr>
          <a:xfrm>
            <a:off x="9619488" y="4343400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50" b="1" lang="en-US">
                <a:solidFill>
                  <a:srgbClr val="111111"/>
                </a:solidFill>
                <a:latin typeface="Arial"/>
              </a:rPr>
              <a:t>Package</a:t>
            </a:r>
          </a:p>
        </p:txBody>
      </p:sp>
      <p:sp>
        <p:nvSpPr>
          <p:cNvPr id="70" name="risk-state-5"/>
          <p:cNvSpPr txBox="1"/>
          <p:nvPr/>
        </p:nvSpPr>
        <p:spPr>
          <a:xfrm>
            <a:off x="10972800" y="434340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00" b="1" lang="en-US">
                <a:solidFill>
                  <a:srgbClr val="111111"/>
                </a:solidFill>
                <a:latin typeface="Arial"/>
              </a:rPr>
              <a:t>PASS</a:t>
            </a:r>
          </a:p>
        </p:txBody>
      </p:sp>
      <p:sp>
        <p:nvSpPr>
          <p:cNvPr id="71" name="progress-label"/>
          <p:cNvSpPr txBox="1"/>
          <p:nvPr/>
        </p:nvSpPr>
        <p:spPr>
          <a:xfrm>
            <a:off x="2468880" y="5788152"/>
            <a:ext cx="886968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50" b="1" lang="en-US">
                <a:solidFill>
                  <a:srgbClr val="FFFFFF"/>
                </a:solidFill>
                <a:latin typeface="Arial"/>
              </a:rPr>
              <a:t>Stress workload: 78% complete · 12 profiles locked · 0 geometry regressions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wiss-rule"/>
          <p:cNvSpPr/>
          <p:nvPr/>
        </p:nvSpPr>
        <p:spPr>
          <a:xfrm>
            <a:off x="164592" y="0"/>
            <a:ext cx="91440" cy="6858000"/>
          </a:xfrm>
          <a:prstGeom prst="rect">
            <a:avLst/>
          </a:prstGeom>
          <a:solidFill>
            <a:srgbClr val="E8000D"/>
          </a:solidFill>
          <a:ln w="10160">
            <a:solidFill>
              <a:srgbClr val="E800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wiss-divider"/>
          <p:cNvSpPr/>
          <p:nvPr/>
        </p:nvSpPr>
        <p:spPr>
          <a:xfrm>
            <a:off x="457200" y="969264"/>
            <a:ext cx="11274552" cy="22860"/>
          </a:xfrm>
          <a:prstGeom prst="rect">
            <a:avLst/>
          </a:prstGeom>
          <a:solidFill>
            <a:srgbClr val="DDDDDD"/>
          </a:solidFill>
          <a:ln w="1016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op-band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000D"/>
          </a:solidFill>
          <a:ln w="10160">
            <a:solidFill>
              <a:srgbClr val="E800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mesh-shell"/>
          <p:cNvSpPr/>
          <p:nvPr/>
        </p:nvSpPr>
        <p:spPr>
          <a:xfrm>
            <a:off x="457200" y="1078992"/>
            <a:ext cx="7360920" cy="5029200"/>
          </a:xfrm>
          <a:prstGeom prst="rect">
            <a:avLst/>
          </a:prstGeom>
          <a:solidFill>
            <a:srgbClr val="FAFAFA"/>
          </a:solidFill>
          <a:ln w="1016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mesh-rail-shell"/>
          <p:cNvSpPr/>
          <p:nvPr/>
        </p:nvSpPr>
        <p:spPr>
          <a:xfrm>
            <a:off x="8092440" y="1078992"/>
            <a:ext cx="3639312" cy="5029200"/>
          </a:xfrm>
          <a:prstGeom prst="rect">
            <a:avLst/>
          </a:prstGeom>
          <a:solidFill>
            <a:srgbClr val="FFFFFF"/>
          </a:solidFill>
          <a:ln w="1016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mesh-accent"/>
          <p:cNvSpPr/>
          <p:nvPr/>
        </p:nvSpPr>
        <p:spPr>
          <a:xfrm>
            <a:off x="457200" y="1078992"/>
            <a:ext cx="73152" cy="5029200"/>
          </a:xfrm>
          <a:prstGeom prst="rect">
            <a:avLst/>
          </a:prstGeom>
          <a:solidFill>
            <a:srgbClr val="E8000D"/>
          </a:solidFill>
          <a:ln w="10160">
            <a:solidFill>
              <a:srgbClr val="E800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mesh-edge-0"/>
          <p:cNvCxnSpPr/>
          <p:nvPr/>
        </p:nvCxnSpPr>
        <p:spPr>
          <a:xfrm flipV="1">
            <a:off x="1618488" y="1920240"/>
            <a:ext cx="1828800" cy="320040"/>
          </a:xfrm>
          <a:prstGeom prst="line">
            <a:avLst/>
          </a:prstGeom>
          <a:ln w="1397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mesh-edge-1"/>
          <p:cNvCxnSpPr/>
          <p:nvPr/>
        </p:nvCxnSpPr>
        <p:spPr>
          <a:xfrm>
            <a:off x="3447288" y="1920240"/>
            <a:ext cx="1920240" cy="320040"/>
          </a:xfrm>
          <a:prstGeom prst="line">
            <a:avLst/>
          </a:prstGeom>
          <a:ln w="1397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mesh-edge-2"/>
          <p:cNvCxnSpPr/>
          <p:nvPr/>
        </p:nvCxnSpPr>
        <p:spPr>
          <a:xfrm>
            <a:off x="1618488" y="2240280"/>
            <a:ext cx="868680" cy="1325880"/>
          </a:xfrm>
          <a:prstGeom prst="line">
            <a:avLst/>
          </a:prstGeom>
          <a:ln w="1397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mesh-edge-3"/>
          <p:cNvCxnSpPr/>
          <p:nvPr/>
        </p:nvCxnSpPr>
        <p:spPr>
          <a:xfrm flipH="1">
            <a:off x="2487168" y="1920240"/>
            <a:ext cx="960120" cy="1645920"/>
          </a:xfrm>
          <a:prstGeom prst="line">
            <a:avLst/>
          </a:prstGeom>
          <a:ln w="1397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mesh-edge-4"/>
          <p:cNvCxnSpPr/>
          <p:nvPr/>
        </p:nvCxnSpPr>
        <p:spPr>
          <a:xfrm>
            <a:off x="3447288" y="1920240"/>
            <a:ext cx="1005840" cy="1307592"/>
          </a:xfrm>
          <a:prstGeom prst="line">
            <a:avLst/>
          </a:prstGeom>
          <a:ln w="1397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mesh-edge-5"/>
          <p:cNvCxnSpPr/>
          <p:nvPr/>
        </p:nvCxnSpPr>
        <p:spPr>
          <a:xfrm flipH="1">
            <a:off x="4453128" y="2240280"/>
            <a:ext cx="914400" cy="987552"/>
          </a:xfrm>
          <a:prstGeom prst="line">
            <a:avLst/>
          </a:prstGeom>
          <a:ln w="1397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mesh-edge-6"/>
          <p:cNvCxnSpPr/>
          <p:nvPr/>
        </p:nvCxnSpPr>
        <p:spPr>
          <a:xfrm>
            <a:off x="5367528" y="2240280"/>
            <a:ext cx="1005840" cy="1325880"/>
          </a:xfrm>
          <a:prstGeom prst="line">
            <a:avLst/>
          </a:prstGeom>
          <a:ln w="1397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mesh-edge-7"/>
          <p:cNvCxnSpPr/>
          <p:nvPr/>
        </p:nvCxnSpPr>
        <p:spPr>
          <a:xfrm flipV="1">
            <a:off x="2487168" y="3227832"/>
            <a:ext cx="1965960" cy="338328"/>
          </a:xfrm>
          <a:prstGeom prst="line">
            <a:avLst/>
          </a:prstGeom>
          <a:ln w="1397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mesh-edge-8"/>
          <p:cNvCxnSpPr/>
          <p:nvPr/>
        </p:nvCxnSpPr>
        <p:spPr>
          <a:xfrm>
            <a:off x="4453128" y="3227832"/>
            <a:ext cx="1920240" cy="338328"/>
          </a:xfrm>
          <a:prstGeom prst="line">
            <a:avLst/>
          </a:prstGeom>
          <a:ln w="1397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mesh-edge-9"/>
          <p:cNvCxnSpPr/>
          <p:nvPr/>
        </p:nvCxnSpPr>
        <p:spPr>
          <a:xfrm>
            <a:off x="2487168" y="3566160"/>
            <a:ext cx="960120" cy="1325880"/>
          </a:xfrm>
          <a:prstGeom prst="line">
            <a:avLst/>
          </a:prstGeom>
          <a:ln w="1397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mesh-edge-10"/>
          <p:cNvCxnSpPr/>
          <p:nvPr/>
        </p:nvCxnSpPr>
        <p:spPr>
          <a:xfrm flipH="1">
            <a:off x="3447288" y="3227832"/>
            <a:ext cx="1005840" cy="1664208"/>
          </a:xfrm>
          <a:prstGeom prst="line">
            <a:avLst/>
          </a:prstGeom>
          <a:ln w="1397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mesh-edge-11"/>
          <p:cNvCxnSpPr/>
          <p:nvPr/>
        </p:nvCxnSpPr>
        <p:spPr>
          <a:xfrm>
            <a:off x="4453128" y="3227832"/>
            <a:ext cx="914400" cy="1664208"/>
          </a:xfrm>
          <a:prstGeom prst="line">
            <a:avLst/>
          </a:prstGeom>
          <a:ln w="1397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mesh-edge-12"/>
          <p:cNvCxnSpPr/>
          <p:nvPr/>
        </p:nvCxnSpPr>
        <p:spPr>
          <a:xfrm flipH="1">
            <a:off x="5367528" y="3566160"/>
            <a:ext cx="1005840" cy="1325880"/>
          </a:xfrm>
          <a:prstGeom prst="line">
            <a:avLst/>
          </a:prstGeom>
          <a:ln w="1397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mesh-edge-13"/>
          <p:cNvCxnSpPr/>
          <p:nvPr/>
        </p:nvCxnSpPr>
        <p:spPr>
          <a:xfrm>
            <a:off x="3447288" y="4892040"/>
            <a:ext cx="1920240" cy="0"/>
          </a:xfrm>
          <a:prstGeom prst="line">
            <a:avLst/>
          </a:prstGeom>
          <a:ln w="1397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mesh-rail-accent"/>
          <p:cNvSpPr/>
          <p:nvPr/>
        </p:nvSpPr>
        <p:spPr>
          <a:xfrm>
            <a:off x="8092440" y="1078992"/>
            <a:ext cx="73152" cy="5029200"/>
          </a:xfrm>
          <a:prstGeom prst="rect">
            <a:avLst/>
          </a:prstGeom>
          <a:solidFill>
            <a:srgbClr val="E8000D"/>
          </a:solidFill>
          <a:ln w="10160">
            <a:solidFill>
              <a:srgbClr val="E800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trace-line-0"/>
          <p:cNvCxnSpPr/>
          <p:nvPr/>
        </p:nvCxnSpPr>
        <p:spPr>
          <a:xfrm>
            <a:off x="8577072" y="2029968"/>
            <a:ext cx="0" cy="164592"/>
          </a:xfrm>
          <a:prstGeom prst="line">
            <a:avLst/>
          </a:prstGeom>
          <a:ln w="13970">
            <a:solidFill>
              <a:srgbClr val="E8000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trace-line-1"/>
          <p:cNvCxnSpPr/>
          <p:nvPr/>
        </p:nvCxnSpPr>
        <p:spPr>
          <a:xfrm>
            <a:off x="8577072" y="2596896"/>
            <a:ext cx="0" cy="164592"/>
          </a:xfrm>
          <a:prstGeom prst="line">
            <a:avLst/>
          </a:prstGeom>
          <a:ln w="1397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trace-line-2"/>
          <p:cNvCxnSpPr/>
          <p:nvPr/>
        </p:nvCxnSpPr>
        <p:spPr>
          <a:xfrm>
            <a:off x="8577072" y="3163824"/>
            <a:ext cx="0" cy="164592"/>
          </a:xfrm>
          <a:prstGeom prst="line">
            <a:avLst/>
          </a:prstGeom>
          <a:ln w="13970">
            <a:solidFill>
              <a:srgbClr val="E8000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trace-line-3"/>
          <p:cNvCxnSpPr/>
          <p:nvPr/>
        </p:nvCxnSpPr>
        <p:spPr>
          <a:xfrm>
            <a:off x="8577072" y="3730752"/>
            <a:ext cx="0" cy="164592"/>
          </a:xfrm>
          <a:prstGeom prst="line">
            <a:avLst/>
          </a:prstGeom>
          <a:ln w="13970">
            <a:solidFill>
              <a:srgbClr val="E8000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trace-line-4"/>
          <p:cNvCxnSpPr/>
          <p:nvPr/>
        </p:nvCxnSpPr>
        <p:spPr>
          <a:xfrm>
            <a:off x="8577072" y="4297680"/>
            <a:ext cx="0" cy="164592"/>
          </a:xfrm>
          <a:prstGeom prst="line">
            <a:avLst/>
          </a:prstGeom>
          <a:ln w="1397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trace-line-5"/>
          <p:cNvCxnSpPr/>
          <p:nvPr/>
        </p:nvCxnSpPr>
        <p:spPr>
          <a:xfrm>
            <a:off x="8577072" y="4864608"/>
            <a:ext cx="0" cy="164592"/>
          </a:xfrm>
          <a:prstGeom prst="line">
            <a:avLst/>
          </a:prstGeom>
          <a:ln w="13970">
            <a:solidFill>
              <a:srgbClr val="E8000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mesh-node-0"/>
          <p:cNvSpPr/>
          <p:nvPr/>
        </p:nvSpPr>
        <p:spPr>
          <a:xfrm>
            <a:off x="1051560" y="1920240"/>
            <a:ext cx="1143000" cy="640080"/>
          </a:xfrm>
          <a:prstGeom prst="roundRect">
            <a:avLst/>
          </a:prstGeom>
          <a:solidFill>
            <a:srgbClr val="E8000D"/>
          </a:solidFill>
          <a:ln w="10160">
            <a:solidFill>
              <a:srgbClr val="E800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mesh-node-1"/>
          <p:cNvSpPr/>
          <p:nvPr/>
        </p:nvSpPr>
        <p:spPr>
          <a:xfrm>
            <a:off x="2880360" y="1600200"/>
            <a:ext cx="1143000" cy="640080"/>
          </a:xfrm>
          <a:prstGeom prst="roundRect">
            <a:avLst/>
          </a:prstGeom>
          <a:solidFill>
            <a:srgbClr val="111111"/>
          </a:solidFill>
          <a:ln w="1016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mesh-node-2"/>
          <p:cNvSpPr/>
          <p:nvPr/>
        </p:nvSpPr>
        <p:spPr>
          <a:xfrm>
            <a:off x="4800600" y="1920240"/>
            <a:ext cx="1143000" cy="640080"/>
          </a:xfrm>
          <a:prstGeom prst="roundRect">
            <a:avLst/>
          </a:prstGeom>
          <a:solidFill>
            <a:srgbClr val="E8000D"/>
          </a:solidFill>
          <a:ln w="10160">
            <a:solidFill>
              <a:srgbClr val="E800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mesh-node-3"/>
          <p:cNvSpPr/>
          <p:nvPr/>
        </p:nvSpPr>
        <p:spPr>
          <a:xfrm>
            <a:off x="1920240" y="3246120"/>
            <a:ext cx="1143000" cy="640080"/>
          </a:xfrm>
          <a:prstGeom prst="roundRect">
            <a:avLst/>
          </a:prstGeom>
          <a:solidFill>
            <a:srgbClr val="111111"/>
          </a:solidFill>
          <a:ln w="1016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mesh-node-4"/>
          <p:cNvSpPr/>
          <p:nvPr/>
        </p:nvSpPr>
        <p:spPr>
          <a:xfrm>
            <a:off x="3886200" y="2907792"/>
            <a:ext cx="1143000" cy="640080"/>
          </a:xfrm>
          <a:prstGeom prst="roundRect">
            <a:avLst/>
          </a:prstGeom>
          <a:solidFill>
            <a:srgbClr val="E8000D"/>
          </a:solidFill>
          <a:ln w="10160">
            <a:solidFill>
              <a:srgbClr val="E800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mesh-node-5"/>
          <p:cNvSpPr/>
          <p:nvPr/>
        </p:nvSpPr>
        <p:spPr>
          <a:xfrm>
            <a:off x="5806440" y="3246120"/>
            <a:ext cx="1143000" cy="640080"/>
          </a:xfrm>
          <a:prstGeom prst="roundRect">
            <a:avLst/>
          </a:prstGeom>
          <a:solidFill>
            <a:srgbClr val="E8000D"/>
          </a:solidFill>
          <a:ln w="10160">
            <a:solidFill>
              <a:srgbClr val="E800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mesh-node-6"/>
          <p:cNvSpPr/>
          <p:nvPr/>
        </p:nvSpPr>
        <p:spPr>
          <a:xfrm>
            <a:off x="2880360" y="4572000"/>
            <a:ext cx="1143000" cy="640080"/>
          </a:xfrm>
          <a:prstGeom prst="roundRect">
            <a:avLst/>
          </a:prstGeom>
          <a:solidFill>
            <a:srgbClr val="E8000D"/>
          </a:solidFill>
          <a:ln w="10160">
            <a:solidFill>
              <a:srgbClr val="E800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mesh-node-7"/>
          <p:cNvSpPr/>
          <p:nvPr/>
        </p:nvSpPr>
        <p:spPr>
          <a:xfrm>
            <a:off x="4800600" y="4572000"/>
            <a:ext cx="1143000" cy="640080"/>
          </a:xfrm>
          <a:prstGeom prst="roundRect">
            <a:avLst/>
          </a:prstGeom>
          <a:solidFill>
            <a:srgbClr val="111111"/>
          </a:solidFill>
          <a:ln w="1016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race-badge-0"/>
          <p:cNvSpPr/>
          <p:nvPr/>
        </p:nvSpPr>
        <p:spPr>
          <a:xfrm>
            <a:off x="8357616" y="1682496"/>
            <a:ext cx="438912" cy="347472"/>
          </a:xfrm>
          <a:prstGeom prst="roundRect">
            <a:avLst/>
          </a:prstGeom>
          <a:solidFill>
            <a:srgbClr val="E8000D"/>
          </a:solidFill>
          <a:ln w="10160">
            <a:solidFill>
              <a:srgbClr val="E800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race-badge-1"/>
          <p:cNvSpPr/>
          <p:nvPr/>
        </p:nvSpPr>
        <p:spPr>
          <a:xfrm>
            <a:off x="8357616" y="2249424"/>
            <a:ext cx="438912" cy="347472"/>
          </a:xfrm>
          <a:prstGeom prst="roundRect">
            <a:avLst/>
          </a:prstGeom>
          <a:solidFill>
            <a:srgbClr val="111111"/>
          </a:solidFill>
          <a:ln w="1016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race-badge-2"/>
          <p:cNvSpPr/>
          <p:nvPr/>
        </p:nvSpPr>
        <p:spPr>
          <a:xfrm>
            <a:off x="8357616" y="2816352"/>
            <a:ext cx="438912" cy="347472"/>
          </a:xfrm>
          <a:prstGeom prst="roundRect">
            <a:avLst/>
          </a:prstGeom>
          <a:solidFill>
            <a:srgbClr val="E8000D"/>
          </a:solidFill>
          <a:ln w="10160">
            <a:solidFill>
              <a:srgbClr val="E800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race-badge-3"/>
          <p:cNvSpPr/>
          <p:nvPr/>
        </p:nvSpPr>
        <p:spPr>
          <a:xfrm>
            <a:off x="8357616" y="3383280"/>
            <a:ext cx="438912" cy="347472"/>
          </a:xfrm>
          <a:prstGeom prst="roundRect">
            <a:avLst/>
          </a:prstGeom>
          <a:solidFill>
            <a:srgbClr val="E8000D"/>
          </a:solidFill>
          <a:ln w="10160">
            <a:solidFill>
              <a:srgbClr val="E800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race-badge-4"/>
          <p:cNvSpPr/>
          <p:nvPr/>
        </p:nvSpPr>
        <p:spPr>
          <a:xfrm>
            <a:off x="8357616" y="3950208"/>
            <a:ext cx="438912" cy="347472"/>
          </a:xfrm>
          <a:prstGeom prst="roundRect">
            <a:avLst/>
          </a:prstGeom>
          <a:solidFill>
            <a:srgbClr val="111111"/>
          </a:solidFill>
          <a:ln w="1016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race-badge-5"/>
          <p:cNvSpPr/>
          <p:nvPr/>
        </p:nvSpPr>
        <p:spPr>
          <a:xfrm>
            <a:off x="8357616" y="4517136"/>
            <a:ext cx="438912" cy="347472"/>
          </a:xfrm>
          <a:prstGeom prst="roundRect">
            <a:avLst/>
          </a:prstGeom>
          <a:solidFill>
            <a:srgbClr val="E8000D"/>
          </a:solidFill>
          <a:ln w="10160">
            <a:solidFill>
              <a:srgbClr val="E800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profile-tag"/>
          <p:cNvSpPr txBox="1"/>
          <p:nvPr/>
        </p:nvSpPr>
        <p:spPr>
          <a:xfrm>
            <a:off x="457200" y="201168"/>
            <a:ext cx="768096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1" lang="en-US">
                <a:solidFill>
                  <a:srgbClr val="E8000D"/>
                </a:solidFill>
                <a:latin typeface="Arial"/>
              </a:rPr>
              <a:t>V3 STRESS SUITE  ·  SWISS INTERNATIONAL  ·  EVIDENCE MESH</a:t>
            </a:r>
          </a:p>
        </p:txBody>
      </p:sp>
      <p:sp>
        <p:nvSpPr>
          <p:cNvPr id="45" name="slide-index"/>
          <p:cNvSpPr txBox="1"/>
          <p:nvPr/>
        </p:nvSpPr>
        <p:spPr>
          <a:xfrm>
            <a:off x="10808208" y="201168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00" b="1" lang="en-US">
                <a:solidFill>
                  <a:srgbClr val="444444"/>
                </a:solidFill>
                <a:latin typeface="Arial"/>
              </a:rPr>
              <a:t>22/60</a:t>
            </a:r>
          </a:p>
        </p:txBody>
      </p:sp>
      <p:sp>
        <p:nvSpPr>
          <p:cNvPr id="46" name="title"/>
          <p:cNvSpPr txBox="1"/>
          <p:nvPr/>
        </p:nvSpPr>
        <p:spPr>
          <a:xfrm>
            <a:off x="457200" y="484632"/>
            <a:ext cx="11274552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200" b="1" lang="en-US">
                <a:solidFill>
                  <a:srgbClr val="111111"/>
                </a:solidFill>
                <a:latin typeface="Arial"/>
              </a:rPr>
              <a:t>Evidence meshes preserve traceability across a dense editable graph</a:t>
            </a:r>
          </a:p>
        </p:txBody>
      </p:sp>
      <p:sp>
        <p:nvSpPr>
          <p:cNvPr id="47" name="footer"/>
          <p:cNvSpPr txBox="1"/>
          <p:nvPr/>
        </p:nvSpPr>
        <p:spPr>
          <a:xfrm>
            <a:off x="457200" y="6473952"/>
            <a:ext cx="1051560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0" lang="en-US">
                <a:solidFill>
                  <a:srgbClr val="444444"/>
                </a:solidFill>
                <a:latin typeface="Arial"/>
              </a:rPr>
              <a:t>Native-object stress fixture · strict grid, left red rule, and functional black typography · editable geometry and recorded style lock</a:t>
            </a:r>
          </a:p>
        </p:txBody>
      </p:sp>
      <p:sp>
        <p:nvSpPr>
          <p:cNvPr id="48" name="mesh-title"/>
          <p:cNvSpPr txBox="1"/>
          <p:nvPr/>
        </p:nvSpPr>
        <p:spPr>
          <a:xfrm>
            <a:off x="713232" y="1298448"/>
            <a:ext cx="320040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1" lang="en-US">
                <a:solidFill>
                  <a:srgbClr val="E8000D"/>
                </a:solidFill>
                <a:latin typeface="Arial"/>
              </a:rPr>
              <a:t>EVIDENCE ROUTING MESH</a:t>
            </a:r>
          </a:p>
        </p:txBody>
      </p:sp>
      <p:sp>
        <p:nvSpPr>
          <p:cNvPr id="49" name="mesh-label-0"/>
          <p:cNvSpPr txBox="1"/>
          <p:nvPr/>
        </p:nvSpPr>
        <p:spPr>
          <a:xfrm>
            <a:off x="1143000" y="2139696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lang="en-US">
                <a:solidFill>
                  <a:srgbClr val="FFFFFF"/>
                </a:solidFill>
                <a:latin typeface="Arial"/>
              </a:rPr>
              <a:t>Request</a:t>
            </a:r>
          </a:p>
        </p:txBody>
      </p:sp>
      <p:sp>
        <p:nvSpPr>
          <p:cNvPr id="50" name="mesh-label-1"/>
          <p:cNvSpPr txBox="1"/>
          <p:nvPr/>
        </p:nvSpPr>
        <p:spPr>
          <a:xfrm>
            <a:off x="2971800" y="1819656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lang="en-US">
                <a:solidFill>
                  <a:srgbClr val="FFFFFF"/>
                </a:solidFill>
                <a:latin typeface="Arial"/>
              </a:rPr>
              <a:t>Profile</a:t>
            </a:r>
          </a:p>
        </p:txBody>
      </p:sp>
      <p:sp>
        <p:nvSpPr>
          <p:cNvPr id="51" name="mesh-label-2"/>
          <p:cNvSpPr txBox="1"/>
          <p:nvPr/>
        </p:nvSpPr>
        <p:spPr>
          <a:xfrm>
            <a:off x="4892040" y="2139696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lang="en-US">
                <a:solidFill>
                  <a:srgbClr val="FFFFFF"/>
                </a:solidFill>
                <a:latin typeface="Arial"/>
              </a:rPr>
              <a:t>Source</a:t>
            </a:r>
          </a:p>
        </p:txBody>
      </p:sp>
      <p:sp>
        <p:nvSpPr>
          <p:cNvPr id="52" name="mesh-label-3"/>
          <p:cNvSpPr txBox="1"/>
          <p:nvPr/>
        </p:nvSpPr>
        <p:spPr>
          <a:xfrm>
            <a:off x="2011680" y="3465576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lang="en-US">
                <a:solidFill>
                  <a:srgbClr val="FFFFFF"/>
                </a:solidFill>
                <a:latin typeface="Arial"/>
              </a:rPr>
              <a:t>Spec</a:t>
            </a:r>
          </a:p>
        </p:txBody>
      </p:sp>
      <p:sp>
        <p:nvSpPr>
          <p:cNvPr id="53" name="mesh-label-4"/>
          <p:cNvSpPr txBox="1"/>
          <p:nvPr/>
        </p:nvSpPr>
        <p:spPr>
          <a:xfrm>
            <a:off x="3977639" y="3127248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lang="en-US">
                <a:solidFill>
                  <a:srgbClr val="FFFFFF"/>
                </a:solidFill>
                <a:latin typeface="Arial"/>
              </a:rPr>
              <a:t>Audit</a:t>
            </a:r>
          </a:p>
        </p:txBody>
      </p:sp>
      <p:sp>
        <p:nvSpPr>
          <p:cNvPr id="54" name="mesh-label-5"/>
          <p:cNvSpPr txBox="1"/>
          <p:nvPr/>
        </p:nvSpPr>
        <p:spPr>
          <a:xfrm>
            <a:off x="5897880" y="3465576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lang="en-US">
                <a:solidFill>
                  <a:srgbClr val="FFFFFF"/>
                </a:solidFill>
                <a:latin typeface="Arial"/>
              </a:rPr>
              <a:t>Render</a:t>
            </a:r>
          </a:p>
        </p:txBody>
      </p:sp>
      <p:sp>
        <p:nvSpPr>
          <p:cNvPr id="55" name="mesh-label-6"/>
          <p:cNvSpPr txBox="1"/>
          <p:nvPr/>
        </p:nvSpPr>
        <p:spPr>
          <a:xfrm>
            <a:off x="2971800" y="4791456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lang="en-US">
                <a:solidFill>
                  <a:srgbClr val="FFFFFF"/>
                </a:solidFill>
                <a:latin typeface="Arial"/>
              </a:rPr>
              <a:t>Repair</a:t>
            </a:r>
          </a:p>
        </p:txBody>
      </p:sp>
      <p:sp>
        <p:nvSpPr>
          <p:cNvPr id="56" name="mesh-label-7"/>
          <p:cNvSpPr txBox="1"/>
          <p:nvPr/>
        </p:nvSpPr>
        <p:spPr>
          <a:xfrm>
            <a:off x="4892040" y="4791456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lang="en-US">
                <a:solidFill>
                  <a:srgbClr val="FFFFFF"/>
                </a:solidFill>
                <a:latin typeface="Arial"/>
              </a:rPr>
              <a:t>Ship</a:t>
            </a:r>
          </a:p>
        </p:txBody>
      </p:sp>
      <p:sp>
        <p:nvSpPr>
          <p:cNvPr id="57" name="mesh-rail-title"/>
          <p:cNvSpPr txBox="1"/>
          <p:nvPr/>
        </p:nvSpPr>
        <p:spPr>
          <a:xfrm>
            <a:off x="8357616" y="1298448"/>
            <a:ext cx="265176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1" lang="en-US">
                <a:solidFill>
                  <a:srgbClr val="E8000D"/>
                </a:solidFill>
                <a:latin typeface="Arial"/>
              </a:rPr>
              <a:t>TRACEABILITY</a:t>
            </a:r>
          </a:p>
        </p:txBody>
      </p:sp>
      <p:sp>
        <p:nvSpPr>
          <p:cNvPr id="58" name="trace-number-0"/>
          <p:cNvSpPr txBox="1"/>
          <p:nvPr/>
        </p:nvSpPr>
        <p:spPr>
          <a:xfrm>
            <a:off x="8375904" y="1783080"/>
            <a:ext cx="402336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59" name="trace-label-0"/>
          <p:cNvSpPr txBox="1"/>
          <p:nvPr/>
        </p:nvSpPr>
        <p:spPr>
          <a:xfrm>
            <a:off x="8979408" y="173736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1" lang="en-US">
                <a:solidFill>
                  <a:srgbClr val="111111"/>
                </a:solidFill>
                <a:latin typeface="Arial"/>
              </a:rPr>
              <a:t>Intent</a:t>
            </a:r>
          </a:p>
        </p:txBody>
      </p:sp>
      <p:sp>
        <p:nvSpPr>
          <p:cNvPr id="60" name="trace-number-1"/>
          <p:cNvSpPr txBox="1"/>
          <p:nvPr/>
        </p:nvSpPr>
        <p:spPr>
          <a:xfrm>
            <a:off x="8375904" y="2350008"/>
            <a:ext cx="402336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61" name="trace-label-1"/>
          <p:cNvSpPr txBox="1"/>
          <p:nvPr/>
        </p:nvSpPr>
        <p:spPr>
          <a:xfrm>
            <a:off x="8979408" y="2304288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1" lang="en-US">
                <a:solidFill>
                  <a:srgbClr val="111111"/>
                </a:solidFill>
                <a:latin typeface="Arial"/>
              </a:rPr>
              <a:t>Profile lock</a:t>
            </a:r>
          </a:p>
        </p:txBody>
      </p:sp>
      <p:sp>
        <p:nvSpPr>
          <p:cNvPr id="62" name="trace-number-2"/>
          <p:cNvSpPr txBox="1"/>
          <p:nvPr/>
        </p:nvSpPr>
        <p:spPr>
          <a:xfrm>
            <a:off x="8375904" y="2916936"/>
            <a:ext cx="402336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63" name="trace-label-2"/>
          <p:cNvSpPr txBox="1"/>
          <p:nvPr/>
        </p:nvSpPr>
        <p:spPr>
          <a:xfrm>
            <a:off x="8979408" y="2871216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1" lang="en-US">
                <a:solidFill>
                  <a:srgbClr val="111111"/>
                </a:solidFill>
                <a:latin typeface="Arial"/>
              </a:rPr>
              <a:t>Object spec</a:t>
            </a:r>
          </a:p>
        </p:txBody>
      </p:sp>
      <p:sp>
        <p:nvSpPr>
          <p:cNvPr id="64" name="trace-number-3"/>
          <p:cNvSpPr txBox="1"/>
          <p:nvPr/>
        </p:nvSpPr>
        <p:spPr>
          <a:xfrm>
            <a:off x="8375904" y="3483864"/>
            <a:ext cx="402336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FFFFFF"/>
                </a:solidFill>
                <a:latin typeface="Arial"/>
              </a:rPr>
              <a:t>04</a:t>
            </a:r>
          </a:p>
        </p:txBody>
      </p:sp>
      <p:sp>
        <p:nvSpPr>
          <p:cNvPr id="65" name="trace-label-3"/>
          <p:cNvSpPr txBox="1"/>
          <p:nvPr/>
        </p:nvSpPr>
        <p:spPr>
          <a:xfrm>
            <a:off x="8979408" y="3438144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1" lang="en-US">
                <a:solidFill>
                  <a:srgbClr val="111111"/>
                </a:solidFill>
                <a:latin typeface="Arial"/>
              </a:rPr>
              <a:t>Quality gate</a:t>
            </a:r>
          </a:p>
        </p:txBody>
      </p:sp>
      <p:sp>
        <p:nvSpPr>
          <p:cNvPr id="66" name="trace-number-4"/>
          <p:cNvSpPr txBox="1"/>
          <p:nvPr/>
        </p:nvSpPr>
        <p:spPr>
          <a:xfrm>
            <a:off x="8375904" y="4050791"/>
            <a:ext cx="402336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FFFFFF"/>
                </a:solidFill>
                <a:latin typeface="Arial"/>
              </a:rPr>
              <a:t>05</a:t>
            </a:r>
          </a:p>
        </p:txBody>
      </p:sp>
      <p:sp>
        <p:nvSpPr>
          <p:cNvPr id="67" name="trace-label-4"/>
          <p:cNvSpPr txBox="1"/>
          <p:nvPr/>
        </p:nvSpPr>
        <p:spPr>
          <a:xfrm>
            <a:off x="8979408" y="400507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1" lang="en-US">
                <a:solidFill>
                  <a:srgbClr val="111111"/>
                </a:solidFill>
                <a:latin typeface="Arial"/>
              </a:rPr>
              <a:t>Repair trace</a:t>
            </a:r>
          </a:p>
        </p:txBody>
      </p:sp>
      <p:sp>
        <p:nvSpPr>
          <p:cNvPr id="68" name="trace-number-5"/>
          <p:cNvSpPr txBox="1"/>
          <p:nvPr/>
        </p:nvSpPr>
        <p:spPr>
          <a:xfrm>
            <a:off x="8375904" y="4617720"/>
            <a:ext cx="402336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FFFFFF"/>
                </a:solidFill>
                <a:latin typeface="Arial"/>
              </a:rPr>
              <a:t>06</a:t>
            </a:r>
          </a:p>
        </p:txBody>
      </p:sp>
      <p:sp>
        <p:nvSpPr>
          <p:cNvPr id="69" name="trace-label-5"/>
          <p:cNvSpPr txBox="1"/>
          <p:nvPr/>
        </p:nvSpPr>
        <p:spPr>
          <a:xfrm>
            <a:off x="8979408" y="457200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1" lang="en-US">
                <a:solidFill>
                  <a:srgbClr val="111111"/>
                </a:solidFill>
                <a:latin typeface="Arial"/>
              </a:rPr>
              <a:t>Artifact</a:t>
            </a:r>
          </a:p>
        </p:txBody>
      </p:sp>
      <p:sp>
        <p:nvSpPr>
          <p:cNvPr id="70" name="mesh-note"/>
          <p:cNvSpPr txBox="1"/>
          <p:nvPr/>
        </p:nvSpPr>
        <p:spPr>
          <a:xfrm>
            <a:off x="8357616" y="5321808"/>
            <a:ext cx="2834640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00" b="0" lang="en-US">
                <a:solidFill>
                  <a:srgbClr val="444444"/>
                </a:solidFill>
                <a:latin typeface="Arial"/>
              </a:rPr>
              <a:t>Fourteen editable links prove dense graph routing and layering.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wiss-rule"/>
          <p:cNvSpPr/>
          <p:nvPr/>
        </p:nvSpPr>
        <p:spPr>
          <a:xfrm>
            <a:off x="164592" y="0"/>
            <a:ext cx="91440" cy="6858000"/>
          </a:xfrm>
          <a:prstGeom prst="rect">
            <a:avLst/>
          </a:prstGeom>
          <a:solidFill>
            <a:srgbClr val="E8000D"/>
          </a:solidFill>
          <a:ln w="10160">
            <a:solidFill>
              <a:srgbClr val="E800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wiss-divider"/>
          <p:cNvSpPr/>
          <p:nvPr/>
        </p:nvSpPr>
        <p:spPr>
          <a:xfrm>
            <a:off x="457200" y="969264"/>
            <a:ext cx="11274552" cy="22860"/>
          </a:xfrm>
          <a:prstGeom prst="rect">
            <a:avLst/>
          </a:prstGeom>
          <a:solidFill>
            <a:srgbClr val="DDDDDD"/>
          </a:solidFill>
          <a:ln w="1016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op-band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000D"/>
          </a:solidFill>
          <a:ln w="10160">
            <a:solidFill>
              <a:srgbClr val="E800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matrix-rail-shell"/>
          <p:cNvSpPr/>
          <p:nvPr/>
        </p:nvSpPr>
        <p:spPr>
          <a:xfrm>
            <a:off x="8823960" y="1143000"/>
            <a:ext cx="2907792" cy="4443984"/>
          </a:xfrm>
          <a:prstGeom prst="rect">
            <a:avLst/>
          </a:prstGeom>
          <a:solidFill>
            <a:srgbClr val="FAFAFA"/>
          </a:solidFill>
          <a:ln w="1016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matrix-rail-accent"/>
          <p:cNvSpPr/>
          <p:nvPr/>
        </p:nvSpPr>
        <p:spPr>
          <a:xfrm>
            <a:off x="8823960" y="1143000"/>
            <a:ext cx="73152" cy="4443984"/>
          </a:xfrm>
          <a:prstGeom prst="rect">
            <a:avLst/>
          </a:prstGeom>
          <a:solidFill>
            <a:srgbClr val="E8000D"/>
          </a:solidFill>
          <a:ln w="10160">
            <a:solidFill>
              <a:srgbClr val="E800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adar-ring-0.45"/>
          <p:cNvSpPr/>
          <p:nvPr/>
        </p:nvSpPr>
        <p:spPr>
          <a:xfrm>
            <a:off x="9866376" y="2834640"/>
            <a:ext cx="822960" cy="822960"/>
          </a:xfrm>
          <a:prstGeom prst="ellipse">
            <a:avLst/>
          </a:prstGeom>
          <a:solidFill>
            <a:srgbClr val="FAFAFA"/>
          </a:solidFill>
          <a:ln w="1016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adar-ring-0.85"/>
          <p:cNvSpPr/>
          <p:nvPr/>
        </p:nvSpPr>
        <p:spPr>
          <a:xfrm>
            <a:off x="9500616" y="2468880"/>
            <a:ext cx="1554480" cy="1554480"/>
          </a:xfrm>
          <a:prstGeom prst="ellipse">
            <a:avLst/>
          </a:prstGeom>
          <a:solidFill>
            <a:srgbClr val="FAFAFA"/>
          </a:solidFill>
          <a:ln w="1016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adar-ring-1.25"/>
          <p:cNvSpPr/>
          <p:nvPr/>
        </p:nvSpPr>
        <p:spPr>
          <a:xfrm>
            <a:off x="9134856" y="2103120"/>
            <a:ext cx="2286000" cy="2286000"/>
          </a:xfrm>
          <a:prstGeom prst="ellipse">
            <a:avLst/>
          </a:prstGeom>
          <a:solidFill>
            <a:srgbClr val="FAFAFA"/>
          </a:solidFill>
          <a:ln w="1016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radar-axis-0"/>
          <p:cNvCxnSpPr/>
          <p:nvPr/>
        </p:nvCxnSpPr>
        <p:spPr>
          <a:xfrm flipV="1">
            <a:off x="10277856" y="1828799"/>
            <a:ext cx="0" cy="1417321"/>
          </a:xfrm>
          <a:prstGeom prst="line">
            <a:avLst/>
          </a:prstGeom>
          <a:ln w="1397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radar-axis-1"/>
          <p:cNvCxnSpPr/>
          <p:nvPr/>
        </p:nvCxnSpPr>
        <p:spPr>
          <a:xfrm flipV="1">
            <a:off x="10277856" y="2537460"/>
            <a:ext cx="1227435" cy="708660"/>
          </a:xfrm>
          <a:prstGeom prst="line">
            <a:avLst/>
          </a:prstGeom>
          <a:ln w="1397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radar-axis-2"/>
          <p:cNvCxnSpPr/>
          <p:nvPr/>
        </p:nvCxnSpPr>
        <p:spPr>
          <a:xfrm>
            <a:off x="10277856" y="3246120"/>
            <a:ext cx="1227435" cy="708659"/>
          </a:xfrm>
          <a:prstGeom prst="line">
            <a:avLst/>
          </a:prstGeom>
          <a:ln w="1397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radar-axis-3"/>
          <p:cNvCxnSpPr/>
          <p:nvPr/>
        </p:nvCxnSpPr>
        <p:spPr>
          <a:xfrm>
            <a:off x="10277856" y="3246120"/>
            <a:ext cx="0" cy="1417320"/>
          </a:xfrm>
          <a:prstGeom prst="line">
            <a:avLst/>
          </a:prstGeom>
          <a:ln w="1397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radar-axis-4"/>
          <p:cNvCxnSpPr/>
          <p:nvPr/>
        </p:nvCxnSpPr>
        <p:spPr>
          <a:xfrm flipH="1">
            <a:off x="9050420" y="3246120"/>
            <a:ext cx="1227436" cy="708659"/>
          </a:xfrm>
          <a:prstGeom prst="line">
            <a:avLst/>
          </a:prstGeom>
          <a:ln w="1397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radar-axis-5"/>
          <p:cNvCxnSpPr/>
          <p:nvPr/>
        </p:nvCxnSpPr>
        <p:spPr>
          <a:xfrm flipH="1" flipV="1">
            <a:off x="9050420" y="2537459"/>
            <a:ext cx="1227436" cy="708661"/>
          </a:xfrm>
          <a:prstGeom prst="line">
            <a:avLst/>
          </a:prstGeom>
          <a:ln w="1397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flow-link-0"/>
          <p:cNvCxnSpPr/>
          <p:nvPr/>
        </p:nvCxnSpPr>
        <p:spPr>
          <a:xfrm>
            <a:off x="2066543" y="5934456"/>
            <a:ext cx="265177" cy="0"/>
          </a:xfrm>
          <a:prstGeom prst="line">
            <a:avLst/>
          </a:prstGeom>
          <a:ln w="13970">
            <a:solidFill>
              <a:srgbClr val="E8000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flow-link-1"/>
          <p:cNvCxnSpPr/>
          <p:nvPr/>
        </p:nvCxnSpPr>
        <p:spPr>
          <a:xfrm>
            <a:off x="3959352" y="5934456"/>
            <a:ext cx="265175" cy="0"/>
          </a:xfrm>
          <a:prstGeom prst="line">
            <a:avLst/>
          </a:prstGeom>
          <a:ln w="1397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flow-link-2"/>
          <p:cNvCxnSpPr/>
          <p:nvPr/>
        </p:nvCxnSpPr>
        <p:spPr>
          <a:xfrm>
            <a:off x="5852159" y="5934456"/>
            <a:ext cx="265177" cy="0"/>
          </a:xfrm>
          <a:prstGeom prst="line">
            <a:avLst/>
          </a:prstGeom>
          <a:ln w="13970">
            <a:solidFill>
              <a:srgbClr val="E8000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flow-link-3"/>
          <p:cNvCxnSpPr/>
          <p:nvPr/>
        </p:nvCxnSpPr>
        <p:spPr>
          <a:xfrm>
            <a:off x="7744967" y="5934456"/>
            <a:ext cx="265176" cy="0"/>
          </a:xfrm>
          <a:prstGeom prst="line">
            <a:avLst/>
          </a:prstGeom>
          <a:ln w="13970">
            <a:solidFill>
              <a:srgbClr val="E8000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flow-link-4"/>
          <p:cNvCxnSpPr/>
          <p:nvPr/>
        </p:nvCxnSpPr>
        <p:spPr>
          <a:xfrm>
            <a:off x="9637776" y="5934456"/>
            <a:ext cx="265175" cy="0"/>
          </a:xfrm>
          <a:prstGeom prst="line">
            <a:avLst/>
          </a:prstGeom>
          <a:ln w="1397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2" name="operating-table"/>
          <p:cNvGraphicFramePr>
            <a:graphicFrameLocks noGrp="1"/>
          </p:cNvGraphicFramePr>
          <p:nvPr/>
        </p:nvGraphicFramePr>
        <p:xfrm>
          <a:off x="457200" y="1143000"/>
          <a:ext cx="8092440" cy="44439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8740"/>
                <a:gridCol w="1348740"/>
                <a:gridCol w="1348740"/>
                <a:gridCol w="1348740"/>
                <a:gridCol w="1348740"/>
                <a:gridCol w="1348740"/>
              </a:tblGrid>
              <a:tr h="444398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FFFFFF"/>
                          </a:solidFill>
                          <a:latin typeface="Arial"/>
                        </a:rPr>
                        <a:t>Workstream</a:t>
                      </a:r>
                    </a:p>
                  </a:txBody>
                  <a:tcPr marL="54864" marR="54864" marT="18288" marB="18288">
                    <a:solidFill>
                      <a:srgbClr val="E8000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FFFFFF"/>
                          </a:solidFill>
                          <a:latin typeface="Arial"/>
                        </a:rPr>
                        <a:t>Profile</a:t>
                      </a:r>
                    </a:p>
                  </a:txBody>
                  <a:tcPr marL="54864" marR="54864" marT="18288" marB="18288">
                    <a:solidFill>
                      <a:srgbClr val="E8000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FFFFFF"/>
                          </a:solidFill>
                          <a:latin typeface="Arial"/>
                        </a:rPr>
                        <a:t>Structure</a:t>
                      </a:r>
                    </a:p>
                  </a:txBody>
                  <a:tcPr marL="54864" marR="54864" marT="18288" marB="18288">
                    <a:solidFill>
                      <a:srgbClr val="E8000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FFFFFF"/>
                          </a:solidFill>
                          <a:latin typeface="Arial"/>
                        </a:rPr>
                        <a:t>Density</a:t>
                      </a:r>
                    </a:p>
                  </a:txBody>
                  <a:tcPr marL="54864" marR="54864" marT="18288" marB="18288">
                    <a:solidFill>
                      <a:srgbClr val="E8000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FFFFFF"/>
                          </a:solidFill>
                          <a:latin typeface="Arial"/>
                        </a:rPr>
                        <a:t>Gate</a:t>
                      </a:r>
                    </a:p>
                  </a:txBody>
                  <a:tcPr marL="54864" marR="54864" marT="18288" marB="18288">
                    <a:solidFill>
                      <a:srgbClr val="E8000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FFFFFF"/>
                          </a:solidFill>
                          <a:latin typeface="Arial"/>
                        </a:rPr>
                        <a:t>Owner</a:t>
                      </a:r>
                    </a:p>
                  </a:txBody>
                  <a:tcPr marL="54864" marR="54864" marT="18288" marB="18288">
                    <a:solidFill>
                      <a:srgbClr val="E8000D"/>
                    </a:solidFill>
                  </a:tcPr>
                </a:tc>
              </a:tr>
              <a:tr h="444398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111111"/>
                          </a:solidFill>
                          <a:latin typeface="Arial"/>
                        </a:rPr>
                        <a:t>W-01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11111"/>
                          </a:solidFill>
                          <a:latin typeface="Arial"/>
                        </a:rPr>
                        <a:t>Ember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11111"/>
                          </a:solidFill>
                          <a:latin typeface="Arial"/>
                        </a:rPr>
                        <a:t>Mesh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11111"/>
                          </a:solidFill>
                          <a:latin typeface="Arial"/>
                        </a:rPr>
                        <a:t>Dense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11111"/>
                          </a:solidFill>
                          <a:latin typeface="Arial"/>
                        </a:rPr>
                        <a:t>Watch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11111"/>
                          </a:solidFill>
                          <a:latin typeface="Arial"/>
                        </a:rPr>
                        <a:t>R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44398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111111"/>
                          </a:solidFill>
                          <a:latin typeface="Arial"/>
                        </a:rPr>
                        <a:t>W-02</a:t>
                      </a:r>
                    </a:p>
                  </a:txBody>
                  <a:tcPr marL="54864" marR="54864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11111"/>
                          </a:solidFill>
                          <a:latin typeface="Arial"/>
                        </a:rPr>
                        <a:t>Signal</a:t>
                      </a:r>
                    </a:p>
                  </a:txBody>
                  <a:tcPr marL="54864" marR="54864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11111"/>
                          </a:solidFill>
                          <a:latin typeface="Arial"/>
                        </a:rPr>
                        <a:t>Matrix</a:t>
                      </a:r>
                    </a:p>
                  </a:txBody>
                  <a:tcPr marL="54864" marR="54864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11111"/>
                          </a:solidFill>
                          <a:latin typeface="Arial"/>
                        </a:rPr>
                        <a:t>Layered</a:t>
                      </a:r>
                    </a:p>
                  </a:txBody>
                  <a:tcPr marL="54864" marR="54864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11111"/>
                          </a:solidFill>
                          <a:latin typeface="Arial"/>
                        </a:rPr>
                        <a:t>Repair</a:t>
                      </a:r>
                    </a:p>
                  </a:txBody>
                  <a:tcPr marL="54864" marR="54864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11111"/>
                          </a:solidFill>
                          <a:latin typeface="Arial"/>
                        </a:rPr>
                        <a:t>C</a:t>
                      </a:r>
                    </a:p>
                  </a:txBody>
                  <a:tcPr marL="54864" marR="54864" marT="18288" marB="18288">
                    <a:solidFill>
                      <a:srgbClr val="FAFAFA"/>
                    </a:solidFill>
                  </a:tcPr>
                </a:tc>
              </a:tr>
              <a:tr h="444398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111111"/>
                          </a:solidFill>
                          <a:latin typeface="Arial"/>
                        </a:rPr>
                        <a:t>W-03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11111"/>
                          </a:solidFill>
                          <a:latin typeface="Arial"/>
                        </a:rPr>
                        <a:t>Grove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11111"/>
                          </a:solidFill>
                          <a:latin typeface="Arial"/>
                        </a:rPr>
                        <a:t>Board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11111"/>
                          </a:solidFill>
                          <a:latin typeface="Arial"/>
                        </a:rPr>
                        <a:t>Packed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11111"/>
                          </a:solidFill>
                          <a:latin typeface="Arial"/>
                        </a:rPr>
                        <a:t>Pass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11111"/>
                          </a:solidFill>
                          <a:latin typeface="Arial"/>
                        </a:rPr>
                        <a:t>I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44398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111111"/>
                          </a:solidFill>
                          <a:latin typeface="Arial"/>
                        </a:rPr>
                        <a:t>W-04</a:t>
                      </a:r>
                    </a:p>
                  </a:txBody>
                  <a:tcPr marL="54864" marR="54864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11111"/>
                          </a:solidFill>
                          <a:latin typeface="Arial"/>
                        </a:rPr>
                        <a:t>Atlas</a:t>
                      </a:r>
                    </a:p>
                  </a:txBody>
                  <a:tcPr marL="54864" marR="54864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11111"/>
                          </a:solidFill>
                          <a:latin typeface="Arial"/>
                        </a:rPr>
                        <a:t>Cards</a:t>
                      </a:r>
                    </a:p>
                  </a:txBody>
                  <a:tcPr marL="54864" marR="54864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11111"/>
                          </a:solidFill>
                          <a:latin typeface="Arial"/>
                        </a:rPr>
                        <a:t>High</a:t>
                      </a:r>
                    </a:p>
                  </a:txBody>
                  <a:tcPr marL="54864" marR="54864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11111"/>
                          </a:solidFill>
                          <a:latin typeface="Arial"/>
                        </a:rPr>
                        <a:t>Pass</a:t>
                      </a:r>
                    </a:p>
                  </a:txBody>
                  <a:tcPr marL="54864" marR="54864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11111"/>
                          </a:solidFill>
                          <a:latin typeface="Arial"/>
                        </a:rPr>
                        <a:t>A</a:t>
                      </a:r>
                    </a:p>
                  </a:txBody>
                  <a:tcPr marL="54864" marR="54864" marT="18288" marB="18288">
                    <a:solidFill>
                      <a:srgbClr val="FAFAFA"/>
                    </a:solidFill>
                  </a:tcPr>
                </a:tc>
              </a:tr>
              <a:tr h="444398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111111"/>
                          </a:solidFill>
                          <a:latin typeface="Arial"/>
                        </a:rPr>
                        <a:t>W-05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11111"/>
                          </a:solidFill>
                          <a:latin typeface="Arial"/>
                        </a:rPr>
                        <a:t>Ember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11111"/>
                          </a:solidFill>
                          <a:latin typeface="Arial"/>
                        </a:rPr>
                        <a:t>Mesh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11111"/>
                          </a:solidFill>
                          <a:latin typeface="Arial"/>
                        </a:rPr>
                        <a:t>Dense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11111"/>
                          </a:solidFill>
                          <a:latin typeface="Arial"/>
                        </a:rPr>
                        <a:t>Watch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11111"/>
                          </a:solidFill>
                          <a:latin typeface="Arial"/>
                        </a:rPr>
                        <a:t>R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44398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111111"/>
                          </a:solidFill>
                          <a:latin typeface="Arial"/>
                        </a:rPr>
                        <a:t>W-06</a:t>
                      </a:r>
                    </a:p>
                  </a:txBody>
                  <a:tcPr marL="54864" marR="54864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11111"/>
                          </a:solidFill>
                          <a:latin typeface="Arial"/>
                        </a:rPr>
                        <a:t>Signal</a:t>
                      </a:r>
                    </a:p>
                  </a:txBody>
                  <a:tcPr marL="54864" marR="54864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11111"/>
                          </a:solidFill>
                          <a:latin typeface="Arial"/>
                        </a:rPr>
                        <a:t>Matrix</a:t>
                      </a:r>
                    </a:p>
                  </a:txBody>
                  <a:tcPr marL="54864" marR="54864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11111"/>
                          </a:solidFill>
                          <a:latin typeface="Arial"/>
                        </a:rPr>
                        <a:t>Layered</a:t>
                      </a:r>
                    </a:p>
                  </a:txBody>
                  <a:tcPr marL="54864" marR="54864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11111"/>
                          </a:solidFill>
                          <a:latin typeface="Arial"/>
                        </a:rPr>
                        <a:t>Repair</a:t>
                      </a:r>
                    </a:p>
                  </a:txBody>
                  <a:tcPr marL="54864" marR="54864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11111"/>
                          </a:solidFill>
                          <a:latin typeface="Arial"/>
                        </a:rPr>
                        <a:t>C</a:t>
                      </a:r>
                    </a:p>
                  </a:txBody>
                  <a:tcPr marL="54864" marR="54864" marT="18288" marB="18288">
                    <a:solidFill>
                      <a:srgbClr val="FAFAFA"/>
                    </a:solidFill>
                  </a:tcPr>
                </a:tc>
              </a:tr>
              <a:tr h="444398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111111"/>
                          </a:solidFill>
                          <a:latin typeface="Arial"/>
                        </a:rPr>
                        <a:t>W-07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11111"/>
                          </a:solidFill>
                          <a:latin typeface="Arial"/>
                        </a:rPr>
                        <a:t>Grove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11111"/>
                          </a:solidFill>
                          <a:latin typeface="Arial"/>
                        </a:rPr>
                        <a:t>Board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11111"/>
                          </a:solidFill>
                          <a:latin typeface="Arial"/>
                        </a:rPr>
                        <a:t>Packed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11111"/>
                          </a:solidFill>
                          <a:latin typeface="Arial"/>
                        </a:rPr>
                        <a:t>Pass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11111"/>
                          </a:solidFill>
                          <a:latin typeface="Arial"/>
                        </a:rPr>
                        <a:t>I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44398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111111"/>
                          </a:solidFill>
                          <a:latin typeface="Arial"/>
                        </a:rPr>
                        <a:t>W-08</a:t>
                      </a:r>
                    </a:p>
                  </a:txBody>
                  <a:tcPr marL="54864" marR="54864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11111"/>
                          </a:solidFill>
                          <a:latin typeface="Arial"/>
                        </a:rPr>
                        <a:t>Atlas</a:t>
                      </a:r>
                    </a:p>
                  </a:txBody>
                  <a:tcPr marL="54864" marR="54864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11111"/>
                          </a:solidFill>
                          <a:latin typeface="Arial"/>
                        </a:rPr>
                        <a:t>Cards</a:t>
                      </a:r>
                    </a:p>
                  </a:txBody>
                  <a:tcPr marL="54864" marR="54864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11111"/>
                          </a:solidFill>
                          <a:latin typeface="Arial"/>
                        </a:rPr>
                        <a:t>High</a:t>
                      </a:r>
                    </a:p>
                  </a:txBody>
                  <a:tcPr marL="54864" marR="54864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11111"/>
                          </a:solidFill>
                          <a:latin typeface="Arial"/>
                        </a:rPr>
                        <a:t>Pass</a:t>
                      </a:r>
                    </a:p>
                  </a:txBody>
                  <a:tcPr marL="54864" marR="54864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11111"/>
                          </a:solidFill>
                          <a:latin typeface="Arial"/>
                        </a:rPr>
                        <a:t>A</a:t>
                      </a:r>
                    </a:p>
                  </a:txBody>
                  <a:tcPr marL="54864" marR="54864" marT="18288" marB="18288">
                    <a:solidFill>
                      <a:srgbClr val="FAFAFA"/>
                    </a:solidFill>
                  </a:tcPr>
                </a:tc>
              </a:tr>
              <a:tr h="444402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111111"/>
                          </a:solidFill>
                          <a:latin typeface="Arial"/>
                        </a:rPr>
                        <a:t>W-09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11111"/>
                          </a:solidFill>
                          <a:latin typeface="Arial"/>
                        </a:rPr>
                        <a:t>Ember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11111"/>
                          </a:solidFill>
                          <a:latin typeface="Arial"/>
                        </a:rPr>
                        <a:t>Mesh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11111"/>
                          </a:solidFill>
                          <a:latin typeface="Arial"/>
                        </a:rPr>
                        <a:t>Dense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11111"/>
                          </a:solidFill>
                          <a:latin typeface="Arial"/>
                        </a:rPr>
                        <a:t>Watch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11111"/>
                          </a:solidFill>
                          <a:latin typeface="Arial"/>
                        </a:rPr>
                        <a:t>R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flow-0"/>
          <p:cNvSpPr/>
          <p:nvPr/>
        </p:nvSpPr>
        <p:spPr>
          <a:xfrm>
            <a:off x="457200" y="5742432"/>
            <a:ext cx="1600200" cy="3840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800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flow-1"/>
          <p:cNvSpPr/>
          <p:nvPr/>
        </p:nvSpPr>
        <p:spPr>
          <a:xfrm>
            <a:off x="2350008" y="5742432"/>
            <a:ext cx="1600200" cy="3840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low-2"/>
          <p:cNvSpPr/>
          <p:nvPr/>
        </p:nvSpPr>
        <p:spPr>
          <a:xfrm>
            <a:off x="4242816" y="5742432"/>
            <a:ext cx="1600200" cy="3840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800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low-3"/>
          <p:cNvSpPr/>
          <p:nvPr/>
        </p:nvSpPr>
        <p:spPr>
          <a:xfrm>
            <a:off x="6135624" y="5742432"/>
            <a:ext cx="1600200" cy="3840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800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low-4"/>
          <p:cNvSpPr/>
          <p:nvPr/>
        </p:nvSpPr>
        <p:spPr>
          <a:xfrm>
            <a:off x="8028431" y="5742432"/>
            <a:ext cx="1600200" cy="3840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low-5"/>
          <p:cNvSpPr/>
          <p:nvPr/>
        </p:nvSpPr>
        <p:spPr>
          <a:xfrm>
            <a:off x="9921240" y="5742432"/>
            <a:ext cx="1600200" cy="3840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800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profile-tag"/>
          <p:cNvSpPr txBox="1"/>
          <p:nvPr/>
        </p:nvSpPr>
        <p:spPr>
          <a:xfrm>
            <a:off x="457200" y="201168"/>
            <a:ext cx="768096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1" lang="en-US">
                <a:solidFill>
                  <a:srgbClr val="E8000D"/>
                </a:solidFill>
                <a:latin typeface="Arial"/>
              </a:rPr>
              <a:t>V3 STRESS SUITE  ·  SWISS INTERNATIONAL  ·  OPERATING MATRIX</a:t>
            </a:r>
          </a:p>
        </p:txBody>
      </p:sp>
      <p:sp>
        <p:nvSpPr>
          <p:cNvPr id="30" name="slide-index"/>
          <p:cNvSpPr txBox="1"/>
          <p:nvPr/>
        </p:nvSpPr>
        <p:spPr>
          <a:xfrm>
            <a:off x="10808208" y="201168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00" b="1" lang="en-US">
                <a:solidFill>
                  <a:srgbClr val="444444"/>
                </a:solidFill>
                <a:latin typeface="Arial"/>
              </a:rPr>
              <a:t>23/60</a:t>
            </a:r>
          </a:p>
        </p:txBody>
      </p:sp>
      <p:sp>
        <p:nvSpPr>
          <p:cNvPr id="31" name="title"/>
          <p:cNvSpPr txBox="1"/>
          <p:nvPr/>
        </p:nvSpPr>
        <p:spPr>
          <a:xfrm>
            <a:off x="457200" y="484632"/>
            <a:ext cx="11274552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200" b="1" lang="en-US">
                <a:solidFill>
                  <a:srgbClr val="111111"/>
                </a:solidFill>
                <a:latin typeface="Arial"/>
              </a:rPr>
              <a:t>Operating matrices make quality ownership visible at a glance</a:t>
            </a:r>
          </a:p>
        </p:txBody>
      </p:sp>
      <p:sp>
        <p:nvSpPr>
          <p:cNvPr id="32" name="footer"/>
          <p:cNvSpPr txBox="1"/>
          <p:nvPr/>
        </p:nvSpPr>
        <p:spPr>
          <a:xfrm>
            <a:off x="457200" y="6473952"/>
            <a:ext cx="1051560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0" lang="en-US">
                <a:solidFill>
                  <a:srgbClr val="444444"/>
                </a:solidFill>
                <a:latin typeface="Arial"/>
              </a:rPr>
              <a:t>Native-object stress fixture · strict grid, left red rule, and functional black typography · editable geometry and recorded style lock</a:t>
            </a:r>
          </a:p>
        </p:txBody>
      </p:sp>
      <p:sp>
        <p:nvSpPr>
          <p:cNvPr id="33" name="matrix-rail-title"/>
          <p:cNvSpPr txBox="1"/>
          <p:nvPr/>
        </p:nvSpPr>
        <p:spPr>
          <a:xfrm>
            <a:off x="9089136" y="1371600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1" lang="en-US">
                <a:solidFill>
                  <a:srgbClr val="E8000D"/>
                </a:solidFill>
                <a:latin typeface="Arial"/>
              </a:rPr>
              <a:t>QUALITY RADAR</a:t>
            </a:r>
          </a:p>
        </p:txBody>
      </p:sp>
      <p:sp>
        <p:nvSpPr>
          <p:cNvPr id="34" name="radar-label-0"/>
          <p:cNvSpPr txBox="1"/>
          <p:nvPr/>
        </p:nvSpPr>
        <p:spPr>
          <a:xfrm>
            <a:off x="9893808" y="1737360"/>
            <a:ext cx="768096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444444"/>
                </a:solidFill>
                <a:latin typeface="Arial"/>
              </a:rPr>
              <a:t>Bounds</a:t>
            </a:r>
          </a:p>
        </p:txBody>
      </p:sp>
      <p:sp>
        <p:nvSpPr>
          <p:cNvPr id="35" name="radar-label-1"/>
          <p:cNvSpPr txBox="1"/>
          <p:nvPr/>
        </p:nvSpPr>
        <p:spPr>
          <a:xfrm>
            <a:off x="11120932" y="2446020"/>
            <a:ext cx="768096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444444"/>
                </a:solidFill>
                <a:latin typeface="Arial"/>
              </a:rPr>
              <a:t>Fonts</a:t>
            </a:r>
          </a:p>
        </p:txBody>
      </p:sp>
      <p:sp>
        <p:nvSpPr>
          <p:cNvPr id="36" name="radar-label-2"/>
          <p:cNvSpPr txBox="1"/>
          <p:nvPr/>
        </p:nvSpPr>
        <p:spPr>
          <a:xfrm>
            <a:off x="11120932" y="3863339"/>
            <a:ext cx="768096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444444"/>
                </a:solidFill>
                <a:latin typeface="Arial"/>
              </a:rPr>
              <a:t>Tables</a:t>
            </a:r>
          </a:p>
        </p:txBody>
      </p:sp>
      <p:sp>
        <p:nvSpPr>
          <p:cNvPr id="37" name="radar-label-3"/>
          <p:cNvSpPr txBox="1"/>
          <p:nvPr/>
        </p:nvSpPr>
        <p:spPr>
          <a:xfrm>
            <a:off x="9893808" y="4572000"/>
            <a:ext cx="768096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444444"/>
                </a:solidFill>
                <a:latin typeface="Arial"/>
              </a:rPr>
              <a:t>Contrast</a:t>
            </a:r>
          </a:p>
        </p:txBody>
      </p:sp>
      <p:sp>
        <p:nvSpPr>
          <p:cNvPr id="38" name="radar-label-4"/>
          <p:cNvSpPr txBox="1"/>
          <p:nvPr/>
        </p:nvSpPr>
        <p:spPr>
          <a:xfrm>
            <a:off x="8666683" y="3863339"/>
            <a:ext cx="768096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444444"/>
                </a:solidFill>
                <a:latin typeface="Arial"/>
              </a:rPr>
              <a:t>Order</a:t>
            </a:r>
          </a:p>
        </p:txBody>
      </p:sp>
      <p:sp>
        <p:nvSpPr>
          <p:cNvPr id="39" name="radar-label-5"/>
          <p:cNvSpPr txBox="1"/>
          <p:nvPr/>
        </p:nvSpPr>
        <p:spPr>
          <a:xfrm>
            <a:off x="8666683" y="2446020"/>
            <a:ext cx="768096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444444"/>
                </a:solidFill>
                <a:latin typeface="Arial"/>
              </a:rPr>
              <a:t>Style</a:t>
            </a:r>
          </a:p>
        </p:txBody>
      </p:sp>
      <p:sp>
        <p:nvSpPr>
          <p:cNvPr id="40" name="radar-point-0"/>
          <p:cNvSpPr/>
          <p:nvPr/>
        </p:nvSpPr>
        <p:spPr>
          <a:xfrm>
            <a:off x="10204704" y="2258568"/>
            <a:ext cx="146304" cy="146304"/>
          </a:xfrm>
          <a:prstGeom prst="ellipse">
            <a:avLst/>
          </a:prstGeom>
          <a:solidFill>
            <a:srgbClr val="E8000D"/>
          </a:solidFill>
          <a:ln w="10160">
            <a:solidFill>
              <a:srgbClr val="E800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adar-point-1"/>
          <p:cNvSpPr/>
          <p:nvPr/>
        </p:nvSpPr>
        <p:spPr>
          <a:xfrm>
            <a:off x="10806379" y="2825496"/>
            <a:ext cx="146304" cy="146304"/>
          </a:xfrm>
          <a:prstGeom prst="ellipse">
            <a:avLst/>
          </a:prstGeom>
          <a:solidFill>
            <a:srgbClr val="E8000D"/>
          </a:solidFill>
          <a:ln w="10160">
            <a:solidFill>
              <a:srgbClr val="E800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adar-point-2"/>
          <p:cNvSpPr/>
          <p:nvPr/>
        </p:nvSpPr>
        <p:spPr>
          <a:xfrm>
            <a:off x="11139220" y="3712463"/>
            <a:ext cx="146304" cy="146304"/>
          </a:xfrm>
          <a:prstGeom prst="ellipse">
            <a:avLst/>
          </a:prstGeom>
          <a:solidFill>
            <a:srgbClr val="E8000D"/>
          </a:solidFill>
          <a:ln w="10160">
            <a:solidFill>
              <a:srgbClr val="E800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adar-point-3"/>
          <p:cNvSpPr/>
          <p:nvPr/>
        </p:nvSpPr>
        <p:spPr>
          <a:xfrm>
            <a:off x="10204704" y="3995928"/>
            <a:ext cx="146304" cy="146304"/>
          </a:xfrm>
          <a:prstGeom prst="ellipse">
            <a:avLst/>
          </a:prstGeom>
          <a:solidFill>
            <a:srgbClr val="E8000D"/>
          </a:solidFill>
          <a:ln w="10160">
            <a:solidFill>
              <a:srgbClr val="E800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adar-point-4"/>
          <p:cNvSpPr/>
          <p:nvPr/>
        </p:nvSpPr>
        <p:spPr>
          <a:xfrm>
            <a:off x="9317736" y="3685032"/>
            <a:ext cx="146304" cy="146304"/>
          </a:xfrm>
          <a:prstGeom prst="ellipse">
            <a:avLst/>
          </a:prstGeom>
          <a:solidFill>
            <a:srgbClr val="E8000D"/>
          </a:solidFill>
          <a:ln w="10160">
            <a:solidFill>
              <a:srgbClr val="E800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adar-point-5"/>
          <p:cNvSpPr/>
          <p:nvPr/>
        </p:nvSpPr>
        <p:spPr>
          <a:xfrm>
            <a:off x="9650577" y="2852928"/>
            <a:ext cx="146304" cy="146304"/>
          </a:xfrm>
          <a:prstGeom prst="ellipse">
            <a:avLst/>
          </a:prstGeom>
          <a:solidFill>
            <a:srgbClr val="E8000D"/>
          </a:solidFill>
          <a:ln w="10160">
            <a:solidFill>
              <a:srgbClr val="E800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matrix-note"/>
          <p:cNvSpPr txBox="1"/>
          <p:nvPr/>
        </p:nvSpPr>
        <p:spPr>
          <a:xfrm>
            <a:off x="9089136" y="4800600"/>
            <a:ext cx="2267712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00" b="0" lang="en-US">
                <a:solidFill>
                  <a:srgbClr val="444444"/>
                </a:solidFill>
                <a:latin typeface="Arial"/>
              </a:rPr>
              <a:t>Editable table and quality geometry share one governed frame.</a:t>
            </a:r>
          </a:p>
        </p:txBody>
      </p:sp>
      <p:sp>
        <p:nvSpPr>
          <p:cNvPr id="47" name="flow-label-0"/>
          <p:cNvSpPr txBox="1"/>
          <p:nvPr/>
        </p:nvSpPr>
        <p:spPr>
          <a:xfrm>
            <a:off x="566928" y="5852160"/>
            <a:ext cx="137160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50" b="1" lang="en-US">
                <a:solidFill>
                  <a:srgbClr val="E8000D"/>
                </a:solidFill>
                <a:latin typeface="Arial"/>
              </a:rPr>
              <a:t>Lock</a:t>
            </a:r>
          </a:p>
        </p:txBody>
      </p:sp>
      <p:sp>
        <p:nvSpPr>
          <p:cNvPr id="48" name="flow-label-1"/>
          <p:cNvSpPr txBox="1"/>
          <p:nvPr/>
        </p:nvSpPr>
        <p:spPr>
          <a:xfrm>
            <a:off x="2459736" y="5852160"/>
            <a:ext cx="137160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50" b="1" lang="en-US">
                <a:solidFill>
                  <a:srgbClr val="111111"/>
                </a:solidFill>
                <a:latin typeface="Arial"/>
              </a:rPr>
              <a:t>Compose</a:t>
            </a:r>
          </a:p>
        </p:txBody>
      </p:sp>
      <p:sp>
        <p:nvSpPr>
          <p:cNvPr id="49" name="flow-label-2"/>
          <p:cNvSpPr txBox="1"/>
          <p:nvPr/>
        </p:nvSpPr>
        <p:spPr>
          <a:xfrm>
            <a:off x="4352544" y="5852160"/>
            <a:ext cx="137160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50" b="1" lang="en-US">
                <a:solidFill>
                  <a:srgbClr val="E8000D"/>
                </a:solidFill>
                <a:latin typeface="Arial"/>
              </a:rPr>
              <a:t>Validate</a:t>
            </a:r>
          </a:p>
        </p:txBody>
      </p:sp>
      <p:sp>
        <p:nvSpPr>
          <p:cNvPr id="50" name="flow-label-3"/>
          <p:cNvSpPr txBox="1"/>
          <p:nvPr/>
        </p:nvSpPr>
        <p:spPr>
          <a:xfrm>
            <a:off x="6245352" y="5852160"/>
            <a:ext cx="137160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50" b="1" lang="en-US">
                <a:solidFill>
                  <a:srgbClr val="E8000D"/>
                </a:solidFill>
                <a:latin typeface="Arial"/>
              </a:rPr>
              <a:t>Render</a:t>
            </a:r>
          </a:p>
        </p:txBody>
      </p:sp>
      <p:sp>
        <p:nvSpPr>
          <p:cNvPr id="51" name="flow-label-4"/>
          <p:cNvSpPr txBox="1"/>
          <p:nvPr/>
        </p:nvSpPr>
        <p:spPr>
          <a:xfrm>
            <a:off x="8138160" y="5852160"/>
            <a:ext cx="137160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50" b="1" lang="en-US">
                <a:solidFill>
                  <a:srgbClr val="111111"/>
                </a:solidFill>
                <a:latin typeface="Arial"/>
              </a:rPr>
              <a:t>Inspect</a:t>
            </a:r>
          </a:p>
        </p:txBody>
      </p:sp>
      <p:sp>
        <p:nvSpPr>
          <p:cNvPr id="52" name="flow-label-5"/>
          <p:cNvSpPr txBox="1"/>
          <p:nvPr/>
        </p:nvSpPr>
        <p:spPr>
          <a:xfrm>
            <a:off x="10030968" y="5852160"/>
            <a:ext cx="137160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50" b="1" lang="en-US">
                <a:solidFill>
                  <a:srgbClr val="E8000D"/>
                </a:solidFill>
                <a:latin typeface="Arial"/>
              </a:rPr>
              <a:t>Publish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wiss-rule"/>
          <p:cNvSpPr/>
          <p:nvPr/>
        </p:nvSpPr>
        <p:spPr>
          <a:xfrm>
            <a:off x="164592" y="0"/>
            <a:ext cx="91440" cy="6858000"/>
          </a:xfrm>
          <a:prstGeom prst="rect">
            <a:avLst/>
          </a:prstGeom>
          <a:solidFill>
            <a:srgbClr val="E8000D"/>
          </a:solidFill>
          <a:ln w="10160">
            <a:solidFill>
              <a:srgbClr val="E800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wiss-divider"/>
          <p:cNvSpPr/>
          <p:nvPr/>
        </p:nvSpPr>
        <p:spPr>
          <a:xfrm>
            <a:off x="457200" y="969264"/>
            <a:ext cx="11274552" cy="22860"/>
          </a:xfrm>
          <a:prstGeom prst="rect">
            <a:avLst/>
          </a:prstGeom>
          <a:solidFill>
            <a:srgbClr val="DDDDDD"/>
          </a:solidFill>
          <a:ln w="1016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op-band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000D"/>
          </a:solidFill>
          <a:ln w="10160">
            <a:solidFill>
              <a:srgbClr val="E800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ortfolio-0-shell"/>
          <p:cNvSpPr/>
          <p:nvPr/>
        </p:nvSpPr>
        <p:spPr>
          <a:xfrm>
            <a:off x="457200" y="1097280"/>
            <a:ext cx="2395728" cy="2057400"/>
          </a:xfrm>
          <a:prstGeom prst="rect">
            <a:avLst/>
          </a:prstGeom>
          <a:solidFill>
            <a:srgbClr val="FFFFFF"/>
          </a:solidFill>
          <a:ln w="1016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ortfolio-1-shell"/>
          <p:cNvSpPr/>
          <p:nvPr/>
        </p:nvSpPr>
        <p:spPr>
          <a:xfrm>
            <a:off x="3054096" y="1097280"/>
            <a:ext cx="2395728" cy="2057400"/>
          </a:xfrm>
          <a:prstGeom prst="rect">
            <a:avLst/>
          </a:prstGeom>
          <a:solidFill>
            <a:srgbClr val="FFFFFF"/>
          </a:solidFill>
          <a:ln w="1016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ortfolio-2-shell"/>
          <p:cNvSpPr/>
          <p:nvPr/>
        </p:nvSpPr>
        <p:spPr>
          <a:xfrm>
            <a:off x="5650992" y="1097280"/>
            <a:ext cx="2395728" cy="2057400"/>
          </a:xfrm>
          <a:prstGeom prst="rect">
            <a:avLst/>
          </a:prstGeom>
          <a:solidFill>
            <a:srgbClr val="FFFFFF"/>
          </a:solidFill>
          <a:ln w="1016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ortfolio-3-shell"/>
          <p:cNvSpPr/>
          <p:nvPr/>
        </p:nvSpPr>
        <p:spPr>
          <a:xfrm>
            <a:off x="457200" y="3429000"/>
            <a:ext cx="2395728" cy="2057400"/>
          </a:xfrm>
          <a:prstGeom prst="rect">
            <a:avLst/>
          </a:prstGeom>
          <a:solidFill>
            <a:srgbClr val="FFFFFF"/>
          </a:solidFill>
          <a:ln w="1016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ortfolio-4-shell"/>
          <p:cNvSpPr/>
          <p:nvPr/>
        </p:nvSpPr>
        <p:spPr>
          <a:xfrm>
            <a:off x="3054096" y="3429000"/>
            <a:ext cx="2395728" cy="2057400"/>
          </a:xfrm>
          <a:prstGeom prst="rect">
            <a:avLst/>
          </a:prstGeom>
          <a:solidFill>
            <a:srgbClr val="FFFFFF"/>
          </a:solidFill>
          <a:ln w="1016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portfolio-5-shell"/>
          <p:cNvSpPr/>
          <p:nvPr/>
        </p:nvSpPr>
        <p:spPr>
          <a:xfrm>
            <a:off x="5650992" y="3429000"/>
            <a:ext cx="2395728" cy="2057400"/>
          </a:xfrm>
          <a:prstGeom prst="rect">
            <a:avLst/>
          </a:prstGeom>
          <a:solidFill>
            <a:srgbClr val="FFFFFF"/>
          </a:solidFill>
          <a:ln w="1016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portfolio-rail-shell"/>
          <p:cNvSpPr/>
          <p:nvPr/>
        </p:nvSpPr>
        <p:spPr>
          <a:xfrm>
            <a:off x="8458200" y="1097280"/>
            <a:ext cx="3273552" cy="4892040"/>
          </a:xfrm>
          <a:prstGeom prst="rect">
            <a:avLst/>
          </a:prstGeom>
          <a:solidFill>
            <a:srgbClr val="FAFAFA"/>
          </a:solidFill>
          <a:ln w="1016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ortfolio-0-accent"/>
          <p:cNvSpPr/>
          <p:nvPr/>
        </p:nvSpPr>
        <p:spPr>
          <a:xfrm>
            <a:off x="457200" y="1097280"/>
            <a:ext cx="73152" cy="2057400"/>
          </a:xfrm>
          <a:prstGeom prst="rect">
            <a:avLst/>
          </a:prstGeom>
          <a:solidFill>
            <a:srgbClr val="E8000D"/>
          </a:solidFill>
          <a:ln w="10160">
            <a:solidFill>
              <a:srgbClr val="E800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ortfolio-1-accent"/>
          <p:cNvSpPr/>
          <p:nvPr/>
        </p:nvSpPr>
        <p:spPr>
          <a:xfrm>
            <a:off x="3054096" y="1097280"/>
            <a:ext cx="73152" cy="2057400"/>
          </a:xfrm>
          <a:prstGeom prst="rect">
            <a:avLst/>
          </a:prstGeom>
          <a:solidFill>
            <a:srgbClr val="E8000D"/>
          </a:solidFill>
          <a:ln w="10160">
            <a:solidFill>
              <a:srgbClr val="E800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portfolio-2-accent"/>
          <p:cNvSpPr/>
          <p:nvPr/>
        </p:nvSpPr>
        <p:spPr>
          <a:xfrm>
            <a:off x="5650992" y="1097280"/>
            <a:ext cx="73152" cy="2057400"/>
          </a:xfrm>
          <a:prstGeom prst="rect">
            <a:avLst/>
          </a:prstGeom>
          <a:solidFill>
            <a:srgbClr val="E8000D"/>
          </a:solidFill>
          <a:ln w="10160">
            <a:solidFill>
              <a:srgbClr val="E800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portfolio-3-accent"/>
          <p:cNvSpPr/>
          <p:nvPr/>
        </p:nvSpPr>
        <p:spPr>
          <a:xfrm>
            <a:off x="457200" y="3429000"/>
            <a:ext cx="73152" cy="2057400"/>
          </a:xfrm>
          <a:prstGeom prst="rect">
            <a:avLst/>
          </a:prstGeom>
          <a:solidFill>
            <a:srgbClr val="E8000D"/>
          </a:solidFill>
          <a:ln w="10160">
            <a:solidFill>
              <a:srgbClr val="E800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portfolio-4-accent"/>
          <p:cNvSpPr/>
          <p:nvPr/>
        </p:nvSpPr>
        <p:spPr>
          <a:xfrm>
            <a:off x="3054096" y="3429000"/>
            <a:ext cx="73152" cy="2057400"/>
          </a:xfrm>
          <a:prstGeom prst="rect">
            <a:avLst/>
          </a:prstGeom>
          <a:solidFill>
            <a:srgbClr val="E8000D"/>
          </a:solidFill>
          <a:ln w="10160">
            <a:solidFill>
              <a:srgbClr val="E800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portfolio-5-accent"/>
          <p:cNvSpPr/>
          <p:nvPr/>
        </p:nvSpPr>
        <p:spPr>
          <a:xfrm>
            <a:off x="5650992" y="3429000"/>
            <a:ext cx="73152" cy="2057400"/>
          </a:xfrm>
          <a:prstGeom prst="rect">
            <a:avLst/>
          </a:prstGeom>
          <a:solidFill>
            <a:srgbClr val="E8000D"/>
          </a:solidFill>
          <a:ln w="10160">
            <a:solidFill>
              <a:srgbClr val="E800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portfolio-rail-accent"/>
          <p:cNvSpPr/>
          <p:nvPr/>
        </p:nvSpPr>
        <p:spPr>
          <a:xfrm>
            <a:off x="8458200" y="1097280"/>
            <a:ext cx="73152" cy="4892040"/>
          </a:xfrm>
          <a:prstGeom prst="rect">
            <a:avLst/>
          </a:prstGeom>
          <a:solidFill>
            <a:srgbClr val="E8000D"/>
          </a:solidFill>
          <a:ln w="10160">
            <a:solidFill>
              <a:srgbClr val="E800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portfolio-micro-0-0"/>
          <p:cNvSpPr/>
          <p:nvPr/>
        </p:nvSpPr>
        <p:spPr>
          <a:xfrm>
            <a:off x="676656" y="2139696"/>
            <a:ext cx="859536" cy="256032"/>
          </a:xfrm>
          <a:prstGeom prst="roundRect">
            <a:avLst/>
          </a:prstGeom>
          <a:solidFill>
            <a:srgbClr val="FAFAFA"/>
          </a:solidFill>
          <a:ln w="10160">
            <a:solidFill>
              <a:srgbClr val="E800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portfolio-micro-0-1"/>
          <p:cNvSpPr/>
          <p:nvPr/>
        </p:nvSpPr>
        <p:spPr>
          <a:xfrm>
            <a:off x="1664208" y="2139696"/>
            <a:ext cx="859536" cy="256032"/>
          </a:xfrm>
          <a:prstGeom prst="roundRect">
            <a:avLst/>
          </a:prstGeom>
          <a:solidFill>
            <a:srgbClr val="FAFAFA"/>
          </a:solidFill>
          <a:ln w="10160">
            <a:solidFill>
              <a:srgbClr val="E800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portfolio-micro-0-2"/>
          <p:cNvSpPr/>
          <p:nvPr/>
        </p:nvSpPr>
        <p:spPr>
          <a:xfrm>
            <a:off x="676656" y="2523744"/>
            <a:ext cx="859536" cy="256032"/>
          </a:xfrm>
          <a:prstGeom prst="roundRect">
            <a:avLst/>
          </a:prstGeom>
          <a:solidFill>
            <a:srgbClr val="FAFAFA"/>
          </a:solidFill>
          <a:ln w="10160">
            <a:solidFill>
              <a:srgbClr val="E800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portfolio-micro-0-3"/>
          <p:cNvSpPr/>
          <p:nvPr/>
        </p:nvSpPr>
        <p:spPr>
          <a:xfrm>
            <a:off x="1664208" y="2523744"/>
            <a:ext cx="859536" cy="256032"/>
          </a:xfrm>
          <a:prstGeom prst="roundRect">
            <a:avLst/>
          </a:prstGeom>
          <a:solidFill>
            <a:srgbClr val="FAFAFA"/>
          </a:solidFill>
          <a:ln w="10160">
            <a:solidFill>
              <a:srgbClr val="E800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portfolio-micro-1-0"/>
          <p:cNvSpPr/>
          <p:nvPr/>
        </p:nvSpPr>
        <p:spPr>
          <a:xfrm>
            <a:off x="3273552" y="2139696"/>
            <a:ext cx="859536" cy="256032"/>
          </a:xfrm>
          <a:prstGeom prst="roundRect">
            <a:avLst/>
          </a:prstGeom>
          <a:solidFill>
            <a:srgbClr val="FAFAFA"/>
          </a:solidFill>
          <a:ln w="1016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portfolio-micro-1-1"/>
          <p:cNvSpPr/>
          <p:nvPr/>
        </p:nvSpPr>
        <p:spPr>
          <a:xfrm>
            <a:off x="4261104" y="2139696"/>
            <a:ext cx="859536" cy="256032"/>
          </a:xfrm>
          <a:prstGeom prst="roundRect">
            <a:avLst/>
          </a:prstGeom>
          <a:solidFill>
            <a:srgbClr val="FAFAFA"/>
          </a:solidFill>
          <a:ln w="1016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portfolio-micro-1-2"/>
          <p:cNvSpPr/>
          <p:nvPr/>
        </p:nvSpPr>
        <p:spPr>
          <a:xfrm>
            <a:off x="3273552" y="2523744"/>
            <a:ext cx="859536" cy="256032"/>
          </a:xfrm>
          <a:prstGeom prst="roundRect">
            <a:avLst/>
          </a:prstGeom>
          <a:solidFill>
            <a:srgbClr val="FAFAFA"/>
          </a:solidFill>
          <a:ln w="1016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portfolio-micro-1-3"/>
          <p:cNvSpPr/>
          <p:nvPr/>
        </p:nvSpPr>
        <p:spPr>
          <a:xfrm>
            <a:off x="4261104" y="2523744"/>
            <a:ext cx="859536" cy="256032"/>
          </a:xfrm>
          <a:prstGeom prst="roundRect">
            <a:avLst/>
          </a:prstGeom>
          <a:solidFill>
            <a:srgbClr val="FAFAFA"/>
          </a:solidFill>
          <a:ln w="1016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portfolio-micro-2-0"/>
          <p:cNvSpPr/>
          <p:nvPr/>
        </p:nvSpPr>
        <p:spPr>
          <a:xfrm>
            <a:off x="5870448" y="2139696"/>
            <a:ext cx="859536" cy="256032"/>
          </a:xfrm>
          <a:prstGeom prst="roundRect">
            <a:avLst/>
          </a:prstGeom>
          <a:solidFill>
            <a:srgbClr val="FAFAFA"/>
          </a:solidFill>
          <a:ln w="10160">
            <a:solidFill>
              <a:srgbClr val="E800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portfolio-micro-2-1"/>
          <p:cNvSpPr/>
          <p:nvPr/>
        </p:nvSpPr>
        <p:spPr>
          <a:xfrm>
            <a:off x="6858000" y="2139696"/>
            <a:ext cx="859536" cy="256032"/>
          </a:xfrm>
          <a:prstGeom prst="roundRect">
            <a:avLst/>
          </a:prstGeom>
          <a:solidFill>
            <a:srgbClr val="FAFAFA"/>
          </a:solidFill>
          <a:ln w="10160">
            <a:solidFill>
              <a:srgbClr val="E800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portfolio-micro-2-2"/>
          <p:cNvSpPr/>
          <p:nvPr/>
        </p:nvSpPr>
        <p:spPr>
          <a:xfrm>
            <a:off x="5870448" y="2523744"/>
            <a:ext cx="859536" cy="256032"/>
          </a:xfrm>
          <a:prstGeom prst="roundRect">
            <a:avLst/>
          </a:prstGeom>
          <a:solidFill>
            <a:srgbClr val="FAFAFA"/>
          </a:solidFill>
          <a:ln w="10160">
            <a:solidFill>
              <a:srgbClr val="E800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portfolio-micro-2-3"/>
          <p:cNvSpPr/>
          <p:nvPr/>
        </p:nvSpPr>
        <p:spPr>
          <a:xfrm>
            <a:off x="6858000" y="2523744"/>
            <a:ext cx="859536" cy="256032"/>
          </a:xfrm>
          <a:prstGeom prst="roundRect">
            <a:avLst/>
          </a:prstGeom>
          <a:solidFill>
            <a:srgbClr val="FAFAFA"/>
          </a:solidFill>
          <a:ln w="10160">
            <a:solidFill>
              <a:srgbClr val="E800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portfolio-micro-3-0"/>
          <p:cNvSpPr/>
          <p:nvPr/>
        </p:nvSpPr>
        <p:spPr>
          <a:xfrm>
            <a:off x="676656" y="4471416"/>
            <a:ext cx="859536" cy="256032"/>
          </a:xfrm>
          <a:prstGeom prst="roundRect">
            <a:avLst/>
          </a:prstGeom>
          <a:solidFill>
            <a:srgbClr val="FAFAFA"/>
          </a:solidFill>
          <a:ln w="1016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portfolio-micro-3-1"/>
          <p:cNvSpPr/>
          <p:nvPr/>
        </p:nvSpPr>
        <p:spPr>
          <a:xfrm>
            <a:off x="1664208" y="4471416"/>
            <a:ext cx="859536" cy="256032"/>
          </a:xfrm>
          <a:prstGeom prst="roundRect">
            <a:avLst/>
          </a:prstGeom>
          <a:solidFill>
            <a:srgbClr val="FAFAFA"/>
          </a:solidFill>
          <a:ln w="1016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portfolio-micro-3-2"/>
          <p:cNvSpPr/>
          <p:nvPr/>
        </p:nvSpPr>
        <p:spPr>
          <a:xfrm>
            <a:off x="676656" y="4855464"/>
            <a:ext cx="859536" cy="256032"/>
          </a:xfrm>
          <a:prstGeom prst="roundRect">
            <a:avLst/>
          </a:prstGeom>
          <a:solidFill>
            <a:srgbClr val="FAFAFA"/>
          </a:solidFill>
          <a:ln w="1016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portfolio-micro-3-3"/>
          <p:cNvSpPr/>
          <p:nvPr/>
        </p:nvSpPr>
        <p:spPr>
          <a:xfrm>
            <a:off x="1664208" y="4855464"/>
            <a:ext cx="859536" cy="256032"/>
          </a:xfrm>
          <a:prstGeom prst="roundRect">
            <a:avLst/>
          </a:prstGeom>
          <a:solidFill>
            <a:srgbClr val="FAFAFA"/>
          </a:solidFill>
          <a:ln w="1016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portfolio-micro-4-0"/>
          <p:cNvSpPr/>
          <p:nvPr/>
        </p:nvSpPr>
        <p:spPr>
          <a:xfrm>
            <a:off x="3273552" y="4471416"/>
            <a:ext cx="859536" cy="256032"/>
          </a:xfrm>
          <a:prstGeom prst="roundRect">
            <a:avLst/>
          </a:prstGeom>
          <a:solidFill>
            <a:srgbClr val="FAFAFA"/>
          </a:solidFill>
          <a:ln w="10160">
            <a:solidFill>
              <a:srgbClr val="E800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portfolio-micro-4-1"/>
          <p:cNvSpPr/>
          <p:nvPr/>
        </p:nvSpPr>
        <p:spPr>
          <a:xfrm>
            <a:off x="4261104" y="4471416"/>
            <a:ext cx="859536" cy="256032"/>
          </a:xfrm>
          <a:prstGeom prst="roundRect">
            <a:avLst/>
          </a:prstGeom>
          <a:solidFill>
            <a:srgbClr val="FAFAFA"/>
          </a:solidFill>
          <a:ln w="10160">
            <a:solidFill>
              <a:srgbClr val="E800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portfolio-micro-4-2"/>
          <p:cNvSpPr/>
          <p:nvPr/>
        </p:nvSpPr>
        <p:spPr>
          <a:xfrm>
            <a:off x="3273552" y="4855464"/>
            <a:ext cx="859536" cy="256032"/>
          </a:xfrm>
          <a:prstGeom prst="roundRect">
            <a:avLst/>
          </a:prstGeom>
          <a:solidFill>
            <a:srgbClr val="FAFAFA"/>
          </a:solidFill>
          <a:ln w="10160">
            <a:solidFill>
              <a:srgbClr val="E800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portfolio-micro-4-3"/>
          <p:cNvSpPr/>
          <p:nvPr/>
        </p:nvSpPr>
        <p:spPr>
          <a:xfrm>
            <a:off x="4261104" y="4855464"/>
            <a:ext cx="859536" cy="256032"/>
          </a:xfrm>
          <a:prstGeom prst="roundRect">
            <a:avLst/>
          </a:prstGeom>
          <a:solidFill>
            <a:srgbClr val="FAFAFA"/>
          </a:solidFill>
          <a:ln w="10160">
            <a:solidFill>
              <a:srgbClr val="E800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portfolio-micro-5-0"/>
          <p:cNvSpPr/>
          <p:nvPr/>
        </p:nvSpPr>
        <p:spPr>
          <a:xfrm>
            <a:off x="5870448" y="4471416"/>
            <a:ext cx="859536" cy="256032"/>
          </a:xfrm>
          <a:prstGeom prst="roundRect">
            <a:avLst/>
          </a:prstGeom>
          <a:solidFill>
            <a:srgbClr val="FAFAFA"/>
          </a:solidFill>
          <a:ln w="10160">
            <a:solidFill>
              <a:srgbClr val="E800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portfolio-micro-5-1"/>
          <p:cNvSpPr/>
          <p:nvPr/>
        </p:nvSpPr>
        <p:spPr>
          <a:xfrm>
            <a:off x="6858000" y="4471416"/>
            <a:ext cx="859536" cy="256032"/>
          </a:xfrm>
          <a:prstGeom prst="roundRect">
            <a:avLst/>
          </a:prstGeom>
          <a:solidFill>
            <a:srgbClr val="FAFAFA"/>
          </a:solidFill>
          <a:ln w="10160">
            <a:solidFill>
              <a:srgbClr val="E800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portfolio-micro-5-2"/>
          <p:cNvSpPr/>
          <p:nvPr/>
        </p:nvSpPr>
        <p:spPr>
          <a:xfrm>
            <a:off x="5870448" y="4855464"/>
            <a:ext cx="859536" cy="256032"/>
          </a:xfrm>
          <a:prstGeom prst="roundRect">
            <a:avLst/>
          </a:prstGeom>
          <a:solidFill>
            <a:srgbClr val="FAFAFA"/>
          </a:solidFill>
          <a:ln w="10160">
            <a:solidFill>
              <a:srgbClr val="E800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portfolio-micro-5-3"/>
          <p:cNvSpPr/>
          <p:nvPr/>
        </p:nvSpPr>
        <p:spPr>
          <a:xfrm>
            <a:off x="6858000" y="4855464"/>
            <a:ext cx="859536" cy="256032"/>
          </a:xfrm>
          <a:prstGeom prst="roundRect">
            <a:avLst/>
          </a:prstGeom>
          <a:solidFill>
            <a:srgbClr val="FAFAFA"/>
          </a:solidFill>
          <a:ln w="10160">
            <a:solidFill>
              <a:srgbClr val="E800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lease-cell-0"/>
          <p:cNvSpPr/>
          <p:nvPr/>
        </p:nvSpPr>
        <p:spPr>
          <a:xfrm>
            <a:off x="8723376" y="1737360"/>
            <a:ext cx="2697480" cy="51206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lease-cell-1"/>
          <p:cNvSpPr/>
          <p:nvPr/>
        </p:nvSpPr>
        <p:spPr>
          <a:xfrm>
            <a:off x="8723376" y="2432304"/>
            <a:ext cx="2697480" cy="51206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lease-cell-2"/>
          <p:cNvSpPr/>
          <p:nvPr/>
        </p:nvSpPr>
        <p:spPr>
          <a:xfrm>
            <a:off x="8723376" y="3127248"/>
            <a:ext cx="2697480" cy="51206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lease-cell-3"/>
          <p:cNvSpPr/>
          <p:nvPr/>
        </p:nvSpPr>
        <p:spPr>
          <a:xfrm>
            <a:off x="8723376" y="3822191"/>
            <a:ext cx="2697480" cy="51206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lease-cell-4"/>
          <p:cNvSpPr/>
          <p:nvPr/>
        </p:nvSpPr>
        <p:spPr>
          <a:xfrm>
            <a:off x="8723376" y="4517136"/>
            <a:ext cx="2697480" cy="51206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portfolio-banner"/>
          <p:cNvSpPr/>
          <p:nvPr/>
        </p:nvSpPr>
        <p:spPr>
          <a:xfrm>
            <a:off x="457200" y="5559552"/>
            <a:ext cx="7882127" cy="438912"/>
          </a:xfrm>
          <a:prstGeom prst="roundRect">
            <a:avLst/>
          </a:prstGeom>
          <a:solidFill>
            <a:srgbClr val="E8000D"/>
          </a:solidFill>
          <a:ln w="10160">
            <a:solidFill>
              <a:srgbClr val="E800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profile-tag"/>
          <p:cNvSpPr txBox="1"/>
          <p:nvPr/>
        </p:nvSpPr>
        <p:spPr>
          <a:xfrm>
            <a:off x="457200" y="201168"/>
            <a:ext cx="768096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1" lang="en-US">
                <a:solidFill>
                  <a:srgbClr val="E8000D"/>
                </a:solidFill>
                <a:latin typeface="Arial"/>
              </a:rPr>
              <a:t>V3 STRESS SUITE  ·  SWISS INTERNATIONAL  ·  PORTFOLIO GRID</a:t>
            </a:r>
          </a:p>
        </p:txBody>
      </p:sp>
      <p:sp>
        <p:nvSpPr>
          <p:cNvPr id="51" name="slide-index"/>
          <p:cNvSpPr txBox="1"/>
          <p:nvPr/>
        </p:nvSpPr>
        <p:spPr>
          <a:xfrm>
            <a:off x="10808208" y="201168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00" b="1" lang="en-US">
                <a:solidFill>
                  <a:srgbClr val="444444"/>
                </a:solidFill>
                <a:latin typeface="Arial"/>
              </a:rPr>
              <a:t>24/60</a:t>
            </a:r>
          </a:p>
        </p:txBody>
      </p:sp>
      <p:sp>
        <p:nvSpPr>
          <p:cNvPr id="52" name="title"/>
          <p:cNvSpPr txBox="1"/>
          <p:nvPr/>
        </p:nvSpPr>
        <p:spPr>
          <a:xfrm>
            <a:off x="457200" y="484632"/>
            <a:ext cx="11274552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200" b="1" lang="en-US">
                <a:solidFill>
                  <a:srgbClr val="111111"/>
                </a:solidFill>
                <a:latin typeface="Arial"/>
              </a:rPr>
              <a:t>Portfolio grids compress six validated capability views into one scan</a:t>
            </a:r>
          </a:p>
        </p:txBody>
      </p:sp>
      <p:sp>
        <p:nvSpPr>
          <p:cNvPr id="53" name="footer"/>
          <p:cNvSpPr txBox="1"/>
          <p:nvPr/>
        </p:nvSpPr>
        <p:spPr>
          <a:xfrm>
            <a:off x="457200" y="6473952"/>
            <a:ext cx="1051560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0" lang="en-US">
                <a:solidFill>
                  <a:srgbClr val="444444"/>
                </a:solidFill>
                <a:latin typeface="Arial"/>
              </a:rPr>
              <a:t>Native-object stress fixture · strict grid, left red rule, and functional black typography · editable geometry and recorded style lock</a:t>
            </a:r>
          </a:p>
        </p:txBody>
      </p:sp>
      <p:sp>
        <p:nvSpPr>
          <p:cNvPr id="54" name="portfolio-num-0"/>
          <p:cNvSpPr txBox="1"/>
          <p:nvPr/>
        </p:nvSpPr>
        <p:spPr>
          <a:xfrm>
            <a:off x="676656" y="1298448"/>
            <a:ext cx="566928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1" lang="en-US">
                <a:solidFill>
                  <a:srgbClr val="E8000D"/>
                </a:solidFill>
                <a:latin typeface="Arial"/>
              </a:rPr>
              <a:t>01</a:t>
            </a:r>
          </a:p>
        </p:txBody>
      </p:sp>
      <p:sp>
        <p:nvSpPr>
          <p:cNvPr id="55" name="portfolio-name-0"/>
          <p:cNvSpPr txBox="1"/>
          <p:nvPr/>
        </p:nvSpPr>
        <p:spPr>
          <a:xfrm>
            <a:off x="676656" y="1719072"/>
            <a:ext cx="192024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50" b="1" lang="en-US">
                <a:solidFill>
                  <a:srgbClr val="111111"/>
                </a:solidFill>
                <a:latin typeface="Arial"/>
              </a:rPr>
              <a:t>Profile lock</a:t>
            </a:r>
          </a:p>
        </p:txBody>
      </p:sp>
      <p:sp>
        <p:nvSpPr>
          <p:cNvPr id="56" name="portfolio-micro-label-0-0"/>
          <p:cNvSpPr txBox="1"/>
          <p:nvPr/>
        </p:nvSpPr>
        <p:spPr>
          <a:xfrm>
            <a:off x="722376" y="2208276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E8000D"/>
                </a:solidFill>
                <a:latin typeface="Arial"/>
              </a:rPr>
              <a:t>spec</a:t>
            </a:r>
          </a:p>
        </p:txBody>
      </p:sp>
      <p:sp>
        <p:nvSpPr>
          <p:cNvPr id="57" name="portfolio-micro-label-0-1"/>
          <p:cNvSpPr txBox="1"/>
          <p:nvPr/>
        </p:nvSpPr>
        <p:spPr>
          <a:xfrm>
            <a:off x="1709928" y="2208276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E8000D"/>
                </a:solidFill>
                <a:latin typeface="Arial"/>
              </a:rPr>
              <a:t>audit</a:t>
            </a:r>
          </a:p>
        </p:txBody>
      </p:sp>
      <p:sp>
        <p:nvSpPr>
          <p:cNvPr id="58" name="portfolio-micro-label-0-2"/>
          <p:cNvSpPr txBox="1"/>
          <p:nvPr/>
        </p:nvSpPr>
        <p:spPr>
          <a:xfrm>
            <a:off x="722376" y="2592324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E8000D"/>
                </a:solidFill>
                <a:latin typeface="Arial"/>
              </a:rPr>
              <a:t>trace</a:t>
            </a:r>
          </a:p>
        </p:txBody>
      </p:sp>
      <p:sp>
        <p:nvSpPr>
          <p:cNvPr id="59" name="portfolio-micro-label-0-3"/>
          <p:cNvSpPr txBox="1"/>
          <p:nvPr/>
        </p:nvSpPr>
        <p:spPr>
          <a:xfrm>
            <a:off x="1709928" y="2592324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E8000D"/>
                </a:solidFill>
                <a:latin typeface="Arial"/>
              </a:rPr>
              <a:t>pass</a:t>
            </a:r>
          </a:p>
        </p:txBody>
      </p:sp>
      <p:sp>
        <p:nvSpPr>
          <p:cNvPr id="60" name="portfolio-num-1"/>
          <p:cNvSpPr txBox="1"/>
          <p:nvPr/>
        </p:nvSpPr>
        <p:spPr>
          <a:xfrm>
            <a:off x="3273552" y="1298448"/>
            <a:ext cx="566928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1" lang="en-US">
                <a:solidFill>
                  <a:srgbClr val="111111"/>
                </a:solidFill>
                <a:latin typeface="Arial"/>
              </a:rPr>
              <a:t>02</a:t>
            </a:r>
          </a:p>
        </p:txBody>
      </p:sp>
      <p:sp>
        <p:nvSpPr>
          <p:cNvPr id="61" name="portfolio-name-1"/>
          <p:cNvSpPr txBox="1"/>
          <p:nvPr/>
        </p:nvSpPr>
        <p:spPr>
          <a:xfrm>
            <a:off x="3273552" y="1719072"/>
            <a:ext cx="192024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50" b="1" lang="en-US">
                <a:solidFill>
                  <a:srgbClr val="111111"/>
                </a:solidFill>
                <a:latin typeface="Arial"/>
              </a:rPr>
              <a:t>Narrative</a:t>
            </a:r>
          </a:p>
        </p:txBody>
      </p:sp>
      <p:sp>
        <p:nvSpPr>
          <p:cNvPr id="62" name="portfolio-micro-label-1-0"/>
          <p:cNvSpPr txBox="1"/>
          <p:nvPr/>
        </p:nvSpPr>
        <p:spPr>
          <a:xfrm>
            <a:off x="3319272" y="2208276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111111"/>
                </a:solidFill>
                <a:latin typeface="Arial"/>
              </a:rPr>
              <a:t>spec</a:t>
            </a:r>
          </a:p>
        </p:txBody>
      </p:sp>
      <p:sp>
        <p:nvSpPr>
          <p:cNvPr id="63" name="portfolio-micro-label-1-1"/>
          <p:cNvSpPr txBox="1"/>
          <p:nvPr/>
        </p:nvSpPr>
        <p:spPr>
          <a:xfrm>
            <a:off x="4306824" y="2208276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111111"/>
                </a:solidFill>
                <a:latin typeface="Arial"/>
              </a:rPr>
              <a:t>audit</a:t>
            </a:r>
          </a:p>
        </p:txBody>
      </p:sp>
      <p:sp>
        <p:nvSpPr>
          <p:cNvPr id="64" name="portfolio-micro-label-1-2"/>
          <p:cNvSpPr txBox="1"/>
          <p:nvPr/>
        </p:nvSpPr>
        <p:spPr>
          <a:xfrm>
            <a:off x="3319272" y="2592324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111111"/>
                </a:solidFill>
                <a:latin typeface="Arial"/>
              </a:rPr>
              <a:t>trace</a:t>
            </a:r>
          </a:p>
        </p:txBody>
      </p:sp>
      <p:sp>
        <p:nvSpPr>
          <p:cNvPr id="65" name="portfolio-micro-label-1-3"/>
          <p:cNvSpPr txBox="1"/>
          <p:nvPr/>
        </p:nvSpPr>
        <p:spPr>
          <a:xfrm>
            <a:off x="4306824" y="2592324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111111"/>
                </a:solidFill>
                <a:latin typeface="Arial"/>
              </a:rPr>
              <a:t>pass</a:t>
            </a:r>
          </a:p>
        </p:txBody>
      </p:sp>
      <p:sp>
        <p:nvSpPr>
          <p:cNvPr id="66" name="portfolio-num-2"/>
          <p:cNvSpPr txBox="1"/>
          <p:nvPr/>
        </p:nvSpPr>
        <p:spPr>
          <a:xfrm>
            <a:off x="5870448" y="1298448"/>
            <a:ext cx="566928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1" lang="en-US">
                <a:solidFill>
                  <a:srgbClr val="E8000D"/>
                </a:solidFill>
                <a:latin typeface="Arial"/>
              </a:rPr>
              <a:t>03</a:t>
            </a:r>
          </a:p>
        </p:txBody>
      </p:sp>
      <p:sp>
        <p:nvSpPr>
          <p:cNvPr id="67" name="portfolio-name-2"/>
          <p:cNvSpPr txBox="1"/>
          <p:nvPr/>
        </p:nvSpPr>
        <p:spPr>
          <a:xfrm>
            <a:off x="5870448" y="1719072"/>
            <a:ext cx="192024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50" b="1" lang="en-US">
                <a:solidFill>
                  <a:srgbClr val="111111"/>
                </a:solidFill>
                <a:latin typeface="Arial"/>
              </a:rPr>
              <a:t>Geometry</a:t>
            </a:r>
          </a:p>
        </p:txBody>
      </p:sp>
      <p:sp>
        <p:nvSpPr>
          <p:cNvPr id="68" name="portfolio-micro-label-2-0"/>
          <p:cNvSpPr txBox="1"/>
          <p:nvPr/>
        </p:nvSpPr>
        <p:spPr>
          <a:xfrm>
            <a:off x="5916168" y="2208276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E8000D"/>
                </a:solidFill>
                <a:latin typeface="Arial"/>
              </a:rPr>
              <a:t>spec</a:t>
            </a:r>
          </a:p>
        </p:txBody>
      </p:sp>
      <p:sp>
        <p:nvSpPr>
          <p:cNvPr id="69" name="portfolio-micro-label-2-1"/>
          <p:cNvSpPr txBox="1"/>
          <p:nvPr/>
        </p:nvSpPr>
        <p:spPr>
          <a:xfrm>
            <a:off x="6903720" y="2208276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E8000D"/>
                </a:solidFill>
                <a:latin typeface="Arial"/>
              </a:rPr>
              <a:t>audit</a:t>
            </a:r>
          </a:p>
        </p:txBody>
      </p:sp>
      <p:sp>
        <p:nvSpPr>
          <p:cNvPr id="70" name="portfolio-micro-label-2-2"/>
          <p:cNvSpPr txBox="1"/>
          <p:nvPr/>
        </p:nvSpPr>
        <p:spPr>
          <a:xfrm>
            <a:off x="5916168" y="2592324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E8000D"/>
                </a:solidFill>
                <a:latin typeface="Arial"/>
              </a:rPr>
              <a:t>trace</a:t>
            </a:r>
          </a:p>
        </p:txBody>
      </p:sp>
      <p:sp>
        <p:nvSpPr>
          <p:cNvPr id="71" name="portfolio-micro-label-2-3"/>
          <p:cNvSpPr txBox="1"/>
          <p:nvPr/>
        </p:nvSpPr>
        <p:spPr>
          <a:xfrm>
            <a:off x="6903720" y="2592324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E8000D"/>
                </a:solidFill>
                <a:latin typeface="Arial"/>
              </a:rPr>
              <a:t>pass</a:t>
            </a:r>
          </a:p>
        </p:txBody>
      </p:sp>
      <p:sp>
        <p:nvSpPr>
          <p:cNvPr id="72" name="portfolio-num-3"/>
          <p:cNvSpPr txBox="1"/>
          <p:nvPr/>
        </p:nvSpPr>
        <p:spPr>
          <a:xfrm>
            <a:off x="676656" y="3630168"/>
            <a:ext cx="566928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1" lang="en-US">
                <a:solidFill>
                  <a:srgbClr val="111111"/>
                </a:solidFill>
                <a:latin typeface="Arial"/>
              </a:rPr>
              <a:t>04</a:t>
            </a:r>
          </a:p>
        </p:txBody>
      </p:sp>
      <p:sp>
        <p:nvSpPr>
          <p:cNvPr id="73" name="portfolio-name-3"/>
          <p:cNvSpPr txBox="1"/>
          <p:nvPr/>
        </p:nvSpPr>
        <p:spPr>
          <a:xfrm>
            <a:off x="676656" y="4050791"/>
            <a:ext cx="192024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50" b="1" lang="en-US">
                <a:solidFill>
                  <a:srgbClr val="111111"/>
                </a:solidFill>
                <a:latin typeface="Arial"/>
              </a:rPr>
              <a:t>Visuals</a:t>
            </a:r>
          </a:p>
        </p:txBody>
      </p:sp>
      <p:sp>
        <p:nvSpPr>
          <p:cNvPr id="74" name="portfolio-micro-label-3-0"/>
          <p:cNvSpPr txBox="1"/>
          <p:nvPr/>
        </p:nvSpPr>
        <p:spPr>
          <a:xfrm>
            <a:off x="722376" y="4539996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111111"/>
                </a:solidFill>
                <a:latin typeface="Arial"/>
              </a:rPr>
              <a:t>spec</a:t>
            </a:r>
          </a:p>
        </p:txBody>
      </p:sp>
      <p:sp>
        <p:nvSpPr>
          <p:cNvPr id="75" name="portfolio-micro-label-3-1"/>
          <p:cNvSpPr txBox="1"/>
          <p:nvPr/>
        </p:nvSpPr>
        <p:spPr>
          <a:xfrm>
            <a:off x="1709928" y="4539996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111111"/>
                </a:solidFill>
                <a:latin typeface="Arial"/>
              </a:rPr>
              <a:t>audit</a:t>
            </a:r>
          </a:p>
        </p:txBody>
      </p:sp>
      <p:sp>
        <p:nvSpPr>
          <p:cNvPr id="76" name="portfolio-micro-label-3-2"/>
          <p:cNvSpPr txBox="1"/>
          <p:nvPr/>
        </p:nvSpPr>
        <p:spPr>
          <a:xfrm>
            <a:off x="722376" y="4924044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111111"/>
                </a:solidFill>
                <a:latin typeface="Arial"/>
              </a:rPr>
              <a:t>trace</a:t>
            </a:r>
          </a:p>
        </p:txBody>
      </p:sp>
      <p:sp>
        <p:nvSpPr>
          <p:cNvPr id="77" name="portfolio-micro-label-3-3"/>
          <p:cNvSpPr txBox="1"/>
          <p:nvPr/>
        </p:nvSpPr>
        <p:spPr>
          <a:xfrm>
            <a:off x="1709928" y="4924044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111111"/>
                </a:solidFill>
                <a:latin typeface="Arial"/>
              </a:rPr>
              <a:t>pass</a:t>
            </a:r>
          </a:p>
        </p:txBody>
      </p:sp>
      <p:sp>
        <p:nvSpPr>
          <p:cNvPr id="78" name="portfolio-num-4"/>
          <p:cNvSpPr txBox="1"/>
          <p:nvPr/>
        </p:nvSpPr>
        <p:spPr>
          <a:xfrm>
            <a:off x="3273552" y="3630168"/>
            <a:ext cx="566928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1" lang="en-US">
                <a:solidFill>
                  <a:srgbClr val="E8000D"/>
                </a:solidFill>
                <a:latin typeface="Arial"/>
              </a:rPr>
              <a:t>05</a:t>
            </a:r>
          </a:p>
        </p:txBody>
      </p:sp>
      <p:sp>
        <p:nvSpPr>
          <p:cNvPr id="79" name="portfolio-name-4"/>
          <p:cNvSpPr txBox="1"/>
          <p:nvPr/>
        </p:nvSpPr>
        <p:spPr>
          <a:xfrm>
            <a:off x="3273552" y="4050791"/>
            <a:ext cx="192024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50" b="1" lang="en-US">
                <a:solidFill>
                  <a:srgbClr val="111111"/>
                </a:solidFill>
                <a:latin typeface="Arial"/>
              </a:rPr>
              <a:t>Accessibility</a:t>
            </a:r>
          </a:p>
        </p:txBody>
      </p:sp>
      <p:sp>
        <p:nvSpPr>
          <p:cNvPr id="80" name="portfolio-micro-label-4-0"/>
          <p:cNvSpPr txBox="1"/>
          <p:nvPr/>
        </p:nvSpPr>
        <p:spPr>
          <a:xfrm>
            <a:off x="3319272" y="4539996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E8000D"/>
                </a:solidFill>
                <a:latin typeface="Arial"/>
              </a:rPr>
              <a:t>spec</a:t>
            </a:r>
          </a:p>
        </p:txBody>
      </p:sp>
      <p:sp>
        <p:nvSpPr>
          <p:cNvPr id="81" name="portfolio-micro-label-4-1"/>
          <p:cNvSpPr txBox="1"/>
          <p:nvPr/>
        </p:nvSpPr>
        <p:spPr>
          <a:xfrm>
            <a:off x="4306824" y="4539996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E8000D"/>
                </a:solidFill>
                <a:latin typeface="Arial"/>
              </a:rPr>
              <a:t>audit</a:t>
            </a:r>
          </a:p>
        </p:txBody>
      </p:sp>
      <p:sp>
        <p:nvSpPr>
          <p:cNvPr id="82" name="portfolio-micro-label-4-2"/>
          <p:cNvSpPr txBox="1"/>
          <p:nvPr/>
        </p:nvSpPr>
        <p:spPr>
          <a:xfrm>
            <a:off x="3319272" y="4924044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E8000D"/>
                </a:solidFill>
                <a:latin typeface="Arial"/>
              </a:rPr>
              <a:t>trace</a:t>
            </a:r>
          </a:p>
        </p:txBody>
      </p:sp>
      <p:sp>
        <p:nvSpPr>
          <p:cNvPr id="83" name="portfolio-micro-label-4-3"/>
          <p:cNvSpPr txBox="1"/>
          <p:nvPr/>
        </p:nvSpPr>
        <p:spPr>
          <a:xfrm>
            <a:off x="4306824" y="4924044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E8000D"/>
                </a:solidFill>
                <a:latin typeface="Arial"/>
              </a:rPr>
              <a:t>pass</a:t>
            </a:r>
          </a:p>
        </p:txBody>
      </p:sp>
      <p:sp>
        <p:nvSpPr>
          <p:cNvPr id="84" name="portfolio-num-5"/>
          <p:cNvSpPr txBox="1"/>
          <p:nvPr/>
        </p:nvSpPr>
        <p:spPr>
          <a:xfrm>
            <a:off x="5870448" y="3630168"/>
            <a:ext cx="566928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1" lang="en-US">
                <a:solidFill>
                  <a:srgbClr val="E8000D"/>
                </a:solidFill>
                <a:latin typeface="Arial"/>
              </a:rPr>
              <a:t>06</a:t>
            </a:r>
          </a:p>
        </p:txBody>
      </p:sp>
      <p:sp>
        <p:nvSpPr>
          <p:cNvPr id="85" name="portfolio-name-5"/>
          <p:cNvSpPr txBox="1"/>
          <p:nvPr/>
        </p:nvSpPr>
        <p:spPr>
          <a:xfrm>
            <a:off x="5870448" y="4050791"/>
            <a:ext cx="192024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50" b="1" lang="en-US">
                <a:solidFill>
                  <a:srgbClr val="111111"/>
                </a:solidFill>
                <a:latin typeface="Arial"/>
              </a:rPr>
              <a:t>Package</a:t>
            </a:r>
          </a:p>
        </p:txBody>
      </p:sp>
      <p:sp>
        <p:nvSpPr>
          <p:cNvPr id="86" name="portfolio-micro-label-5-0"/>
          <p:cNvSpPr txBox="1"/>
          <p:nvPr/>
        </p:nvSpPr>
        <p:spPr>
          <a:xfrm>
            <a:off x="5916168" y="4539996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E8000D"/>
                </a:solidFill>
                <a:latin typeface="Arial"/>
              </a:rPr>
              <a:t>spec</a:t>
            </a:r>
          </a:p>
        </p:txBody>
      </p:sp>
      <p:sp>
        <p:nvSpPr>
          <p:cNvPr id="87" name="portfolio-micro-label-5-1"/>
          <p:cNvSpPr txBox="1"/>
          <p:nvPr/>
        </p:nvSpPr>
        <p:spPr>
          <a:xfrm>
            <a:off x="6903720" y="4539996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E8000D"/>
                </a:solidFill>
                <a:latin typeface="Arial"/>
              </a:rPr>
              <a:t>audit</a:t>
            </a:r>
          </a:p>
        </p:txBody>
      </p:sp>
      <p:sp>
        <p:nvSpPr>
          <p:cNvPr id="88" name="portfolio-micro-label-5-2"/>
          <p:cNvSpPr txBox="1"/>
          <p:nvPr/>
        </p:nvSpPr>
        <p:spPr>
          <a:xfrm>
            <a:off x="5916168" y="4924044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E8000D"/>
                </a:solidFill>
                <a:latin typeface="Arial"/>
              </a:rPr>
              <a:t>trace</a:t>
            </a:r>
          </a:p>
        </p:txBody>
      </p:sp>
      <p:sp>
        <p:nvSpPr>
          <p:cNvPr id="89" name="portfolio-micro-label-5-3"/>
          <p:cNvSpPr txBox="1"/>
          <p:nvPr/>
        </p:nvSpPr>
        <p:spPr>
          <a:xfrm>
            <a:off x="6903720" y="4924044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E8000D"/>
                </a:solidFill>
                <a:latin typeface="Arial"/>
              </a:rPr>
              <a:t>pass</a:t>
            </a:r>
          </a:p>
        </p:txBody>
      </p:sp>
      <p:sp>
        <p:nvSpPr>
          <p:cNvPr id="90" name="portfolio-rail-title"/>
          <p:cNvSpPr txBox="1"/>
          <p:nvPr/>
        </p:nvSpPr>
        <p:spPr>
          <a:xfrm>
            <a:off x="8723376" y="1325880"/>
            <a:ext cx="246888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1" lang="en-US">
                <a:solidFill>
                  <a:srgbClr val="E8000D"/>
                </a:solidFill>
                <a:latin typeface="Arial"/>
              </a:rPr>
              <a:t>RELEASE BOARD</a:t>
            </a:r>
          </a:p>
        </p:txBody>
      </p:sp>
      <p:sp>
        <p:nvSpPr>
          <p:cNvPr id="91" name="release-label-0"/>
          <p:cNvSpPr txBox="1"/>
          <p:nvPr/>
        </p:nvSpPr>
        <p:spPr>
          <a:xfrm>
            <a:off x="8906256" y="1847088"/>
            <a:ext cx="137160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50" b="1" lang="en-US">
                <a:solidFill>
                  <a:srgbClr val="444444"/>
                </a:solidFill>
                <a:latin typeface="Arial"/>
              </a:rPr>
              <a:t>Layouts</a:t>
            </a:r>
          </a:p>
        </p:txBody>
      </p:sp>
      <p:sp>
        <p:nvSpPr>
          <p:cNvPr id="92" name="release-value-0"/>
          <p:cNvSpPr txBox="1"/>
          <p:nvPr/>
        </p:nvSpPr>
        <p:spPr>
          <a:xfrm>
            <a:off x="10378440" y="1828800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1100" b="1" lang="en-US">
                <a:solidFill>
                  <a:srgbClr val="E8000D"/>
                </a:solidFill>
                <a:latin typeface="Arial"/>
              </a:rPr>
              <a:t>60</a:t>
            </a:r>
          </a:p>
        </p:txBody>
      </p:sp>
      <p:sp>
        <p:nvSpPr>
          <p:cNvPr id="93" name="release-label-1"/>
          <p:cNvSpPr txBox="1"/>
          <p:nvPr/>
        </p:nvSpPr>
        <p:spPr>
          <a:xfrm>
            <a:off x="8906256" y="2542032"/>
            <a:ext cx="137160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50" b="1" lang="en-US">
                <a:solidFill>
                  <a:srgbClr val="444444"/>
                </a:solidFill>
                <a:latin typeface="Arial"/>
              </a:rPr>
              <a:t>Profiles</a:t>
            </a:r>
          </a:p>
        </p:txBody>
      </p:sp>
      <p:sp>
        <p:nvSpPr>
          <p:cNvPr id="94" name="release-value-1"/>
          <p:cNvSpPr txBox="1"/>
          <p:nvPr/>
        </p:nvSpPr>
        <p:spPr>
          <a:xfrm>
            <a:off x="10378440" y="2523744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1100" b="1" lang="en-US">
                <a:solidFill>
                  <a:srgbClr val="111111"/>
                </a:solidFill>
                <a:latin typeface="Arial"/>
              </a:rPr>
              <a:t>12</a:t>
            </a:r>
          </a:p>
        </p:txBody>
      </p:sp>
      <p:sp>
        <p:nvSpPr>
          <p:cNvPr id="95" name="release-label-2"/>
          <p:cNvSpPr txBox="1"/>
          <p:nvPr/>
        </p:nvSpPr>
        <p:spPr>
          <a:xfrm>
            <a:off x="8906256" y="3236976"/>
            <a:ext cx="137160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50" b="1" lang="en-US">
                <a:solidFill>
                  <a:srgbClr val="444444"/>
                </a:solidFill>
                <a:latin typeface="Arial"/>
              </a:rPr>
              <a:t>Gate checks</a:t>
            </a:r>
          </a:p>
        </p:txBody>
      </p:sp>
      <p:sp>
        <p:nvSpPr>
          <p:cNvPr id="96" name="release-value-2"/>
          <p:cNvSpPr txBox="1"/>
          <p:nvPr/>
        </p:nvSpPr>
        <p:spPr>
          <a:xfrm>
            <a:off x="10378440" y="3218688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1100" b="1" lang="en-US">
                <a:solidFill>
                  <a:srgbClr val="E8000D"/>
                </a:solidFill>
                <a:latin typeface="Arial"/>
              </a:rPr>
              <a:t>11</a:t>
            </a:r>
          </a:p>
        </p:txBody>
      </p:sp>
      <p:sp>
        <p:nvSpPr>
          <p:cNvPr id="97" name="release-label-3"/>
          <p:cNvSpPr txBox="1"/>
          <p:nvPr/>
        </p:nvSpPr>
        <p:spPr>
          <a:xfrm>
            <a:off x="8906256" y="3931920"/>
            <a:ext cx="137160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50" b="1" lang="en-US">
                <a:solidFill>
                  <a:srgbClr val="444444"/>
                </a:solidFill>
                <a:latin typeface="Arial"/>
              </a:rPr>
              <a:t>Defects</a:t>
            </a:r>
          </a:p>
        </p:txBody>
      </p:sp>
      <p:sp>
        <p:nvSpPr>
          <p:cNvPr id="98" name="release-value-3"/>
          <p:cNvSpPr txBox="1"/>
          <p:nvPr/>
        </p:nvSpPr>
        <p:spPr>
          <a:xfrm>
            <a:off x="10378440" y="3913632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1100" b="1" lang="en-US">
                <a:solidFill>
                  <a:srgbClr val="111111"/>
                </a:solidFill>
                <a:latin typeface="Arial"/>
              </a:rPr>
              <a:t>00</a:t>
            </a:r>
          </a:p>
        </p:txBody>
      </p:sp>
      <p:sp>
        <p:nvSpPr>
          <p:cNvPr id="99" name="release-label-4"/>
          <p:cNvSpPr txBox="1"/>
          <p:nvPr/>
        </p:nvSpPr>
        <p:spPr>
          <a:xfrm>
            <a:off x="8906256" y="4626864"/>
            <a:ext cx="137160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50" b="1" lang="en-US">
                <a:solidFill>
                  <a:srgbClr val="444444"/>
                </a:solidFill>
                <a:latin typeface="Arial"/>
              </a:rPr>
              <a:t>Evidence</a:t>
            </a:r>
          </a:p>
        </p:txBody>
      </p:sp>
      <p:sp>
        <p:nvSpPr>
          <p:cNvPr id="100" name="release-value-4"/>
          <p:cNvSpPr txBox="1"/>
          <p:nvPr/>
        </p:nvSpPr>
        <p:spPr>
          <a:xfrm>
            <a:off x="10378440" y="4608576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1100" b="1" lang="en-US">
                <a:solidFill>
                  <a:srgbClr val="E8000D"/>
                </a:solidFill>
                <a:latin typeface="Arial"/>
              </a:rPr>
              <a:t>native</a:t>
            </a:r>
          </a:p>
        </p:txBody>
      </p:sp>
      <p:sp>
        <p:nvSpPr>
          <p:cNvPr id="101" name="portfolio-banner-label"/>
          <p:cNvSpPr txBox="1"/>
          <p:nvPr/>
        </p:nvSpPr>
        <p:spPr>
          <a:xfrm>
            <a:off x="713232" y="5687568"/>
            <a:ext cx="740664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50" b="1" lang="en-US">
                <a:solidFill>
                  <a:srgbClr val="FFFFFF"/>
                </a:solidFill>
                <a:latin typeface="Arial"/>
              </a:rPr>
              <a:t>Six dense tiles test nested cards, micro-labels, hierarchy, and high-information scanning.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wiss-rule"/>
          <p:cNvSpPr/>
          <p:nvPr/>
        </p:nvSpPr>
        <p:spPr>
          <a:xfrm>
            <a:off x="164592" y="0"/>
            <a:ext cx="91440" cy="6858000"/>
          </a:xfrm>
          <a:prstGeom prst="rect">
            <a:avLst/>
          </a:prstGeom>
          <a:solidFill>
            <a:srgbClr val="E8000D"/>
          </a:solidFill>
          <a:ln w="10160">
            <a:solidFill>
              <a:srgbClr val="E800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wiss-divider"/>
          <p:cNvSpPr/>
          <p:nvPr/>
        </p:nvSpPr>
        <p:spPr>
          <a:xfrm>
            <a:off x="457200" y="969264"/>
            <a:ext cx="11274552" cy="22860"/>
          </a:xfrm>
          <a:prstGeom prst="rect">
            <a:avLst/>
          </a:prstGeom>
          <a:solidFill>
            <a:srgbClr val="DDDDDD"/>
          </a:solidFill>
          <a:ln w="1016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op-band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000D"/>
          </a:solidFill>
          <a:ln w="10160">
            <a:solidFill>
              <a:srgbClr val="E800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lane-0"/>
          <p:cNvSpPr/>
          <p:nvPr/>
        </p:nvSpPr>
        <p:spPr>
          <a:xfrm>
            <a:off x="457200" y="1097280"/>
            <a:ext cx="8458200" cy="914400"/>
          </a:xfrm>
          <a:prstGeom prst="roundRect">
            <a:avLst/>
          </a:prstGeom>
          <a:solidFill>
            <a:srgbClr val="FAFAFA"/>
          </a:solidFill>
          <a:ln w="1016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lane-1"/>
          <p:cNvSpPr/>
          <p:nvPr/>
        </p:nvSpPr>
        <p:spPr>
          <a:xfrm>
            <a:off x="457200" y="2267712"/>
            <a:ext cx="8458200" cy="914400"/>
          </a:xfrm>
          <a:prstGeom prst="roundRect">
            <a:avLst/>
          </a:prstGeom>
          <a:solidFill>
            <a:srgbClr val="FAFAFA"/>
          </a:solidFill>
          <a:ln w="1016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lane-2"/>
          <p:cNvSpPr/>
          <p:nvPr/>
        </p:nvSpPr>
        <p:spPr>
          <a:xfrm>
            <a:off x="457200" y="3438144"/>
            <a:ext cx="8458200" cy="914400"/>
          </a:xfrm>
          <a:prstGeom prst="roundRect">
            <a:avLst/>
          </a:prstGeom>
          <a:solidFill>
            <a:srgbClr val="FAFAFA"/>
          </a:solidFill>
          <a:ln w="1016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lane-3"/>
          <p:cNvSpPr/>
          <p:nvPr/>
        </p:nvSpPr>
        <p:spPr>
          <a:xfrm>
            <a:off x="457200" y="4608576"/>
            <a:ext cx="8458200" cy="914400"/>
          </a:xfrm>
          <a:prstGeom prst="roundRect">
            <a:avLst/>
          </a:prstGeom>
          <a:solidFill>
            <a:srgbClr val="FAFAFA"/>
          </a:solidFill>
          <a:ln w="1016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workbench-rail-shell"/>
          <p:cNvSpPr/>
          <p:nvPr/>
        </p:nvSpPr>
        <p:spPr>
          <a:xfrm>
            <a:off x="9189720" y="1097280"/>
            <a:ext cx="2542032" cy="4892040"/>
          </a:xfrm>
          <a:prstGeom prst="rect">
            <a:avLst/>
          </a:prstGeom>
          <a:solidFill>
            <a:srgbClr val="FFFFFF"/>
          </a:solidFill>
          <a:ln w="1016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lane-label-0"/>
          <p:cNvSpPr/>
          <p:nvPr/>
        </p:nvSpPr>
        <p:spPr>
          <a:xfrm>
            <a:off x="457200" y="1097280"/>
            <a:ext cx="1097280" cy="914400"/>
          </a:xfrm>
          <a:prstGeom prst="rect">
            <a:avLst/>
          </a:prstGeom>
          <a:solidFill>
            <a:srgbClr val="E8000D"/>
          </a:solidFill>
          <a:ln w="10160">
            <a:solidFill>
              <a:srgbClr val="E800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lane-label-1"/>
          <p:cNvSpPr/>
          <p:nvPr/>
        </p:nvSpPr>
        <p:spPr>
          <a:xfrm>
            <a:off x="457200" y="2267712"/>
            <a:ext cx="1097280" cy="914400"/>
          </a:xfrm>
          <a:prstGeom prst="rect">
            <a:avLst/>
          </a:prstGeom>
          <a:solidFill>
            <a:srgbClr val="111111"/>
          </a:solidFill>
          <a:ln w="1016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lane-label-2"/>
          <p:cNvSpPr/>
          <p:nvPr/>
        </p:nvSpPr>
        <p:spPr>
          <a:xfrm>
            <a:off x="457200" y="3438144"/>
            <a:ext cx="1097280" cy="914400"/>
          </a:xfrm>
          <a:prstGeom prst="rect">
            <a:avLst/>
          </a:prstGeom>
          <a:solidFill>
            <a:srgbClr val="E8000D"/>
          </a:solidFill>
          <a:ln w="10160">
            <a:solidFill>
              <a:srgbClr val="E800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lane-label-3"/>
          <p:cNvSpPr/>
          <p:nvPr/>
        </p:nvSpPr>
        <p:spPr>
          <a:xfrm>
            <a:off x="457200" y="4608576"/>
            <a:ext cx="1097280" cy="914400"/>
          </a:xfrm>
          <a:prstGeom prst="rect">
            <a:avLst/>
          </a:prstGeom>
          <a:solidFill>
            <a:srgbClr val="111111"/>
          </a:solidFill>
          <a:ln w="1016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workbench-rail-accent"/>
          <p:cNvSpPr/>
          <p:nvPr/>
        </p:nvSpPr>
        <p:spPr>
          <a:xfrm>
            <a:off x="9189720" y="1097280"/>
            <a:ext cx="73152" cy="4892040"/>
          </a:xfrm>
          <a:prstGeom prst="rect">
            <a:avLst/>
          </a:prstGeom>
          <a:solidFill>
            <a:srgbClr val="E8000D"/>
          </a:solidFill>
          <a:ln w="10160">
            <a:solidFill>
              <a:srgbClr val="E800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hart-axis"/>
          <p:cNvCxnSpPr/>
          <p:nvPr/>
        </p:nvCxnSpPr>
        <p:spPr>
          <a:xfrm>
            <a:off x="9400032" y="4718304"/>
            <a:ext cx="2048256" cy="0"/>
          </a:xfrm>
          <a:prstGeom prst="line">
            <a:avLst/>
          </a:prstGeom>
          <a:ln w="1397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ask-0-0"/>
          <p:cNvSpPr/>
          <p:nvPr/>
        </p:nvSpPr>
        <p:spPr>
          <a:xfrm>
            <a:off x="1773936" y="1234440"/>
            <a:ext cx="1161288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800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ask-0-1"/>
          <p:cNvSpPr/>
          <p:nvPr/>
        </p:nvSpPr>
        <p:spPr>
          <a:xfrm>
            <a:off x="3127248" y="1234440"/>
            <a:ext cx="1161288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800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ask-0-2"/>
          <p:cNvSpPr/>
          <p:nvPr/>
        </p:nvSpPr>
        <p:spPr>
          <a:xfrm>
            <a:off x="4480560" y="1234440"/>
            <a:ext cx="1161288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800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ask-0-3"/>
          <p:cNvSpPr/>
          <p:nvPr/>
        </p:nvSpPr>
        <p:spPr>
          <a:xfrm>
            <a:off x="5833872" y="1234440"/>
            <a:ext cx="1161288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800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ask-0-4"/>
          <p:cNvSpPr/>
          <p:nvPr/>
        </p:nvSpPr>
        <p:spPr>
          <a:xfrm>
            <a:off x="7187184" y="1234440"/>
            <a:ext cx="1161288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800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ask-1-0"/>
          <p:cNvSpPr/>
          <p:nvPr/>
        </p:nvSpPr>
        <p:spPr>
          <a:xfrm>
            <a:off x="1773936" y="2404872"/>
            <a:ext cx="1161288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ask-1-1"/>
          <p:cNvSpPr/>
          <p:nvPr/>
        </p:nvSpPr>
        <p:spPr>
          <a:xfrm>
            <a:off x="3127248" y="2404872"/>
            <a:ext cx="1161288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ask-1-2"/>
          <p:cNvSpPr/>
          <p:nvPr/>
        </p:nvSpPr>
        <p:spPr>
          <a:xfrm>
            <a:off x="4480560" y="2404872"/>
            <a:ext cx="1161288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ask-1-3"/>
          <p:cNvSpPr/>
          <p:nvPr/>
        </p:nvSpPr>
        <p:spPr>
          <a:xfrm>
            <a:off x="5833872" y="2404872"/>
            <a:ext cx="1161288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ask-1-4"/>
          <p:cNvSpPr/>
          <p:nvPr/>
        </p:nvSpPr>
        <p:spPr>
          <a:xfrm>
            <a:off x="7187184" y="2404872"/>
            <a:ext cx="1161288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ask-2-0"/>
          <p:cNvSpPr/>
          <p:nvPr/>
        </p:nvSpPr>
        <p:spPr>
          <a:xfrm>
            <a:off x="1773936" y="3575304"/>
            <a:ext cx="1161288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800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ask-2-1"/>
          <p:cNvSpPr/>
          <p:nvPr/>
        </p:nvSpPr>
        <p:spPr>
          <a:xfrm>
            <a:off x="3127248" y="3575304"/>
            <a:ext cx="1161288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800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ask-2-2"/>
          <p:cNvSpPr/>
          <p:nvPr/>
        </p:nvSpPr>
        <p:spPr>
          <a:xfrm>
            <a:off x="4480560" y="3575304"/>
            <a:ext cx="1161288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800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ask-2-3"/>
          <p:cNvSpPr/>
          <p:nvPr/>
        </p:nvSpPr>
        <p:spPr>
          <a:xfrm>
            <a:off x="5833872" y="3575304"/>
            <a:ext cx="1161288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800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ask-2-4"/>
          <p:cNvSpPr/>
          <p:nvPr/>
        </p:nvSpPr>
        <p:spPr>
          <a:xfrm>
            <a:off x="7187184" y="3575304"/>
            <a:ext cx="1161288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800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ask-3-0"/>
          <p:cNvSpPr/>
          <p:nvPr/>
        </p:nvSpPr>
        <p:spPr>
          <a:xfrm>
            <a:off x="1773936" y="4745736"/>
            <a:ext cx="1161288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ask-3-1"/>
          <p:cNvSpPr/>
          <p:nvPr/>
        </p:nvSpPr>
        <p:spPr>
          <a:xfrm>
            <a:off x="3127248" y="4745736"/>
            <a:ext cx="1161288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ask-3-2"/>
          <p:cNvSpPr/>
          <p:nvPr/>
        </p:nvSpPr>
        <p:spPr>
          <a:xfrm>
            <a:off x="4480560" y="4745736"/>
            <a:ext cx="1161288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ask-3-3"/>
          <p:cNvSpPr/>
          <p:nvPr/>
        </p:nvSpPr>
        <p:spPr>
          <a:xfrm>
            <a:off x="5833872" y="4745736"/>
            <a:ext cx="1161288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ask-3-4"/>
          <p:cNvSpPr/>
          <p:nvPr/>
        </p:nvSpPr>
        <p:spPr>
          <a:xfrm>
            <a:off x="7187184" y="4745736"/>
            <a:ext cx="1161288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bar-0"/>
          <p:cNvSpPr/>
          <p:nvPr/>
        </p:nvSpPr>
        <p:spPr>
          <a:xfrm>
            <a:off x="9454896" y="3771900"/>
            <a:ext cx="155448" cy="946403"/>
          </a:xfrm>
          <a:prstGeom prst="roundRect">
            <a:avLst/>
          </a:prstGeom>
          <a:solidFill>
            <a:srgbClr val="E8000D"/>
          </a:solidFill>
          <a:ln w="10160">
            <a:solidFill>
              <a:srgbClr val="E800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bar-1"/>
          <p:cNvSpPr/>
          <p:nvPr/>
        </p:nvSpPr>
        <p:spPr>
          <a:xfrm>
            <a:off x="9701784" y="3204057"/>
            <a:ext cx="155448" cy="1514246"/>
          </a:xfrm>
          <a:prstGeom prst="roundRect">
            <a:avLst/>
          </a:prstGeom>
          <a:solidFill>
            <a:srgbClr val="111111"/>
          </a:solidFill>
          <a:ln w="1016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bar-2"/>
          <p:cNvSpPr/>
          <p:nvPr/>
        </p:nvSpPr>
        <p:spPr>
          <a:xfrm>
            <a:off x="9948672" y="3498494"/>
            <a:ext cx="155448" cy="1219809"/>
          </a:xfrm>
          <a:prstGeom prst="roundRect">
            <a:avLst/>
          </a:prstGeom>
          <a:solidFill>
            <a:srgbClr val="E8000D"/>
          </a:solidFill>
          <a:ln w="10160">
            <a:solidFill>
              <a:srgbClr val="E800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bar-3"/>
          <p:cNvSpPr/>
          <p:nvPr/>
        </p:nvSpPr>
        <p:spPr>
          <a:xfrm>
            <a:off x="10195560" y="2909620"/>
            <a:ext cx="155448" cy="1808683"/>
          </a:xfrm>
          <a:prstGeom prst="roundRect">
            <a:avLst/>
          </a:prstGeom>
          <a:solidFill>
            <a:srgbClr val="111111"/>
          </a:solidFill>
          <a:ln w="1016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bar-4"/>
          <p:cNvSpPr/>
          <p:nvPr/>
        </p:nvSpPr>
        <p:spPr>
          <a:xfrm>
            <a:off x="10442448" y="3330244"/>
            <a:ext cx="155448" cy="1388059"/>
          </a:xfrm>
          <a:prstGeom prst="roundRect">
            <a:avLst/>
          </a:prstGeom>
          <a:solidFill>
            <a:srgbClr val="E8000D"/>
          </a:solidFill>
          <a:ln w="10160">
            <a:solidFill>
              <a:srgbClr val="E800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bar-5"/>
          <p:cNvSpPr/>
          <p:nvPr/>
        </p:nvSpPr>
        <p:spPr>
          <a:xfrm>
            <a:off x="10689336" y="2783433"/>
            <a:ext cx="155448" cy="1934870"/>
          </a:xfrm>
          <a:prstGeom prst="roundRect">
            <a:avLst/>
          </a:prstGeom>
          <a:solidFill>
            <a:srgbClr val="111111"/>
          </a:solidFill>
          <a:ln w="1016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bar-6"/>
          <p:cNvSpPr/>
          <p:nvPr/>
        </p:nvSpPr>
        <p:spPr>
          <a:xfrm>
            <a:off x="10936224" y="3119932"/>
            <a:ext cx="155448" cy="1598371"/>
          </a:xfrm>
          <a:prstGeom prst="roundRect">
            <a:avLst/>
          </a:prstGeom>
          <a:solidFill>
            <a:srgbClr val="E8000D"/>
          </a:solidFill>
          <a:ln w="10160">
            <a:solidFill>
              <a:srgbClr val="E800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bar-7"/>
          <p:cNvSpPr/>
          <p:nvPr/>
        </p:nvSpPr>
        <p:spPr>
          <a:xfrm>
            <a:off x="11183112" y="3603650"/>
            <a:ext cx="155448" cy="1114653"/>
          </a:xfrm>
          <a:prstGeom prst="roundRect">
            <a:avLst/>
          </a:prstGeom>
          <a:solidFill>
            <a:srgbClr val="111111"/>
          </a:solidFill>
          <a:ln w="1016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check-dot-0"/>
          <p:cNvSpPr/>
          <p:nvPr/>
        </p:nvSpPr>
        <p:spPr>
          <a:xfrm>
            <a:off x="9436608" y="5321808"/>
            <a:ext cx="91440" cy="91440"/>
          </a:xfrm>
          <a:prstGeom prst="ellipse">
            <a:avLst/>
          </a:prstGeom>
          <a:solidFill>
            <a:srgbClr val="111111"/>
          </a:solidFill>
          <a:ln w="1016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check-dot-1"/>
          <p:cNvSpPr/>
          <p:nvPr/>
        </p:nvSpPr>
        <p:spPr>
          <a:xfrm>
            <a:off x="9436608" y="5486400"/>
            <a:ext cx="91440" cy="91440"/>
          </a:xfrm>
          <a:prstGeom prst="ellipse">
            <a:avLst/>
          </a:prstGeom>
          <a:solidFill>
            <a:srgbClr val="111111"/>
          </a:solidFill>
          <a:ln w="1016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check-dot-2"/>
          <p:cNvSpPr/>
          <p:nvPr/>
        </p:nvSpPr>
        <p:spPr>
          <a:xfrm>
            <a:off x="9436608" y="5650992"/>
            <a:ext cx="91440" cy="91440"/>
          </a:xfrm>
          <a:prstGeom prst="ellipse">
            <a:avLst/>
          </a:prstGeom>
          <a:solidFill>
            <a:srgbClr val="111111"/>
          </a:solidFill>
          <a:ln w="1016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check-dot-3"/>
          <p:cNvSpPr/>
          <p:nvPr/>
        </p:nvSpPr>
        <p:spPr>
          <a:xfrm>
            <a:off x="9436608" y="5815584"/>
            <a:ext cx="91440" cy="91440"/>
          </a:xfrm>
          <a:prstGeom prst="ellipse">
            <a:avLst/>
          </a:prstGeom>
          <a:solidFill>
            <a:srgbClr val="E8000D"/>
          </a:solidFill>
          <a:ln w="10160">
            <a:solidFill>
              <a:srgbClr val="E800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profile-tag"/>
          <p:cNvSpPr txBox="1"/>
          <p:nvPr/>
        </p:nvSpPr>
        <p:spPr>
          <a:xfrm>
            <a:off x="457200" y="201168"/>
            <a:ext cx="768096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1" lang="en-US">
                <a:solidFill>
                  <a:srgbClr val="E8000D"/>
                </a:solidFill>
                <a:latin typeface="Arial"/>
              </a:rPr>
              <a:t>V3 STRESS SUITE  ·  SWISS INTERNATIONAL  ·  DELIVERY WORKBENCH</a:t>
            </a:r>
          </a:p>
        </p:txBody>
      </p:sp>
      <p:sp>
        <p:nvSpPr>
          <p:cNvPr id="50" name="slide-index"/>
          <p:cNvSpPr txBox="1"/>
          <p:nvPr/>
        </p:nvSpPr>
        <p:spPr>
          <a:xfrm>
            <a:off x="10808208" y="201168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00" b="1" lang="en-US">
                <a:solidFill>
                  <a:srgbClr val="444444"/>
                </a:solidFill>
                <a:latin typeface="Arial"/>
              </a:rPr>
              <a:t>25/60</a:t>
            </a:r>
          </a:p>
        </p:txBody>
      </p:sp>
      <p:sp>
        <p:nvSpPr>
          <p:cNvPr id="51" name="title"/>
          <p:cNvSpPr txBox="1"/>
          <p:nvPr/>
        </p:nvSpPr>
        <p:spPr>
          <a:xfrm>
            <a:off x="457200" y="484632"/>
            <a:ext cx="11274552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200" b="1" lang="en-US">
                <a:solidFill>
                  <a:srgbClr val="111111"/>
                </a:solidFill>
                <a:latin typeface="Arial"/>
              </a:rPr>
              <a:t>Delivery workbenches keep parallel work lanes legible under load</a:t>
            </a:r>
          </a:p>
        </p:txBody>
      </p:sp>
      <p:sp>
        <p:nvSpPr>
          <p:cNvPr id="52" name="footer"/>
          <p:cNvSpPr txBox="1"/>
          <p:nvPr/>
        </p:nvSpPr>
        <p:spPr>
          <a:xfrm>
            <a:off x="457200" y="6473952"/>
            <a:ext cx="1051560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0" lang="en-US">
                <a:solidFill>
                  <a:srgbClr val="444444"/>
                </a:solidFill>
                <a:latin typeface="Arial"/>
              </a:rPr>
              <a:t>Native-object stress fixture · strict grid, left red rule, and functional black typography · editable geometry and recorded style lock</a:t>
            </a:r>
          </a:p>
        </p:txBody>
      </p:sp>
      <p:sp>
        <p:nvSpPr>
          <p:cNvPr id="53" name="lane-name-0"/>
          <p:cNvSpPr txBox="1"/>
          <p:nvPr/>
        </p:nvSpPr>
        <p:spPr>
          <a:xfrm>
            <a:off x="566928" y="1444752"/>
            <a:ext cx="868680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lang="en-US">
                <a:solidFill>
                  <a:srgbClr val="FFFFFF"/>
                </a:solidFill>
                <a:latin typeface="Arial"/>
              </a:rPr>
              <a:t>INTAKE</a:t>
            </a:r>
          </a:p>
        </p:txBody>
      </p:sp>
      <p:sp>
        <p:nvSpPr>
          <p:cNvPr id="54" name="task-title-0-0"/>
          <p:cNvSpPr txBox="1"/>
          <p:nvPr/>
        </p:nvSpPr>
        <p:spPr>
          <a:xfrm>
            <a:off x="1847088" y="1362456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111111"/>
                </a:solidFill>
                <a:latin typeface="Arial"/>
              </a:rPr>
              <a:t>Scope</a:t>
            </a:r>
          </a:p>
        </p:txBody>
      </p:sp>
      <p:sp>
        <p:nvSpPr>
          <p:cNvPr id="55" name="task-state-0-0"/>
          <p:cNvSpPr txBox="1"/>
          <p:nvPr/>
        </p:nvSpPr>
        <p:spPr>
          <a:xfrm>
            <a:off x="1847088" y="1545336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E8000D"/>
                </a:solidFill>
                <a:latin typeface="Arial"/>
              </a:rPr>
              <a:t>new</a:t>
            </a:r>
          </a:p>
        </p:txBody>
      </p:sp>
      <p:sp>
        <p:nvSpPr>
          <p:cNvPr id="56" name="task-title-0-1"/>
          <p:cNvSpPr txBox="1"/>
          <p:nvPr/>
        </p:nvSpPr>
        <p:spPr>
          <a:xfrm>
            <a:off x="3200400" y="1362456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111111"/>
                </a:solidFill>
                <a:latin typeface="Arial"/>
              </a:rPr>
              <a:t>Profile</a:t>
            </a:r>
          </a:p>
        </p:txBody>
      </p:sp>
      <p:sp>
        <p:nvSpPr>
          <p:cNvPr id="57" name="task-state-0-1"/>
          <p:cNvSpPr txBox="1"/>
          <p:nvPr/>
        </p:nvSpPr>
        <p:spPr>
          <a:xfrm>
            <a:off x="3200400" y="1545336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E8000D"/>
                </a:solidFill>
                <a:latin typeface="Arial"/>
              </a:rPr>
              <a:t>locked</a:t>
            </a:r>
          </a:p>
        </p:txBody>
      </p:sp>
      <p:sp>
        <p:nvSpPr>
          <p:cNvPr id="58" name="task-title-0-2"/>
          <p:cNvSpPr txBox="1"/>
          <p:nvPr/>
        </p:nvSpPr>
        <p:spPr>
          <a:xfrm>
            <a:off x="4553712" y="1362456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111111"/>
                </a:solidFill>
                <a:latin typeface="Arial"/>
              </a:rPr>
              <a:t>Spec</a:t>
            </a:r>
          </a:p>
        </p:txBody>
      </p:sp>
      <p:sp>
        <p:nvSpPr>
          <p:cNvPr id="59" name="task-state-0-2"/>
          <p:cNvSpPr txBox="1"/>
          <p:nvPr/>
        </p:nvSpPr>
        <p:spPr>
          <a:xfrm>
            <a:off x="4553712" y="1545336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E8000D"/>
                </a:solidFill>
                <a:latin typeface="Arial"/>
              </a:rPr>
              <a:t>ready</a:t>
            </a:r>
          </a:p>
        </p:txBody>
      </p:sp>
      <p:sp>
        <p:nvSpPr>
          <p:cNvPr id="60" name="task-title-0-3"/>
          <p:cNvSpPr txBox="1"/>
          <p:nvPr/>
        </p:nvSpPr>
        <p:spPr>
          <a:xfrm>
            <a:off x="5907024" y="1362456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111111"/>
                </a:solidFill>
                <a:latin typeface="Arial"/>
              </a:rPr>
              <a:t>Audit</a:t>
            </a:r>
          </a:p>
        </p:txBody>
      </p:sp>
      <p:sp>
        <p:nvSpPr>
          <p:cNvPr id="61" name="task-state-0-3"/>
          <p:cNvSpPr txBox="1"/>
          <p:nvPr/>
        </p:nvSpPr>
        <p:spPr>
          <a:xfrm>
            <a:off x="5907024" y="1545336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E8000D"/>
                </a:solidFill>
                <a:latin typeface="Arial"/>
              </a:rPr>
              <a:t>pass</a:t>
            </a:r>
          </a:p>
        </p:txBody>
      </p:sp>
      <p:sp>
        <p:nvSpPr>
          <p:cNvPr id="62" name="task-title-0-4"/>
          <p:cNvSpPr txBox="1"/>
          <p:nvPr/>
        </p:nvSpPr>
        <p:spPr>
          <a:xfrm>
            <a:off x="7260336" y="1362456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111111"/>
                </a:solidFill>
                <a:latin typeface="Arial"/>
              </a:rPr>
              <a:t>Owner</a:t>
            </a:r>
          </a:p>
        </p:txBody>
      </p:sp>
      <p:sp>
        <p:nvSpPr>
          <p:cNvPr id="63" name="task-state-0-4"/>
          <p:cNvSpPr txBox="1"/>
          <p:nvPr/>
        </p:nvSpPr>
        <p:spPr>
          <a:xfrm>
            <a:off x="7260336" y="1545336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E8000D"/>
                </a:solidFill>
                <a:latin typeface="Arial"/>
              </a:rPr>
              <a:t>assigned</a:t>
            </a:r>
          </a:p>
        </p:txBody>
      </p:sp>
      <p:sp>
        <p:nvSpPr>
          <p:cNvPr id="64" name="lane-name-1"/>
          <p:cNvSpPr txBox="1"/>
          <p:nvPr/>
        </p:nvSpPr>
        <p:spPr>
          <a:xfrm>
            <a:off x="566928" y="2615184"/>
            <a:ext cx="868680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lang="en-US">
                <a:solidFill>
                  <a:srgbClr val="FFFFFF"/>
                </a:solidFill>
                <a:latin typeface="Arial"/>
              </a:rPr>
              <a:t>AUTHOR</a:t>
            </a:r>
          </a:p>
        </p:txBody>
      </p:sp>
      <p:sp>
        <p:nvSpPr>
          <p:cNvPr id="65" name="task-title-1-0"/>
          <p:cNvSpPr txBox="1"/>
          <p:nvPr/>
        </p:nvSpPr>
        <p:spPr>
          <a:xfrm>
            <a:off x="1847088" y="2532888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111111"/>
                </a:solidFill>
                <a:latin typeface="Arial"/>
              </a:rPr>
              <a:t>Scope</a:t>
            </a:r>
          </a:p>
        </p:txBody>
      </p:sp>
      <p:sp>
        <p:nvSpPr>
          <p:cNvPr id="66" name="task-state-1-0"/>
          <p:cNvSpPr txBox="1"/>
          <p:nvPr/>
        </p:nvSpPr>
        <p:spPr>
          <a:xfrm>
            <a:off x="1847088" y="2715768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111111"/>
                </a:solidFill>
                <a:latin typeface="Arial"/>
              </a:rPr>
              <a:t>locked</a:t>
            </a:r>
          </a:p>
        </p:txBody>
      </p:sp>
      <p:sp>
        <p:nvSpPr>
          <p:cNvPr id="67" name="task-title-1-1"/>
          <p:cNvSpPr txBox="1"/>
          <p:nvPr/>
        </p:nvSpPr>
        <p:spPr>
          <a:xfrm>
            <a:off x="3200400" y="2532888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111111"/>
                </a:solidFill>
                <a:latin typeface="Arial"/>
              </a:rPr>
              <a:t>Profile</a:t>
            </a:r>
          </a:p>
        </p:txBody>
      </p:sp>
      <p:sp>
        <p:nvSpPr>
          <p:cNvPr id="68" name="task-state-1-1"/>
          <p:cNvSpPr txBox="1"/>
          <p:nvPr/>
        </p:nvSpPr>
        <p:spPr>
          <a:xfrm>
            <a:off x="3200400" y="2715768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111111"/>
                </a:solidFill>
                <a:latin typeface="Arial"/>
              </a:rPr>
              <a:t>ready</a:t>
            </a:r>
          </a:p>
        </p:txBody>
      </p:sp>
      <p:sp>
        <p:nvSpPr>
          <p:cNvPr id="69" name="task-title-1-2"/>
          <p:cNvSpPr txBox="1"/>
          <p:nvPr/>
        </p:nvSpPr>
        <p:spPr>
          <a:xfrm>
            <a:off x="4553712" y="2532888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111111"/>
                </a:solidFill>
                <a:latin typeface="Arial"/>
              </a:rPr>
              <a:t>Spec</a:t>
            </a:r>
          </a:p>
        </p:txBody>
      </p:sp>
      <p:sp>
        <p:nvSpPr>
          <p:cNvPr id="70" name="task-state-1-2"/>
          <p:cNvSpPr txBox="1"/>
          <p:nvPr/>
        </p:nvSpPr>
        <p:spPr>
          <a:xfrm>
            <a:off x="4553712" y="2715768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111111"/>
                </a:solidFill>
                <a:latin typeface="Arial"/>
              </a:rPr>
              <a:t>pass</a:t>
            </a:r>
          </a:p>
        </p:txBody>
      </p:sp>
      <p:sp>
        <p:nvSpPr>
          <p:cNvPr id="71" name="task-title-1-3"/>
          <p:cNvSpPr txBox="1"/>
          <p:nvPr/>
        </p:nvSpPr>
        <p:spPr>
          <a:xfrm>
            <a:off x="5907024" y="2532888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111111"/>
                </a:solidFill>
                <a:latin typeface="Arial"/>
              </a:rPr>
              <a:t>Audit</a:t>
            </a:r>
          </a:p>
        </p:txBody>
      </p:sp>
      <p:sp>
        <p:nvSpPr>
          <p:cNvPr id="72" name="task-state-1-3"/>
          <p:cNvSpPr txBox="1"/>
          <p:nvPr/>
        </p:nvSpPr>
        <p:spPr>
          <a:xfrm>
            <a:off x="5907024" y="2715768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111111"/>
                </a:solidFill>
                <a:latin typeface="Arial"/>
              </a:rPr>
              <a:t>assigned</a:t>
            </a:r>
          </a:p>
        </p:txBody>
      </p:sp>
      <p:sp>
        <p:nvSpPr>
          <p:cNvPr id="73" name="task-title-1-4"/>
          <p:cNvSpPr txBox="1"/>
          <p:nvPr/>
        </p:nvSpPr>
        <p:spPr>
          <a:xfrm>
            <a:off x="7260336" y="2532888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111111"/>
                </a:solidFill>
                <a:latin typeface="Arial"/>
              </a:rPr>
              <a:t>Owner</a:t>
            </a:r>
          </a:p>
        </p:txBody>
      </p:sp>
      <p:sp>
        <p:nvSpPr>
          <p:cNvPr id="74" name="task-state-1-4"/>
          <p:cNvSpPr txBox="1"/>
          <p:nvPr/>
        </p:nvSpPr>
        <p:spPr>
          <a:xfrm>
            <a:off x="7260336" y="2715768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111111"/>
                </a:solidFill>
                <a:latin typeface="Arial"/>
              </a:rPr>
              <a:t>new</a:t>
            </a:r>
          </a:p>
        </p:txBody>
      </p:sp>
      <p:sp>
        <p:nvSpPr>
          <p:cNvPr id="75" name="lane-name-2"/>
          <p:cNvSpPr txBox="1"/>
          <p:nvPr/>
        </p:nvSpPr>
        <p:spPr>
          <a:xfrm>
            <a:off x="566928" y="3785615"/>
            <a:ext cx="868680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lang="en-US">
                <a:solidFill>
                  <a:srgbClr val="FFFFFF"/>
                </a:solidFill>
                <a:latin typeface="Arial"/>
              </a:rPr>
              <a:t>VERIFY</a:t>
            </a:r>
          </a:p>
        </p:txBody>
      </p:sp>
      <p:sp>
        <p:nvSpPr>
          <p:cNvPr id="76" name="task-title-2-0"/>
          <p:cNvSpPr txBox="1"/>
          <p:nvPr/>
        </p:nvSpPr>
        <p:spPr>
          <a:xfrm>
            <a:off x="1847088" y="3703320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111111"/>
                </a:solidFill>
                <a:latin typeface="Arial"/>
              </a:rPr>
              <a:t>Scope</a:t>
            </a:r>
          </a:p>
        </p:txBody>
      </p:sp>
      <p:sp>
        <p:nvSpPr>
          <p:cNvPr id="77" name="task-state-2-0"/>
          <p:cNvSpPr txBox="1"/>
          <p:nvPr/>
        </p:nvSpPr>
        <p:spPr>
          <a:xfrm>
            <a:off x="1847088" y="3886200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E8000D"/>
                </a:solidFill>
                <a:latin typeface="Arial"/>
              </a:rPr>
              <a:t>ready</a:t>
            </a:r>
          </a:p>
        </p:txBody>
      </p:sp>
      <p:sp>
        <p:nvSpPr>
          <p:cNvPr id="78" name="task-title-2-1"/>
          <p:cNvSpPr txBox="1"/>
          <p:nvPr/>
        </p:nvSpPr>
        <p:spPr>
          <a:xfrm>
            <a:off x="3200400" y="3703320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111111"/>
                </a:solidFill>
                <a:latin typeface="Arial"/>
              </a:rPr>
              <a:t>Profile</a:t>
            </a:r>
          </a:p>
        </p:txBody>
      </p:sp>
      <p:sp>
        <p:nvSpPr>
          <p:cNvPr id="79" name="task-state-2-1"/>
          <p:cNvSpPr txBox="1"/>
          <p:nvPr/>
        </p:nvSpPr>
        <p:spPr>
          <a:xfrm>
            <a:off x="3200400" y="3886200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E8000D"/>
                </a:solidFill>
                <a:latin typeface="Arial"/>
              </a:rPr>
              <a:t>pass</a:t>
            </a:r>
          </a:p>
        </p:txBody>
      </p:sp>
      <p:sp>
        <p:nvSpPr>
          <p:cNvPr id="80" name="task-title-2-2"/>
          <p:cNvSpPr txBox="1"/>
          <p:nvPr/>
        </p:nvSpPr>
        <p:spPr>
          <a:xfrm>
            <a:off x="4553712" y="3703320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111111"/>
                </a:solidFill>
                <a:latin typeface="Arial"/>
              </a:rPr>
              <a:t>Spec</a:t>
            </a:r>
          </a:p>
        </p:txBody>
      </p:sp>
      <p:sp>
        <p:nvSpPr>
          <p:cNvPr id="81" name="task-state-2-2"/>
          <p:cNvSpPr txBox="1"/>
          <p:nvPr/>
        </p:nvSpPr>
        <p:spPr>
          <a:xfrm>
            <a:off x="4553712" y="3886200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E8000D"/>
                </a:solidFill>
                <a:latin typeface="Arial"/>
              </a:rPr>
              <a:t>assigned</a:t>
            </a:r>
          </a:p>
        </p:txBody>
      </p:sp>
      <p:sp>
        <p:nvSpPr>
          <p:cNvPr id="82" name="task-title-2-3"/>
          <p:cNvSpPr txBox="1"/>
          <p:nvPr/>
        </p:nvSpPr>
        <p:spPr>
          <a:xfrm>
            <a:off x="5907024" y="3703320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111111"/>
                </a:solidFill>
                <a:latin typeface="Arial"/>
              </a:rPr>
              <a:t>Audit</a:t>
            </a:r>
          </a:p>
        </p:txBody>
      </p:sp>
      <p:sp>
        <p:nvSpPr>
          <p:cNvPr id="83" name="task-state-2-3"/>
          <p:cNvSpPr txBox="1"/>
          <p:nvPr/>
        </p:nvSpPr>
        <p:spPr>
          <a:xfrm>
            <a:off x="5907024" y="3886200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E8000D"/>
                </a:solidFill>
                <a:latin typeface="Arial"/>
              </a:rPr>
              <a:t>new</a:t>
            </a:r>
          </a:p>
        </p:txBody>
      </p:sp>
      <p:sp>
        <p:nvSpPr>
          <p:cNvPr id="84" name="task-title-2-4"/>
          <p:cNvSpPr txBox="1"/>
          <p:nvPr/>
        </p:nvSpPr>
        <p:spPr>
          <a:xfrm>
            <a:off x="7260336" y="3703320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111111"/>
                </a:solidFill>
                <a:latin typeface="Arial"/>
              </a:rPr>
              <a:t>Owner</a:t>
            </a:r>
          </a:p>
        </p:txBody>
      </p:sp>
      <p:sp>
        <p:nvSpPr>
          <p:cNvPr id="85" name="task-state-2-4"/>
          <p:cNvSpPr txBox="1"/>
          <p:nvPr/>
        </p:nvSpPr>
        <p:spPr>
          <a:xfrm>
            <a:off x="7260336" y="3886200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E8000D"/>
                </a:solidFill>
                <a:latin typeface="Arial"/>
              </a:rPr>
              <a:t>locked</a:t>
            </a:r>
          </a:p>
        </p:txBody>
      </p:sp>
      <p:sp>
        <p:nvSpPr>
          <p:cNvPr id="86" name="lane-name-3"/>
          <p:cNvSpPr txBox="1"/>
          <p:nvPr/>
        </p:nvSpPr>
        <p:spPr>
          <a:xfrm>
            <a:off x="566928" y="4956048"/>
            <a:ext cx="868680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lang="en-US">
                <a:solidFill>
                  <a:srgbClr val="FFFFFF"/>
                </a:solidFill>
                <a:latin typeface="Arial"/>
              </a:rPr>
              <a:t>SHIP</a:t>
            </a:r>
          </a:p>
        </p:txBody>
      </p:sp>
      <p:sp>
        <p:nvSpPr>
          <p:cNvPr id="87" name="task-title-3-0"/>
          <p:cNvSpPr txBox="1"/>
          <p:nvPr/>
        </p:nvSpPr>
        <p:spPr>
          <a:xfrm>
            <a:off x="1847088" y="4873752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111111"/>
                </a:solidFill>
                <a:latin typeface="Arial"/>
              </a:rPr>
              <a:t>Scope</a:t>
            </a:r>
          </a:p>
        </p:txBody>
      </p:sp>
      <p:sp>
        <p:nvSpPr>
          <p:cNvPr id="88" name="task-state-3-0"/>
          <p:cNvSpPr txBox="1"/>
          <p:nvPr/>
        </p:nvSpPr>
        <p:spPr>
          <a:xfrm>
            <a:off x="1847088" y="5056632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111111"/>
                </a:solidFill>
                <a:latin typeface="Arial"/>
              </a:rPr>
              <a:t>pass</a:t>
            </a:r>
          </a:p>
        </p:txBody>
      </p:sp>
      <p:sp>
        <p:nvSpPr>
          <p:cNvPr id="89" name="task-title-3-1"/>
          <p:cNvSpPr txBox="1"/>
          <p:nvPr/>
        </p:nvSpPr>
        <p:spPr>
          <a:xfrm>
            <a:off x="3200400" y="4873752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111111"/>
                </a:solidFill>
                <a:latin typeface="Arial"/>
              </a:rPr>
              <a:t>Profile</a:t>
            </a:r>
          </a:p>
        </p:txBody>
      </p:sp>
      <p:sp>
        <p:nvSpPr>
          <p:cNvPr id="90" name="task-state-3-1"/>
          <p:cNvSpPr txBox="1"/>
          <p:nvPr/>
        </p:nvSpPr>
        <p:spPr>
          <a:xfrm>
            <a:off x="3200400" y="5056632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111111"/>
                </a:solidFill>
                <a:latin typeface="Arial"/>
              </a:rPr>
              <a:t>assigned</a:t>
            </a:r>
          </a:p>
        </p:txBody>
      </p:sp>
      <p:sp>
        <p:nvSpPr>
          <p:cNvPr id="91" name="task-title-3-2"/>
          <p:cNvSpPr txBox="1"/>
          <p:nvPr/>
        </p:nvSpPr>
        <p:spPr>
          <a:xfrm>
            <a:off x="4553712" y="4873752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111111"/>
                </a:solidFill>
                <a:latin typeface="Arial"/>
              </a:rPr>
              <a:t>Spec</a:t>
            </a:r>
          </a:p>
        </p:txBody>
      </p:sp>
      <p:sp>
        <p:nvSpPr>
          <p:cNvPr id="92" name="task-state-3-2"/>
          <p:cNvSpPr txBox="1"/>
          <p:nvPr/>
        </p:nvSpPr>
        <p:spPr>
          <a:xfrm>
            <a:off x="4553712" y="5056632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111111"/>
                </a:solidFill>
                <a:latin typeface="Arial"/>
              </a:rPr>
              <a:t>new</a:t>
            </a:r>
          </a:p>
        </p:txBody>
      </p:sp>
      <p:sp>
        <p:nvSpPr>
          <p:cNvPr id="93" name="task-title-3-3"/>
          <p:cNvSpPr txBox="1"/>
          <p:nvPr/>
        </p:nvSpPr>
        <p:spPr>
          <a:xfrm>
            <a:off x="5907024" y="4873752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111111"/>
                </a:solidFill>
                <a:latin typeface="Arial"/>
              </a:rPr>
              <a:t>Audit</a:t>
            </a:r>
          </a:p>
        </p:txBody>
      </p:sp>
      <p:sp>
        <p:nvSpPr>
          <p:cNvPr id="94" name="task-state-3-3"/>
          <p:cNvSpPr txBox="1"/>
          <p:nvPr/>
        </p:nvSpPr>
        <p:spPr>
          <a:xfrm>
            <a:off x="5907024" y="5056632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111111"/>
                </a:solidFill>
                <a:latin typeface="Arial"/>
              </a:rPr>
              <a:t>locked</a:t>
            </a:r>
          </a:p>
        </p:txBody>
      </p:sp>
      <p:sp>
        <p:nvSpPr>
          <p:cNvPr id="95" name="task-title-3-4"/>
          <p:cNvSpPr txBox="1"/>
          <p:nvPr/>
        </p:nvSpPr>
        <p:spPr>
          <a:xfrm>
            <a:off x="7260336" y="4873752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111111"/>
                </a:solidFill>
                <a:latin typeface="Arial"/>
              </a:rPr>
              <a:t>Owner</a:t>
            </a:r>
          </a:p>
        </p:txBody>
      </p:sp>
      <p:sp>
        <p:nvSpPr>
          <p:cNvPr id="96" name="task-state-3-4"/>
          <p:cNvSpPr txBox="1"/>
          <p:nvPr/>
        </p:nvSpPr>
        <p:spPr>
          <a:xfrm>
            <a:off x="7260336" y="5056632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111111"/>
                </a:solidFill>
                <a:latin typeface="Arial"/>
              </a:rPr>
              <a:t>ready</a:t>
            </a:r>
          </a:p>
        </p:txBody>
      </p:sp>
      <p:sp>
        <p:nvSpPr>
          <p:cNvPr id="97" name="workbench-rail-title"/>
          <p:cNvSpPr txBox="1"/>
          <p:nvPr/>
        </p:nvSpPr>
        <p:spPr>
          <a:xfrm>
            <a:off x="9436608" y="1325880"/>
            <a:ext cx="196596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1" lang="en-US">
                <a:solidFill>
                  <a:srgbClr val="E8000D"/>
                </a:solidFill>
                <a:latin typeface="Arial"/>
              </a:rPr>
              <a:t>BUILD SIGNALS</a:t>
            </a:r>
          </a:p>
        </p:txBody>
      </p:sp>
      <p:sp>
        <p:nvSpPr>
          <p:cNvPr id="98" name="chart-label"/>
          <p:cNvSpPr txBox="1"/>
          <p:nvPr/>
        </p:nvSpPr>
        <p:spPr>
          <a:xfrm>
            <a:off x="9436608" y="4956048"/>
            <a:ext cx="192024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0" lang="en-US">
                <a:solidFill>
                  <a:srgbClr val="444444"/>
                </a:solidFill>
                <a:latin typeface="Arial"/>
              </a:rPr>
              <a:t>completion by work lane</a:t>
            </a:r>
          </a:p>
        </p:txBody>
      </p:sp>
      <p:sp>
        <p:nvSpPr>
          <p:cNvPr id="99" name="check-label-0"/>
          <p:cNvSpPr txBox="1"/>
          <p:nvPr/>
        </p:nvSpPr>
        <p:spPr>
          <a:xfrm>
            <a:off x="9619488" y="5303520"/>
            <a:ext cx="141732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1" lang="en-US">
                <a:solidFill>
                  <a:srgbClr val="111111"/>
                </a:solidFill>
                <a:latin typeface="Arial"/>
              </a:rPr>
              <a:t>bounds</a:t>
            </a:r>
          </a:p>
        </p:txBody>
      </p:sp>
      <p:sp>
        <p:nvSpPr>
          <p:cNvPr id="100" name="check-label-1"/>
          <p:cNvSpPr txBox="1"/>
          <p:nvPr/>
        </p:nvSpPr>
        <p:spPr>
          <a:xfrm>
            <a:off x="9619488" y="5468112"/>
            <a:ext cx="141732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1" lang="en-US">
                <a:solidFill>
                  <a:srgbClr val="111111"/>
                </a:solidFill>
                <a:latin typeface="Arial"/>
              </a:rPr>
              <a:t>content</a:t>
            </a:r>
          </a:p>
        </p:txBody>
      </p:sp>
      <p:sp>
        <p:nvSpPr>
          <p:cNvPr id="101" name="check-label-2"/>
          <p:cNvSpPr txBox="1"/>
          <p:nvPr/>
        </p:nvSpPr>
        <p:spPr>
          <a:xfrm>
            <a:off x="9619488" y="5632704"/>
            <a:ext cx="141732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1" lang="en-US">
                <a:solidFill>
                  <a:srgbClr val="111111"/>
                </a:solidFill>
                <a:latin typeface="Arial"/>
              </a:rPr>
              <a:t>tables</a:t>
            </a:r>
          </a:p>
        </p:txBody>
      </p:sp>
      <p:sp>
        <p:nvSpPr>
          <p:cNvPr id="102" name="check-label-3"/>
          <p:cNvSpPr txBox="1"/>
          <p:nvPr/>
        </p:nvSpPr>
        <p:spPr>
          <a:xfrm>
            <a:off x="9619488" y="5797296"/>
            <a:ext cx="141732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1" lang="en-US">
                <a:solidFill>
                  <a:srgbClr val="111111"/>
                </a:solidFill>
                <a:latin typeface="Arial"/>
              </a:rPr>
              <a:t>order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EDE8"/>
          </a:solidFill>
          <a:ln w="10160">
            <a:solidFill>
              <a:srgbClr val="F0E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op-band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A1A1A"/>
          </a:solidFill>
          <a:ln w="1016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nav-shell"/>
          <p:cNvSpPr/>
          <p:nvPr/>
        </p:nvSpPr>
        <p:spPr>
          <a:xfrm>
            <a:off x="457200" y="1078992"/>
            <a:ext cx="1572768" cy="5102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0CC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metric-0-shell"/>
          <p:cNvSpPr/>
          <p:nvPr/>
        </p:nvSpPr>
        <p:spPr>
          <a:xfrm>
            <a:off x="2249424" y="1078992"/>
            <a:ext cx="1161288" cy="768096"/>
          </a:xfrm>
          <a:prstGeom prst="rect">
            <a:avLst/>
          </a:prstGeom>
          <a:solidFill>
            <a:srgbClr val="F0EDE8"/>
          </a:solidFill>
          <a:ln w="10160">
            <a:solidFill>
              <a:srgbClr val="D0CC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metric-1-shell"/>
          <p:cNvSpPr/>
          <p:nvPr/>
        </p:nvSpPr>
        <p:spPr>
          <a:xfrm>
            <a:off x="3557016" y="1078992"/>
            <a:ext cx="1161288" cy="768096"/>
          </a:xfrm>
          <a:prstGeom prst="rect">
            <a:avLst/>
          </a:prstGeom>
          <a:solidFill>
            <a:srgbClr val="F0EDE8"/>
          </a:solidFill>
          <a:ln w="10160">
            <a:solidFill>
              <a:srgbClr val="D0CC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metric-2-shell"/>
          <p:cNvSpPr/>
          <p:nvPr/>
        </p:nvSpPr>
        <p:spPr>
          <a:xfrm>
            <a:off x="4864608" y="1078992"/>
            <a:ext cx="1161288" cy="768096"/>
          </a:xfrm>
          <a:prstGeom prst="rect">
            <a:avLst/>
          </a:prstGeom>
          <a:solidFill>
            <a:srgbClr val="F0EDE8"/>
          </a:solidFill>
          <a:ln w="10160">
            <a:solidFill>
              <a:srgbClr val="D0CC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metric-3-shell"/>
          <p:cNvSpPr/>
          <p:nvPr/>
        </p:nvSpPr>
        <p:spPr>
          <a:xfrm>
            <a:off x="6172200" y="1078992"/>
            <a:ext cx="1161288" cy="768096"/>
          </a:xfrm>
          <a:prstGeom prst="rect">
            <a:avLst/>
          </a:prstGeom>
          <a:solidFill>
            <a:srgbClr val="F0EDE8"/>
          </a:solidFill>
          <a:ln w="10160">
            <a:solidFill>
              <a:srgbClr val="D0CC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metric-4-shell"/>
          <p:cNvSpPr/>
          <p:nvPr/>
        </p:nvSpPr>
        <p:spPr>
          <a:xfrm>
            <a:off x="7479792" y="1078992"/>
            <a:ext cx="1161288" cy="768096"/>
          </a:xfrm>
          <a:prstGeom prst="rect">
            <a:avLst/>
          </a:prstGeom>
          <a:solidFill>
            <a:srgbClr val="F0EDE8"/>
          </a:solidFill>
          <a:ln w="10160">
            <a:solidFill>
              <a:srgbClr val="D0CC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isk-rail-shell"/>
          <p:cNvSpPr/>
          <p:nvPr/>
        </p:nvSpPr>
        <p:spPr>
          <a:xfrm>
            <a:off x="9052560" y="1078992"/>
            <a:ext cx="2679192" cy="4389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0CC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nav-accent"/>
          <p:cNvSpPr/>
          <p:nvPr/>
        </p:nvSpPr>
        <p:spPr>
          <a:xfrm>
            <a:off x="457200" y="1078992"/>
            <a:ext cx="73152" cy="5102352"/>
          </a:xfrm>
          <a:prstGeom prst="rect">
            <a:avLst/>
          </a:prstGeom>
          <a:solidFill>
            <a:srgbClr val="1A1A1A"/>
          </a:solidFill>
          <a:ln w="1016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nav-0"/>
          <p:cNvSpPr/>
          <p:nvPr/>
        </p:nvSpPr>
        <p:spPr>
          <a:xfrm>
            <a:off x="658368" y="1874519"/>
            <a:ext cx="1143000" cy="329184"/>
          </a:xfrm>
          <a:prstGeom prst="roundRect">
            <a:avLst/>
          </a:prstGeom>
          <a:solidFill>
            <a:srgbClr val="1A1A1A"/>
          </a:solidFill>
          <a:ln w="10160">
            <a:solidFill>
              <a:srgbClr val="D0CC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nav-1"/>
          <p:cNvSpPr/>
          <p:nvPr/>
        </p:nvSpPr>
        <p:spPr>
          <a:xfrm>
            <a:off x="658368" y="2386584"/>
            <a:ext cx="1143000" cy="329184"/>
          </a:xfrm>
          <a:prstGeom prst="roundRect">
            <a:avLst/>
          </a:prstGeom>
          <a:solidFill>
            <a:srgbClr val="F0EDE8"/>
          </a:solidFill>
          <a:ln w="10160">
            <a:solidFill>
              <a:srgbClr val="D0CC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nav-2"/>
          <p:cNvSpPr/>
          <p:nvPr/>
        </p:nvSpPr>
        <p:spPr>
          <a:xfrm>
            <a:off x="658368" y="2898648"/>
            <a:ext cx="1143000" cy="329184"/>
          </a:xfrm>
          <a:prstGeom prst="roundRect">
            <a:avLst/>
          </a:prstGeom>
          <a:solidFill>
            <a:srgbClr val="F0EDE8"/>
          </a:solidFill>
          <a:ln w="10160">
            <a:solidFill>
              <a:srgbClr val="D0CC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nav-3"/>
          <p:cNvSpPr/>
          <p:nvPr/>
        </p:nvSpPr>
        <p:spPr>
          <a:xfrm>
            <a:off x="658368" y="3410712"/>
            <a:ext cx="1143000" cy="329184"/>
          </a:xfrm>
          <a:prstGeom prst="roundRect">
            <a:avLst/>
          </a:prstGeom>
          <a:solidFill>
            <a:srgbClr val="F0EDE8"/>
          </a:solidFill>
          <a:ln w="10160">
            <a:solidFill>
              <a:srgbClr val="D0CC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nav-4"/>
          <p:cNvSpPr/>
          <p:nvPr/>
        </p:nvSpPr>
        <p:spPr>
          <a:xfrm>
            <a:off x="658368" y="3922776"/>
            <a:ext cx="1143000" cy="329184"/>
          </a:xfrm>
          <a:prstGeom prst="roundRect">
            <a:avLst/>
          </a:prstGeom>
          <a:solidFill>
            <a:srgbClr val="F0EDE8"/>
          </a:solidFill>
          <a:ln w="10160">
            <a:solidFill>
              <a:srgbClr val="D0CC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nav-5"/>
          <p:cNvSpPr/>
          <p:nvPr/>
        </p:nvSpPr>
        <p:spPr>
          <a:xfrm>
            <a:off x="658368" y="4434840"/>
            <a:ext cx="1143000" cy="329184"/>
          </a:xfrm>
          <a:prstGeom prst="roundRect">
            <a:avLst/>
          </a:prstGeom>
          <a:solidFill>
            <a:srgbClr val="F0EDE8"/>
          </a:solidFill>
          <a:ln w="10160">
            <a:solidFill>
              <a:srgbClr val="D0CC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nav-6"/>
          <p:cNvSpPr/>
          <p:nvPr/>
        </p:nvSpPr>
        <p:spPr>
          <a:xfrm>
            <a:off x="658368" y="4946904"/>
            <a:ext cx="1143000" cy="329184"/>
          </a:xfrm>
          <a:prstGeom prst="roundRect">
            <a:avLst/>
          </a:prstGeom>
          <a:solidFill>
            <a:srgbClr val="F0EDE8"/>
          </a:solidFill>
          <a:ln w="10160">
            <a:solidFill>
              <a:srgbClr val="D0CC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metric-0-accent"/>
          <p:cNvSpPr/>
          <p:nvPr/>
        </p:nvSpPr>
        <p:spPr>
          <a:xfrm>
            <a:off x="2249424" y="1078992"/>
            <a:ext cx="73152" cy="768096"/>
          </a:xfrm>
          <a:prstGeom prst="rect">
            <a:avLst/>
          </a:prstGeom>
          <a:solidFill>
            <a:srgbClr val="1A1A1A"/>
          </a:solidFill>
          <a:ln w="1016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metric-1-accent"/>
          <p:cNvSpPr/>
          <p:nvPr/>
        </p:nvSpPr>
        <p:spPr>
          <a:xfrm>
            <a:off x="3557016" y="1078992"/>
            <a:ext cx="73152" cy="768096"/>
          </a:xfrm>
          <a:prstGeom prst="rect">
            <a:avLst/>
          </a:prstGeom>
          <a:solidFill>
            <a:srgbClr val="D92727"/>
          </a:solidFill>
          <a:ln w="10160">
            <a:solidFill>
              <a:srgbClr val="D927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metric-2-accent"/>
          <p:cNvSpPr/>
          <p:nvPr/>
        </p:nvSpPr>
        <p:spPr>
          <a:xfrm>
            <a:off x="4864608" y="1078992"/>
            <a:ext cx="73152" cy="768096"/>
          </a:xfrm>
          <a:prstGeom prst="rect">
            <a:avLst/>
          </a:prstGeom>
          <a:solidFill>
            <a:srgbClr val="D92727"/>
          </a:solidFill>
          <a:ln w="10160">
            <a:solidFill>
              <a:srgbClr val="D927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metric-3-accent"/>
          <p:cNvSpPr/>
          <p:nvPr/>
        </p:nvSpPr>
        <p:spPr>
          <a:xfrm>
            <a:off x="6172200" y="1078992"/>
            <a:ext cx="73152" cy="768096"/>
          </a:xfrm>
          <a:prstGeom prst="rect">
            <a:avLst/>
          </a:prstGeom>
          <a:solidFill>
            <a:srgbClr val="D92727"/>
          </a:solidFill>
          <a:ln w="10160">
            <a:solidFill>
              <a:srgbClr val="D927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metric-4-accent"/>
          <p:cNvSpPr/>
          <p:nvPr/>
        </p:nvSpPr>
        <p:spPr>
          <a:xfrm>
            <a:off x="7479792" y="1078992"/>
            <a:ext cx="73152" cy="768096"/>
          </a:xfrm>
          <a:prstGeom prst="rect">
            <a:avLst/>
          </a:prstGeom>
          <a:solidFill>
            <a:srgbClr val="1A1A1A"/>
          </a:solidFill>
          <a:ln w="1016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isk-rail-accent"/>
          <p:cNvSpPr/>
          <p:nvPr/>
        </p:nvSpPr>
        <p:spPr>
          <a:xfrm>
            <a:off x="9052560" y="1078992"/>
            <a:ext cx="73152" cy="4389120"/>
          </a:xfrm>
          <a:prstGeom prst="rect">
            <a:avLst/>
          </a:prstGeom>
          <a:solidFill>
            <a:srgbClr val="1A1A1A"/>
          </a:solidFill>
          <a:ln w="1016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progress-track"/>
          <p:cNvSpPr/>
          <p:nvPr/>
        </p:nvSpPr>
        <p:spPr>
          <a:xfrm>
            <a:off x="2249424" y="5687568"/>
            <a:ext cx="9482328" cy="3840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0CC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26" name="signal-table"/>
          <p:cNvGraphicFramePr>
            <a:graphicFrameLocks noGrp="1"/>
          </p:cNvGraphicFramePr>
          <p:nvPr/>
        </p:nvGraphicFramePr>
        <p:xfrm>
          <a:off x="2249424" y="2066543"/>
          <a:ext cx="6537960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7592"/>
                <a:gridCol w="1307592"/>
                <a:gridCol w="1307592"/>
                <a:gridCol w="1307592"/>
                <a:gridCol w="1307592"/>
              </a:tblGrid>
              <a:tr h="425196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FFFFFF"/>
                          </a:solidFill>
                          <a:latin typeface="Consolas"/>
                        </a:rPr>
                        <a:t>Signal</a:t>
                      </a:r>
                    </a:p>
                  </a:txBody>
                  <a:tcPr marL="54864" marR="54864" marT="18288" marB="18288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FFFFFF"/>
                          </a:solidFill>
                          <a:latin typeface="Consolas"/>
                        </a:rPr>
                        <a:t>Owner</a:t>
                      </a:r>
                    </a:p>
                  </a:txBody>
                  <a:tcPr marL="54864" marR="54864" marT="18288" marB="18288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FFFFFF"/>
                          </a:solidFill>
                          <a:latin typeface="Consolas"/>
                        </a:rPr>
                        <a:t>State</a:t>
                      </a:r>
                    </a:p>
                  </a:txBody>
                  <a:tcPr marL="54864" marR="54864" marT="18288" marB="18288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FFFFFF"/>
                          </a:solidFill>
                          <a:latin typeface="Consolas"/>
                        </a:rPr>
                        <a:t>Gate</a:t>
                      </a:r>
                    </a:p>
                  </a:txBody>
                  <a:tcPr marL="54864" marR="54864" marT="18288" marB="18288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FFFFFF"/>
                          </a:solidFill>
                          <a:latin typeface="Consolas"/>
                        </a:rPr>
                        <a:t>Next</a:t>
                      </a:r>
                    </a:p>
                  </a:txBody>
                  <a:tcPr marL="54864" marR="54864" marT="18288" marB="18288">
                    <a:solidFill>
                      <a:srgbClr val="1A1A1A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1A1A1A"/>
                          </a:solidFill>
                          <a:latin typeface="Consolas"/>
                        </a:rPr>
                        <a:t>S-01</a:t>
                      </a:r>
                    </a:p>
                  </a:txBody>
                  <a:tcPr marL="54864" marR="54864" marT="18288" marB="18288">
                    <a:solidFill>
                      <a:srgbClr val="F0ED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1A"/>
                          </a:solidFill>
                          <a:latin typeface="Consolas"/>
                        </a:rPr>
                        <a:t>Reviewer</a:t>
                      </a:r>
                    </a:p>
                  </a:txBody>
                  <a:tcPr marL="54864" marR="54864" marT="18288" marB="18288">
                    <a:solidFill>
                      <a:srgbClr val="F0ED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1A"/>
                          </a:solidFill>
                          <a:latin typeface="Consolas"/>
                        </a:rPr>
                        <a:t>Watch</a:t>
                      </a:r>
                    </a:p>
                  </a:txBody>
                  <a:tcPr marL="54864" marR="54864" marT="18288" marB="18288">
                    <a:solidFill>
                      <a:srgbClr val="F0ED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1A"/>
                          </a:solidFill>
                          <a:latin typeface="Consolas"/>
                        </a:rPr>
                        <a:t>Review</a:t>
                      </a:r>
                    </a:p>
                  </a:txBody>
                  <a:tcPr marL="54864" marR="54864" marT="18288" marB="18288">
                    <a:solidFill>
                      <a:srgbClr val="F0ED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1A"/>
                          </a:solidFill>
                          <a:latin typeface="Consolas"/>
                        </a:rPr>
                        <a:t>Check</a:t>
                      </a:r>
                    </a:p>
                  </a:txBody>
                  <a:tcPr marL="54864" marR="54864" marT="18288" marB="18288">
                    <a:solidFill>
                      <a:srgbClr val="F0EDE8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1A1A1A"/>
                          </a:solidFill>
                          <a:latin typeface="Consolas"/>
                        </a:rPr>
                        <a:t>S-02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1A"/>
                          </a:solidFill>
                          <a:latin typeface="Consolas"/>
                        </a:rPr>
                        <a:t>Auditor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1A"/>
                          </a:solidFill>
                          <a:latin typeface="Consolas"/>
                        </a:rPr>
                        <a:t>Hold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1A"/>
                          </a:solidFill>
                          <a:latin typeface="Consolas"/>
                        </a:rPr>
                        <a:t>Repair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1A"/>
                          </a:solidFill>
                          <a:latin typeface="Consolas"/>
                        </a:rPr>
                        <a:t>Fix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1A1A1A"/>
                          </a:solidFill>
                          <a:latin typeface="Consolas"/>
                        </a:rPr>
                        <a:t>S-03</a:t>
                      </a:r>
                    </a:p>
                  </a:txBody>
                  <a:tcPr marL="54864" marR="54864" marT="18288" marB="18288">
                    <a:solidFill>
                      <a:srgbClr val="F0ED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1A"/>
                          </a:solidFill>
                          <a:latin typeface="Consolas"/>
                        </a:rPr>
                        <a:t>Author</a:t>
                      </a:r>
                    </a:p>
                  </a:txBody>
                  <a:tcPr marL="54864" marR="54864" marT="18288" marB="18288">
                    <a:solidFill>
                      <a:srgbClr val="F0ED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1A"/>
                          </a:solidFill>
                          <a:latin typeface="Consolas"/>
                        </a:rPr>
                        <a:t>Ready</a:t>
                      </a:r>
                    </a:p>
                  </a:txBody>
                  <a:tcPr marL="54864" marR="54864" marT="18288" marB="18288">
                    <a:solidFill>
                      <a:srgbClr val="F0ED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1A"/>
                          </a:solidFill>
                          <a:latin typeface="Consolas"/>
                        </a:rPr>
                        <a:t>Pass</a:t>
                      </a:r>
                    </a:p>
                  </a:txBody>
                  <a:tcPr marL="54864" marR="54864" marT="18288" marB="18288">
                    <a:solidFill>
                      <a:srgbClr val="F0ED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1A"/>
                          </a:solidFill>
                          <a:latin typeface="Consolas"/>
                        </a:rPr>
                        <a:t>Ship</a:t>
                      </a:r>
                    </a:p>
                  </a:txBody>
                  <a:tcPr marL="54864" marR="54864" marT="18288" marB="18288">
                    <a:solidFill>
                      <a:srgbClr val="F0EDE8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1A1A1A"/>
                          </a:solidFill>
                          <a:latin typeface="Consolas"/>
                        </a:rPr>
                        <a:t>S-04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1A"/>
                          </a:solidFill>
                          <a:latin typeface="Consolas"/>
                        </a:rPr>
                        <a:t>Reviewer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1A"/>
                          </a:solidFill>
                          <a:latin typeface="Consolas"/>
                        </a:rPr>
                        <a:t>Watch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1A"/>
                          </a:solidFill>
                          <a:latin typeface="Consolas"/>
                        </a:rPr>
                        <a:t>Review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1A"/>
                          </a:solidFill>
                          <a:latin typeface="Consolas"/>
                        </a:rPr>
                        <a:t>Check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1A1A1A"/>
                          </a:solidFill>
                          <a:latin typeface="Consolas"/>
                        </a:rPr>
                        <a:t>S-05</a:t>
                      </a:r>
                    </a:p>
                  </a:txBody>
                  <a:tcPr marL="54864" marR="54864" marT="18288" marB="18288">
                    <a:solidFill>
                      <a:srgbClr val="F0ED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1A"/>
                          </a:solidFill>
                          <a:latin typeface="Consolas"/>
                        </a:rPr>
                        <a:t>Auditor</a:t>
                      </a:r>
                    </a:p>
                  </a:txBody>
                  <a:tcPr marL="54864" marR="54864" marT="18288" marB="18288">
                    <a:solidFill>
                      <a:srgbClr val="F0ED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1A"/>
                          </a:solidFill>
                          <a:latin typeface="Consolas"/>
                        </a:rPr>
                        <a:t>Hold</a:t>
                      </a:r>
                    </a:p>
                  </a:txBody>
                  <a:tcPr marL="54864" marR="54864" marT="18288" marB="18288">
                    <a:solidFill>
                      <a:srgbClr val="F0ED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1A"/>
                          </a:solidFill>
                          <a:latin typeface="Consolas"/>
                        </a:rPr>
                        <a:t>Repair</a:t>
                      </a:r>
                    </a:p>
                  </a:txBody>
                  <a:tcPr marL="54864" marR="54864" marT="18288" marB="18288">
                    <a:solidFill>
                      <a:srgbClr val="F0ED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1A"/>
                          </a:solidFill>
                          <a:latin typeface="Consolas"/>
                        </a:rPr>
                        <a:t>Fix</a:t>
                      </a:r>
                    </a:p>
                  </a:txBody>
                  <a:tcPr marL="54864" marR="54864" marT="18288" marB="18288">
                    <a:solidFill>
                      <a:srgbClr val="F0EDE8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1A1A1A"/>
                          </a:solidFill>
                          <a:latin typeface="Consolas"/>
                        </a:rPr>
                        <a:t>S-06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1A"/>
                          </a:solidFill>
                          <a:latin typeface="Consolas"/>
                        </a:rPr>
                        <a:t>Author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1A"/>
                          </a:solidFill>
                          <a:latin typeface="Consolas"/>
                        </a:rPr>
                        <a:t>Ready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1A"/>
                          </a:solidFill>
                          <a:latin typeface="Consolas"/>
                        </a:rPr>
                        <a:t>Pass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1A"/>
                          </a:solidFill>
                          <a:latin typeface="Consolas"/>
                        </a:rPr>
                        <a:t>Ship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1A1A1A"/>
                          </a:solidFill>
                          <a:latin typeface="Consolas"/>
                        </a:rPr>
                        <a:t>S-07</a:t>
                      </a:r>
                    </a:p>
                  </a:txBody>
                  <a:tcPr marL="54864" marR="54864" marT="18288" marB="18288">
                    <a:solidFill>
                      <a:srgbClr val="F0ED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1A"/>
                          </a:solidFill>
                          <a:latin typeface="Consolas"/>
                        </a:rPr>
                        <a:t>Reviewer</a:t>
                      </a:r>
                    </a:p>
                  </a:txBody>
                  <a:tcPr marL="54864" marR="54864" marT="18288" marB="18288">
                    <a:solidFill>
                      <a:srgbClr val="F0ED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1A"/>
                          </a:solidFill>
                          <a:latin typeface="Consolas"/>
                        </a:rPr>
                        <a:t>Watch</a:t>
                      </a:r>
                    </a:p>
                  </a:txBody>
                  <a:tcPr marL="54864" marR="54864" marT="18288" marB="18288">
                    <a:solidFill>
                      <a:srgbClr val="F0ED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1A"/>
                          </a:solidFill>
                          <a:latin typeface="Consolas"/>
                        </a:rPr>
                        <a:t>Review</a:t>
                      </a:r>
                    </a:p>
                  </a:txBody>
                  <a:tcPr marL="54864" marR="54864" marT="18288" marB="18288">
                    <a:solidFill>
                      <a:srgbClr val="F0ED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1A"/>
                          </a:solidFill>
                          <a:latin typeface="Consolas"/>
                        </a:rPr>
                        <a:t>Check</a:t>
                      </a:r>
                    </a:p>
                  </a:txBody>
                  <a:tcPr marL="54864" marR="54864" marT="18288" marB="18288">
                    <a:solidFill>
                      <a:srgbClr val="F0EDE8"/>
                    </a:solidFill>
                  </a:tcPr>
                </a:tc>
              </a:tr>
            </a:tbl>
          </a:graphicData>
        </a:graphic>
      </p:graphicFrame>
      <p:sp>
        <p:nvSpPr>
          <p:cNvPr id="27" name="risk-dot-0"/>
          <p:cNvSpPr/>
          <p:nvPr/>
        </p:nvSpPr>
        <p:spPr>
          <a:xfrm>
            <a:off x="9308592" y="1746504"/>
            <a:ext cx="164592" cy="164592"/>
          </a:xfrm>
          <a:prstGeom prst="ellipse">
            <a:avLst/>
          </a:prstGeom>
          <a:solidFill>
            <a:srgbClr val="1A1A1A"/>
          </a:solidFill>
          <a:ln w="1016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isk-dot-1"/>
          <p:cNvSpPr/>
          <p:nvPr/>
        </p:nvSpPr>
        <p:spPr>
          <a:xfrm>
            <a:off x="9308592" y="2276856"/>
            <a:ext cx="164592" cy="164592"/>
          </a:xfrm>
          <a:prstGeom prst="ellipse">
            <a:avLst/>
          </a:prstGeom>
          <a:solidFill>
            <a:srgbClr val="1A1A1A"/>
          </a:solidFill>
          <a:ln w="1016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isk-dot-2"/>
          <p:cNvSpPr/>
          <p:nvPr/>
        </p:nvSpPr>
        <p:spPr>
          <a:xfrm>
            <a:off x="9308592" y="2807208"/>
            <a:ext cx="164592" cy="164592"/>
          </a:xfrm>
          <a:prstGeom prst="ellipse">
            <a:avLst/>
          </a:prstGeom>
          <a:solidFill>
            <a:srgbClr val="D92727"/>
          </a:solidFill>
          <a:ln w="10160">
            <a:solidFill>
              <a:srgbClr val="D927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isk-dot-3"/>
          <p:cNvSpPr/>
          <p:nvPr/>
        </p:nvSpPr>
        <p:spPr>
          <a:xfrm>
            <a:off x="9308592" y="3337560"/>
            <a:ext cx="164592" cy="164592"/>
          </a:xfrm>
          <a:prstGeom prst="ellipse">
            <a:avLst/>
          </a:prstGeom>
          <a:solidFill>
            <a:srgbClr val="1A1A1A"/>
          </a:solidFill>
          <a:ln w="1016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isk-dot-4"/>
          <p:cNvSpPr/>
          <p:nvPr/>
        </p:nvSpPr>
        <p:spPr>
          <a:xfrm>
            <a:off x="9308592" y="3867912"/>
            <a:ext cx="164592" cy="164592"/>
          </a:xfrm>
          <a:prstGeom prst="ellipse">
            <a:avLst/>
          </a:prstGeom>
          <a:solidFill>
            <a:srgbClr val="D92727"/>
          </a:solidFill>
          <a:ln w="10160">
            <a:solidFill>
              <a:srgbClr val="D927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isk-dot-5"/>
          <p:cNvSpPr/>
          <p:nvPr/>
        </p:nvSpPr>
        <p:spPr>
          <a:xfrm>
            <a:off x="9308592" y="4398264"/>
            <a:ext cx="164592" cy="164592"/>
          </a:xfrm>
          <a:prstGeom prst="ellipse">
            <a:avLst/>
          </a:prstGeom>
          <a:solidFill>
            <a:srgbClr val="1A1A1A"/>
          </a:solidFill>
          <a:ln w="1016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progress-fill"/>
          <p:cNvSpPr/>
          <p:nvPr/>
        </p:nvSpPr>
        <p:spPr>
          <a:xfrm>
            <a:off x="2249424" y="5687568"/>
            <a:ext cx="7406640" cy="384048"/>
          </a:xfrm>
          <a:prstGeom prst="roundRect">
            <a:avLst/>
          </a:prstGeom>
          <a:solidFill>
            <a:srgbClr val="1A1A1A"/>
          </a:solidFill>
          <a:ln w="1016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profile-tag"/>
          <p:cNvSpPr txBox="1"/>
          <p:nvPr/>
        </p:nvSpPr>
        <p:spPr>
          <a:xfrm>
            <a:off x="457200" y="201168"/>
            <a:ext cx="768096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1" lang="en-US">
                <a:solidFill>
                  <a:srgbClr val="1A1A1A"/>
                </a:solidFill>
                <a:latin typeface="Consolas"/>
              </a:rPr>
              <a:t>V3 STRESS SUITE  ·  TYPOGRAPHIC BOLD  ·  CONTROL ROOM</a:t>
            </a:r>
          </a:p>
        </p:txBody>
      </p:sp>
      <p:sp>
        <p:nvSpPr>
          <p:cNvPr id="35" name="slide-index"/>
          <p:cNvSpPr txBox="1"/>
          <p:nvPr/>
        </p:nvSpPr>
        <p:spPr>
          <a:xfrm>
            <a:off x="10808208" y="201168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00" b="1" lang="en-US">
                <a:solidFill>
                  <a:srgbClr val="777777"/>
                </a:solidFill>
                <a:latin typeface="Consolas"/>
              </a:rPr>
              <a:t>26/60</a:t>
            </a:r>
          </a:p>
        </p:txBody>
      </p:sp>
      <p:sp>
        <p:nvSpPr>
          <p:cNvPr id="36" name="title"/>
          <p:cNvSpPr txBox="1"/>
          <p:nvPr/>
        </p:nvSpPr>
        <p:spPr>
          <a:xfrm>
            <a:off x="457200" y="484632"/>
            <a:ext cx="11274552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200" b="1" lang="en-US">
                <a:solidFill>
                  <a:srgbClr val="1A1A1A"/>
                </a:solidFill>
                <a:latin typeface="Arial Black"/>
              </a:rPr>
              <a:t>Control room layouts keep dense delivery signals governable</a:t>
            </a:r>
          </a:p>
        </p:txBody>
      </p:sp>
      <p:sp>
        <p:nvSpPr>
          <p:cNvPr id="37" name="footer"/>
          <p:cNvSpPr txBox="1"/>
          <p:nvPr/>
        </p:nvSpPr>
        <p:spPr>
          <a:xfrm>
            <a:off x="457200" y="6473952"/>
            <a:ext cx="1051560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0" lang="en-US">
                <a:solidFill>
                  <a:srgbClr val="777777"/>
                </a:solidFill>
                <a:latin typeface="Consolas"/>
              </a:rPr>
              <a:t>Native-object stress fixture · oversized near-black display type with one signal-red word · editable geometry and recorded style lock</a:t>
            </a:r>
          </a:p>
        </p:txBody>
      </p:sp>
      <p:sp>
        <p:nvSpPr>
          <p:cNvPr id="38" name="nav-title"/>
          <p:cNvSpPr txBox="1"/>
          <p:nvPr/>
        </p:nvSpPr>
        <p:spPr>
          <a:xfrm>
            <a:off x="667512" y="1298448"/>
            <a:ext cx="1078992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1" lang="en-US">
                <a:solidFill>
                  <a:srgbClr val="1A1A1A"/>
                </a:solidFill>
                <a:latin typeface="Consolas"/>
              </a:rPr>
              <a:t>CONTROL
PLANES</a:t>
            </a:r>
          </a:p>
        </p:txBody>
      </p:sp>
      <p:sp>
        <p:nvSpPr>
          <p:cNvPr id="39" name="nav-label-0"/>
          <p:cNvSpPr txBox="1"/>
          <p:nvPr/>
        </p:nvSpPr>
        <p:spPr>
          <a:xfrm>
            <a:off x="749808" y="1965960"/>
            <a:ext cx="932688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1" lang="en-US">
                <a:solidFill>
                  <a:srgbClr val="FFFFFF"/>
                </a:solidFill>
                <a:latin typeface="Consolas"/>
              </a:rPr>
              <a:t>INBOX</a:t>
            </a:r>
          </a:p>
        </p:txBody>
      </p:sp>
      <p:sp>
        <p:nvSpPr>
          <p:cNvPr id="40" name="nav-label-1"/>
          <p:cNvSpPr txBox="1"/>
          <p:nvPr/>
        </p:nvSpPr>
        <p:spPr>
          <a:xfrm>
            <a:off x="749808" y="2478024"/>
            <a:ext cx="932688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0" lang="en-US">
                <a:solidFill>
                  <a:srgbClr val="1A1A1A"/>
                </a:solidFill>
                <a:latin typeface="Consolas"/>
              </a:rPr>
              <a:t>SIGNALS</a:t>
            </a:r>
          </a:p>
        </p:txBody>
      </p:sp>
      <p:sp>
        <p:nvSpPr>
          <p:cNvPr id="41" name="nav-label-2"/>
          <p:cNvSpPr txBox="1"/>
          <p:nvPr/>
        </p:nvSpPr>
        <p:spPr>
          <a:xfrm>
            <a:off x="749808" y="2990088"/>
            <a:ext cx="932688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0" lang="en-US">
                <a:solidFill>
                  <a:srgbClr val="1A1A1A"/>
                </a:solidFill>
                <a:latin typeface="Consolas"/>
              </a:rPr>
              <a:t>EVIDENCE</a:t>
            </a:r>
          </a:p>
        </p:txBody>
      </p:sp>
      <p:sp>
        <p:nvSpPr>
          <p:cNvPr id="42" name="nav-label-3"/>
          <p:cNvSpPr txBox="1"/>
          <p:nvPr/>
        </p:nvSpPr>
        <p:spPr>
          <a:xfrm>
            <a:off x="749808" y="3502152"/>
            <a:ext cx="932688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0" lang="en-US">
                <a:solidFill>
                  <a:srgbClr val="1A1A1A"/>
                </a:solidFill>
                <a:latin typeface="Consolas"/>
              </a:rPr>
              <a:t>POLICY</a:t>
            </a:r>
          </a:p>
        </p:txBody>
      </p:sp>
      <p:sp>
        <p:nvSpPr>
          <p:cNvPr id="43" name="nav-label-4"/>
          <p:cNvSpPr txBox="1"/>
          <p:nvPr/>
        </p:nvSpPr>
        <p:spPr>
          <a:xfrm>
            <a:off x="749808" y="4014215"/>
            <a:ext cx="932688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0" lang="en-US">
                <a:solidFill>
                  <a:srgbClr val="1A1A1A"/>
                </a:solidFill>
                <a:latin typeface="Consolas"/>
              </a:rPr>
              <a:t>REPAIR</a:t>
            </a:r>
          </a:p>
        </p:txBody>
      </p:sp>
      <p:sp>
        <p:nvSpPr>
          <p:cNvPr id="44" name="nav-label-5"/>
          <p:cNvSpPr txBox="1"/>
          <p:nvPr/>
        </p:nvSpPr>
        <p:spPr>
          <a:xfrm>
            <a:off x="749808" y="4526280"/>
            <a:ext cx="932688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0" lang="en-US">
                <a:solidFill>
                  <a:srgbClr val="1A1A1A"/>
                </a:solidFill>
                <a:latin typeface="Consolas"/>
              </a:rPr>
              <a:t>RELEASE</a:t>
            </a:r>
          </a:p>
        </p:txBody>
      </p:sp>
      <p:sp>
        <p:nvSpPr>
          <p:cNvPr id="45" name="nav-label-6"/>
          <p:cNvSpPr txBox="1"/>
          <p:nvPr/>
        </p:nvSpPr>
        <p:spPr>
          <a:xfrm>
            <a:off x="749808" y="5038344"/>
            <a:ext cx="932688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0" lang="en-US">
                <a:solidFill>
                  <a:srgbClr val="1A1A1A"/>
                </a:solidFill>
                <a:latin typeface="Consolas"/>
              </a:rPr>
              <a:t>ARCHIVE</a:t>
            </a:r>
          </a:p>
        </p:txBody>
      </p:sp>
      <p:sp>
        <p:nvSpPr>
          <p:cNvPr id="46" name="metric-v-0"/>
          <p:cNvSpPr txBox="1"/>
          <p:nvPr/>
        </p:nvSpPr>
        <p:spPr>
          <a:xfrm>
            <a:off x="2432304" y="1234440"/>
            <a:ext cx="80467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lang="en-US">
                <a:solidFill>
                  <a:srgbClr val="1A1A1A"/>
                </a:solidFill>
                <a:latin typeface="Arial Black"/>
              </a:rPr>
              <a:t>48</a:t>
            </a:r>
          </a:p>
        </p:txBody>
      </p:sp>
      <p:sp>
        <p:nvSpPr>
          <p:cNvPr id="47" name="metric-l-0"/>
          <p:cNvSpPr txBox="1"/>
          <p:nvPr/>
        </p:nvSpPr>
        <p:spPr>
          <a:xfrm>
            <a:off x="2359152" y="1581912"/>
            <a:ext cx="932688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777777"/>
                </a:solidFill>
                <a:latin typeface="Consolas"/>
              </a:rPr>
              <a:t>WORK</a:t>
            </a:r>
          </a:p>
        </p:txBody>
      </p:sp>
      <p:sp>
        <p:nvSpPr>
          <p:cNvPr id="48" name="metric-v-1"/>
          <p:cNvSpPr txBox="1"/>
          <p:nvPr/>
        </p:nvSpPr>
        <p:spPr>
          <a:xfrm>
            <a:off x="3739896" y="1234440"/>
            <a:ext cx="80467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lang="en-US">
                <a:solidFill>
                  <a:srgbClr val="1A1A1A"/>
                </a:solidFill>
                <a:latin typeface="Arial Black"/>
              </a:rPr>
              <a:t>06</a:t>
            </a:r>
          </a:p>
        </p:txBody>
      </p:sp>
      <p:sp>
        <p:nvSpPr>
          <p:cNvPr id="49" name="metric-l-1"/>
          <p:cNvSpPr txBox="1"/>
          <p:nvPr/>
        </p:nvSpPr>
        <p:spPr>
          <a:xfrm>
            <a:off x="3666744" y="1581912"/>
            <a:ext cx="932688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777777"/>
                </a:solidFill>
                <a:latin typeface="Consolas"/>
              </a:rPr>
              <a:t>FLAGS</a:t>
            </a:r>
          </a:p>
        </p:txBody>
      </p:sp>
      <p:sp>
        <p:nvSpPr>
          <p:cNvPr id="50" name="metric-v-2"/>
          <p:cNvSpPr txBox="1"/>
          <p:nvPr/>
        </p:nvSpPr>
        <p:spPr>
          <a:xfrm>
            <a:off x="5047488" y="1234440"/>
            <a:ext cx="80467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lang="en-US">
                <a:solidFill>
                  <a:srgbClr val="1A1A1A"/>
                </a:solidFill>
                <a:latin typeface="Arial Black"/>
              </a:rPr>
              <a:t>31</a:t>
            </a:r>
          </a:p>
        </p:txBody>
      </p:sp>
      <p:sp>
        <p:nvSpPr>
          <p:cNvPr id="51" name="metric-l-2"/>
          <p:cNvSpPr txBox="1"/>
          <p:nvPr/>
        </p:nvSpPr>
        <p:spPr>
          <a:xfrm>
            <a:off x="4974336" y="1581912"/>
            <a:ext cx="932688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777777"/>
                </a:solidFill>
                <a:latin typeface="Consolas"/>
              </a:rPr>
              <a:t>READY</a:t>
            </a:r>
          </a:p>
        </p:txBody>
      </p:sp>
      <p:sp>
        <p:nvSpPr>
          <p:cNvPr id="52" name="metric-v-3"/>
          <p:cNvSpPr txBox="1"/>
          <p:nvPr/>
        </p:nvSpPr>
        <p:spPr>
          <a:xfrm>
            <a:off x="6355080" y="1234440"/>
            <a:ext cx="80467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lang="en-US">
                <a:solidFill>
                  <a:srgbClr val="1A1A1A"/>
                </a:solidFill>
                <a:latin typeface="Arial Black"/>
              </a:rPr>
              <a:t>04</a:t>
            </a:r>
          </a:p>
        </p:txBody>
      </p:sp>
      <p:sp>
        <p:nvSpPr>
          <p:cNvPr id="53" name="metric-l-3"/>
          <p:cNvSpPr txBox="1"/>
          <p:nvPr/>
        </p:nvSpPr>
        <p:spPr>
          <a:xfrm>
            <a:off x="6281928" y="1581912"/>
            <a:ext cx="932688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777777"/>
                </a:solidFill>
                <a:latin typeface="Consolas"/>
              </a:rPr>
              <a:t>HOLD</a:t>
            </a:r>
          </a:p>
        </p:txBody>
      </p:sp>
      <p:sp>
        <p:nvSpPr>
          <p:cNvPr id="54" name="metric-v-4"/>
          <p:cNvSpPr txBox="1"/>
          <p:nvPr/>
        </p:nvSpPr>
        <p:spPr>
          <a:xfrm>
            <a:off x="7662672" y="1234440"/>
            <a:ext cx="80467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lang="en-US">
                <a:solidFill>
                  <a:srgbClr val="1A1A1A"/>
                </a:solidFill>
                <a:latin typeface="Arial Black"/>
              </a:rPr>
              <a:t>12</a:t>
            </a:r>
          </a:p>
        </p:txBody>
      </p:sp>
      <p:sp>
        <p:nvSpPr>
          <p:cNvPr id="55" name="metric-l-4"/>
          <p:cNvSpPr txBox="1"/>
          <p:nvPr/>
        </p:nvSpPr>
        <p:spPr>
          <a:xfrm>
            <a:off x="7589520" y="1581912"/>
            <a:ext cx="932688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777777"/>
                </a:solidFill>
                <a:latin typeface="Consolas"/>
              </a:rPr>
              <a:t>STYLE</a:t>
            </a:r>
          </a:p>
        </p:txBody>
      </p:sp>
      <p:sp>
        <p:nvSpPr>
          <p:cNvPr id="56" name="risk-title"/>
          <p:cNvSpPr txBox="1"/>
          <p:nvPr/>
        </p:nvSpPr>
        <p:spPr>
          <a:xfrm>
            <a:off x="9308592" y="1298448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1" lang="en-US">
                <a:solidFill>
                  <a:srgbClr val="1A1A1A"/>
                </a:solidFill>
                <a:latin typeface="Consolas"/>
              </a:rPr>
              <a:t>LIVE REVIEW QUEUE</a:t>
            </a:r>
          </a:p>
        </p:txBody>
      </p:sp>
      <p:sp>
        <p:nvSpPr>
          <p:cNvPr id="57" name="risk-label-0"/>
          <p:cNvSpPr txBox="1"/>
          <p:nvPr/>
        </p:nvSpPr>
        <p:spPr>
          <a:xfrm>
            <a:off x="9619488" y="1691640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50" b="1" lang="en-US">
                <a:solidFill>
                  <a:srgbClr val="1A1A1A"/>
                </a:solidFill>
                <a:latin typeface="Consolas"/>
              </a:rPr>
              <a:t>Scope stable</a:t>
            </a:r>
          </a:p>
        </p:txBody>
      </p:sp>
      <p:sp>
        <p:nvSpPr>
          <p:cNvPr id="58" name="risk-state-0"/>
          <p:cNvSpPr txBox="1"/>
          <p:nvPr/>
        </p:nvSpPr>
        <p:spPr>
          <a:xfrm>
            <a:off x="10972800" y="169164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00" b="1" lang="en-US">
                <a:solidFill>
                  <a:srgbClr val="1A1A1A"/>
                </a:solidFill>
                <a:latin typeface="Consolas"/>
              </a:rPr>
              <a:t>PASS</a:t>
            </a:r>
          </a:p>
        </p:txBody>
      </p:sp>
      <p:sp>
        <p:nvSpPr>
          <p:cNvPr id="59" name="risk-label-1"/>
          <p:cNvSpPr txBox="1"/>
          <p:nvPr/>
        </p:nvSpPr>
        <p:spPr>
          <a:xfrm>
            <a:off x="9619488" y="2221992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50" b="1" lang="en-US">
                <a:solidFill>
                  <a:srgbClr val="1A1A1A"/>
                </a:solidFill>
                <a:latin typeface="Consolas"/>
              </a:rPr>
              <a:t>Text capacity</a:t>
            </a:r>
          </a:p>
        </p:txBody>
      </p:sp>
      <p:sp>
        <p:nvSpPr>
          <p:cNvPr id="60" name="risk-state-1"/>
          <p:cNvSpPr txBox="1"/>
          <p:nvPr/>
        </p:nvSpPr>
        <p:spPr>
          <a:xfrm>
            <a:off x="10972800" y="2221992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00" b="1" lang="en-US">
                <a:solidFill>
                  <a:srgbClr val="1A1A1A"/>
                </a:solidFill>
                <a:latin typeface="Consolas"/>
              </a:rPr>
              <a:t>PASS</a:t>
            </a:r>
          </a:p>
        </p:txBody>
      </p:sp>
      <p:sp>
        <p:nvSpPr>
          <p:cNvPr id="61" name="risk-label-2"/>
          <p:cNvSpPr txBox="1"/>
          <p:nvPr/>
        </p:nvSpPr>
        <p:spPr>
          <a:xfrm>
            <a:off x="9619488" y="2752344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50" b="1" lang="en-US">
                <a:solidFill>
                  <a:srgbClr val="1A1A1A"/>
                </a:solidFill>
                <a:latin typeface="Consolas"/>
              </a:rPr>
              <a:t>Contrast check</a:t>
            </a:r>
          </a:p>
        </p:txBody>
      </p:sp>
      <p:sp>
        <p:nvSpPr>
          <p:cNvPr id="62" name="risk-state-2"/>
          <p:cNvSpPr txBox="1"/>
          <p:nvPr/>
        </p:nvSpPr>
        <p:spPr>
          <a:xfrm>
            <a:off x="10972800" y="275234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00" b="1" lang="en-US">
                <a:solidFill>
                  <a:srgbClr val="D92727"/>
                </a:solidFill>
                <a:latin typeface="Consolas"/>
              </a:rPr>
              <a:t>WATCH</a:t>
            </a:r>
          </a:p>
        </p:txBody>
      </p:sp>
      <p:sp>
        <p:nvSpPr>
          <p:cNvPr id="63" name="risk-label-3"/>
          <p:cNvSpPr txBox="1"/>
          <p:nvPr/>
        </p:nvSpPr>
        <p:spPr>
          <a:xfrm>
            <a:off x="9619488" y="3282696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50" b="1" lang="en-US">
                <a:solidFill>
                  <a:srgbClr val="1A1A1A"/>
                </a:solidFill>
                <a:latin typeface="Consolas"/>
              </a:rPr>
              <a:t>Table fit</a:t>
            </a:r>
          </a:p>
        </p:txBody>
      </p:sp>
      <p:sp>
        <p:nvSpPr>
          <p:cNvPr id="64" name="risk-state-3"/>
          <p:cNvSpPr txBox="1"/>
          <p:nvPr/>
        </p:nvSpPr>
        <p:spPr>
          <a:xfrm>
            <a:off x="10972800" y="3282696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00" b="1" lang="en-US">
                <a:solidFill>
                  <a:srgbClr val="1A1A1A"/>
                </a:solidFill>
                <a:latin typeface="Consolas"/>
              </a:rPr>
              <a:t>PASS</a:t>
            </a:r>
          </a:p>
        </p:txBody>
      </p:sp>
      <p:sp>
        <p:nvSpPr>
          <p:cNvPr id="65" name="risk-label-4"/>
          <p:cNvSpPr txBox="1"/>
          <p:nvPr/>
        </p:nvSpPr>
        <p:spPr>
          <a:xfrm>
            <a:off x="9619488" y="3813048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50" b="1" lang="en-US">
                <a:solidFill>
                  <a:srgbClr val="1A1A1A"/>
                </a:solidFill>
                <a:latin typeface="Consolas"/>
              </a:rPr>
              <a:t>Read order</a:t>
            </a:r>
          </a:p>
        </p:txBody>
      </p:sp>
      <p:sp>
        <p:nvSpPr>
          <p:cNvPr id="66" name="risk-state-4"/>
          <p:cNvSpPr txBox="1"/>
          <p:nvPr/>
        </p:nvSpPr>
        <p:spPr>
          <a:xfrm>
            <a:off x="10972800" y="3813048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00" b="1" lang="en-US">
                <a:solidFill>
                  <a:srgbClr val="D92727"/>
                </a:solidFill>
                <a:latin typeface="Consolas"/>
              </a:rPr>
              <a:t>WATCH</a:t>
            </a:r>
          </a:p>
        </p:txBody>
      </p:sp>
      <p:sp>
        <p:nvSpPr>
          <p:cNvPr id="67" name="risk-label-5"/>
          <p:cNvSpPr txBox="1"/>
          <p:nvPr/>
        </p:nvSpPr>
        <p:spPr>
          <a:xfrm>
            <a:off x="9619488" y="4343400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50" b="1" lang="en-US">
                <a:solidFill>
                  <a:srgbClr val="1A1A1A"/>
                </a:solidFill>
                <a:latin typeface="Consolas"/>
              </a:rPr>
              <a:t>Package</a:t>
            </a:r>
          </a:p>
        </p:txBody>
      </p:sp>
      <p:sp>
        <p:nvSpPr>
          <p:cNvPr id="68" name="risk-state-5"/>
          <p:cNvSpPr txBox="1"/>
          <p:nvPr/>
        </p:nvSpPr>
        <p:spPr>
          <a:xfrm>
            <a:off x="10972800" y="434340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00" b="1" lang="en-US">
                <a:solidFill>
                  <a:srgbClr val="1A1A1A"/>
                </a:solidFill>
                <a:latin typeface="Consolas"/>
              </a:rPr>
              <a:t>PASS</a:t>
            </a:r>
          </a:p>
        </p:txBody>
      </p:sp>
      <p:sp>
        <p:nvSpPr>
          <p:cNvPr id="69" name="progress-label"/>
          <p:cNvSpPr txBox="1"/>
          <p:nvPr/>
        </p:nvSpPr>
        <p:spPr>
          <a:xfrm>
            <a:off x="2468880" y="5788152"/>
            <a:ext cx="886968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50" b="1" lang="en-US">
                <a:solidFill>
                  <a:srgbClr val="FFFFFF"/>
                </a:solidFill>
                <a:latin typeface="Consolas"/>
              </a:rPr>
              <a:t>Stress workload: 78% complete · 12 profiles locked · 0 geometry regressions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EDE8"/>
          </a:solidFill>
          <a:ln w="10160">
            <a:solidFill>
              <a:srgbClr val="F0E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op-band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A1A1A"/>
          </a:solidFill>
          <a:ln w="1016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mesh-shell"/>
          <p:cNvSpPr/>
          <p:nvPr/>
        </p:nvSpPr>
        <p:spPr>
          <a:xfrm>
            <a:off x="457200" y="1078992"/>
            <a:ext cx="7360920" cy="5029200"/>
          </a:xfrm>
          <a:prstGeom prst="rect">
            <a:avLst/>
          </a:prstGeom>
          <a:solidFill>
            <a:srgbClr val="FFFFFF"/>
          </a:solidFill>
          <a:ln w="10160">
            <a:solidFill>
              <a:srgbClr val="D0CC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mesh-rail-shell"/>
          <p:cNvSpPr/>
          <p:nvPr/>
        </p:nvSpPr>
        <p:spPr>
          <a:xfrm>
            <a:off x="8092440" y="1078992"/>
            <a:ext cx="3639312" cy="5029200"/>
          </a:xfrm>
          <a:prstGeom prst="rect">
            <a:avLst/>
          </a:prstGeom>
          <a:solidFill>
            <a:srgbClr val="F0EDE8"/>
          </a:solidFill>
          <a:ln w="10160">
            <a:solidFill>
              <a:srgbClr val="D0CC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mesh-accent"/>
          <p:cNvSpPr/>
          <p:nvPr/>
        </p:nvSpPr>
        <p:spPr>
          <a:xfrm>
            <a:off x="457200" y="1078992"/>
            <a:ext cx="73152" cy="5029200"/>
          </a:xfrm>
          <a:prstGeom prst="rect">
            <a:avLst/>
          </a:prstGeom>
          <a:solidFill>
            <a:srgbClr val="1A1A1A"/>
          </a:solidFill>
          <a:ln w="1016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mesh-edge-0"/>
          <p:cNvCxnSpPr/>
          <p:nvPr/>
        </p:nvCxnSpPr>
        <p:spPr>
          <a:xfrm flipV="1">
            <a:off x="1618488" y="1920240"/>
            <a:ext cx="1828800" cy="320040"/>
          </a:xfrm>
          <a:prstGeom prst="line">
            <a:avLst/>
          </a:prstGeom>
          <a:ln w="13970">
            <a:solidFill>
              <a:srgbClr val="D0CC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mesh-edge-1"/>
          <p:cNvCxnSpPr/>
          <p:nvPr/>
        </p:nvCxnSpPr>
        <p:spPr>
          <a:xfrm>
            <a:off x="3447288" y="1920240"/>
            <a:ext cx="1920240" cy="320040"/>
          </a:xfrm>
          <a:prstGeom prst="line">
            <a:avLst/>
          </a:prstGeom>
          <a:ln w="13970">
            <a:solidFill>
              <a:srgbClr val="D0CC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mesh-edge-2"/>
          <p:cNvCxnSpPr/>
          <p:nvPr/>
        </p:nvCxnSpPr>
        <p:spPr>
          <a:xfrm>
            <a:off x="1618488" y="2240280"/>
            <a:ext cx="868680" cy="1325880"/>
          </a:xfrm>
          <a:prstGeom prst="line">
            <a:avLst/>
          </a:prstGeom>
          <a:ln w="13970">
            <a:solidFill>
              <a:srgbClr val="D0CC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mesh-edge-3"/>
          <p:cNvCxnSpPr/>
          <p:nvPr/>
        </p:nvCxnSpPr>
        <p:spPr>
          <a:xfrm flipH="1">
            <a:off x="2487168" y="1920240"/>
            <a:ext cx="960120" cy="1645920"/>
          </a:xfrm>
          <a:prstGeom prst="line">
            <a:avLst/>
          </a:prstGeom>
          <a:ln w="13970">
            <a:solidFill>
              <a:srgbClr val="D0CC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mesh-edge-4"/>
          <p:cNvCxnSpPr/>
          <p:nvPr/>
        </p:nvCxnSpPr>
        <p:spPr>
          <a:xfrm>
            <a:off x="3447288" y="1920240"/>
            <a:ext cx="1005840" cy="1307592"/>
          </a:xfrm>
          <a:prstGeom prst="line">
            <a:avLst/>
          </a:prstGeom>
          <a:ln w="13970">
            <a:solidFill>
              <a:srgbClr val="D0CC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mesh-edge-5"/>
          <p:cNvCxnSpPr/>
          <p:nvPr/>
        </p:nvCxnSpPr>
        <p:spPr>
          <a:xfrm flipH="1">
            <a:off x="4453128" y="2240280"/>
            <a:ext cx="914400" cy="987552"/>
          </a:xfrm>
          <a:prstGeom prst="line">
            <a:avLst/>
          </a:prstGeom>
          <a:ln w="13970">
            <a:solidFill>
              <a:srgbClr val="D0CC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mesh-edge-6"/>
          <p:cNvCxnSpPr/>
          <p:nvPr/>
        </p:nvCxnSpPr>
        <p:spPr>
          <a:xfrm>
            <a:off x="5367528" y="2240280"/>
            <a:ext cx="1005840" cy="1325880"/>
          </a:xfrm>
          <a:prstGeom prst="line">
            <a:avLst/>
          </a:prstGeom>
          <a:ln w="13970">
            <a:solidFill>
              <a:srgbClr val="D0CC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mesh-edge-7"/>
          <p:cNvCxnSpPr/>
          <p:nvPr/>
        </p:nvCxnSpPr>
        <p:spPr>
          <a:xfrm flipV="1">
            <a:off x="2487168" y="3227832"/>
            <a:ext cx="1965960" cy="338328"/>
          </a:xfrm>
          <a:prstGeom prst="line">
            <a:avLst/>
          </a:prstGeom>
          <a:ln w="13970">
            <a:solidFill>
              <a:srgbClr val="D0CC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mesh-edge-8"/>
          <p:cNvCxnSpPr/>
          <p:nvPr/>
        </p:nvCxnSpPr>
        <p:spPr>
          <a:xfrm>
            <a:off x="4453128" y="3227832"/>
            <a:ext cx="1920240" cy="338328"/>
          </a:xfrm>
          <a:prstGeom prst="line">
            <a:avLst/>
          </a:prstGeom>
          <a:ln w="13970">
            <a:solidFill>
              <a:srgbClr val="D0CC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mesh-edge-9"/>
          <p:cNvCxnSpPr/>
          <p:nvPr/>
        </p:nvCxnSpPr>
        <p:spPr>
          <a:xfrm>
            <a:off x="2487168" y="3566160"/>
            <a:ext cx="960120" cy="1325880"/>
          </a:xfrm>
          <a:prstGeom prst="line">
            <a:avLst/>
          </a:prstGeom>
          <a:ln w="13970">
            <a:solidFill>
              <a:srgbClr val="D0CC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mesh-edge-10"/>
          <p:cNvCxnSpPr/>
          <p:nvPr/>
        </p:nvCxnSpPr>
        <p:spPr>
          <a:xfrm flipH="1">
            <a:off x="3447288" y="3227832"/>
            <a:ext cx="1005840" cy="1664208"/>
          </a:xfrm>
          <a:prstGeom prst="line">
            <a:avLst/>
          </a:prstGeom>
          <a:ln w="13970">
            <a:solidFill>
              <a:srgbClr val="D0CC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mesh-edge-11"/>
          <p:cNvCxnSpPr/>
          <p:nvPr/>
        </p:nvCxnSpPr>
        <p:spPr>
          <a:xfrm>
            <a:off x="4453128" y="3227832"/>
            <a:ext cx="914400" cy="1664208"/>
          </a:xfrm>
          <a:prstGeom prst="line">
            <a:avLst/>
          </a:prstGeom>
          <a:ln w="13970">
            <a:solidFill>
              <a:srgbClr val="D0CC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mesh-edge-12"/>
          <p:cNvCxnSpPr/>
          <p:nvPr/>
        </p:nvCxnSpPr>
        <p:spPr>
          <a:xfrm flipH="1">
            <a:off x="5367528" y="3566160"/>
            <a:ext cx="1005840" cy="1325880"/>
          </a:xfrm>
          <a:prstGeom prst="line">
            <a:avLst/>
          </a:prstGeom>
          <a:ln w="13970">
            <a:solidFill>
              <a:srgbClr val="D0CC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mesh-edge-13"/>
          <p:cNvCxnSpPr/>
          <p:nvPr/>
        </p:nvCxnSpPr>
        <p:spPr>
          <a:xfrm>
            <a:off x="3447288" y="4892040"/>
            <a:ext cx="1920240" cy="0"/>
          </a:xfrm>
          <a:prstGeom prst="line">
            <a:avLst/>
          </a:prstGeom>
          <a:ln w="13970">
            <a:solidFill>
              <a:srgbClr val="D0CC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mesh-rail-accent"/>
          <p:cNvSpPr/>
          <p:nvPr/>
        </p:nvSpPr>
        <p:spPr>
          <a:xfrm>
            <a:off x="8092440" y="1078992"/>
            <a:ext cx="73152" cy="5029200"/>
          </a:xfrm>
          <a:prstGeom prst="rect">
            <a:avLst/>
          </a:prstGeom>
          <a:solidFill>
            <a:srgbClr val="1A1A1A"/>
          </a:solidFill>
          <a:ln w="1016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trace-line-0"/>
          <p:cNvCxnSpPr/>
          <p:nvPr/>
        </p:nvCxnSpPr>
        <p:spPr>
          <a:xfrm>
            <a:off x="8577072" y="2029968"/>
            <a:ext cx="0" cy="164592"/>
          </a:xfrm>
          <a:prstGeom prst="line">
            <a:avLst/>
          </a:prstGeom>
          <a:ln w="1397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trace-line-1"/>
          <p:cNvCxnSpPr/>
          <p:nvPr/>
        </p:nvCxnSpPr>
        <p:spPr>
          <a:xfrm>
            <a:off x="8577072" y="2596896"/>
            <a:ext cx="0" cy="164592"/>
          </a:xfrm>
          <a:prstGeom prst="line">
            <a:avLst/>
          </a:prstGeom>
          <a:ln w="13970">
            <a:solidFill>
              <a:srgbClr val="D927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trace-line-2"/>
          <p:cNvCxnSpPr/>
          <p:nvPr/>
        </p:nvCxnSpPr>
        <p:spPr>
          <a:xfrm>
            <a:off x="8577072" y="3163824"/>
            <a:ext cx="0" cy="164592"/>
          </a:xfrm>
          <a:prstGeom prst="line">
            <a:avLst/>
          </a:prstGeom>
          <a:ln w="13970">
            <a:solidFill>
              <a:srgbClr val="D927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trace-line-3"/>
          <p:cNvCxnSpPr/>
          <p:nvPr/>
        </p:nvCxnSpPr>
        <p:spPr>
          <a:xfrm>
            <a:off x="8577072" y="3730752"/>
            <a:ext cx="0" cy="164592"/>
          </a:xfrm>
          <a:prstGeom prst="line">
            <a:avLst/>
          </a:prstGeom>
          <a:ln w="13970">
            <a:solidFill>
              <a:srgbClr val="D927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trace-line-4"/>
          <p:cNvCxnSpPr/>
          <p:nvPr/>
        </p:nvCxnSpPr>
        <p:spPr>
          <a:xfrm>
            <a:off x="8577072" y="4297680"/>
            <a:ext cx="0" cy="164592"/>
          </a:xfrm>
          <a:prstGeom prst="line">
            <a:avLst/>
          </a:prstGeom>
          <a:ln w="1397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trace-line-5"/>
          <p:cNvCxnSpPr/>
          <p:nvPr/>
        </p:nvCxnSpPr>
        <p:spPr>
          <a:xfrm>
            <a:off x="8577072" y="4864608"/>
            <a:ext cx="0" cy="164592"/>
          </a:xfrm>
          <a:prstGeom prst="line">
            <a:avLst/>
          </a:prstGeom>
          <a:ln w="13970">
            <a:solidFill>
              <a:srgbClr val="D927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mesh-node-0"/>
          <p:cNvSpPr/>
          <p:nvPr/>
        </p:nvSpPr>
        <p:spPr>
          <a:xfrm>
            <a:off x="1051560" y="1920240"/>
            <a:ext cx="1143000" cy="640080"/>
          </a:xfrm>
          <a:prstGeom prst="roundRect">
            <a:avLst/>
          </a:prstGeom>
          <a:solidFill>
            <a:srgbClr val="1A1A1A"/>
          </a:solidFill>
          <a:ln w="1016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mesh-node-1"/>
          <p:cNvSpPr/>
          <p:nvPr/>
        </p:nvSpPr>
        <p:spPr>
          <a:xfrm>
            <a:off x="2880360" y="1600200"/>
            <a:ext cx="1143000" cy="640080"/>
          </a:xfrm>
          <a:prstGeom prst="roundRect">
            <a:avLst/>
          </a:prstGeom>
          <a:solidFill>
            <a:srgbClr val="D92727"/>
          </a:solidFill>
          <a:ln w="10160">
            <a:solidFill>
              <a:srgbClr val="D927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mesh-node-2"/>
          <p:cNvSpPr/>
          <p:nvPr/>
        </p:nvSpPr>
        <p:spPr>
          <a:xfrm>
            <a:off x="4800600" y="1920240"/>
            <a:ext cx="1143000" cy="640080"/>
          </a:xfrm>
          <a:prstGeom prst="roundRect">
            <a:avLst/>
          </a:prstGeom>
          <a:solidFill>
            <a:srgbClr val="D92727"/>
          </a:solidFill>
          <a:ln w="10160">
            <a:solidFill>
              <a:srgbClr val="D927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mesh-node-3"/>
          <p:cNvSpPr/>
          <p:nvPr/>
        </p:nvSpPr>
        <p:spPr>
          <a:xfrm>
            <a:off x="1920240" y="3246120"/>
            <a:ext cx="1143000" cy="640080"/>
          </a:xfrm>
          <a:prstGeom prst="roundRect">
            <a:avLst/>
          </a:prstGeom>
          <a:solidFill>
            <a:srgbClr val="1A1A1A"/>
          </a:solidFill>
          <a:ln w="1016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mesh-node-4"/>
          <p:cNvSpPr/>
          <p:nvPr/>
        </p:nvSpPr>
        <p:spPr>
          <a:xfrm>
            <a:off x="3886200" y="2907792"/>
            <a:ext cx="1143000" cy="640080"/>
          </a:xfrm>
          <a:prstGeom prst="roundRect">
            <a:avLst/>
          </a:prstGeom>
          <a:solidFill>
            <a:srgbClr val="D92727"/>
          </a:solidFill>
          <a:ln w="10160">
            <a:solidFill>
              <a:srgbClr val="D927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mesh-node-5"/>
          <p:cNvSpPr/>
          <p:nvPr/>
        </p:nvSpPr>
        <p:spPr>
          <a:xfrm>
            <a:off x="5806440" y="3246120"/>
            <a:ext cx="1143000" cy="640080"/>
          </a:xfrm>
          <a:prstGeom prst="roundRect">
            <a:avLst/>
          </a:prstGeom>
          <a:solidFill>
            <a:srgbClr val="1A1A1A"/>
          </a:solidFill>
          <a:ln w="1016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mesh-node-6"/>
          <p:cNvSpPr/>
          <p:nvPr/>
        </p:nvSpPr>
        <p:spPr>
          <a:xfrm>
            <a:off x="2880360" y="4572000"/>
            <a:ext cx="1143000" cy="640080"/>
          </a:xfrm>
          <a:prstGeom prst="roundRect">
            <a:avLst/>
          </a:prstGeom>
          <a:solidFill>
            <a:srgbClr val="D92727"/>
          </a:solidFill>
          <a:ln w="10160">
            <a:solidFill>
              <a:srgbClr val="D927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mesh-node-7"/>
          <p:cNvSpPr/>
          <p:nvPr/>
        </p:nvSpPr>
        <p:spPr>
          <a:xfrm>
            <a:off x="4800600" y="4572000"/>
            <a:ext cx="1143000" cy="640080"/>
          </a:xfrm>
          <a:prstGeom prst="roundRect">
            <a:avLst/>
          </a:prstGeom>
          <a:solidFill>
            <a:srgbClr val="1A1A1A"/>
          </a:solidFill>
          <a:ln w="1016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race-badge-0"/>
          <p:cNvSpPr/>
          <p:nvPr/>
        </p:nvSpPr>
        <p:spPr>
          <a:xfrm>
            <a:off x="8357616" y="1682496"/>
            <a:ext cx="438912" cy="347472"/>
          </a:xfrm>
          <a:prstGeom prst="roundRect">
            <a:avLst/>
          </a:prstGeom>
          <a:solidFill>
            <a:srgbClr val="1A1A1A"/>
          </a:solidFill>
          <a:ln w="1016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race-badge-1"/>
          <p:cNvSpPr/>
          <p:nvPr/>
        </p:nvSpPr>
        <p:spPr>
          <a:xfrm>
            <a:off x="8357616" y="2249424"/>
            <a:ext cx="438912" cy="347472"/>
          </a:xfrm>
          <a:prstGeom prst="roundRect">
            <a:avLst/>
          </a:prstGeom>
          <a:solidFill>
            <a:srgbClr val="D92727"/>
          </a:solidFill>
          <a:ln w="10160">
            <a:solidFill>
              <a:srgbClr val="D927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race-badge-2"/>
          <p:cNvSpPr/>
          <p:nvPr/>
        </p:nvSpPr>
        <p:spPr>
          <a:xfrm>
            <a:off x="8357616" y="2816352"/>
            <a:ext cx="438912" cy="347472"/>
          </a:xfrm>
          <a:prstGeom prst="roundRect">
            <a:avLst/>
          </a:prstGeom>
          <a:solidFill>
            <a:srgbClr val="D92727"/>
          </a:solidFill>
          <a:ln w="10160">
            <a:solidFill>
              <a:srgbClr val="D927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race-badge-3"/>
          <p:cNvSpPr/>
          <p:nvPr/>
        </p:nvSpPr>
        <p:spPr>
          <a:xfrm>
            <a:off x="8357616" y="3383280"/>
            <a:ext cx="438912" cy="347472"/>
          </a:xfrm>
          <a:prstGeom prst="roundRect">
            <a:avLst/>
          </a:prstGeom>
          <a:solidFill>
            <a:srgbClr val="D92727"/>
          </a:solidFill>
          <a:ln w="10160">
            <a:solidFill>
              <a:srgbClr val="D927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race-badge-4"/>
          <p:cNvSpPr/>
          <p:nvPr/>
        </p:nvSpPr>
        <p:spPr>
          <a:xfrm>
            <a:off x="8357616" y="3950208"/>
            <a:ext cx="438912" cy="347472"/>
          </a:xfrm>
          <a:prstGeom prst="roundRect">
            <a:avLst/>
          </a:prstGeom>
          <a:solidFill>
            <a:srgbClr val="1A1A1A"/>
          </a:solidFill>
          <a:ln w="1016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race-badge-5"/>
          <p:cNvSpPr/>
          <p:nvPr/>
        </p:nvSpPr>
        <p:spPr>
          <a:xfrm>
            <a:off x="8357616" y="4517136"/>
            <a:ext cx="438912" cy="347472"/>
          </a:xfrm>
          <a:prstGeom prst="roundRect">
            <a:avLst/>
          </a:prstGeom>
          <a:solidFill>
            <a:srgbClr val="D92727"/>
          </a:solidFill>
          <a:ln w="10160">
            <a:solidFill>
              <a:srgbClr val="D927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profile-tag"/>
          <p:cNvSpPr txBox="1"/>
          <p:nvPr/>
        </p:nvSpPr>
        <p:spPr>
          <a:xfrm>
            <a:off x="457200" y="201168"/>
            <a:ext cx="768096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1" lang="en-US">
                <a:solidFill>
                  <a:srgbClr val="1A1A1A"/>
                </a:solidFill>
                <a:latin typeface="Consolas"/>
              </a:rPr>
              <a:t>V3 STRESS SUITE  ·  TYPOGRAPHIC BOLD  ·  EVIDENCE MESH</a:t>
            </a:r>
          </a:p>
        </p:txBody>
      </p:sp>
      <p:sp>
        <p:nvSpPr>
          <p:cNvPr id="43" name="slide-index"/>
          <p:cNvSpPr txBox="1"/>
          <p:nvPr/>
        </p:nvSpPr>
        <p:spPr>
          <a:xfrm>
            <a:off x="10808208" y="201168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00" b="1" lang="en-US">
                <a:solidFill>
                  <a:srgbClr val="777777"/>
                </a:solidFill>
                <a:latin typeface="Consolas"/>
              </a:rPr>
              <a:t>27/60</a:t>
            </a:r>
          </a:p>
        </p:txBody>
      </p:sp>
      <p:sp>
        <p:nvSpPr>
          <p:cNvPr id="44" name="title"/>
          <p:cNvSpPr txBox="1"/>
          <p:nvPr/>
        </p:nvSpPr>
        <p:spPr>
          <a:xfrm>
            <a:off x="457200" y="484632"/>
            <a:ext cx="11274552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200" b="1" lang="en-US">
                <a:solidFill>
                  <a:srgbClr val="1A1A1A"/>
                </a:solidFill>
                <a:latin typeface="Arial Black"/>
              </a:rPr>
              <a:t>Evidence meshes preserve traceability across a dense editable graph</a:t>
            </a:r>
          </a:p>
        </p:txBody>
      </p:sp>
      <p:sp>
        <p:nvSpPr>
          <p:cNvPr id="45" name="footer"/>
          <p:cNvSpPr txBox="1"/>
          <p:nvPr/>
        </p:nvSpPr>
        <p:spPr>
          <a:xfrm>
            <a:off x="457200" y="6473952"/>
            <a:ext cx="1051560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0" lang="en-US">
                <a:solidFill>
                  <a:srgbClr val="777777"/>
                </a:solidFill>
                <a:latin typeface="Consolas"/>
              </a:rPr>
              <a:t>Native-object stress fixture · oversized near-black display type with one signal-red word · editable geometry and recorded style lock</a:t>
            </a:r>
          </a:p>
        </p:txBody>
      </p:sp>
      <p:sp>
        <p:nvSpPr>
          <p:cNvPr id="46" name="mesh-title"/>
          <p:cNvSpPr txBox="1"/>
          <p:nvPr/>
        </p:nvSpPr>
        <p:spPr>
          <a:xfrm>
            <a:off x="713232" y="1298448"/>
            <a:ext cx="320040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1" lang="en-US">
                <a:solidFill>
                  <a:srgbClr val="1A1A1A"/>
                </a:solidFill>
                <a:latin typeface="Consolas"/>
              </a:rPr>
              <a:t>EVIDENCE ROUTING MESH</a:t>
            </a:r>
          </a:p>
        </p:txBody>
      </p:sp>
      <p:sp>
        <p:nvSpPr>
          <p:cNvPr id="47" name="mesh-label-0"/>
          <p:cNvSpPr txBox="1"/>
          <p:nvPr/>
        </p:nvSpPr>
        <p:spPr>
          <a:xfrm>
            <a:off x="1143000" y="2139696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lang="en-US">
                <a:solidFill>
                  <a:srgbClr val="FFFFFF"/>
                </a:solidFill>
                <a:latin typeface="Consolas"/>
              </a:rPr>
              <a:t>Request</a:t>
            </a:r>
          </a:p>
        </p:txBody>
      </p:sp>
      <p:sp>
        <p:nvSpPr>
          <p:cNvPr id="48" name="mesh-label-1"/>
          <p:cNvSpPr txBox="1"/>
          <p:nvPr/>
        </p:nvSpPr>
        <p:spPr>
          <a:xfrm>
            <a:off x="2971800" y="1819656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lang="en-US">
                <a:solidFill>
                  <a:srgbClr val="FFFFFF"/>
                </a:solidFill>
                <a:latin typeface="Consolas"/>
              </a:rPr>
              <a:t>Profile</a:t>
            </a:r>
          </a:p>
        </p:txBody>
      </p:sp>
      <p:sp>
        <p:nvSpPr>
          <p:cNvPr id="49" name="mesh-label-2"/>
          <p:cNvSpPr txBox="1"/>
          <p:nvPr/>
        </p:nvSpPr>
        <p:spPr>
          <a:xfrm>
            <a:off x="4892040" y="2139696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lang="en-US">
                <a:solidFill>
                  <a:srgbClr val="FFFFFF"/>
                </a:solidFill>
                <a:latin typeface="Consolas"/>
              </a:rPr>
              <a:t>Source</a:t>
            </a:r>
          </a:p>
        </p:txBody>
      </p:sp>
      <p:sp>
        <p:nvSpPr>
          <p:cNvPr id="50" name="mesh-label-3"/>
          <p:cNvSpPr txBox="1"/>
          <p:nvPr/>
        </p:nvSpPr>
        <p:spPr>
          <a:xfrm>
            <a:off x="2011680" y="3465576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lang="en-US">
                <a:solidFill>
                  <a:srgbClr val="FFFFFF"/>
                </a:solidFill>
                <a:latin typeface="Consolas"/>
              </a:rPr>
              <a:t>Spec</a:t>
            </a:r>
          </a:p>
        </p:txBody>
      </p:sp>
      <p:sp>
        <p:nvSpPr>
          <p:cNvPr id="51" name="mesh-label-4"/>
          <p:cNvSpPr txBox="1"/>
          <p:nvPr/>
        </p:nvSpPr>
        <p:spPr>
          <a:xfrm>
            <a:off x="3977639" y="3127248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lang="en-US">
                <a:solidFill>
                  <a:srgbClr val="FFFFFF"/>
                </a:solidFill>
                <a:latin typeface="Consolas"/>
              </a:rPr>
              <a:t>Audit</a:t>
            </a:r>
          </a:p>
        </p:txBody>
      </p:sp>
      <p:sp>
        <p:nvSpPr>
          <p:cNvPr id="52" name="mesh-label-5"/>
          <p:cNvSpPr txBox="1"/>
          <p:nvPr/>
        </p:nvSpPr>
        <p:spPr>
          <a:xfrm>
            <a:off x="5897880" y="3465576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lang="en-US">
                <a:solidFill>
                  <a:srgbClr val="FFFFFF"/>
                </a:solidFill>
                <a:latin typeface="Consolas"/>
              </a:rPr>
              <a:t>Render</a:t>
            </a:r>
          </a:p>
        </p:txBody>
      </p:sp>
      <p:sp>
        <p:nvSpPr>
          <p:cNvPr id="53" name="mesh-label-6"/>
          <p:cNvSpPr txBox="1"/>
          <p:nvPr/>
        </p:nvSpPr>
        <p:spPr>
          <a:xfrm>
            <a:off x="2971800" y="4791456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lang="en-US">
                <a:solidFill>
                  <a:srgbClr val="FFFFFF"/>
                </a:solidFill>
                <a:latin typeface="Consolas"/>
              </a:rPr>
              <a:t>Repair</a:t>
            </a:r>
          </a:p>
        </p:txBody>
      </p:sp>
      <p:sp>
        <p:nvSpPr>
          <p:cNvPr id="54" name="mesh-label-7"/>
          <p:cNvSpPr txBox="1"/>
          <p:nvPr/>
        </p:nvSpPr>
        <p:spPr>
          <a:xfrm>
            <a:off x="4892040" y="4791456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lang="en-US">
                <a:solidFill>
                  <a:srgbClr val="FFFFFF"/>
                </a:solidFill>
                <a:latin typeface="Consolas"/>
              </a:rPr>
              <a:t>Ship</a:t>
            </a:r>
          </a:p>
        </p:txBody>
      </p:sp>
      <p:sp>
        <p:nvSpPr>
          <p:cNvPr id="55" name="mesh-rail-title"/>
          <p:cNvSpPr txBox="1"/>
          <p:nvPr/>
        </p:nvSpPr>
        <p:spPr>
          <a:xfrm>
            <a:off x="8357616" y="1298448"/>
            <a:ext cx="265176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1" lang="en-US">
                <a:solidFill>
                  <a:srgbClr val="1A1A1A"/>
                </a:solidFill>
                <a:latin typeface="Consolas"/>
              </a:rPr>
              <a:t>TRACEABILITY</a:t>
            </a:r>
          </a:p>
        </p:txBody>
      </p:sp>
      <p:sp>
        <p:nvSpPr>
          <p:cNvPr id="56" name="trace-number-0"/>
          <p:cNvSpPr txBox="1"/>
          <p:nvPr/>
        </p:nvSpPr>
        <p:spPr>
          <a:xfrm>
            <a:off x="8375904" y="1783080"/>
            <a:ext cx="402336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FFFFFF"/>
                </a:solidFill>
                <a:latin typeface="Consolas"/>
              </a:rPr>
              <a:t>01</a:t>
            </a:r>
          </a:p>
        </p:txBody>
      </p:sp>
      <p:sp>
        <p:nvSpPr>
          <p:cNvPr id="57" name="trace-label-0"/>
          <p:cNvSpPr txBox="1"/>
          <p:nvPr/>
        </p:nvSpPr>
        <p:spPr>
          <a:xfrm>
            <a:off x="8979408" y="173736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1" lang="en-US">
                <a:solidFill>
                  <a:srgbClr val="1A1A1A"/>
                </a:solidFill>
                <a:latin typeface="Consolas"/>
              </a:rPr>
              <a:t>Intent</a:t>
            </a:r>
          </a:p>
        </p:txBody>
      </p:sp>
      <p:sp>
        <p:nvSpPr>
          <p:cNvPr id="58" name="trace-number-1"/>
          <p:cNvSpPr txBox="1"/>
          <p:nvPr/>
        </p:nvSpPr>
        <p:spPr>
          <a:xfrm>
            <a:off x="8375904" y="2350008"/>
            <a:ext cx="402336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FFFFFF"/>
                </a:solidFill>
                <a:latin typeface="Consolas"/>
              </a:rPr>
              <a:t>02</a:t>
            </a:r>
          </a:p>
        </p:txBody>
      </p:sp>
      <p:sp>
        <p:nvSpPr>
          <p:cNvPr id="59" name="trace-label-1"/>
          <p:cNvSpPr txBox="1"/>
          <p:nvPr/>
        </p:nvSpPr>
        <p:spPr>
          <a:xfrm>
            <a:off x="8979408" y="2304288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1" lang="en-US">
                <a:solidFill>
                  <a:srgbClr val="1A1A1A"/>
                </a:solidFill>
                <a:latin typeface="Consolas"/>
              </a:rPr>
              <a:t>Profile lock</a:t>
            </a:r>
          </a:p>
        </p:txBody>
      </p:sp>
      <p:sp>
        <p:nvSpPr>
          <p:cNvPr id="60" name="trace-number-2"/>
          <p:cNvSpPr txBox="1"/>
          <p:nvPr/>
        </p:nvSpPr>
        <p:spPr>
          <a:xfrm>
            <a:off x="8375904" y="2916936"/>
            <a:ext cx="402336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FFFFFF"/>
                </a:solidFill>
                <a:latin typeface="Consolas"/>
              </a:rPr>
              <a:t>03</a:t>
            </a:r>
          </a:p>
        </p:txBody>
      </p:sp>
      <p:sp>
        <p:nvSpPr>
          <p:cNvPr id="61" name="trace-label-2"/>
          <p:cNvSpPr txBox="1"/>
          <p:nvPr/>
        </p:nvSpPr>
        <p:spPr>
          <a:xfrm>
            <a:off x="8979408" y="2871216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1" lang="en-US">
                <a:solidFill>
                  <a:srgbClr val="1A1A1A"/>
                </a:solidFill>
                <a:latin typeface="Consolas"/>
              </a:rPr>
              <a:t>Object spec</a:t>
            </a:r>
          </a:p>
        </p:txBody>
      </p:sp>
      <p:sp>
        <p:nvSpPr>
          <p:cNvPr id="62" name="trace-number-3"/>
          <p:cNvSpPr txBox="1"/>
          <p:nvPr/>
        </p:nvSpPr>
        <p:spPr>
          <a:xfrm>
            <a:off x="8375904" y="3483864"/>
            <a:ext cx="402336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FFFFFF"/>
                </a:solidFill>
                <a:latin typeface="Consolas"/>
              </a:rPr>
              <a:t>04</a:t>
            </a:r>
          </a:p>
        </p:txBody>
      </p:sp>
      <p:sp>
        <p:nvSpPr>
          <p:cNvPr id="63" name="trace-label-3"/>
          <p:cNvSpPr txBox="1"/>
          <p:nvPr/>
        </p:nvSpPr>
        <p:spPr>
          <a:xfrm>
            <a:off x="8979408" y="3438144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1" lang="en-US">
                <a:solidFill>
                  <a:srgbClr val="1A1A1A"/>
                </a:solidFill>
                <a:latin typeface="Consolas"/>
              </a:rPr>
              <a:t>Quality gate</a:t>
            </a:r>
          </a:p>
        </p:txBody>
      </p:sp>
      <p:sp>
        <p:nvSpPr>
          <p:cNvPr id="64" name="trace-number-4"/>
          <p:cNvSpPr txBox="1"/>
          <p:nvPr/>
        </p:nvSpPr>
        <p:spPr>
          <a:xfrm>
            <a:off x="8375904" y="4050791"/>
            <a:ext cx="402336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FFFFFF"/>
                </a:solidFill>
                <a:latin typeface="Consolas"/>
              </a:rPr>
              <a:t>05</a:t>
            </a:r>
          </a:p>
        </p:txBody>
      </p:sp>
      <p:sp>
        <p:nvSpPr>
          <p:cNvPr id="65" name="trace-label-4"/>
          <p:cNvSpPr txBox="1"/>
          <p:nvPr/>
        </p:nvSpPr>
        <p:spPr>
          <a:xfrm>
            <a:off x="8979408" y="400507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1" lang="en-US">
                <a:solidFill>
                  <a:srgbClr val="1A1A1A"/>
                </a:solidFill>
                <a:latin typeface="Consolas"/>
              </a:rPr>
              <a:t>Repair trace</a:t>
            </a:r>
          </a:p>
        </p:txBody>
      </p:sp>
      <p:sp>
        <p:nvSpPr>
          <p:cNvPr id="66" name="trace-number-5"/>
          <p:cNvSpPr txBox="1"/>
          <p:nvPr/>
        </p:nvSpPr>
        <p:spPr>
          <a:xfrm>
            <a:off x="8375904" y="4617720"/>
            <a:ext cx="402336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FFFFFF"/>
                </a:solidFill>
                <a:latin typeface="Consolas"/>
              </a:rPr>
              <a:t>06</a:t>
            </a:r>
          </a:p>
        </p:txBody>
      </p:sp>
      <p:sp>
        <p:nvSpPr>
          <p:cNvPr id="67" name="trace-label-5"/>
          <p:cNvSpPr txBox="1"/>
          <p:nvPr/>
        </p:nvSpPr>
        <p:spPr>
          <a:xfrm>
            <a:off x="8979408" y="457200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1" lang="en-US">
                <a:solidFill>
                  <a:srgbClr val="1A1A1A"/>
                </a:solidFill>
                <a:latin typeface="Consolas"/>
              </a:rPr>
              <a:t>Artifact</a:t>
            </a:r>
          </a:p>
        </p:txBody>
      </p:sp>
      <p:sp>
        <p:nvSpPr>
          <p:cNvPr id="68" name="mesh-note"/>
          <p:cNvSpPr txBox="1"/>
          <p:nvPr/>
        </p:nvSpPr>
        <p:spPr>
          <a:xfrm>
            <a:off x="8357616" y="5321808"/>
            <a:ext cx="2834640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00" b="0" lang="en-US">
                <a:solidFill>
                  <a:srgbClr val="777777"/>
                </a:solidFill>
                <a:latin typeface="Consolas"/>
              </a:rPr>
              <a:t>Fourteen editable links prove dense graph routing and layering.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EDE8"/>
          </a:solidFill>
          <a:ln w="10160">
            <a:solidFill>
              <a:srgbClr val="F0E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op-band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A1A1A"/>
          </a:solidFill>
          <a:ln w="1016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matrix-rail-shell"/>
          <p:cNvSpPr/>
          <p:nvPr/>
        </p:nvSpPr>
        <p:spPr>
          <a:xfrm>
            <a:off x="8823960" y="1143000"/>
            <a:ext cx="2907792" cy="4443984"/>
          </a:xfrm>
          <a:prstGeom prst="rect">
            <a:avLst/>
          </a:prstGeom>
          <a:solidFill>
            <a:srgbClr val="FFFFFF"/>
          </a:solidFill>
          <a:ln w="10160">
            <a:solidFill>
              <a:srgbClr val="D0CC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matrix-rail-accent"/>
          <p:cNvSpPr/>
          <p:nvPr/>
        </p:nvSpPr>
        <p:spPr>
          <a:xfrm>
            <a:off x="8823960" y="1143000"/>
            <a:ext cx="73152" cy="4443984"/>
          </a:xfrm>
          <a:prstGeom prst="rect">
            <a:avLst/>
          </a:prstGeom>
          <a:solidFill>
            <a:srgbClr val="1A1A1A"/>
          </a:solidFill>
          <a:ln w="1016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adar-ring-0.45"/>
          <p:cNvSpPr/>
          <p:nvPr/>
        </p:nvSpPr>
        <p:spPr>
          <a:xfrm>
            <a:off x="9866376" y="2834640"/>
            <a:ext cx="822960" cy="822960"/>
          </a:xfrm>
          <a:prstGeom prst="ellipse">
            <a:avLst/>
          </a:prstGeom>
          <a:solidFill>
            <a:srgbClr val="FFFFFF"/>
          </a:solidFill>
          <a:ln w="10160">
            <a:solidFill>
              <a:srgbClr val="D0CC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adar-ring-0.85"/>
          <p:cNvSpPr/>
          <p:nvPr/>
        </p:nvSpPr>
        <p:spPr>
          <a:xfrm>
            <a:off x="9500616" y="2468880"/>
            <a:ext cx="1554480" cy="1554480"/>
          </a:xfrm>
          <a:prstGeom prst="ellipse">
            <a:avLst/>
          </a:prstGeom>
          <a:solidFill>
            <a:srgbClr val="FFFFFF"/>
          </a:solidFill>
          <a:ln w="10160">
            <a:solidFill>
              <a:srgbClr val="D0CC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adar-ring-1.25"/>
          <p:cNvSpPr/>
          <p:nvPr/>
        </p:nvSpPr>
        <p:spPr>
          <a:xfrm>
            <a:off x="9134856" y="2103120"/>
            <a:ext cx="2286000" cy="2286000"/>
          </a:xfrm>
          <a:prstGeom prst="ellipse">
            <a:avLst/>
          </a:prstGeom>
          <a:solidFill>
            <a:srgbClr val="FFFFFF"/>
          </a:solidFill>
          <a:ln w="10160">
            <a:solidFill>
              <a:srgbClr val="D0CC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radar-axis-0"/>
          <p:cNvCxnSpPr/>
          <p:nvPr/>
        </p:nvCxnSpPr>
        <p:spPr>
          <a:xfrm flipV="1">
            <a:off x="10277856" y="1828799"/>
            <a:ext cx="0" cy="1417321"/>
          </a:xfrm>
          <a:prstGeom prst="line">
            <a:avLst/>
          </a:prstGeom>
          <a:ln w="13970">
            <a:solidFill>
              <a:srgbClr val="D0CC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radar-axis-1"/>
          <p:cNvCxnSpPr/>
          <p:nvPr/>
        </p:nvCxnSpPr>
        <p:spPr>
          <a:xfrm flipV="1">
            <a:off x="10277856" y="2537460"/>
            <a:ext cx="1227435" cy="708660"/>
          </a:xfrm>
          <a:prstGeom prst="line">
            <a:avLst/>
          </a:prstGeom>
          <a:ln w="13970">
            <a:solidFill>
              <a:srgbClr val="D0CC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radar-axis-2"/>
          <p:cNvCxnSpPr/>
          <p:nvPr/>
        </p:nvCxnSpPr>
        <p:spPr>
          <a:xfrm>
            <a:off x="10277856" y="3246120"/>
            <a:ext cx="1227435" cy="708659"/>
          </a:xfrm>
          <a:prstGeom prst="line">
            <a:avLst/>
          </a:prstGeom>
          <a:ln w="13970">
            <a:solidFill>
              <a:srgbClr val="D0CC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radar-axis-3"/>
          <p:cNvCxnSpPr/>
          <p:nvPr/>
        </p:nvCxnSpPr>
        <p:spPr>
          <a:xfrm>
            <a:off x="10277856" y="3246120"/>
            <a:ext cx="0" cy="1417320"/>
          </a:xfrm>
          <a:prstGeom prst="line">
            <a:avLst/>
          </a:prstGeom>
          <a:ln w="13970">
            <a:solidFill>
              <a:srgbClr val="D0CC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radar-axis-4"/>
          <p:cNvCxnSpPr/>
          <p:nvPr/>
        </p:nvCxnSpPr>
        <p:spPr>
          <a:xfrm flipH="1">
            <a:off x="9050420" y="3246120"/>
            <a:ext cx="1227436" cy="708659"/>
          </a:xfrm>
          <a:prstGeom prst="line">
            <a:avLst/>
          </a:prstGeom>
          <a:ln w="13970">
            <a:solidFill>
              <a:srgbClr val="D0CC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radar-axis-5"/>
          <p:cNvCxnSpPr/>
          <p:nvPr/>
        </p:nvCxnSpPr>
        <p:spPr>
          <a:xfrm flipH="1" flipV="1">
            <a:off x="9050420" y="2537459"/>
            <a:ext cx="1227436" cy="708661"/>
          </a:xfrm>
          <a:prstGeom prst="line">
            <a:avLst/>
          </a:prstGeom>
          <a:ln w="13970">
            <a:solidFill>
              <a:srgbClr val="D0CC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flow-link-0"/>
          <p:cNvCxnSpPr/>
          <p:nvPr/>
        </p:nvCxnSpPr>
        <p:spPr>
          <a:xfrm>
            <a:off x="2066543" y="5934456"/>
            <a:ext cx="265177" cy="0"/>
          </a:xfrm>
          <a:prstGeom prst="line">
            <a:avLst/>
          </a:prstGeom>
          <a:ln w="1397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flow-link-1"/>
          <p:cNvCxnSpPr/>
          <p:nvPr/>
        </p:nvCxnSpPr>
        <p:spPr>
          <a:xfrm>
            <a:off x="3959352" y="5934456"/>
            <a:ext cx="265175" cy="0"/>
          </a:xfrm>
          <a:prstGeom prst="line">
            <a:avLst/>
          </a:prstGeom>
          <a:ln w="13970">
            <a:solidFill>
              <a:srgbClr val="D927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flow-link-2"/>
          <p:cNvCxnSpPr/>
          <p:nvPr/>
        </p:nvCxnSpPr>
        <p:spPr>
          <a:xfrm>
            <a:off x="5852159" y="5934456"/>
            <a:ext cx="265177" cy="0"/>
          </a:xfrm>
          <a:prstGeom prst="line">
            <a:avLst/>
          </a:prstGeom>
          <a:ln w="13970">
            <a:solidFill>
              <a:srgbClr val="D927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flow-link-3"/>
          <p:cNvCxnSpPr/>
          <p:nvPr/>
        </p:nvCxnSpPr>
        <p:spPr>
          <a:xfrm>
            <a:off x="7744967" y="5934456"/>
            <a:ext cx="265176" cy="0"/>
          </a:xfrm>
          <a:prstGeom prst="line">
            <a:avLst/>
          </a:prstGeom>
          <a:ln w="13970">
            <a:solidFill>
              <a:srgbClr val="D927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flow-link-4"/>
          <p:cNvCxnSpPr/>
          <p:nvPr/>
        </p:nvCxnSpPr>
        <p:spPr>
          <a:xfrm>
            <a:off x="9637776" y="5934456"/>
            <a:ext cx="265175" cy="0"/>
          </a:xfrm>
          <a:prstGeom prst="line">
            <a:avLst/>
          </a:prstGeom>
          <a:ln w="1397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0" name="operating-table"/>
          <p:cNvGraphicFramePr>
            <a:graphicFrameLocks noGrp="1"/>
          </p:cNvGraphicFramePr>
          <p:nvPr/>
        </p:nvGraphicFramePr>
        <p:xfrm>
          <a:off x="457200" y="1143000"/>
          <a:ext cx="8092440" cy="44439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8740"/>
                <a:gridCol w="1348740"/>
                <a:gridCol w="1348740"/>
                <a:gridCol w="1348740"/>
                <a:gridCol w="1348740"/>
                <a:gridCol w="1348740"/>
              </a:tblGrid>
              <a:tr h="444398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FFFFFF"/>
                          </a:solidFill>
                          <a:latin typeface="Consolas"/>
                        </a:rPr>
                        <a:t>Workstream</a:t>
                      </a:r>
                    </a:p>
                  </a:txBody>
                  <a:tcPr marL="54864" marR="54864" marT="18288" marB="18288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FFFFFF"/>
                          </a:solidFill>
                          <a:latin typeface="Consolas"/>
                        </a:rPr>
                        <a:t>Profile</a:t>
                      </a:r>
                    </a:p>
                  </a:txBody>
                  <a:tcPr marL="54864" marR="54864" marT="18288" marB="18288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FFFFFF"/>
                          </a:solidFill>
                          <a:latin typeface="Consolas"/>
                        </a:rPr>
                        <a:t>Structure</a:t>
                      </a:r>
                    </a:p>
                  </a:txBody>
                  <a:tcPr marL="54864" marR="54864" marT="18288" marB="18288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FFFFFF"/>
                          </a:solidFill>
                          <a:latin typeface="Consolas"/>
                        </a:rPr>
                        <a:t>Density</a:t>
                      </a:r>
                    </a:p>
                  </a:txBody>
                  <a:tcPr marL="54864" marR="54864" marT="18288" marB="18288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FFFFFF"/>
                          </a:solidFill>
                          <a:latin typeface="Consolas"/>
                        </a:rPr>
                        <a:t>Gate</a:t>
                      </a:r>
                    </a:p>
                  </a:txBody>
                  <a:tcPr marL="54864" marR="54864" marT="18288" marB="18288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FFFFFF"/>
                          </a:solidFill>
                          <a:latin typeface="Consolas"/>
                        </a:rPr>
                        <a:t>Owner</a:t>
                      </a:r>
                    </a:p>
                  </a:txBody>
                  <a:tcPr marL="54864" marR="54864" marT="18288" marB="18288">
                    <a:solidFill>
                      <a:srgbClr val="1A1A1A"/>
                    </a:solidFill>
                  </a:tcPr>
                </a:tc>
              </a:tr>
              <a:tr h="444398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1A1A1A"/>
                          </a:solidFill>
                          <a:latin typeface="Consolas"/>
                        </a:rPr>
                        <a:t>W-01</a:t>
                      </a:r>
                    </a:p>
                  </a:txBody>
                  <a:tcPr marL="54864" marR="54864" marT="18288" marB="18288">
                    <a:solidFill>
                      <a:srgbClr val="F0ED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1A"/>
                          </a:solidFill>
                          <a:latin typeface="Consolas"/>
                        </a:rPr>
                        <a:t>Ember</a:t>
                      </a:r>
                    </a:p>
                  </a:txBody>
                  <a:tcPr marL="54864" marR="54864" marT="18288" marB="18288">
                    <a:solidFill>
                      <a:srgbClr val="F0ED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1A"/>
                          </a:solidFill>
                          <a:latin typeface="Consolas"/>
                        </a:rPr>
                        <a:t>Mesh</a:t>
                      </a:r>
                    </a:p>
                  </a:txBody>
                  <a:tcPr marL="54864" marR="54864" marT="18288" marB="18288">
                    <a:solidFill>
                      <a:srgbClr val="F0ED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1A"/>
                          </a:solidFill>
                          <a:latin typeface="Consolas"/>
                        </a:rPr>
                        <a:t>Dense</a:t>
                      </a:r>
                    </a:p>
                  </a:txBody>
                  <a:tcPr marL="54864" marR="54864" marT="18288" marB="18288">
                    <a:solidFill>
                      <a:srgbClr val="F0ED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1A"/>
                          </a:solidFill>
                          <a:latin typeface="Consolas"/>
                        </a:rPr>
                        <a:t>Watch</a:t>
                      </a:r>
                    </a:p>
                  </a:txBody>
                  <a:tcPr marL="54864" marR="54864" marT="18288" marB="18288">
                    <a:solidFill>
                      <a:srgbClr val="F0ED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1A"/>
                          </a:solidFill>
                          <a:latin typeface="Consolas"/>
                        </a:rPr>
                        <a:t>R</a:t>
                      </a:r>
                    </a:p>
                  </a:txBody>
                  <a:tcPr marL="54864" marR="54864" marT="18288" marB="18288">
                    <a:solidFill>
                      <a:srgbClr val="F0EDE8"/>
                    </a:solidFill>
                  </a:tcPr>
                </a:tc>
              </a:tr>
              <a:tr h="444398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1A1A1A"/>
                          </a:solidFill>
                          <a:latin typeface="Consolas"/>
                        </a:rPr>
                        <a:t>W-02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1A"/>
                          </a:solidFill>
                          <a:latin typeface="Consolas"/>
                        </a:rPr>
                        <a:t>Signal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1A"/>
                          </a:solidFill>
                          <a:latin typeface="Consolas"/>
                        </a:rPr>
                        <a:t>Matrix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1A"/>
                          </a:solidFill>
                          <a:latin typeface="Consolas"/>
                        </a:rPr>
                        <a:t>Layered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1A"/>
                          </a:solidFill>
                          <a:latin typeface="Consolas"/>
                        </a:rPr>
                        <a:t>Repair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1A"/>
                          </a:solidFill>
                          <a:latin typeface="Consolas"/>
                        </a:rPr>
                        <a:t>C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44398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1A1A1A"/>
                          </a:solidFill>
                          <a:latin typeface="Consolas"/>
                        </a:rPr>
                        <a:t>W-03</a:t>
                      </a:r>
                    </a:p>
                  </a:txBody>
                  <a:tcPr marL="54864" marR="54864" marT="18288" marB="18288">
                    <a:solidFill>
                      <a:srgbClr val="F0ED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1A"/>
                          </a:solidFill>
                          <a:latin typeface="Consolas"/>
                        </a:rPr>
                        <a:t>Grove</a:t>
                      </a:r>
                    </a:p>
                  </a:txBody>
                  <a:tcPr marL="54864" marR="54864" marT="18288" marB="18288">
                    <a:solidFill>
                      <a:srgbClr val="F0ED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1A"/>
                          </a:solidFill>
                          <a:latin typeface="Consolas"/>
                        </a:rPr>
                        <a:t>Board</a:t>
                      </a:r>
                    </a:p>
                  </a:txBody>
                  <a:tcPr marL="54864" marR="54864" marT="18288" marB="18288">
                    <a:solidFill>
                      <a:srgbClr val="F0ED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1A"/>
                          </a:solidFill>
                          <a:latin typeface="Consolas"/>
                        </a:rPr>
                        <a:t>Packed</a:t>
                      </a:r>
                    </a:p>
                  </a:txBody>
                  <a:tcPr marL="54864" marR="54864" marT="18288" marB="18288">
                    <a:solidFill>
                      <a:srgbClr val="F0ED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1A"/>
                          </a:solidFill>
                          <a:latin typeface="Consolas"/>
                        </a:rPr>
                        <a:t>Pass</a:t>
                      </a:r>
                    </a:p>
                  </a:txBody>
                  <a:tcPr marL="54864" marR="54864" marT="18288" marB="18288">
                    <a:solidFill>
                      <a:srgbClr val="F0ED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1A"/>
                          </a:solidFill>
                          <a:latin typeface="Consolas"/>
                        </a:rPr>
                        <a:t>I</a:t>
                      </a:r>
                    </a:p>
                  </a:txBody>
                  <a:tcPr marL="54864" marR="54864" marT="18288" marB="18288">
                    <a:solidFill>
                      <a:srgbClr val="F0EDE8"/>
                    </a:solidFill>
                  </a:tcPr>
                </a:tc>
              </a:tr>
              <a:tr h="444398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1A1A1A"/>
                          </a:solidFill>
                          <a:latin typeface="Consolas"/>
                        </a:rPr>
                        <a:t>W-04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1A"/>
                          </a:solidFill>
                          <a:latin typeface="Consolas"/>
                        </a:rPr>
                        <a:t>Atlas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1A"/>
                          </a:solidFill>
                          <a:latin typeface="Consolas"/>
                        </a:rPr>
                        <a:t>Cards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1A"/>
                          </a:solidFill>
                          <a:latin typeface="Consolas"/>
                        </a:rPr>
                        <a:t>High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1A"/>
                          </a:solidFill>
                          <a:latin typeface="Consolas"/>
                        </a:rPr>
                        <a:t>Pass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1A"/>
                          </a:solidFill>
                          <a:latin typeface="Consolas"/>
                        </a:rPr>
                        <a:t>A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44398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1A1A1A"/>
                          </a:solidFill>
                          <a:latin typeface="Consolas"/>
                        </a:rPr>
                        <a:t>W-05</a:t>
                      </a:r>
                    </a:p>
                  </a:txBody>
                  <a:tcPr marL="54864" marR="54864" marT="18288" marB="18288">
                    <a:solidFill>
                      <a:srgbClr val="F0ED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1A"/>
                          </a:solidFill>
                          <a:latin typeface="Consolas"/>
                        </a:rPr>
                        <a:t>Ember</a:t>
                      </a:r>
                    </a:p>
                  </a:txBody>
                  <a:tcPr marL="54864" marR="54864" marT="18288" marB="18288">
                    <a:solidFill>
                      <a:srgbClr val="F0ED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1A"/>
                          </a:solidFill>
                          <a:latin typeface="Consolas"/>
                        </a:rPr>
                        <a:t>Mesh</a:t>
                      </a:r>
                    </a:p>
                  </a:txBody>
                  <a:tcPr marL="54864" marR="54864" marT="18288" marB="18288">
                    <a:solidFill>
                      <a:srgbClr val="F0ED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1A"/>
                          </a:solidFill>
                          <a:latin typeface="Consolas"/>
                        </a:rPr>
                        <a:t>Dense</a:t>
                      </a:r>
                    </a:p>
                  </a:txBody>
                  <a:tcPr marL="54864" marR="54864" marT="18288" marB="18288">
                    <a:solidFill>
                      <a:srgbClr val="F0ED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1A"/>
                          </a:solidFill>
                          <a:latin typeface="Consolas"/>
                        </a:rPr>
                        <a:t>Watch</a:t>
                      </a:r>
                    </a:p>
                  </a:txBody>
                  <a:tcPr marL="54864" marR="54864" marT="18288" marB="18288">
                    <a:solidFill>
                      <a:srgbClr val="F0ED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1A"/>
                          </a:solidFill>
                          <a:latin typeface="Consolas"/>
                        </a:rPr>
                        <a:t>R</a:t>
                      </a:r>
                    </a:p>
                  </a:txBody>
                  <a:tcPr marL="54864" marR="54864" marT="18288" marB="18288">
                    <a:solidFill>
                      <a:srgbClr val="F0EDE8"/>
                    </a:solidFill>
                  </a:tcPr>
                </a:tc>
              </a:tr>
              <a:tr h="444398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1A1A1A"/>
                          </a:solidFill>
                          <a:latin typeface="Consolas"/>
                        </a:rPr>
                        <a:t>W-06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1A"/>
                          </a:solidFill>
                          <a:latin typeface="Consolas"/>
                        </a:rPr>
                        <a:t>Signal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1A"/>
                          </a:solidFill>
                          <a:latin typeface="Consolas"/>
                        </a:rPr>
                        <a:t>Matrix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1A"/>
                          </a:solidFill>
                          <a:latin typeface="Consolas"/>
                        </a:rPr>
                        <a:t>Layered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1A"/>
                          </a:solidFill>
                          <a:latin typeface="Consolas"/>
                        </a:rPr>
                        <a:t>Repair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1A"/>
                          </a:solidFill>
                          <a:latin typeface="Consolas"/>
                        </a:rPr>
                        <a:t>C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44398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1A1A1A"/>
                          </a:solidFill>
                          <a:latin typeface="Consolas"/>
                        </a:rPr>
                        <a:t>W-07</a:t>
                      </a:r>
                    </a:p>
                  </a:txBody>
                  <a:tcPr marL="54864" marR="54864" marT="18288" marB="18288">
                    <a:solidFill>
                      <a:srgbClr val="F0ED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1A"/>
                          </a:solidFill>
                          <a:latin typeface="Consolas"/>
                        </a:rPr>
                        <a:t>Grove</a:t>
                      </a:r>
                    </a:p>
                  </a:txBody>
                  <a:tcPr marL="54864" marR="54864" marT="18288" marB="18288">
                    <a:solidFill>
                      <a:srgbClr val="F0ED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1A"/>
                          </a:solidFill>
                          <a:latin typeface="Consolas"/>
                        </a:rPr>
                        <a:t>Board</a:t>
                      </a:r>
                    </a:p>
                  </a:txBody>
                  <a:tcPr marL="54864" marR="54864" marT="18288" marB="18288">
                    <a:solidFill>
                      <a:srgbClr val="F0ED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1A"/>
                          </a:solidFill>
                          <a:latin typeface="Consolas"/>
                        </a:rPr>
                        <a:t>Packed</a:t>
                      </a:r>
                    </a:p>
                  </a:txBody>
                  <a:tcPr marL="54864" marR="54864" marT="18288" marB="18288">
                    <a:solidFill>
                      <a:srgbClr val="F0ED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1A"/>
                          </a:solidFill>
                          <a:latin typeface="Consolas"/>
                        </a:rPr>
                        <a:t>Pass</a:t>
                      </a:r>
                    </a:p>
                  </a:txBody>
                  <a:tcPr marL="54864" marR="54864" marT="18288" marB="18288">
                    <a:solidFill>
                      <a:srgbClr val="F0ED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1A"/>
                          </a:solidFill>
                          <a:latin typeface="Consolas"/>
                        </a:rPr>
                        <a:t>I</a:t>
                      </a:r>
                    </a:p>
                  </a:txBody>
                  <a:tcPr marL="54864" marR="54864" marT="18288" marB="18288">
                    <a:solidFill>
                      <a:srgbClr val="F0EDE8"/>
                    </a:solidFill>
                  </a:tcPr>
                </a:tc>
              </a:tr>
              <a:tr h="444398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1A1A1A"/>
                          </a:solidFill>
                          <a:latin typeface="Consolas"/>
                        </a:rPr>
                        <a:t>W-08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1A"/>
                          </a:solidFill>
                          <a:latin typeface="Consolas"/>
                        </a:rPr>
                        <a:t>Atlas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1A"/>
                          </a:solidFill>
                          <a:latin typeface="Consolas"/>
                        </a:rPr>
                        <a:t>Cards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1A"/>
                          </a:solidFill>
                          <a:latin typeface="Consolas"/>
                        </a:rPr>
                        <a:t>High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1A"/>
                          </a:solidFill>
                          <a:latin typeface="Consolas"/>
                        </a:rPr>
                        <a:t>Pass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1A"/>
                          </a:solidFill>
                          <a:latin typeface="Consolas"/>
                        </a:rPr>
                        <a:t>A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44402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1A1A1A"/>
                          </a:solidFill>
                          <a:latin typeface="Consolas"/>
                        </a:rPr>
                        <a:t>W-09</a:t>
                      </a:r>
                    </a:p>
                  </a:txBody>
                  <a:tcPr marL="54864" marR="54864" marT="18288" marB="18288">
                    <a:solidFill>
                      <a:srgbClr val="F0ED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1A"/>
                          </a:solidFill>
                          <a:latin typeface="Consolas"/>
                        </a:rPr>
                        <a:t>Ember</a:t>
                      </a:r>
                    </a:p>
                  </a:txBody>
                  <a:tcPr marL="54864" marR="54864" marT="18288" marB="18288">
                    <a:solidFill>
                      <a:srgbClr val="F0ED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1A"/>
                          </a:solidFill>
                          <a:latin typeface="Consolas"/>
                        </a:rPr>
                        <a:t>Mesh</a:t>
                      </a:r>
                    </a:p>
                  </a:txBody>
                  <a:tcPr marL="54864" marR="54864" marT="18288" marB="18288">
                    <a:solidFill>
                      <a:srgbClr val="F0ED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1A"/>
                          </a:solidFill>
                          <a:latin typeface="Consolas"/>
                        </a:rPr>
                        <a:t>Dense</a:t>
                      </a:r>
                    </a:p>
                  </a:txBody>
                  <a:tcPr marL="54864" marR="54864" marT="18288" marB="18288">
                    <a:solidFill>
                      <a:srgbClr val="F0ED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1A"/>
                          </a:solidFill>
                          <a:latin typeface="Consolas"/>
                        </a:rPr>
                        <a:t>Watch</a:t>
                      </a:r>
                    </a:p>
                  </a:txBody>
                  <a:tcPr marL="54864" marR="54864" marT="18288" marB="18288">
                    <a:solidFill>
                      <a:srgbClr val="F0ED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1A"/>
                          </a:solidFill>
                          <a:latin typeface="Consolas"/>
                        </a:rPr>
                        <a:t>R</a:t>
                      </a:r>
                    </a:p>
                  </a:txBody>
                  <a:tcPr marL="54864" marR="54864" marT="18288" marB="18288">
                    <a:solidFill>
                      <a:srgbClr val="F0EDE8"/>
                    </a:solidFill>
                  </a:tcPr>
                </a:tc>
              </a:tr>
            </a:tbl>
          </a:graphicData>
        </a:graphic>
      </p:graphicFrame>
      <p:sp>
        <p:nvSpPr>
          <p:cNvPr id="21" name="flow-0"/>
          <p:cNvSpPr/>
          <p:nvPr/>
        </p:nvSpPr>
        <p:spPr>
          <a:xfrm>
            <a:off x="457200" y="5742432"/>
            <a:ext cx="1600200" cy="384048"/>
          </a:xfrm>
          <a:prstGeom prst="roundRect">
            <a:avLst/>
          </a:prstGeom>
          <a:solidFill>
            <a:srgbClr val="F0EDE8"/>
          </a:solidFill>
          <a:ln w="1016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low-1"/>
          <p:cNvSpPr/>
          <p:nvPr/>
        </p:nvSpPr>
        <p:spPr>
          <a:xfrm>
            <a:off x="2350008" y="5742432"/>
            <a:ext cx="1600200" cy="384048"/>
          </a:xfrm>
          <a:prstGeom prst="roundRect">
            <a:avLst/>
          </a:prstGeom>
          <a:solidFill>
            <a:srgbClr val="F0EDE8"/>
          </a:solidFill>
          <a:ln w="10160">
            <a:solidFill>
              <a:srgbClr val="D927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low-2"/>
          <p:cNvSpPr/>
          <p:nvPr/>
        </p:nvSpPr>
        <p:spPr>
          <a:xfrm>
            <a:off x="4242816" y="5742432"/>
            <a:ext cx="1600200" cy="384048"/>
          </a:xfrm>
          <a:prstGeom prst="roundRect">
            <a:avLst/>
          </a:prstGeom>
          <a:solidFill>
            <a:srgbClr val="F0EDE8"/>
          </a:solidFill>
          <a:ln w="10160">
            <a:solidFill>
              <a:srgbClr val="D927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flow-3"/>
          <p:cNvSpPr/>
          <p:nvPr/>
        </p:nvSpPr>
        <p:spPr>
          <a:xfrm>
            <a:off x="6135624" y="5742432"/>
            <a:ext cx="1600200" cy="384048"/>
          </a:xfrm>
          <a:prstGeom prst="roundRect">
            <a:avLst/>
          </a:prstGeom>
          <a:solidFill>
            <a:srgbClr val="F0EDE8"/>
          </a:solidFill>
          <a:ln w="10160">
            <a:solidFill>
              <a:srgbClr val="D927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low-4"/>
          <p:cNvSpPr/>
          <p:nvPr/>
        </p:nvSpPr>
        <p:spPr>
          <a:xfrm>
            <a:off x="8028431" y="5742432"/>
            <a:ext cx="1600200" cy="384048"/>
          </a:xfrm>
          <a:prstGeom prst="roundRect">
            <a:avLst/>
          </a:prstGeom>
          <a:solidFill>
            <a:srgbClr val="F0EDE8"/>
          </a:solidFill>
          <a:ln w="1016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low-5"/>
          <p:cNvSpPr/>
          <p:nvPr/>
        </p:nvSpPr>
        <p:spPr>
          <a:xfrm>
            <a:off x="9921240" y="5742432"/>
            <a:ext cx="1600200" cy="384048"/>
          </a:xfrm>
          <a:prstGeom prst="roundRect">
            <a:avLst/>
          </a:prstGeom>
          <a:solidFill>
            <a:srgbClr val="F0EDE8"/>
          </a:solidFill>
          <a:ln w="1016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profile-tag"/>
          <p:cNvSpPr txBox="1"/>
          <p:nvPr/>
        </p:nvSpPr>
        <p:spPr>
          <a:xfrm>
            <a:off x="457200" y="201168"/>
            <a:ext cx="768096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1" lang="en-US">
                <a:solidFill>
                  <a:srgbClr val="1A1A1A"/>
                </a:solidFill>
                <a:latin typeface="Consolas"/>
              </a:rPr>
              <a:t>V3 STRESS SUITE  ·  TYPOGRAPHIC BOLD  ·  OPERATING MATRIX</a:t>
            </a:r>
          </a:p>
        </p:txBody>
      </p:sp>
      <p:sp>
        <p:nvSpPr>
          <p:cNvPr id="28" name="slide-index"/>
          <p:cNvSpPr txBox="1"/>
          <p:nvPr/>
        </p:nvSpPr>
        <p:spPr>
          <a:xfrm>
            <a:off x="10808208" y="201168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00" b="1" lang="en-US">
                <a:solidFill>
                  <a:srgbClr val="777777"/>
                </a:solidFill>
                <a:latin typeface="Consolas"/>
              </a:rPr>
              <a:t>28/60</a:t>
            </a:r>
          </a:p>
        </p:txBody>
      </p:sp>
      <p:sp>
        <p:nvSpPr>
          <p:cNvPr id="29" name="title"/>
          <p:cNvSpPr txBox="1"/>
          <p:nvPr/>
        </p:nvSpPr>
        <p:spPr>
          <a:xfrm>
            <a:off x="457200" y="484632"/>
            <a:ext cx="11274552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200" b="1" lang="en-US">
                <a:solidFill>
                  <a:srgbClr val="1A1A1A"/>
                </a:solidFill>
                <a:latin typeface="Arial Black"/>
              </a:rPr>
              <a:t>Operating matrices make quality ownership visible at a glance</a:t>
            </a:r>
          </a:p>
        </p:txBody>
      </p:sp>
      <p:sp>
        <p:nvSpPr>
          <p:cNvPr id="30" name="footer"/>
          <p:cNvSpPr txBox="1"/>
          <p:nvPr/>
        </p:nvSpPr>
        <p:spPr>
          <a:xfrm>
            <a:off x="457200" y="6473952"/>
            <a:ext cx="1051560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0" lang="en-US">
                <a:solidFill>
                  <a:srgbClr val="777777"/>
                </a:solidFill>
                <a:latin typeface="Consolas"/>
              </a:rPr>
              <a:t>Native-object stress fixture · oversized near-black display type with one signal-red word · editable geometry and recorded style lock</a:t>
            </a:r>
          </a:p>
        </p:txBody>
      </p:sp>
      <p:sp>
        <p:nvSpPr>
          <p:cNvPr id="31" name="matrix-rail-title"/>
          <p:cNvSpPr txBox="1"/>
          <p:nvPr/>
        </p:nvSpPr>
        <p:spPr>
          <a:xfrm>
            <a:off x="9089136" y="1371600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1" lang="en-US">
                <a:solidFill>
                  <a:srgbClr val="1A1A1A"/>
                </a:solidFill>
                <a:latin typeface="Consolas"/>
              </a:rPr>
              <a:t>QUALITY RADAR</a:t>
            </a:r>
          </a:p>
        </p:txBody>
      </p:sp>
      <p:sp>
        <p:nvSpPr>
          <p:cNvPr id="32" name="radar-label-0"/>
          <p:cNvSpPr txBox="1"/>
          <p:nvPr/>
        </p:nvSpPr>
        <p:spPr>
          <a:xfrm>
            <a:off x="9893808" y="1737360"/>
            <a:ext cx="768096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777777"/>
                </a:solidFill>
                <a:latin typeface="Consolas"/>
              </a:rPr>
              <a:t>Bounds</a:t>
            </a:r>
          </a:p>
        </p:txBody>
      </p:sp>
      <p:sp>
        <p:nvSpPr>
          <p:cNvPr id="33" name="radar-label-1"/>
          <p:cNvSpPr txBox="1"/>
          <p:nvPr/>
        </p:nvSpPr>
        <p:spPr>
          <a:xfrm>
            <a:off x="11120932" y="2446020"/>
            <a:ext cx="768096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777777"/>
                </a:solidFill>
                <a:latin typeface="Consolas"/>
              </a:rPr>
              <a:t>Fonts</a:t>
            </a:r>
          </a:p>
        </p:txBody>
      </p:sp>
      <p:sp>
        <p:nvSpPr>
          <p:cNvPr id="34" name="radar-label-2"/>
          <p:cNvSpPr txBox="1"/>
          <p:nvPr/>
        </p:nvSpPr>
        <p:spPr>
          <a:xfrm>
            <a:off x="11120932" y="3863339"/>
            <a:ext cx="768096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777777"/>
                </a:solidFill>
                <a:latin typeface="Consolas"/>
              </a:rPr>
              <a:t>Tables</a:t>
            </a:r>
          </a:p>
        </p:txBody>
      </p:sp>
      <p:sp>
        <p:nvSpPr>
          <p:cNvPr id="35" name="radar-label-3"/>
          <p:cNvSpPr txBox="1"/>
          <p:nvPr/>
        </p:nvSpPr>
        <p:spPr>
          <a:xfrm>
            <a:off x="9893808" y="4572000"/>
            <a:ext cx="768096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777777"/>
                </a:solidFill>
                <a:latin typeface="Consolas"/>
              </a:rPr>
              <a:t>Contrast</a:t>
            </a:r>
          </a:p>
        </p:txBody>
      </p:sp>
      <p:sp>
        <p:nvSpPr>
          <p:cNvPr id="36" name="radar-label-4"/>
          <p:cNvSpPr txBox="1"/>
          <p:nvPr/>
        </p:nvSpPr>
        <p:spPr>
          <a:xfrm>
            <a:off x="8666683" y="3863339"/>
            <a:ext cx="768096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777777"/>
                </a:solidFill>
                <a:latin typeface="Consolas"/>
              </a:rPr>
              <a:t>Order</a:t>
            </a:r>
          </a:p>
        </p:txBody>
      </p:sp>
      <p:sp>
        <p:nvSpPr>
          <p:cNvPr id="37" name="radar-label-5"/>
          <p:cNvSpPr txBox="1"/>
          <p:nvPr/>
        </p:nvSpPr>
        <p:spPr>
          <a:xfrm>
            <a:off x="8666683" y="2446020"/>
            <a:ext cx="768096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777777"/>
                </a:solidFill>
                <a:latin typeface="Consolas"/>
              </a:rPr>
              <a:t>Style</a:t>
            </a:r>
          </a:p>
        </p:txBody>
      </p:sp>
      <p:sp>
        <p:nvSpPr>
          <p:cNvPr id="38" name="radar-point-0"/>
          <p:cNvSpPr/>
          <p:nvPr/>
        </p:nvSpPr>
        <p:spPr>
          <a:xfrm>
            <a:off x="10204704" y="2258568"/>
            <a:ext cx="146304" cy="146304"/>
          </a:xfrm>
          <a:prstGeom prst="ellipse">
            <a:avLst/>
          </a:prstGeom>
          <a:solidFill>
            <a:srgbClr val="D92727"/>
          </a:solidFill>
          <a:ln w="10160">
            <a:solidFill>
              <a:srgbClr val="D927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adar-point-1"/>
          <p:cNvSpPr/>
          <p:nvPr/>
        </p:nvSpPr>
        <p:spPr>
          <a:xfrm>
            <a:off x="10806379" y="2825496"/>
            <a:ext cx="146304" cy="146304"/>
          </a:xfrm>
          <a:prstGeom prst="ellipse">
            <a:avLst/>
          </a:prstGeom>
          <a:solidFill>
            <a:srgbClr val="D92727"/>
          </a:solidFill>
          <a:ln w="10160">
            <a:solidFill>
              <a:srgbClr val="D927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adar-point-2"/>
          <p:cNvSpPr/>
          <p:nvPr/>
        </p:nvSpPr>
        <p:spPr>
          <a:xfrm>
            <a:off x="11139220" y="3712463"/>
            <a:ext cx="146304" cy="146304"/>
          </a:xfrm>
          <a:prstGeom prst="ellipse">
            <a:avLst/>
          </a:prstGeom>
          <a:solidFill>
            <a:srgbClr val="D92727"/>
          </a:solidFill>
          <a:ln w="10160">
            <a:solidFill>
              <a:srgbClr val="D927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adar-point-3"/>
          <p:cNvSpPr/>
          <p:nvPr/>
        </p:nvSpPr>
        <p:spPr>
          <a:xfrm>
            <a:off x="10204704" y="3995928"/>
            <a:ext cx="146304" cy="146304"/>
          </a:xfrm>
          <a:prstGeom prst="ellipse">
            <a:avLst/>
          </a:prstGeom>
          <a:solidFill>
            <a:srgbClr val="D92727"/>
          </a:solidFill>
          <a:ln w="10160">
            <a:solidFill>
              <a:srgbClr val="D927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adar-point-4"/>
          <p:cNvSpPr/>
          <p:nvPr/>
        </p:nvSpPr>
        <p:spPr>
          <a:xfrm>
            <a:off x="9317736" y="3685032"/>
            <a:ext cx="146304" cy="146304"/>
          </a:xfrm>
          <a:prstGeom prst="ellipse">
            <a:avLst/>
          </a:prstGeom>
          <a:solidFill>
            <a:srgbClr val="D92727"/>
          </a:solidFill>
          <a:ln w="10160">
            <a:solidFill>
              <a:srgbClr val="D927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adar-point-5"/>
          <p:cNvSpPr/>
          <p:nvPr/>
        </p:nvSpPr>
        <p:spPr>
          <a:xfrm>
            <a:off x="9650577" y="2852928"/>
            <a:ext cx="146304" cy="146304"/>
          </a:xfrm>
          <a:prstGeom prst="ellipse">
            <a:avLst/>
          </a:prstGeom>
          <a:solidFill>
            <a:srgbClr val="D92727"/>
          </a:solidFill>
          <a:ln w="10160">
            <a:solidFill>
              <a:srgbClr val="D927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matrix-note"/>
          <p:cNvSpPr txBox="1"/>
          <p:nvPr/>
        </p:nvSpPr>
        <p:spPr>
          <a:xfrm>
            <a:off x="9089136" y="4800600"/>
            <a:ext cx="2267712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00" b="0" lang="en-US">
                <a:solidFill>
                  <a:srgbClr val="777777"/>
                </a:solidFill>
                <a:latin typeface="Consolas"/>
              </a:rPr>
              <a:t>Editable table and quality geometry share one governed frame.</a:t>
            </a:r>
          </a:p>
        </p:txBody>
      </p:sp>
      <p:sp>
        <p:nvSpPr>
          <p:cNvPr id="45" name="flow-label-0"/>
          <p:cNvSpPr txBox="1"/>
          <p:nvPr/>
        </p:nvSpPr>
        <p:spPr>
          <a:xfrm>
            <a:off x="566928" y="5852160"/>
            <a:ext cx="137160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50" b="1" lang="en-US">
                <a:solidFill>
                  <a:srgbClr val="1A1A1A"/>
                </a:solidFill>
                <a:latin typeface="Consolas"/>
              </a:rPr>
              <a:t>Lock</a:t>
            </a:r>
          </a:p>
        </p:txBody>
      </p:sp>
      <p:sp>
        <p:nvSpPr>
          <p:cNvPr id="46" name="flow-label-1"/>
          <p:cNvSpPr txBox="1"/>
          <p:nvPr/>
        </p:nvSpPr>
        <p:spPr>
          <a:xfrm>
            <a:off x="2459736" y="5852160"/>
            <a:ext cx="137160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50" b="1" lang="en-US">
                <a:solidFill>
                  <a:srgbClr val="D92727"/>
                </a:solidFill>
                <a:latin typeface="Consolas"/>
              </a:rPr>
              <a:t>Compose</a:t>
            </a:r>
          </a:p>
        </p:txBody>
      </p:sp>
      <p:sp>
        <p:nvSpPr>
          <p:cNvPr id="47" name="flow-label-2"/>
          <p:cNvSpPr txBox="1"/>
          <p:nvPr/>
        </p:nvSpPr>
        <p:spPr>
          <a:xfrm>
            <a:off x="4352544" y="5852160"/>
            <a:ext cx="137160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50" b="1" lang="en-US">
                <a:solidFill>
                  <a:srgbClr val="D92727"/>
                </a:solidFill>
                <a:latin typeface="Consolas"/>
              </a:rPr>
              <a:t>Validate</a:t>
            </a:r>
          </a:p>
        </p:txBody>
      </p:sp>
      <p:sp>
        <p:nvSpPr>
          <p:cNvPr id="48" name="flow-label-3"/>
          <p:cNvSpPr txBox="1"/>
          <p:nvPr/>
        </p:nvSpPr>
        <p:spPr>
          <a:xfrm>
            <a:off x="6245352" y="5852160"/>
            <a:ext cx="137160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50" b="1" lang="en-US">
                <a:solidFill>
                  <a:srgbClr val="D92727"/>
                </a:solidFill>
                <a:latin typeface="Consolas"/>
              </a:rPr>
              <a:t>Render</a:t>
            </a:r>
          </a:p>
        </p:txBody>
      </p:sp>
      <p:sp>
        <p:nvSpPr>
          <p:cNvPr id="49" name="flow-label-4"/>
          <p:cNvSpPr txBox="1"/>
          <p:nvPr/>
        </p:nvSpPr>
        <p:spPr>
          <a:xfrm>
            <a:off x="8138160" y="5852160"/>
            <a:ext cx="137160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50" b="1" lang="en-US">
                <a:solidFill>
                  <a:srgbClr val="1A1A1A"/>
                </a:solidFill>
                <a:latin typeface="Consolas"/>
              </a:rPr>
              <a:t>Inspect</a:t>
            </a:r>
          </a:p>
        </p:txBody>
      </p:sp>
      <p:sp>
        <p:nvSpPr>
          <p:cNvPr id="50" name="flow-label-5"/>
          <p:cNvSpPr txBox="1"/>
          <p:nvPr/>
        </p:nvSpPr>
        <p:spPr>
          <a:xfrm>
            <a:off x="10030968" y="5852160"/>
            <a:ext cx="137160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50" b="1" lang="en-US">
                <a:solidFill>
                  <a:srgbClr val="1A1A1A"/>
                </a:solidFill>
                <a:latin typeface="Consolas"/>
              </a:rPr>
              <a:t>Publish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EDE8"/>
          </a:solidFill>
          <a:ln w="10160">
            <a:solidFill>
              <a:srgbClr val="F0E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op-band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A1A1A"/>
          </a:solidFill>
          <a:ln w="1016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ortfolio-0-shell"/>
          <p:cNvSpPr/>
          <p:nvPr/>
        </p:nvSpPr>
        <p:spPr>
          <a:xfrm>
            <a:off x="457200" y="1097280"/>
            <a:ext cx="2395728" cy="2057400"/>
          </a:xfrm>
          <a:prstGeom prst="rect">
            <a:avLst/>
          </a:prstGeom>
          <a:solidFill>
            <a:srgbClr val="F0EDE8"/>
          </a:solidFill>
          <a:ln w="10160">
            <a:solidFill>
              <a:srgbClr val="D0CC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ortfolio-1-shell"/>
          <p:cNvSpPr/>
          <p:nvPr/>
        </p:nvSpPr>
        <p:spPr>
          <a:xfrm>
            <a:off x="3054096" y="1097280"/>
            <a:ext cx="2395728" cy="2057400"/>
          </a:xfrm>
          <a:prstGeom prst="rect">
            <a:avLst/>
          </a:prstGeom>
          <a:solidFill>
            <a:srgbClr val="F0EDE8"/>
          </a:solidFill>
          <a:ln w="10160">
            <a:solidFill>
              <a:srgbClr val="D0CC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ortfolio-2-shell"/>
          <p:cNvSpPr/>
          <p:nvPr/>
        </p:nvSpPr>
        <p:spPr>
          <a:xfrm>
            <a:off x="5650992" y="1097280"/>
            <a:ext cx="2395728" cy="2057400"/>
          </a:xfrm>
          <a:prstGeom prst="rect">
            <a:avLst/>
          </a:prstGeom>
          <a:solidFill>
            <a:srgbClr val="F0EDE8"/>
          </a:solidFill>
          <a:ln w="10160">
            <a:solidFill>
              <a:srgbClr val="D0CC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ortfolio-3-shell"/>
          <p:cNvSpPr/>
          <p:nvPr/>
        </p:nvSpPr>
        <p:spPr>
          <a:xfrm>
            <a:off x="457200" y="3429000"/>
            <a:ext cx="2395728" cy="2057400"/>
          </a:xfrm>
          <a:prstGeom prst="rect">
            <a:avLst/>
          </a:prstGeom>
          <a:solidFill>
            <a:srgbClr val="F0EDE8"/>
          </a:solidFill>
          <a:ln w="10160">
            <a:solidFill>
              <a:srgbClr val="D0CC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ortfolio-4-shell"/>
          <p:cNvSpPr/>
          <p:nvPr/>
        </p:nvSpPr>
        <p:spPr>
          <a:xfrm>
            <a:off x="3054096" y="3429000"/>
            <a:ext cx="2395728" cy="2057400"/>
          </a:xfrm>
          <a:prstGeom prst="rect">
            <a:avLst/>
          </a:prstGeom>
          <a:solidFill>
            <a:srgbClr val="F0EDE8"/>
          </a:solidFill>
          <a:ln w="10160">
            <a:solidFill>
              <a:srgbClr val="D0CC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ortfolio-5-shell"/>
          <p:cNvSpPr/>
          <p:nvPr/>
        </p:nvSpPr>
        <p:spPr>
          <a:xfrm>
            <a:off x="5650992" y="3429000"/>
            <a:ext cx="2395728" cy="2057400"/>
          </a:xfrm>
          <a:prstGeom prst="rect">
            <a:avLst/>
          </a:prstGeom>
          <a:solidFill>
            <a:srgbClr val="F0EDE8"/>
          </a:solidFill>
          <a:ln w="10160">
            <a:solidFill>
              <a:srgbClr val="D0CC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ortfolio-rail-shell"/>
          <p:cNvSpPr/>
          <p:nvPr/>
        </p:nvSpPr>
        <p:spPr>
          <a:xfrm>
            <a:off x="8458200" y="1097280"/>
            <a:ext cx="3273552" cy="4892040"/>
          </a:xfrm>
          <a:prstGeom prst="rect">
            <a:avLst/>
          </a:prstGeom>
          <a:solidFill>
            <a:srgbClr val="FFFFFF"/>
          </a:solidFill>
          <a:ln w="10160">
            <a:solidFill>
              <a:srgbClr val="D0CC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portfolio-0-accent"/>
          <p:cNvSpPr/>
          <p:nvPr/>
        </p:nvSpPr>
        <p:spPr>
          <a:xfrm>
            <a:off x="457200" y="1097280"/>
            <a:ext cx="73152" cy="2057400"/>
          </a:xfrm>
          <a:prstGeom prst="rect">
            <a:avLst/>
          </a:prstGeom>
          <a:solidFill>
            <a:srgbClr val="1A1A1A"/>
          </a:solidFill>
          <a:ln w="1016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portfolio-1-accent"/>
          <p:cNvSpPr/>
          <p:nvPr/>
        </p:nvSpPr>
        <p:spPr>
          <a:xfrm>
            <a:off x="3054096" y="1097280"/>
            <a:ext cx="73152" cy="2057400"/>
          </a:xfrm>
          <a:prstGeom prst="rect">
            <a:avLst/>
          </a:prstGeom>
          <a:solidFill>
            <a:srgbClr val="1A1A1A"/>
          </a:solidFill>
          <a:ln w="1016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ortfolio-2-accent"/>
          <p:cNvSpPr/>
          <p:nvPr/>
        </p:nvSpPr>
        <p:spPr>
          <a:xfrm>
            <a:off x="5650992" y="1097280"/>
            <a:ext cx="73152" cy="2057400"/>
          </a:xfrm>
          <a:prstGeom prst="rect">
            <a:avLst/>
          </a:prstGeom>
          <a:solidFill>
            <a:srgbClr val="1A1A1A"/>
          </a:solidFill>
          <a:ln w="1016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ortfolio-3-accent"/>
          <p:cNvSpPr/>
          <p:nvPr/>
        </p:nvSpPr>
        <p:spPr>
          <a:xfrm>
            <a:off x="457200" y="3429000"/>
            <a:ext cx="73152" cy="2057400"/>
          </a:xfrm>
          <a:prstGeom prst="rect">
            <a:avLst/>
          </a:prstGeom>
          <a:solidFill>
            <a:srgbClr val="1A1A1A"/>
          </a:solidFill>
          <a:ln w="1016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portfolio-4-accent"/>
          <p:cNvSpPr/>
          <p:nvPr/>
        </p:nvSpPr>
        <p:spPr>
          <a:xfrm>
            <a:off x="3054096" y="3429000"/>
            <a:ext cx="73152" cy="2057400"/>
          </a:xfrm>
          <a:prstGeom prst="rect">
            <a:avLst/>
          </a:prstGeom>
          <a:solidFill>
            <a:srgbClr val="1A1A1A"/>
          </a:solidFill>
          <a:ln w="1016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portfolio-5-accent"/>
          <p:cNvSpPr/>
          <p:nvPr/>
        </p:nvSpPr>
        <p:spPr>
          <a:xfrm>
            <a:off x="5650992" y="3429000"/>
            <a:ext cx="73152" cy="2057400"/>
          </a:xfrm>
          <a:prstGeom prst="rect">
            <a:avLst/>
          </a:prstGeom>
          <a:solidFill>
            <a:srgbClr val="1A1A1A"/>
          </a:solidFill>
          <a:ln w="1016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portfolio-rail-accent"/>
          <p:cNvSpPr/>
          <p:nvPr/>
        </p:nvSpPr>
        <p:spPr>
          <a:xfrm>
            <a:off x="8458200" y="1097280"/>
            <a:ext cx="73152" cy="4892040"/>
          </a:xfrm>
          <a:prstGeom prst="rect">
            <a:avLst/>
          </a:prstGeom>
          <a:solidFill>
            <a:srgbClr val="1A1A1A"/>
          </a:solidFill>
          <a:ln w="1016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portfolio-micro-0-0"/>
          <p:cNvSpPr/>
          <p:nvPr/>
        </p:nvSpPr>
        <p:spPr>
          <a:xfrm>
            <a:off x="676656" y="2139696"/>
            <a:ext cx="859536" cy="2560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portfolio-micro-0-1"/>
          <p:cNvSpPr/>
          <p:nvPr/>
        </p:nvSpPr>
        <p:spPr>
          <a:xfrm>
            <a:off x="1664208" y="2139696"/>
            <a:ext cx="859536" cy="2560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portfolio-micro-0-2"/>
          <p:cNvSpPr/>
          <p:nvPr/>
        </p:nvSpPr>
        <p:spPr>
          <a:xfrm>
            <a:off x="676656" y="2523744"/>
            <a:ext cx="859536" cy="2560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portfolio-micro-0-3"/>
          <p:cNvSpPr/>
          <p:nvPr/>
        </p:nvSpPr>
        <p:spPr>
          <a:xfrm>
            <a:off x="1664208" y="2523744"/>
            <a:ext cx="859536" cy="2560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portfolio-micro-1-0"/>
          <p:cNvSpPr/>
          <p:nvPr/>
        </p:nvSpPr>
        <p:spPr>
          <a:xfrm>
            <a:off x="3273552" y="2139696"/>
            <a:ext cx="859536" cy="2560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27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portfolio-micro-1-1"/>
          <p:cNvSpPr/>
          <p:nvPr/>
        </p:nvSpPr>
        <p:spPr>
          <a:xfrm>
            <a:off x="4261104" y="2139696"/>
            <a:ext cx="859536" cy="2560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27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portfolio-micro-1-2"/>
          <p:cNvSpPr/>
          <p:nvPr/>
        </p:nvSpPr>
        <p:spPr>
          <a:xfrm>
            <a:off x="3273552" y="2523744"/>
            <a:ext cx="859536" cy="2560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27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portfolio-micro-1-3"/>
          <p:cNvSpPr/>
          <p:nvPr/>
        </p:nvSpPr>
        <p:spPr>
          <a:xfrm>
            <a:off x="4261104" y="2523744"/>
            <a:ext cx="859536" cy="2560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27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portfolio-micro-2-0"/>
          <p:cNvSpPr/>
          <p:nvPr/>
        </p:nvSpPr>
        <p:spPr>
          <a:xfrm>
            <a:off x="5870448" y="2139696"/>
            <a:ext cx="859536" cy="2560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27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portfolio-micro-2-1"/>
          <p:cNvSpPr/>
          <p:nvPr/>
        </p:nvSpPr>
        <p:spPr>
          <a:xfrm>
            <a:off x="6858000" y="2139696"/>
            <a:ext cx="859536" cy="2560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27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portfolio-micro-2-2"/>
          <p:cNvSpPr/>
          <p:nvPr/>
        </p:nvSpPr>
        <p:spPr>
          <a:xfrm>
            <a:off x="5870448" y="2523744"/>
            <a:ext cx="859536" cy="2560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27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portfolio-micro-2-3"/>
          <p:cNvSpPr/>
          <p:nvPr/>
        </p:nvSpPr>
        <p:spPr>
          <a:xfrm>
            <a:off x="6858000" y="2523744"/>
            <a:ext cx="859536" cy="2560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27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portfolio-micro-3-0"/>
          <p:cNvSpPr/>
          <p:nvPr/>
        </p:nvSpPr>
        <p:spPr>
          <a:xfrm>
            <a:off x="676656" y="4471416"/>
            <a:ext cx="859536" cy="2560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portfolio-micro-3-1"/>
          <p:cNvSpPr/>
          <p:nvPr/>
        </p:nvSpPr>
        <p:spPr>
          <a:xfrm>
            <a:off x="1664208" y="4471416"/>
            <a:ext cx="859536" cy="2560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portfolio-micro-3-2"/>
          <p:cNvSpPr/>
          <p:nvPr/>
        </p:nvSpPr>
        <p:spPr>
          <a:xfrm>
            <a:off x="676656" y="4855464"/>
            <a:ext cx="859536" cy="2560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portfolio-micro-3-3"/>
          <p:cNvSpPr/>
          <p:nvPr/>
        </p:nvSpPr>
        <p:spPr>
          <a:xfrm>
            <a:off x="1664208" y="4855464"/>
            <a:ext cx="859536" cy="2560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portfolio-micro-4-0"/>
          <p:cNvSpPr/>
          <p:nvPr/>
        </p:nvSpPr>
        <p:spPr>
          <a:xfrm>
            <a:off x="3273552" y="4471416"/>
            <a:ext cx="859536" cy="2560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27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portfolio-micro-4-1"/>
          <p:cNvSpPr/>
          <p:nvPr/>
        </p:nvSpPr>
        <p:spPr>
          <a:xfrm>
            <a:off x="4261104" y="4471416"/>
            <a:ext cx="859536" cy="2560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27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portfolio-micro-4-2"/>
          <p:cNvSpPr/>
          <p:nvPr/>
        </p:nvSpPr>
        <p:spPr>
          <a:xfrm>
            <a:off x="3273552" y="4855464"/>
            <a:ext cx="859536" cy="2560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27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portfolio-micro-4-3"/>
          <p:cNvSpPr/>
          <p:nvPr/>
        </p:nvSpPr>
        <p:spPr>
          <a:xfrm>
            <a:off x="4261104" y="4855464"/>
            <a:ext cx="859536" cy="2560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27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portfolio-micro-5-0"/>
          <p:cNvSpPr/>
          <p:nvPr/>
        </p:nvSpPr>
        <p:spPr>
          <a:xfrm>
            <a:off x="5870448" y="4471416"/>
            <a:ext cx="859536" cy="2560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27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portfolio-micro-5-1"/>
          <p:cNvSpPr/>
          <p:nvPr/>
        </p:nvSpPr>
        <p:spPr>
          <a:xfrm>
            <a:off x="6858000" y="4471416"/>
            <a:ext cx="859536" cy="2560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27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portfolio-micro-5-2"/>
          <p:cNvSpPr/>
          <p:nvPr/>
        </p:nvSpPr>
        <p:spPr>
          <a:xfrm>
            <a:off x="5870448" y="4855464"/>
            <a:ext cx="859536" cy="2560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27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portfolio-micro-5-3"/>
          <p:cNvSpPr/>
          <p:nvPr/>
        </p:nvSpPr>
        <p:spPr>
          <a:xfrm>
            <a:off x="6858000" y="4855464"/>
            <a:ext cx="859536" cy="2560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27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lease-cell-0"/>
          <p:cNvSpPr/>
          <p:nvPr/>
        </p:nvSpPr>
        <p:spPr>
          <a:xfrm>
            <a:off x="8723376" y="1737360"/>
            <a:ext cx="2697480" cy="512064"/>
          </a:xfrm>
          <a:prstGeom prst="roundRect">
            <a:avLst/>
          </a:prstGeom>
          <a:solidFill>
            <a:srgbClr val="F0EDE8"/>
          </a:solidFill>
          <a:ln w="10160">
            <a:solidFill>
              <a:srgbClr val="D0CC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lease-cell-1"/>
          <p:cNvSpPr/>
          <p:nvPr/>
        </p:nvSpPr>
        <p:spPr>
          <a:xfrm>
            <a:off x="8723376" y="2432304"/>
            <a:ext cx="2697480" cy="512064"/>
          </a:xfrm>
          <a:prstGeom prst="roundRect">
            <a:avLst/>
          </a:prstGeom>
          <a:solidFill>
            <a:srgbClr val="F0EDE8"/>
          </a:solidFill>
          <a:ln w="10160">
            <a:solidFill>
              <a:srgbClr val="D0CC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lease-cell-2"/>
          <p:cNvSpPr/>
          <p:nvPr/>
        </p:nvSpPr>
        <p:spPr>
          <a:xfrm>
            <a:off x="8723376" y="3127248"/>
            <a:ext cx="2697480" cy="512064"/>
          </a:xfrm>
          <a:prstGeom prst="roundRect">
            <a:avLst/>
          </a:prstGeom>
          <a:solidFill>
            <a:srgbClr val="F0EDE8"/>
          </a:solidFill>
          <a:ln w="10160">
            <a:solidFill>
              <a:srgbClr val="D0CC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lease-cell-3"/>
          <p:cNvSpPr/>
          <p:nvPr/>
        </p:nvSpPr>
        <p:spPr>
          <a:xfrm>
            <a:off x="8723376" y="3822191"/>
            <a:ext cx="2697480" cy="512064"/>
          </a:xfrm>
          <a:prstGeom prst="roundRect">
            <a:avLst/>
          </a:prstGeom>
          <a:solidFill>
            <a:srgbClr val="F0EDE8"/>
          </a:solidFill>
          <a:ln w="10160">
            <a:solidFill>
              <a:srgbClr val="D0CC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lease-cell-4"/>
          <p:cNvSpPr/>
          <p:nvPr/>
        </p:nvSpPr>
        <p:spPr>
          <a:xfrm>
            <a:off x="8723376" y="4517136"/>
            <a:ext cx="2697480" cy="512064"/>
          </a:xfrm>
          <a:prstGeom prst="roundRect">
            <a:avLst/>
          </a:prstGeom>
          <a:solidFill>
            <a:srgbClr val="F0EDE8"/>
          </a:solidFill>
          <a:ln w="10160">
            <a:solidFill>
              <a:srgbClr val="D0CC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portfolio-banner"/>
          <p:cNvSpPr/>
          <p:nvPr/>
        </p:nvSpPr>
        <p:spPr>
          <a:xfrm>
            <a:off x="457200" y="5559552"/>
            <a:ext cx="7882127" cy="438912"/>
          </a:xfrm>
          <a:prstGeom prst="roundRect">
            <a:avLst/>
          </a:prstGeom>
          <a:solidFill>
            <a:srgbClr val="1A1A1A"/>
          </a:solidFill>
          <a:ln w="1016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profile-tag"/>
          <p:cNvSpPr txBox="1"/>
          <p:nvPr/>
        </p:nvSpPr>
        <p:spPr>
          <a:xfrm>
            <a:off x="457200" y="201168"/>
            <a:ext cx="768096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1" lang="en-US">
                <a:solidFill>
                  <a:srgbClr val="1A1A1A"/>
                </a:solidFill>
                <a:latin typeface="Consolas"/>
              </a:rPr>
              <a:t>V3 STRESS SUITE  ·  TYPOGRAPHIC BOLD  ·  PORTFOLIO GRID</a:t>
            </a:r>
          </a:p>
        </p:txBody>
      </p:sp>
      <p:sp>
        <p:nvSpPr>
          <p:cNvPr id="49" name="slide-index"/>
          <p:cNvSpPr txBox="1"/>
          <p:nvPr/>
        </p:nvSpPr>
        <p:spPr>
          <a:xfrm>
            <a:off x="10808208" y="201168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00" b="1" lang="en-US">
                <a:solidFill>
                  <a:srgbClr val="777777"/>
                </a:solidFill>
                <a:latin typeface="Consolas"/>
              </a:rPr>
              <a:t>29/60</a:t>
            </a:r>
          </a:p>
        </p:txBody>
      </p:sp>
      <p:sp>
        <p:nvSpPr>
          <p:cNvPr id="50" name="title"/>
          <p:cNvSpPr txBox="1"/>
          <p:nvPr/>
        </p:nvSpPr>
        <p:spPr>
          <a:xfrm>
            <a:off x="457200" y="484632"/>
            <a:ext cx="11274552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200" b="1" lang="en-US">
                <a:solidFill>
                  <a:srgbClr val="1A1A1A"/>
                </a:solidFill>
                <a:latin typeface="Arial Black"/>
              </a:rPr>
              <a:t>Portfolio grids compress six validated capability views into one scan</a:t>
            </a:r>
          </a:p>
        </p:txBody>
      </p:sp>
      <p:sp>
        <p:nvSpPr>
          <p:cNvPr id="51" name="footer"/>
          <p:cNvSpPr txBox="1"/>
          <p:nvPr/>
        </p:nvSpPr>
        <p:spPr>
          <a:xfrm>
            <a:off x="457200" y="6473952"/>
            <a:ext cx="1051560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0" lang="en-US">
                <a:solidFill>
                  <a:srgbClr val="777777"/>
                </a:solidFill>
                <a:latin typeface="Consolas"/>
              </a:rPr>
              <a:t>Native-object stress fixture · oversized near-black display type with one signal-red word · editable geometry and recorded style lock</a:t>
            </a:r>
          </a:p>
        </p:txBody>
      </p:sp>
      <p:sp>
        <p:nvSpPr>
          <p:cNvPr id="52" name="portfolio-num-0"/>
          <p:cNvSpPr txBox="1"/>
          <p:nvPr/>
        </p:nvSpPr>
        <p:spPr>
          <a:xfrm>
            <a:off x="676656" y="1298448"/>
            <a:ext cx="566928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1" lang="en-US">
                <a:solidFill>
                  <a:srgbClr val="1A1A1A"/>
                </a:solidFill>
                <a:latin typeface="Arial Black"/>
              </a:rPr>
              <a:t>01</a:t>
            </a:r>
          </a:p>
        </p:txBody>
      </p:sp>
      <p:sp>
        <p:nvSpPr>
          <p:cNvPr id="53" name="portfolio-name-0"/>
          <p:cNvSpPr txBox="1"/>
          <p:nvPr/>
        </p:nvSpPr>
        <p:spPr>
          <a:xfrm>
            <a:off x="676656" y="1719072"/>
            <a:ext cx="192024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50" b="1" lang="en-US">
                <a:solidFill>
                  <a:srgbClr val="1A1A1A"/>
                </a:solidFill>
                <a:latin typeface="Consolas"/>
              </a:rPr>
              <a:t>Profile lock</a:t>
            </a:r>
          </a:p>
        </p:txBody>
      </p:sp>
      <p:sp>
        <p:nvSpPr>
          <p:cNvPr id="54" name="portfolio-micro-label-0-0"/>
          <p:cNvSpPr txBox="1"/>
          <p:nvPr/>
        </p:nvSpPr>
        <p:spPr>
          <a:xfrm>
            <a:off x="722376" y="2208276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1A1A1A"/>
                </a:solidFill>
                <a:latin typeface="Consolas"/>
              </a:rPr>
              <a:t>spec</a:t>
            </a:r>
          </a:p>
        </p:txBody>
      </p:sp>
      <p:sp>
        <p:nvSpPr>
          <p:cNvPr id="55" name="portfolio-micro-label-0-1"/>
          <p:cNvSpPr txBox="1"/>
          <p:nvPr/>
        </p:nvSpPr>
        <p:spPr>
          <a:xfrm>
            <a:off x="1709928" y="2208276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1A1A1A"/>
                </a:solidFill>
                <a:latin typeface="Consolas"/>
              </a:rPr>
              <a:t>audit</a:t>
            </a:r>
          </a:p>
        </p:txBody>
      </p:sp>
      <p:sp>
        <p:nvSpPr>
          <p:cNvPr id="56" name="portfolio-micro-label-0-2"/>
          <p:cNvSpPr txBox="1"/>
          <p:nvPr/>
        </p:nvSpPr>
        <p:spPr>
          <a:xfrm>
            <a:off x="722376" y="2592324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1A1A1A"/>
                </a:solidFill>
                <a:latin typeface="Consolas"/>
              </a:rPr>
              <a:t>trace</a:t>
            </a:r>
          </a:p>
        </p:txBody>
      </p:sp>
      <p:sp>
        <p:nvSpPr>
          <p:cNvPr id="57" name="portfolio-micro-label-0-3"/>
          <p:cNvSpPr txBox="1"/>
          <p:nvPr/>
        </p:nvSpPr>
        <p:spPr>
          <a:xfrm>
            <a:off x="1709928" y="2592324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1A1A1A"/>
                </a:solidFill>
                <a:latin typeface="Consolas"/>
              </a:rPr>
              <a:t>pass</a:t>
            </a:r>
          </a:p>
        </p:txBody>
      </p:sp>
      <p:sp>
        <p:nvSpPr>
          <p:cNvPr id="58" name="portfolio-num-1"/>
          <p:cNvSpPr txBox="1"/>
          <p:nvPr/>
        </p:nvSpPr>
        <p:spPr>
          <a:xfrm>
            <a:off x="3273552" y="1298448"/>
            <a:ext cx="566928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1" lang="en-US">
                <a:solidFill>
                  <a:srgbClr val="D92727"/>
                </a:solidFill>
                <a:latin typeface="Arial Black"/>
              </a:rPr>
              <a:t>02</a:t>
            </a:r>
          </a:p>
        </p:txBody>
      </p:sp>
      <p:sp>
        <p:nvSpPr>
          <p:cNvPr id="59" name="portfolio-name-1"/>
          <p:cNvSpPr txBox="1"/>
          <p:nvPr/>
        </p:nvSpPr>
        <p:spPr>
          <a:xfrm>
            <a:off x="3273552" y="1719072"/>
            <a:ext cx="192024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50" b="1" lang="en-US">
                <a:solidFill>
                  <a:srgbClr val="1A1A1A"/>
                </a:solidFill>
                <a:latin typeface="Consolas"/>
              </a:rPr>
              <a:t>Narrative</a:t>
            </a:r>
          </a:p>
        </p:txBody>
      </p:sp>
      <p:sp>
        <p:nvSpPr>
          <p:cNvPr id="60" name="portfolio-micro-label-1-0"/>
          <p:cNvSpPr txBox="1"/>
          <p:nvPr/>
        </p:nvSpPr>
        <p:spPr>
          <a:xfrm>
            <a:off x="3319272" y="2208276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D92727"/>
                </a:solidFill>
                <a:latin typeface="Consolas"/>
              </a:rPr>
              <a:t>spec</a:t>
            </a:r>
          </a:p>
        </p:txBody>
      </p:sp>
      <p:sp>
        <p:nvSpPr>
          <p:cNvPr id="61" name="portfolio-micro-label-1-1"/>
          <p:cNvSpPr txBox="1"/>
          <p:nvPr/>
        </p:nvSpPr>
        <p:spPr>
          <a:xfrm>
            <a:off x="4306824" y="2208276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D92727"/>
                </a:solidFill>
                <a:latin typeface="Consolas"/>
              </a:rPr>
              <a:t>audit</a:t>
            </a:r>
          </a:p>
        </p:txBody>
      </p:sp>
      <p:sp>
        <p:nvSpPr>
          <p:cNvPr id="62" name="portfolio-micro-label-1-2"/>
          <p:cNvSpPr txBox="1"/>
          <p:nvPr/>
        </p:nvSpPr>
        <p:spPr>
          <a:xfrm>
            <a:off x="3319272" y="2592324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D92727"/>
                </a:solidFill>
                <a:latin typeface="Consolas"/>
              </a:rPr>
              <a:t>trace</a:t>
            </a:r>
          </a:p>
        </p:txBody>
      </p:sp>
      <p:sp>
        <p:nvSpPr>
          <p:cNvPr id="63" name="portfolio-micro-label-1-3"/>
          <p:cNvSpPr txBox="1"/>
          <p:nvPr/>
        </p:nvSpPr>
        <p:spPr>
          <a:xfrm>
            <a:off x="4306824" y="2592324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D92727"/>
                </a:solidFill>
                <a:latin typeface="Consolas"/>
              </a:rPr>
              <a:t>pass</a:t>
            </a:r>
          </a:p>
        </p:txBody>
      </p:sp>
      <p:sp>
        <p:nvSpPr>
          <p:cNvPr id="64" name="portfolio-num-2"/>
          <p:cNvSpPr txBox="1"/>
          <p:nvPr/>
        </p:nvSpPr>
        <p:spPr>
          <a:xfrm>
            <a:off x="5870448" y="1298448"/>
            <a:ext cx="566928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1" lang="en-US">
                <a:solidFill>
                  <a:srgbClr val="D92727"/>
                </a:solidFill>
                <a:latin typeface="Arial Black"/>
              </a:rPr>
              <a:t>03</a:t>
            </a:r>
          </a:p>
        </p:txBody>
      </p:sp>
      <p:sp>
        <p:nvSpPr>
          <p:cNvPr id="65" name="portfolio-name-2"/>
          <p:cNvSpPr txBox="1"/>
          <p:nvPr/>
        </p:nvSpPr>
        <p:spPr>
          <a:xfrm>
            <a:off x="5870448" y="1719072"/>
            <a:ext cx="192024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50" b="1" lang="en-US">
                <a:solidFill>
                  <a:srgbClr val="1A1A1A"/>
                </a:solidFill>
                <a:latin typeface="Consolas"/>
              </a:rPr>
              <a:t>Geometry</a:t>
            </a:r>
          </a:p>
        </p:txBody>
      </p:sp>
      <p:sp>
        <p:nvSpPr>
          <p:cNvPr id="66" name="portfolio-micro-label-2-0"/>
          <p:cNvSpPr txBox="1"/>
          <p:nvPr/>
        </p:nvSpPr>
        <p:spPr>
          <a:xfrm>
            <a:off x="5916168" y="2208276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D92727"/>
                </a:solidFill>
                <a:latin typeface="Consolas"/>
              </a:rPr>
              <a:t>spec</a:t>
            </a:r>
          </a:p>
        </p:txBody>
      </p:sp>
      <p:sp>
        <p:nvSpPr>
          <p:cNvPr id="67" name="portfolio-micro-label-2-1"/>
          <p:cNvSpPr txBox="1"/>
          <p:nvPr/>
        </p:nvSpPr>
        <p:spPr>
          <a:xfrm>
            <a:off x="6903720" y="2208276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D92727"/>
                </a:solidFill>
                <a:latin typeface="Consolas"/>
              </a:rPr>
              <a:t>audit</a:t>
            </a:r>
          </a:p>
        </p:txBody>
      </p:sp>
      <p:sp>
        <p:nvSpPr>
          <p:cNvPr id="68" name="portfolio-micro-label-2-2"/>
          <p:cNvSpPr txBox="1"/>
          <p:nvPr/>
        </p:nvSpPr>
        <p:spPr>
          <a:xfrm>
            <a:off x="5916168" y="2592324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D92727"/>
                </a:solidFill>
                <a:latin typeface="Consolas"/>
              </a:rPr>
              <a:t>trace</a:t>
            </a:r>
          </a:p>
        </p:txBody>
      </p:sp>
      <p:sp>
        <p:nvSpPr>
          <p:cNvPr id="69" name="portfolio-micro-label-2-3"/>
          <p:cNvSpPr txBox="1"/>
          <p:nvPr/>
        </p:nvSpPr>
        <p:spPr>
          <a:xfrm>
            <a:off x="6903720" y="2592324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D92727"/>
                </a:solidFill>
                <a:latin typeface="Consolas"/>
              </a:rPr>
              <a:t>pass</a:t>
            </a:r>
          </a:p>
        </p:txBody>
      </p:sp>
      <p:sp>
        <p:nvSpPr>
          <p:cNvPr id="70" name="portfolio-num-3"/>
          <p:cNvSpPr txBox="1"/>
          <p:nvPr/>
        </p:nvSpPr>
        <p:spPr>
          <a:xfrm>
            <a:off x="676656" y="3630168"/>
            <a:ext cx="566928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1" lang="en-US">
                <a:solidFill>
                  <a:srgbClr val="1A1A1A"/>
                </a:solidFill>
                <a:latin typeface="Arial Black"/>
              </a:rPr>
              <a:t>04</a:t>
            </a:r>
          </a:p>
        </p:txBody>
      </p:sp>
      <p:sp>
        <p:nvSpPr>
          <p:cNvPr id="71" name="portfolio-name-3"/>
          <p:cNvSpPr txBox="1"/>
          <p:nvPr/>
        </p:nvSpPr>
        <p:spPr>
          <a:xfrm>
            <a:off x="676656" y="4050791"/>
            <a:ext cx="192024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50" b="1" lang="en-US">
                <a:solidFill>
                  <a:srgbClr val="1A1A1A"/>
                </a:solidFill>
                <a:latin typeface="Consolas"/>
              </a:rPr>
              <a:t>Visuals</a:t>
            </a:r>
          </a:p>
        </p:txBody>
      </p:sp>
      <p:sp>
        <p:nvSpPr>
          <p:cNvPr id="72" name="portfolio-micro-label-3-0"/>
          <p:cNvSpPr txBox="1"/>
          <p:nvPr/>
        </p:nvSpPr>
        <p:spPr>
          <a:xfrm>
            <a:off x="722376" y="4539996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1A1A1A"/>
                </a:solidFill>
                <a:latin typeface="Consolas"/>
              </a:rPr>
              <a:t>spec</a:t>
            </a:r>
          </a:p>
        </p:txBody>
      </p:sp>
      <p:sp>
        <p:nvSpPr>
          <p:cNvPr id="73" name="portfolio-micro-label-3-1"/>
          <p:cNvSpPr txBox="1"/>
          <p:nvPr/>
        </p:nvSpPr>
        <p:spPr>
          <a:xfrm>
            <a:off x="1709928" y="4539996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1A1A1A"/>
                </a:solidFill>
                <a:latin typeface="Consolas"/>
              </a:rPr>
              <a:t>audit</a:t>
            </a:r>
          </a:p>
        </p:txBody>
      </p:sp>
      <p:sp>
        <p:nvSpPr>
          <p:cNvPr id="74" name="portfolio-micro-label-3-2"/>
          <p:cNvSpPr txBox="1"/>
          <p:nvPr/>
        </p:nvSpPr>
        <p:spPr>
          <a:xfrm>
            <a:off x="722376" y="4924044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1A1A1A"/>
                </a:solidFill>
                <a:latin typeface="Consolas"/>
              </a:rPr>
              <a:t>trace</a:t>
            </a:r>
          </a:p>
        </p:txBody>
      </p:sp>
      <p:sp>
        <p:nvSpPr>
          <p:cNvPr id="75" name="portfolio-micro-label-3-3"/>
          <p:cNvSpPr txBox="1"/>
          <p:nvPr/>
        </p:nvSpPr>
        <p:spPr>
          <a:xfrm>
            <a:off x="1709928" y="4924044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1A1A1A"/>
                </a:solidFill>
                <a:latin typeface="Consolas"/>
              </a:rPr>
              <a:t>pass</a:t>
            </a:r>
          </a:p>
        </p:txBody>
      </p:sp>
      <p:sp>
        <p:nvSpPr>
          <p:cNvPr id="76" name="portfolio-num-4"/>
          <p:cNvSpPr txBox="1"/>
          <p:nvPr/>
        </p:nvSpPr>
        <p:spPr>
          <a:xfrm>
            <a:off x="3273552" y="3630168"/>
            <a:ext cx="566928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1" lang="en-US">
                <a:solidFill>
                  <a:srgbClr val="D92727"/>
                </a:solidFill>
                <a:latin typeface="Arial Black"/>
              </a:rPr>
              <a:t>05</a:t>
            </a:r>
          </a:p>
        </p:txBody>
      </p:sp>
      <p:sp>
        <p:nvSpPr>
          <p:cNvPr id="77" name="portfolio-name-4"/>
          <p:cNvSpPr txBox="1"/>
          <p:nvPr/>
        </p:nvSpPr>
        <p:spPr>
          <a:xfrm>
            <a:off x="3273552" y="4050791"/>
            <a:ext cx="192024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50" b="1" lang="en-US">
                <a:solidFill>
                  <a:srgbClr val="1A1A1A"/>
                </a:solidFill>
                <a:latin typeface="Consolas"/>
              </a:rPr>
              <a:t>Accessibility</a:t>
            </a:r>
          </a:p>
        </p:txBody>
      </p:sp>
      <p:sp>
        <p:nvSpPr>
          <p:cNvPr id="78" name="portfolio-micro-label-4-0"/>
          <p:cNvSpPr txBox="1"/>
          <p:nvPr/>
        </p:nvSpPr>
        <p:spPr>
          <a:xfrm>
            <a:off x="3319272" y="4539996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D92727"/>
                </a:solidFill>
                <a:latin typeface="Consolas"/>
              </a:rPr>
              <a:t>spec</a:t>
            </a:r>
          </a:p>
        </p:txBody>
      </p:sp>
      <p:sp>
        <p:nvSpPr>
          <p:cNvPr id="79" name="portfolio-micro-label-4-1"/>
          <p:cNvSpPr txBox="1"/>
          <p:nvPr/>
        </p:nvSpPr>
        <p:spPr>
          <a:xfrm>
            <a:off x="4306824" y="4539996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D92727"/>
                </a:solidFill>
                <a:latin typeface="Consolas"/>
              </a:rPr>
              <a:t>audit</a:t>
            </a:r>
          </a:p>
        </p:txBody>
      </p:sp>
      <p:sp>
        <p:nvSpPr>
          <p:cNvPr id="80" name="portfolio-micro-label-4-2"/>
          <p:cNvSpPr txBox="1"/>
          <p:nvPr/>
        </p:nvSpPr>
        <p:spPr>
          <a:xfrm>
            <a:off x="3319272" y="4924044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D92727"/>
                </a:solidFill>
                <a:latin typeface="Consolas"/>
              </a:rPr>
              <a:t>trace</a:t>
            </a:r>
          </a:p>
        </p:txBody>
      </p:sp>
      <p:sp>
        <p:nvSpPr>
          <p:cNvPr id="81" name="portfolio-micro-label-4-3"/>
          <p:cNvSpPr txBox="1"/>
          <p:nvPr/>
        </p:nvSpPr>
        <p:spPr>
          <a:xfrm>
            <a:off x="4306824" y="4924044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D92727"/>
                </a:solidFill>
                <a:latin typeface="Consolas"/>
              </a:rPr>
              <a:t>pass</a:t>
            </a:r>
          </a:p>
        </p:txBody>
      </p:sp>
      <p:sp>
        <p:nvSpPr>
          <p:cNvPr id="82" name="portfolio-num-5"/>
          <p:cNvSpPr txBox="1"/>
          <p:nvPr/>
        </p:nvSpPr>
        <p:spPr>
          <a:xfrm>
            <a:off x="5870448" y="3630168"/>
            <a:ext cx="566928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1" lang="en-US">
                <a:solidFill>
                  <a:srgbClr val="D92727"/>
                </a:solidFill>
                <a:latin typeface="Arial Black"/>
              </a:rPr>
              <a:t>06</a:t>
            </a:r>
          </a:p>
        </p:txBody>
      </p:sp>
      <p:sp>
        <p:nvSpPr>
          <p:cNvPr id="83" name="portfolio-name-5"/>
          <p:cNvSpPr txBox="1"/>
          <p:nvPr/>
        </p:nvSpPr>
        <p:spPr>
          <a:xfrm>
            <a:off x="5870448" y="4050791"/>
            <a:ext cx="192024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50" b="1" lang="en-US">
                <a:solidFill>
                  <a:srgbClr val="1A1A1A"/>
                </a:solidFill>
                <a:latin typeface="Consolas"/>
              </a:rPr>
              <a:t>Package</a:t>
            </a:r>
          </a:p>
        </p:txBody>
      </p:sp>
      <p:sp>
        <p:nvSpPr>
          <p:cNvPr id="84" name="portfolio-micro-label-5-0"/>
          <p:cNvSpPr txBox="1"/>
          <p:nvPr/>
        </p:nvSpPr>
        <p:spPr>
          <a:xfrm>
            <a:off x="5916168" y="4539996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D92727"/>
                </a:solidFill>
                <a:latin typeface="Consolas"/>
              </a:rPr>
              <a:t>spec</a:t>
            </a:r>
          </a:p>
        </p:txBody>
      </p:sp>
      <p:sp>
        <p:nvSpPr>
          <p:cNvPr id="85" name="portfolio-micro-label-5-1"/>
          <p:cNvSpPr txBox="1"/>
          <p:nvPr/>
        </p:nvSpPr>
        <p:spPr>
          <a:xfrm>
            <a:off x="6903720" y="4539996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D92727"/>
                </a:solidFill>
                <a:latin typeface="Consolas"/>
              </a:rPr>
              <a:t>audit</a:t>
            </a:r>
          </a:p>
        </p:txBody>
      </p:sp>
      <p:sp>
        <p:nvSpPr>
          <p:cNvPr id="86" name="portfolio-micro-label-5-2"/>
          <p:cNvSpPr txBox="1"/>
          <p:nvPr/>
        </p:nvSpPr>
        <p:spPr>
          <a:xfrm>
            <a:off x="5916168" y="4924044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D92727"/>
                </a:solidFill>
                <a:latin typeface="Consolas"/>
              </a:rPr>
              <a:t>trace</a:t>
            </a:r>
          </a:p>
        </p:txBody>
      </p:sp>
      <p:sp>
        <p:nvSpPr>
          <p:cNvPr id="87" name="portfolio-micro-label-5-3"/>
          <p:cNvSpPr txBox="1"/>
          <p:nvPr/>
        </p:nvSpPr>
        <p:spPr>
          <a:xfrm>
            <a:off x="6903720" y="4924044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D92727"/>
                </a:solidFill>
                <a:latin typeface="Consolas"/>
              </a:rPr>
              <a:t>pass</a:t>
            </a:r>
          </a:p>
        </p:txBody>
      </p:sp>
      <p:sp>
        <p:nvSpPr>
          <p:cNvPr id="88" name="portfolio-rail-title"/>
          <p:cNvSpPr txBox="1"/>
          <p:nvPr/>
        </p:nvSpPr>
        <p:spPr>
          <a:xfrm>
            <a:off x="8723376" y="1325880"/>
            <a:ext cx="246888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1" lang="en-US">
                <a:solidFill>
                  <a:srgbClr val="1A1A1A"/>
                </a:solidFill>
                <a:latin typeface="Consolas"/>
              </a:rPr>
              <a:t>RELEASE BOARD</a:t>
            </a:r>
          </a:p>
        </p:txBody>
      </p:sp>
      <p:sp>
        <p:nvSpPr>
          <p:cNvPr id="89" name="release-label-0"/>
          <p:cNvSpPr txBox="1"/>
          <p:nvPr/>
        </p:nvSpPr>
        <p:spPr>
          <a:xfrm>
            <a:off x="8906256" y="1847088"/>
            <a:ext cx="137160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50" b="1" lang="en-US">
                <a:solidFill>
                  <a:srgbClr val="777777"/>
                </a:solidFill>
                <a:latin typeface="Consolas"/>
              </a:rPr>
              <a:t>Layouts</a:t>
            </a:r>
          </a:p>
        </p:txBody>
      </p:sp>
      <p:sp>
        <p:nvSpPr>
          <p:cNvPr id="90" name="release-value-0"/>
          <p:cNvSpPr txBox="1"/>
          <p:nvPr/>
        </p:nvSpPr>
        <p:spPr>
          <a:xfrm>
            <a:off x="10378440" y="1828800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1100" b="1" lang="en-US">
                <a:solidFill>
                  <a:srgbClr val="1A1A1A"/>
                </a:solidFill>
                <a:latin typeface="Consolas"/>
              </a:rPr>
              <a:t>60</a:t>
            </a:r>
          </a:p>
        </p:txBody>
      </p:sp>
      <p:sp>
        <p:nvSpPr>
          <p:cNvPr id="91" name="release-label-1"/>
          <p:cNvSpPr txBox="1"/>
          <p:nvPr/>
        </p:nvSpPr>
        <p:spPr>
          <a:xfrm>
            <a:off x="8906256" y="2542032"/>
            <a:ext cx="137160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50" b="1" lang="en-US">
                <a:solidFill>
                  <a:srgbClr val="777777"/>
                </a:solidFill>
                <a:latin typeface="Consolas"/>
              </a:rPr>
              <a:t>Profiles</a:t>
            </a:r>
          </a:p>
        </p:txBody>
      </p:sp>
      <p:sp>
        <p:nvSpPr>
          <p:cNvPr id="92" name="release-value-1"/>
          <p:cNvSpPr txBox="1"/>
          <p:nvPr/>
        </p:nvSpPr>
        <p:spPr>
          <a:xfrm>
            <a:off x="10378440" y="2523744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1100" b="1" lang="en-US">
                <a:solidFill>
                  <a:srgbClr val="D92727"/>
                </a:solidFill>
                <a:latin typeface="Consolas"/>
              </a:rPr>
              <a:t>12</a:t>
            </a:r>
          </a:p>
        </p:txBody>
      </p:sp>
      <p:sp>
        <p:nvSpPr>
          <p:cNvPr id="93" name="release-label-2"/>
          <p:cNvSpPr txBox="1"/>
          <p:nvPr/>
        </p:nvSpPr>
        <p:spPr>
          <a:xfrm>
            <a:off x="8906256" y="3236976"/>
            <a:ext cx="137160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50" b="1" lang="en-US">
                <a:solidFill>
                  <a:srgbClr val="777777"/>
                </a:solidFill>
                <a:latin typeface="Consolas"/>
              </a:rPr>
              <a:t>Gate checks</a:t>
            </a:r>
          </a:p>
        </p:txBody>
      </p:sp>
      <p:sp>
        <p:nvSpPr>
          <p:cNvPr id="94" name="release-value-2"/>
          <p:cNvSpPr txBox="1"/>
          <p:nvPr/>
        </p:nvSpPr>
        <p:spPr>
          <a:xfrm>
            <a:off x="10378440" y="3218688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1100" b="1" lang="en-US">
                <a:solidFill>
                  <a:srgbClr val="D92727"/>
                </a:solidFill>
                <a:latin typeface="Consolas"/>
              </a:rPr>
              <a:t>11</a:t>
            </a:r>
          </a:p>
        </p:txBody>
      </p:sp>
      <p:sp>
        <p:nvSpPr>
          <p:cNvPr id="95" name="release-label-3"/>
          <p:cNvSpPr txBox="1"/>
          <p:nvPr/>
        </p:nvSpPr>
        <p:spPr>
          <a:xfrm>
            <a:off x="8906256" y="3931920"/>
            <a:ext cx="137160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50" b="1" lang="en-US">
                <a:solidFill>
                  <a:srgbClr val="777777"/>
                </a:solidFill>
                <a:latin typeface="Consolas"/>
              </a:rPr>
              <a:t>Defects</a:t>
            </a:r>
          </a:p>
        </p:txBody>
      </p:sp>
      <p:sp>
        <p:nvSpPr>
          <p:cNvPr id="96" name="release-value-3"/>
          <p:cNvSpPr txBox="1"/>
          <p:nvPr/>
        </p:nvSpPr>
        <p:spPr>
          <a:xfrm>
            <a:off x="10378440" y="3913632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1100" b="1" lang="en-US">
                <a:solidFill>
                  <a:srgbClr val="1A1A1A"/>
                </a:solidFill>
                <a:latin typeface="Consolas"/>
              </a:rPr>
              <a:t>00</a:t>
            </a:r>
          </a:p>
        </p:txBody>
      </p:sp>
      <p:sp>
        <p:nvSpPr>
          <p:cNvPr id="97" name="release-label-4"/>
          <p:cNvSpPr txBox="1"/>
          <p:nvPr/>
        </p:nvSpPr>
        <p:spPr>
          <a:xfrm>
            <a:off x="8906256" y="4626864"/>
            <a:ext cx="137160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50" b="1" lang="en-US">
                <a:solidFill>
                  <a:srgbClr val="777777"/>
                </a:solidFill>
                <a:latin typeface="Consolas"/>
              </a:rPr>
              <a:t>Evidence</a:t>
            </a:r>
          </a:p>
        </p:txBody>
      </p:sp>
      <p:sp>
        <p:nvSpPr>
          <p:cNvPr id="98" name="release-value-4"/>
          <p:cNvSpPr txBox="1"/>
          <p:nvPr/>
        </p:nvSpPr>
        <p:spPr>
          <a:xfrm>
            <a:off x="10378440" y="4608576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1100" b="1" lang="en-US">
                <a:solidFill>
                  <a:srgbClr val="D92727"/>
                </a:solidFill>
                <a:latin typeface="Consolas"/>
              </a:rPr>
              <a:t>native</a:t>
            </a:r>
          </a:p>
        </p:txBody>
      </p:sp>
      <p:sp>
        <p:nvSpPr>
          <p:cNvPr id="99" name="portfolio-banner-label"/>
          <p:cNvSpPr txBox="1"/>
          <p:nvPr/>
        </p:nvSpPr>
        <p:spPr>
          <a:xfrm>
            <a:off x="713232" y="5687568"/>
            <a:ext cx="740664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50" b="1" lang="en-US">
                <a:solidFill>
                  <a:srgbClr val="FFFFFF"/>
                </a:solidFill>
                <a:latin typeface="Consolas"/>
              </a:rPr>
              <a:t>Six dense tiles test nested cards, micro-labels, hierarchy, and high-information scanning.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EDE8"/>
          </a:solidFill>
          <a:ln w="10160">
            <a:solidFill>
              <a:srgbClr val="F0E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op-band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A1A1A"/>
          </a:solidFill>
          <a:ln w="1016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lane-0"/>
          <p:cNvSpPr/>
          <p:nvPr/>
        </p:nvSpPr>
        <p:spPr>
          <a:xfrm>
            <a:off x="457200" y="1097280"/>
            <a:ext cx="845820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0CC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lane-1"/>
          <p:cNvSpPr/>
          <p:nvPr/>
        </p:nvSpPr>
        <p:spPr>
          <a:xfrm>
            <a:off x="457200" y="2267712"/>
            <a:ext cx="845820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0CC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lane-2"/>
          <p:cNvSpPr/>
          <p:nvPr/>
        </p:nvSpPr>
        <p:spPr>
          <a:xfrm>
            <a:off x="457200" y="3438144"/>
            <a:ext cx="845820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0CC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lane-3"/>
          <p:cNvSpPr/>
          <p:nvPr/>
        </p:nvSpPr>
        <p:spPr>
          <a:xfrm>
            <a:off x="457200" y="4608576"/>
            <a:ext cx="845820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0CC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workbench-rail-shell"/>
          <p:cNvSpPr/>
          <p:nvPr/>
        </p:nvSpPr>
        <p:spPr>
          <a:xfrm>
            <a:off x="9189720" y="1097280"/>
            <a:ext cx="2542032" cy="4892040"/>
          </a:xfrm>
          <a:prstGeom prst="rect">
            <a:avLst/>
          </a:prstGeom>
          <a:solidFill>
            <a:srgbClr val="F0EDE8"/>
          </a:solidFill>
          <a:ln w="10160">
            <a:solidFill>
              <a:srgbClr val="D0CC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lane-label-0"/>
          <p:cNvSpPr/>
          <p:nvPr/>
        </p:nvSpPr>
        <p:spPr>
          <a:xfrm>
            <a:off x="457200" y="1097280"/>
            <a:ext cx="1097280" cy="914400"/>
          </a:xfrm>
          <a:prstGeom prst="rect">
            <a:avLst/>
          </a:prstGeom>
          <a:solidFill>
            <a:srgbClr val="1A1A1A"/>
          </a:solidFill>
          <a:ln w="1016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lane-label-1"/>
          <p:cNvSpPr/>
          <p:nvPr/>
        </p:nvSpPr>
        <p:spPr>
          <a:xfrm>
            <a:off x="457200" y="2267712"/>
            <a:ext cx="1097280" cy="914400"/>
          </a:xfrm>
          <a:prstGeom prst="rect">
            <a:avLst/>
          </a:prstGeom>
          <a:solidFill>
            <a:srgbClr val="D92727"/>
          </a:solidFill>
          <a:ln w="10160">
            <a:solidFill>
              <a:srgbClr val="D927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lane-label-2"/>
          <p:cNvSpPr/>
          <p:nvPr/>
        </p:nvSpPr>
        <p:spPr>
          <a:xfrm>
            <a:off x="457200" y="3438144"/>
            <a:ext cx="1097280" cy="914400"/>
          </a:xfrm>
          <a:prstGeom prst="rect">
            <a:avLst/>
          </a:prstGeom>
          <a:solidFill>
            <a:srgbClr val="D92727"/>
          </a:solidFill>
          <a:ln w="10160">
            <a:solidFill>
              <a:srgbClr val="D927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lane-label-3"/>
          <p:cNvSpPr/>
          <p:nvPr/>
        </p:nvSpPr>
        <p:spPr>
          <a:xfrm>
            <a:off x="457200" y="4608576"/>
            <a:ext cx="1097280" cy="914400"/>
          </a:xfrm>
          <a:prstGeom prst="rect">
            <a:avLst/>
          </a:prstGeom>
          <a:solidFill>
            <a:srgbClr val="1A1A1A"/>
          </a:solidFill>
          <a:ln w="1016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workbench-rail-accent"/>
          <p:cNvSpPr/>
          <p:nvPr/>
        </p:nvSpPr>
        <p:spPr>
          <a:xfrm>
            <a:off x="9189720" y="1097280"/>
            <a:ext cx="73152" cy="4892040"/>
          </a:xfrm>
          <a:prstGeom prst="rect">
            <a:avLst/>
          </a:prstGeom>
          <a:solidFill>
            <a:srgbClr val="1A1A1A"/>
          </a:solidFill>
          <a:ln w="1016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hart-axis"/>
          <p:cNvCxnSpPr/>
          <p:nvPr/>
        </p:nvCxnSpPr>
        <p:spPr>
          <a:xfrm>
            <a:off x="9400032" y="4718304"/>
            <a:ext cx="2048256" cy="0"/>
          </a:xfrm>
          <a:prstGeom prst="line">
            <a:avLst/>
          </a:prstGeom>
          <a:ln w="13970">
            <a:solidFill>
              <a:srgbClr val="D0CC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ask-0-0"/>
          <p:cNvSpPr/>
          <p:nvPr/>
        </p:nvSpPr>
        <p:spPr>
          <a:xfrm>
            <a:off x="1773936" y="1234440"/>
            <a:ext cx="1161288" cy="621792"/>
          </a:xfrm>
          <a:prstGeom prst="roundRect">
            <a:avLst/>
          </a:prstGeom>
          <a:solidFill>
            <a:srgbClr val="F0EDE8"/>
          </a:solidFill>
          <a:ln w="1016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ask-0-1"/>
          <p:cNvSpPr/>
          <p:nvPr/>
        </p:nvSpPr>
        <p:spPr>
          <a:xfrm>
            <a:off x="3127248" y="1234440"/>
            <a:ext cx="1161288" cy="621792"/>
          </a:xfrm>
          <a:prstGeom prst="roundRect">
            <a:avLst/>
          </a:prstGeom>
          <a:solidFill>
            <a:srgbClr val="F0EDE8"/>
          </a:solidFill>
          <a:ln w="1016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ask-0-2"/>
          <p:cNvSpPr/>
          <p:nvPr/>
        </p:nvSpPr>
        <p:spPr>
          <a:xfrm>
            <a:off x="4480560" y="1234440"/>
            <a:ext cx="1161288" cy="621792"/>
          </a:xfrm>
          <a:prstGeom prst="roundRect">
            <a:avLst/>
          </a:prstGeom>
          <a:solidFill>
            <a:srgbClr val="F0EDE8"/>
          </a:solidFill>
          <a:ln w="1016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ask-0-3"/>
          <p:cNvSpPr/>
          <p:nvPr/>
        </p:nvSpPr>
        <p:spPr>
          <a:xfrm>
            <a:off x="5833872" y="1234440"/>
            <a:ext cx="1161288" cy="621792"/>
          </a:xfrm>
          <a:prstGeom prst="roundRect">
            <a:avLst/>
          </a:prstGeom>
          <a:solidFill>
            <a:srgbClr val="F0EDE8"/>
          </a:solidFill>
          <a:ln w="1016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ask-0-4"/>
          <p:cNvSpPr/>
          <p:nvPr/>
        </p:nvSpPr>
        <p:spPr>
          <a:xfrm>
            <a:off x="7187184" y="1234440"/>
            <a:ext cx="1161288" cy="621792"/>
          </a:xfrm>
          <a:prstGeom prst="roundRect">
            <a:avLst/>
          </a:prstGeom>
          <a:solidFill>
            <a:srgbClr val="F0EDE8"/>
          </a:solidFill>
          <a:ln w="1016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ask-1-0"/>
          <p:cNvSpPr/>
          <p:nvPr/>
        </p:nvSpPr>
        <p:spPr>
          <a:xfrm>
            <a:off x="1773936" y="2404872"/>
            <a:ext cx="1161288" cy="621792"/>
          </a:xfrm>
          <a:prstGeom prst="roundRect">
            <a:avLst/>
          </a:prstGeom>
          <a:solidFill>
            <a:srgbClr val="F0EDE8"/>
          </a:solidFill>
          <a:ln w="10160">
            <a:solidFill>
              <a:srgbClr val="D927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ask-1-1"/>
          <p:cNvSpPr/>
          <p:nvPr/>
        </p:nvSpPr>
        <p:spPr>
          <a:xfrm>
            <a:off x="3127248" y="2404872"/>
            <a:ext cx="1161288" cy="621792"/>
          </a:xfrm>
          <a:prstGeom prst="roundRect">
            <a:avLst/>
          </a:prstGeom>
          <a:solidFill>
            <a:srgbClr val="F0EDE8"/>
          </a:solidFill>
          <a:ln w="10160">
            <a:solidFill>
              <a:srgbClr val="D927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ask-1-2"/>
          <p:cNvSpPr/>
          <p:nvPr/>
        </p:nvSpPr>
        <p:spPr>
          <a:xfrm>
            <a:off x="4480560" y="2404872"/>
            <a:ext cx="1161288" cy="621792"/>
          </a:xfrm>
          <a:prstGeom prst="roundRect">
            <a:avLst/>
          </a:prstGeom>
          <a:solidFill>
            <a:srgbClr val="F0EDE8"/>
          </a:solidFill>
          <a:ln w="10160">
            <a:solidFill>
              <a:srgbClr val="D927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ask-1-3"/>
          <p:cNvSpPr/>
          <p:nvPr/>
        </p:nvSpPr>
        <p:spPr>
          <a:xfrm>
            <a:off x="5833872" y="2404872"/>
            <a:ext cx="1161288" cy="621792"/>
          </a:xfrm>
          <a:prstGeom prst="roundRect">
            <a:avLst/>
          </a:prstGeom>
          <a:solidFill>
            <a:srgbClr val="F0EDE8"/>
          </a:solidFill>
          <a:ln w="10160">
            <a:solidFill>
              <a:srgbClr val="D927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ask-1-4"/>
          <p:cNvSpPr/>
          <p:nvPr/>
        </p:nvSpPr>
        <p:spPr>
          <a:xfrm>
            <a:off x="7187184" y="2404872"/>
            <a:ext cx="1161288" cy="621792"/>
          </a:xfrm>
          <a:prstGeom prst="roundRect">
            <a:avLst/>
          </a:prstGeom>
          <a:solidFill>
            <a:srgbClr val="F0EDE8"/>
          </a:solidFill>
          <a:ln w="10160">
            <a:solidFill>
              <a:srgbClr val="D927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ask-2-0"/>
          <p:cNvSpPr/>
          <p:nvPr/>
        </p:nvSpPr>
        <p:spPr>
          <a:xfrm>
            <a:off x="1773936" y="3575304"/>
            <a:ext cx="1161288" cy="621792"/>
          </a:xfrm>
          <a:prstGeom prst="roundRect">
            <a:avLst/>
          </a:prstGeom>
          <a:solidFill>
            <a:srgbClr val="F0EDE8"/>
          </a:solidFill>
          <a:ln w="10160">
            <a:solidFill>
              <a:srgbClr val="D927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ask-2-1"/>
          <p:cNvSpPr/>
          <p:nvPr/>
        </p:nvSpPr>
        <p:spPr>
          <a:xfrm>
            <a:off x="3127248" y="3575304"/>
            <a:ext cx="1161288" cy="621792"/>
          </a:xfrm>
          <a:prstGeom prst="roundRect">
            <a:avLst/>
          </a:prstGeom>
          <a:solidFill>
            <a:srgbClr val="F0EDE8"/>
          </a:solidFill>
          <a:ln w="10160">
            <a:solidFill>
              <a:srgbClr val="D927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ask-2-2"/>
          <p:cNvSpPr/>
          <p:nvPr/>
        </p:nvSpPr>
        <p:spPr>
          <a:xfrm>
            <a:off x="4480560" y="3575304"/>
            <a:ext cx="1161288" cy="621792"/>
          </a:xfrm>
          <a:prstGeom prst="roundRect">
            <a:avLst/>
          </a:prstGeom>
          <a:solidFill>
            <a:srgbClr val="F0EDE8"/>
          </a:solidFill>
          <a:ln w="10160">
            <a:solidFill>
              <a:srgbClr val="D927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ask-2-3"/>
          <p:cNvSpPr/>
          <p:nvPr/>
        </p:nvSpPr>
        <p:spPr>
          <a:xfrm>
            <a:off x="5833872" y="3575304"/>
            <a:ext cx="1161288" cy="621792"/>
          </a:xfrm>
          <a:prstGeom prst="roundRect">
            <a:avLst/>
          </a:prstGeom>
          <a:solidFill>
            <a:srgbClr val="F0EDE8"/>
          </a:solidFill>
          <a:ln w="10160">
            <a:solidFill>
              <a:srgbClr val="D927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ask-2-4"/>
          <p:cNvSpPr/>
          <p:nvPr/>
        </p:nvSpPr>
        <p:spPr>
          <a:xfrm>
            <a:off x="7187184" y="3575304"/>
            <a:ext cx="1161288" cy="621792"/>
          </a:xfrm>
          <a:prstGeom prst="roundRect">
            <a:avLst/>
          </a:prstGeom>
          <a:solidFill>
            <a:srgbClr val="F0EDE8"/>
          </a:solidFill>
          <a:ln w="10160">
            <a:solidFill>
              <a:srgbClr val="D927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ask-3-0"/>
          <p:cNvSpPr/>
          <p:nvPr/>
        </p:nvSpPr>
        <p:spPr>
          <a:xfrm>
            <a:off x="1773936" y="4745736"/>
            <a:ext cx="1161288" cy="621792"/>
          </a:xfrm>
          <a:prstGeom prst="roundRect">
            <a:avLst/>
          </a:prstGeom>
          <a:solidFill>
            <a:srgbClr val="F0EDE8"/>
          </a:solidFill>
          <a:ln w="1016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ask-3-1"/>
          <p:cNvSpPr/>
          <p:nvPr/>
        </p:nvSpPr>
        <p:spPr>
          <a:xfrm>
            <a:off x="3127248" y="4745736"/>
            <a:ext cx="1161288" cy="621792"/>
          </a:xfrm>
          <a:prstGeom prst="roundRect">
            <a:avLst/>
          </a:prstGeom>
          <a:solidFill>
            <a:srgbClr val="F0EDE8"/>
          </a:solidFill>
          <a:ln w="1016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ask-3-2"/>
          <p:cNvSpPr/>
          <p:nvPr/>
        </p:nvSpPr>
        <p:spPr>
          <a:xfrm>
            <a:off x="4480560" y="4745736"/>
            <a:ext cx="1161288" cy="621792"/>
          </a:xfrm>
          <a:prstGeom prst="roundRect">
            <a:avLst/>
          </a:prstGeom>
          <a:solidFill>
            <a:srgbClr val="F0EDE8"/>
          </a:solidFill>
          <a:ln w="1016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ask-3-3"/>
          <p:cNvSpPr/>
          <p:nvPr/>
        </p:nvSpPr>
        <p:spPr>
          <a:xfrm>
            <a:off x="5833872" y="4745736"/>
            <a:ext cx="1161288" cy="621792"/>
          </a:xfrm>
          <a:prstGeom prst="roundRect">
            <a:avLst/>
          </a:prstGeom>
          <a:solidFill>
            <a:srgbClr val="F0EDE8"/>
          </a:solidFill>
          <a:ln w="1016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ask-3-4"/>
          <p:cNvSpPr/>
          <p:nvPr/>
        </p:nvSpPr>
        <p:spPr>
          <a:xfrm>
            <a:off x="7187184" y="4745736"/>
            <a:ext cx="1161288" cy="621792"/>
          </a:xfrm>
          <a:prstGeom prst="roundRect">
            <a:avLst/>
          </a:prstGeom>
          <a:solidFill>
            <a:srgbClr val="F0EDE8"/>
          </a:solidFill>
          <a:ln w="1016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bar-0"/>
          <p:cNvSpPr/>
          <p:nvPr/>
        </p:nvSpPr>
        <p:spPr>
          <a:xfrm>
            <a:off x="9454896" y="3771900"/>
            <a:ext cx="155448" cy="946403"/>
          </a:xfrm>
          <a:prstGeom prst="roundRect">
            <a:avLst/>
          </a:prstGeom>
          <a:solidFill>
            <a:srgbClr val="1A1A1A"/>
          </a:solidFill>
          <a:ln w="1016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bar-1"/>
          <p:cNvSpPr/>
          <p:nvPr/>
        </p:nvSpPr>
        <p:spPr>
          <a:xfrm>
            <a:off x="9701784" y="3204057"/>
            <a:ext cx="155448" cy="1514246"/>
          </a:xfrm>
          <a:prstGeom prst="roundRect">
            <a:avLst/>
          </a:prstGeom>
          <a:solidFill>
            <a:srgbClr val="D92727"/>
          </a:solidFill>
          <a:ln w="10160">
            <a:solidFill>
              <a:srgbClr val="D927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bar-2"/>
          <p:cNvSpPr/>
          <p:nvPr/>
        </p:nvSpPr>
        <p:spPr>
          <a:xfrm>
            <a:off x="9948672" y="3498494"/>
            <a:ext cx="155448" cy="1219809"/>
          </a:xfrm>
          <a:prstGeom prst="roundRect">
            <a:avLst/>
          </a:prstGeom>
          <a:solidFill>
            <a:srgbClr val="D92727"/>
          </a:solidFill>
          <a:ln w="10160">
            <a:solidFill>
              <a:srgbClr val="D927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bar-3"/>
          <p:cNvSpPr/>
          <p:nvPr/>
        </p:nvSpPr>
        <p:spPr>
          <a:xfrm>
            <a:off x="10195560" y="2909620"/>
            <a:ext cx="155448" cy="1808683"/>
          </a:xfrm>
          <a:prstGeom prst="roundRect">
            <a:avLst/>
          </a:prstGeom>
          <a:solidFill>
            <a:srgbClr val="1A1A1A"/>
          </a:solidFill>
          <a:ln w="1016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bar-4"/>
          <p:cNvSpPr/>
          <p:nvPr/>
        </p:nvSpPr>
        <p:spPr>
          <a:xfrm>
            <a:off x="10442448" y="3330244"/>
            <a:ext cx="155448" cy="1388059"/>
          </a:xfrm>
          <a:prstGeom prst="roundRect">
            <a:avLst/>
          </a:prstGeom>
          <a:solidFill>
            <a:srgbClr val="1A1A1A"/>
          </a:solidFill>
          <a:ln w="1016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bar-5"/>
          <p:cNvSpPr/>
          <p:nvPr/>
        </p:nvSpPr>
        <p:spPr>
          <a:xfrm>
            <a:off x="10689336" y="2783433"/>
            <a:ext cx="155448" cy="1934870"/>
          </a:xfrm>
          <a:prstGeom prst="roundRect">
            <a:avLst/>
          </a:prstGeom>
          <a:solidFill>
            <a:srgbClr val="D92727"/>
          </a:solidFill>
          <a:ln w="10160">
            <a:solidFill>
              <a:srgbClr val="D927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bar-6"/>
          <p:cNvSpPr/>
          <p:nvPr/>
        </p:nvSpPr>
        <p:spPr>
          <a:xfrm>
            <a:off x="10936224" y="3119932"/>
            <a:ext cx="155448" cy="1598371"/>
          </a:xfrm>
          <a:prstGeom prst="roundRect">
            <a:avLst/>
          </a:prstGeom>
          <a:solidFill>
            <a:srgbClr val="D92727"/>
          </a:solidFill>
          <a:ln w="10160">
            <a:solidFill>
              <a:srgbClr val="D927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bar-7"/>
          <p:cNvSpPr/>
          <p:nvPr/>
        </p:nvSpPr>
        <p:spPr>
          <a:xfrm>
            <a:off x="11183112" y="3603650"/>
            <a:ext cx="155448" cy="1114653"/>
          </a:xfrm>
          <a:prstGeom prst="roundRect">
            <a:avLst/>
          </a:prstGeom>
          <a:solidFill>
            <a:srgbClr val="1A1A1A"/>
          </a:solidFill>
          <a:ln w="1016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check-dot-0"/>
          <p:cNvSpPr/>
          <p:nvPr/>
        </p:nvSpPr>
        <p:spPr>
          <a:xfrm>
            <a:off x="9436608" y="5321808"/>
            <a:ext cx="91440" cy="91440"/>
          </a:xfrm>
          <a:prstGeom prst="ellipse">
            <a:avLst/>
          </a:prstGeom>
          <a:solidFill>
            <a:srgbClr val="1A1A1A"/>
          </a:solidFill>
          <a:ln w="1016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check-dot-1"/>
          <p:cNvSpPr/>
          <p:nvPr/>
        </p:nvSpPr>
        <p:spPr>
          <a:xfrm>
            <a:off x="9436608" y="5486400"/>
            <a:ext cx="91440" cy="91440"/>
          </a:xfrm>
          <a:prstGeom prst="ellipse">
            <a:avLst/>
          </a:prstGeom>
          <a:solidFill>
            <a:srgbClr val="1A1A1A"/>
          </a:solidFill>
          <a:ln w="1016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check-dot-2"/>
          <p:cNvSpPr/>
          <p:nvPr/>
        </p:nvSpPr>
        <p:spPr>
          <a:xfrm>
            <a:off x="9436608" y="5650992"/>
            <a:ext cx="91440" cy="91440"/>
          </a:xfrm>
          <a:prstGeom prst="ellipse">
            <a:avLst/>
          </a:prstGeom>
          <a:solidFill>
            <a:srgbClr val="1A1A1A"/>
          </a:solidFill>
          <a:ln w="1016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check-dot-3"/>
          <p:cNvSpPr/>
          <p:nvPr/>
        </p:nvSpPr>
        <p:spPr>
          <a:xfrm>
            <a:off x="9436608" y="5815584"/>
            <a:ext cx="91440" cy="91440"/>
          </a:xfrm>
          <a:prstGeom prst="ellipse">
            <a:avLst/>
          </a:prstGeom>
          <a:solidFill>
            <a:srgbClr val="D92727"/>
          </a:solidFill>
          <a:ln w="10160">
            <a:solidFill>
              <a:srgbClr val="D927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profile-tag"/>
          <p:cNvSpPr txBox="1"/>
          <p:nvPr/>
        </p:nvSpPr>
        <p:spPr>
          <a:xfrm>
            <a:off x="457200" y="201168"/>
            <a:ext cx="768096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1" lang="en-US">
                <a:solidFill>
                  <a:srgbClr val="1A1A1A"/>
                </a:solidFill>
                <a:latin typeface="Consolas"/>
              </a:rPr>
              <a:t>V3 STRESS SUITE  ·  TYPOGRAPHIC BOLD  ·  DELIVERY WORKBENCH</a:t>
            </a:r>
          </a:p>
        </p:txBody>
      </p:sp>
      <p:sp>
        <p:nvSpPr>
          <p:cNvPr id="48" name="slide-index"/>
          <p:cNvSpPr txBox="1"/>
          <p:nvPr/>
        </p:nvSpPr>
        <p:spPr>
          <a:xfrm>
            <a:off x="10808208" y="201168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00" b="1" lang="en-US">
                <a:solidFill>
                  <a:srgbClr val="777777"/>
                </a:solidFill>
                <a:latin typeface="Consolas"/>
              </a:rPr>
              <a:t>30/60</a:t>
            </a:r>
          </a:p>
        </p:txBody>
      </p:sp>
      <p:sp>
        <p:nvSpPr>
          <p:cNvPr id="49" name="title"/>
          <p:cNvSpPr txBox="1"/>
          <p:nvPr/>
        </p:nvSpPr>
        <p:spPr>
          <a:xfrm>
            <a:off x="457200" y="484632"/>
            <a:ext cx="11274552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200" b="1" lang="en-US">
                <a:solidFill>
                  <a:srgbClr val="1A1A1A"/>
                </a:solidFill>
                <a:latin typeface="Arial Black"/>
              </a:rPr>
              <a:t>Delivery workbenches keep parallel work lanes legible under load</a:t>
            </a:r>
          </a:p>
        </p:txBody>
      </p:sp>
      <p:sp>
        <p:nvSpPr>
          <p:cNvPr id="50" name="footer"/>
          <p:cNvSpPr txBox="1"/>
          <p:nvPr/>
        </p:nvSpPr>
        <p:spPr>
          <a:xfrm>
            <a:off x="457200" y="6473952"/>
            <a:ext cx="1051560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0" lang="en-US">
                <a:solidFill>
                  <a:srgbClr val="777777"/>
                </a:solidFill>
                <a:latin typeface="Consolas"/>
              </a:rPr>
              <a:t>Native-object stress fixture · oversized near-black display type with one signal-red word · editable geometry and recorded style lock</a:t>
            </a:r>
          </a:p>
        </p:txBody>
      </p:sp>
      <p:sp>
        <p:nvSpPr>
          <p:cNvPr id="51" name="lane-name-0"/>
          <p:cNvSpPr txBox="1"/>
          <p:nvPr/>
        </p:nvSpPr>
        <p:spPr>
          <a:xfrm>
            <a:off x="566928" y="1444752"/>
            <a:ext cx="868680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lang="en-US">
                <a:solidFill>
                  <a:srgbClr val="FFFFFF"/>
                </a:solidFill>
                <a:latin typeface="Consolas"/>
              </a:rPr>
              <a:t>INTAKE</a:t>
            </a:r>
          </a:p>
        </p:txBody>
      </p:sp>
      <p:sp>
        <p:nvSpPr>
          <p:cNvPr id="52" name="task-title-0-0"/>
          <p:cNvSpPr txBox="1"/>
          <p:nvPr/>
        </p:nvSpPr>
        <p:spPr>
          <a:xfrm>
            <a:off x="1847088" y="1362456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1A1A1A"/>
                </a:solidFill>
                <a:latin typeface="Consolas"/>
              </a:rPr>
              <a:t>Scope</a:t>
            </a:r>
          </a:p>
        </p:txBody>
      </p:sp>
      <p:sp>
        <p:nvSpPr>
          <p:cNvPr id="53" name="task-state-0-0"/>
          <p:cNvSpPr txBox="1"/>
          <p:nvPr/>
        </p:nvSpPr>
        <p:spPr>
          <a:xfrm>
            <a:off x="1847088" y="1545336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1A1A1A"/>
                </a:solidFill>
                <a:latin typeface="Consolas"/>
              </a:rPr>
              <a:t>new</a:t>
            </a:r>
          </a:p>
        </p:txBody>
      </p:sp>
      <p:sp>
        <p:nvSpPr>
          <p:cNvPr id="54" name="task-title-0-1"/>
          <p:cNvSpPr txBox="1"/>
          <p:nvPr/>
        </p:nvSpPr>
        <p:spPr>
          <a:xfrm>
            <a:off x="3200400" y="1362456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1A1A1A"/>
                </a:solidFill>
                <a:latin typeface="Consolas"/>
              </a:rPr>
              <a:t>Profile</a:t>
            </a:r>
          </a:p>
        </p:txBody>
      </p:sp>
      <p:sp>
        <p:nvSpPr>
          <p:cNvPr id="55" name="task-state-0-1"/>
          <p:cNvSpPr txBox="1"/>
          <p:nvPr/>
        </p:nvSpPr>
        <p:spPr>
          <a:xfrm>
            <a:off x="3200400" y="1545336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1A1A1A"/>
                </a:solidFill>
                <a:latin typeface="Consolas"/>
              </a:rPr>
              <a:t>locked</a:t>
            </a:r>
          </a:p>
        </p:txBody>
      </p:sp>
      <p:sp>
        <p:nvSpPr>
          <p:cNvPr id="56" name="task-title-0-2"/>
          <p:cNvSpPr txBox="1"/>
          <p:nvPr/>
        </p:nvSpPr>
        <p:spPr>
          <a:xfrm>
            <a:off x="4553712" y="1362456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1A1A1A"/>
                </a:solidFill>
                <a:latin typeface="Consolas"/>
              </a:rPr>
              <a:t>Spec</a:t>
            </a:r>
          </a:p>
        </p:txBody>
      </p:sp>
      <p:sp>
        <p:nvSpPr>
          <p:cNvPr id="57" name="task-state-0-2"/>
          <p:cNvSpPr txBox="1"/>
          <p:nvPr/>
        </p:nvSpPr>
        <p:spPr>
          <a:xfrm>
            <a:off x="4553712" y="1545336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1A1A1A"/>
                </a:solidFill>
                <a:latin typeface="Consolas"/>
              </a:rPr>
              <a:t>ready</a:t>
            </a:r>
          </a:p>
        </p:txBody>
      </p:sp>
      <p:sp>
        <p:nvSpPr>
          <p:cNvPr id="58" name="task-title-0-3"/>
          <p:cNvSpPr txBox="1"/>
          <p:nvPr/>
        </p:nvSpPr>
        <p:spPr>
          <a:xfrm>
            <a:off x="5907024" y="1362456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1A1A1A"/>
                </a:solidFill>
                <a:latin typeface="Consolas"/>
              </a:rPr>
              <a:t>Audit</a:t>
            </a:r>
          </a:p>
        </p:txBody>
      </p:sp>
      <p:sp>
        <p:nvSpPr>
          <p:cNvPr id="59" name="task-state-0-3"/>
          <p:cNvSpPr txBox="1"/>
          <p:nvPr/>
        </p:nvSpPr>
        <p:spPr>
          <a:xfrm>
            <a:off x="5907024" y="1545336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1A1A1A"/>
                </a:solidFill>
                <a:latin typeface="Consolas"/>
              </a:rPr>
              <a:t>pass</a:t>
            </a:r>
          </a:p>
        </p:txBody>
      </p:sp>
      <p:sp>
        <p:nvSpPr>
          <p:cNvPr id="60" name="task-title-0-4"/>
          <p:cNvSpPr txBox="1"/>
          <p:nvPr/>
        </p:nvSpPr>
        <p:spPr>
          <a:xfrm>
            <a:off x="7260336" y="1362456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1A1A1A"/>
                </a:solidFill>
                <a:latin typeface="Consolas"/>
              </a:rPr>
              <a:t>Owner</a:t>
            </a:r>
          </a:p>
        </p:txBody>
      </p:sp>
      <p:sp>
        <p:nvSpPr>
          <p:cNvPr id="61" name="task-state-0-4"/>
          <p:cNvSpPr txBox="1"/>
          <p:nvPr/>
        </p:nvSpPr>
        <p:spPr>
          <a:xfrm>
            <a:off x="7260336" y="1545336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1A1A1A"/>
                </a:solidFill>
                <a:latin typeface="Consolas"/>
              </a:rPr>
              <a:t>assigned</a:t>
            </a:r>
          </a:p>
        </p:txBody>
      </p:sp>
      <p:sp>
        <p:nvSpPr>
          <p:cNvPr id="62" name="lane-name-1"/>
          <p:cNvSpPr txBox="1"/>
          <p:nvPr/>
        </p:nvSpPr>
        <p:spPr>
          <a:xfrm>
            <a:off x="566928" y="2615184"/>
            <a:ext cx="868680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lang="en-US">
                <a:solidFill>
                  <a:srgbClr val="FFFFFF"/>
                </a:solidFill>
                <a:latin typeface="Consolas"/>
              </a:rPr>
              <a:t>AUTHOR</a:t>
            </a:r>
          </a:p>
        </p:txBody>
      </p:sp>
      <p:sp>
        <p:nvSpPr>
          <p:cNvPr id="63" name="task-title-1-0"/>
          <p:cNvSpPr txBox="1"/>
          <p:nvPr/>
        </p:nvSpPr>
        <p:spPr>
          <a:xfrm>
            <a:off x="1847088" y="2532888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1A1A1A"/>
                </a:solidFill>
                <a:latin typeface="Consolas"/>
              </a:rPr>
              <a:t>Scope</a:t>
            </a:r>
          </a:p>
        </p:txBody>
      </p:sp>
      <p:sp>
        <p:nvSpPr>
          <p:cNvPr id="64" name="task-state-1-0"/>
          <p:cNvSpPr txBox="1"/>
          <p:nvPr/>
        </p:nvSpPr>
        <p:spPr>
          <a:xfrm>
            <a:off x="1847088" y="2715768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D92727"/>
                </a:solidFill>
                <a:latin typeface="Consolas"/>
              </a:rPr>
              <a:t>locked</a:t>
            </a:r>
          </a:p>
        </p:txBody>
      </p:sp>
      <p:sp>
        <p:nvSpPr>
          <p:cNvPr id="65" name="task-title-1-1"/>
          <p:cNvSpPr txBox="1"/>
          <p:nvPr/>
        </p:nvSpPr>
        <p:spPr>
          <a:xfrm>
            <a:off x="3200400" y="2532888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1A1A1A"/>
                </a:solidFill>
                <a:latin typeface="Consolas"/>
              </a:rPr>
              <a:t>Profile</a:t>
            </a:r>
          </a:p>
        </p:txBody>
      </p:sp>
      <p:sp>
        <p:nvSpPr>
          <p:cNvPr id="66" name="task-state-1-1"/>
          <p:cNvSpPr txBox="1"/>
          <p:nvPr/>
        </p:nvSpPr>
        <p:spPr>
          <a:xfrm>
            <a:off x="3200400" y="2715768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D92727"/>
                </a:solidFill>
                <a:latin typeface="Consolas"/>
              </a:rPr>
              <a:t>ready</a:t>
            </a:r>
          </a:p>
        </p:txBody>
      </p:sp>
      <p:sp>
        <p:nvSpPr>
          <p:cNvPr id="67" name="task-title-1-2"/>
          <p:cNvSpPr txBox="1"/>
          <p:nvPr/>
        </p:nvSpPr>
        <p:spPr>
          <a:xfrm>
            <a:off x="4553712" y="2532888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1A1A1A"/>
                </a:solidFill>
                <a:latin typeface="Consolas"/>
              </a:rPr>
              <a:t>Spec</a:t>
            </a:r>
          </a:p>
        </p:txBody>
      </p:sp>
      <p:sp>
        <p:nvSpPr>
          <p:cNvPr id="68" name="task-state-1-2"/>
          <p:cNvSpPr txBox="1"/>
          <p:nvPr/>
        </p:nvSpPr>
        <p:spPr>
          <a:xfrm>
            <a:off x="4553712" y="2715768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D92727"/>
                </a:solidFill>
                <a:latin typeface="Consolas"/>
              </a:rPr>
              <a:t>pass</a:t>
            </a:r>
          </a:p>
        </p:txBody>
      </p:sp>
      <p:sp>
        <p:nvSpPr>
          <p:cNvPr id="69" name="task-title-1-3"/>
          <p:cNvSpPr txBox="1"/>
          <p:nvPr/>
        </p:nvSpPr>
        <p:spPr>
          <a:xfrm>
            <a:off x="5907024" y="2532888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1A1A1A"/>
                </a:solidFill>
                <a:latin typeface="Consolas"/>
              </a:rPr>
              <a:t>Audit</a:t>
            </a:r>
          </a:p>
        </p:txBody>
      </p:sp>
      <p:sp>
        <p:nvSpPr>
          <p:cNvPr id="70" name="task-state-1-3"/>
          <p:cNvSpPr txBox="1"/>
          <p:nvPr/>
        </p:nvSpPr>
        <p:spPr>
          <a:xfrm>
            <a:off x="5907024" y="2715768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D92727"/>
                </a:solidFill>
                <a:latin typeface="Consolas"/>
              </a:rPr>
              <a:t>assigned</a:t>
            </a:r>
          </a:p>
        </p:txBody>
      </p:sp>
      <p:sp>
        <p:nvSpPr>
          <p:cNvPr id="71" name="task-title-1-4"/>
          <p:cNvSpPr txBox="1"/>
          <p:nvPr/>
        </p:nvSpPr>
        <p:spPr>
          <a:xfrm>
            <a:off x="7260336" y="2532888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1A1A1A"/>
                </a:solidFill>
                <a:latin typeface="Consolas"/>
              </a:rPr>
              <a:t>Owner</a:t>
            </a:r>
          </a:p>
        </p:txBody>
      </p:sp>
      <p:sp>
        <p:nvSpPr>
          <p:cNvPr id="72" name="task-state-1-4"/>
          <p:cNvSpPr txBox="1"/>
          <p:nvPr/>
        </p:nvSpPr>
        <p:spPr>
          <a:xfrm>
            <a:off x="7260336" y="2715768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D92727"/>
                </a:solidFill>
                <a:latin typeface="Consolas"/>
              </a:rPr>
              <a:t>new</a:t>
            </a:r>
          </a:p>
        </p:txBody>
      </p:sp>
      <p:sp>
        <p:nvSpPr>
          <p:cNvPr id="73" name="lane-name-2"/>
          <p:cNvSpPr txBox="1"/>
          <p:nvPr/>
        </p:nvSpPr>
        <p:spPr>
          <a:xfrm>
            <a:off x="566928" y="3785615"/>
            <a:ext cx="868680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lang="en-US">
                <a:solidFill>
                  <a:srgbClr val="FFFFFF"/>
                </a:solidFill>
                <a:latin typeface="Consolas"/>
              </a:rPr>
              <a:t>VERIFY</a:t>
            </a:r>
          </a:p>
        </p:txBody>
      </p:sp>
      <p:sp>
        <p:nvSpPr>
          <p:cNvPr id="74" name="task-title-2-0"/>
          <p:cNvSpPr txBox="1"/>
          <p:nvPr/>
        </p:nvSpPr>
        <p:spPr>
          <a:xfrm>
            <a:off x="1847088" y="3703320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1A1A1A"/>
                </a:solidFill>
                <a:latin typeface="Consolas"/>
              </a:rPr>
              <a:t>Scope</a:t>
            </a:r>
          </a:p>
        </p:txBody>
      </p:sp>
      <p:sp>
        <p:nvSpPr>
          <p:cNvPr id="75" name="task-state-2-0"/>
          <p:cNvSpPr txBox="1"/>
          <p:nvPr/>
        </p:nvSpPr>
        <p:spPr>
          <a:xfrm>
            <a:off x="1847088" y="3886200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D92727"/>
                </a:solidFill>
                <a:latin typeface="Consolas"/>
              </a:rPr>
              <a:t>ready</a:t>
            </a:r>
          </a:p>
        </p:txBody>
      </p:sp>
      <p:sp>
        <p:nvSpPr>
          <p:cNvPr id="76" name="task-title-2-1"/>
          <p:cNvSpPr txBox="1"/>
          <p:nvPr/>
        </p:nvSpPr>
        <p:spPr>
          <a:xfrm>
            <a:off x="3200400" y="3703320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1A1A1A"/>
                </a:solidFill>
                <a:latin typeface="Consolas"/>
              </a:rPr>
              <a:t>Profile</a:t>
            </a:r>
          </a:p>
        </p:txBody>
      </p:sp>
      <p:sp>
        <p:nvSpPr>
          <p:cNvPr id="77" name="task-state-2-1"/>
          <p:cNvSpPr txBox="1"/>
          <p:nvPr/>
        </p:nvSpPr>
        <p:spPr>
          <a:xfrm>
            <a:off x="3200400" y="3886200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D92727"/>
                </a:solidFill>
                <a:latin typeface="Consolas"/>
              </a:rPr>
              <a:t>pass</a:t>
            </a:r>
          </a:p>
        </p:txBody>
      </p:sp>
      <p:sp>
        <p:nvSpPr>
          <p:cNvPr id="78" name="task-title-2-2"/>
          <p:cNvSpPr txBox="1"/>
          <p:nvPr/>
        </p:nvSpPr>
        <p:spPr>
          <a:xfrm>
            <a:off x="4553712" y="3703320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1A1A1A"/>
                </a:solidFill>
                <a:latin typeface="Consolas"/>
              </a:rPr>
              <a:t>Spec</a:t>
            </a:r>
          </a:p>
        </p:txBody>
      </p:sp>
      <p:sp>
        <p:nvSpPr>
          <p:cNvPr id="79" name="task-state-2-2"/>
          <p:cNvSpPr txBox="1"/>
          <p:nvPr/>
        </p:nvSpPr>
        <p:spPr>
          <a:xfrm>
            <a:off x="4553712" y="3886200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D92727"/>
                </a:solidFill>
                <a:latin typeface="Consolas"/>
              </a:rPr>
              <a:t>assigned</a:t>
            </a:r>
          </a:p>
        </p:txBody>
      </p:sp>
      <p:sp>
        <p:nvSpPr>
          <p:cNvPr id="80" name="task-title-2-3"/>
          <p:cNvSpPr txBox="1"/>
          <p:nvPr/>
        </p:nvSpPr>
        <p:spPr>
          <a:xfrm>
            <a:off x="5907024" y="3703320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1A1A1A"/>
                </a:solidFill>
                <a:latin typeface="Consolas"/>
              </a:rPr>
              <a:t>Audit</a:t>
            </a:r>
          </a:p>
        </p:txBody>
      </p:sp>
      <p:sp>
        <p:nvSpPr>
          <p:cNvPr id="81" name="task-state-2-3"/>
          <p:cNvSpPr txBox="1"/>
          <p:nvPr/>
        </p:nvSpPr>
        <p:spPr>
          <a:xfrm>
            <a:off x="5907024" y="3886200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D92727"/>
                </a:solidFill>
                <a:latin typeface="Consolas"/>
              </a:rPr>
              <a:t>new</a:t>
            </a:r>
          </a:p>
        </p:txBody>
      </p:sp>
      <p:sp>
        <p:nvSpPr>
          <p:cNvPr id="82" name="task-title-2-4"/>
          <p:cNvSpPr txBox="1"/>
          <p:nvPr/>
        </p:nvSpPr>
        <p:spPr>
          <a:xfrm>
            <a:off x="7260336" y="3703320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1A1A1A"/>
                </a:solidFill>
                <a:latin typeface="Consolas"/>
              </a:rPr>
              <a:t>Owner</a:t>
            </a:r>
          </a:p>
        </p:txBody>
      </p:sp>
      <p:sp>
        <p:nvSpPr>
          <p:cNvPr id="83" name="task-state-2-4"/>
          <p:cNvSpPr txBox="1"/>
          <p:nvPr/>
        </p:nvSpPr>
        <p:spPr>
          <a:xfrm>
            <a:off x="7260336" y="3886200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D92727"/>
                </a:solidFill>
                <a:latin typeface="Consolas"/>
              </a:rPr>
              <a:t>locked</a:t>
            </a:r>
          </a:p>
        </p:txBody>
      </p:sp>
      <p:sp>
        <p:nvSpPr>
          <p:cNvPr id="84" name="lane-name-3"/>
          <p:cNvSpPr txBox="1"/>
          <p:nvPr/>
        </p:nvSpPr>
        <p:spPr>
          <a:xfrm>
            <a:off x="566928" y="4956048"/>
            <a:ext cx="868680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lang="en-US">
                <a:solidFill>
                  <a:srgbClr val="FFFFFF"/>
                </a:solidFill>
                <a:latin typeface="Consolas"/>
              </a:rPr>
              <a:t>SHIP</a:t>
            </a:r>
          </a:p>
        </p:txBody>
      </p:sp>
      <p:sp>
        <p:nvSpPr>
          <p:cNvPr id="85" name="task-title-3-0"/>
          <p:cNvSpPr txBox="1"/>
          <p:nvPr/>
        </p:nvSpPr>
        <p:spPr>
          <a:xfrm>
            <a:off x="1847088" y="4873752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1A1A1A"/>
                </a:solidFill>
                <a:latin typeface="Consolas"/>
              </a:rPr>
              <a:t>Scope</a:t>
            </a:r>
          </a:p>
        </p:txBody>
      </p:sp>
      <p:sp>
        <p:nvSpPr>
          <p:cNvPr id="86" name="task-state-3-0"/>
          <p:cNvSpPr txBox="1"/>
          <p:nvPr/>
        </p:nvSpPr>
        <p:spPr>
          <a:xfrm>
            <a:off x="1847088" y="5056632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1A1A1A"/>
                </a:solidFill>
                <a:latin typeface="Consolas"/>
              </a:rPr>
              <a:t>pass</a:t>
            </a:r>
          </a:p>
        </p:txBody>
      </p:sp>
      <p:sp>
        <p:nvSpPr>
          <p:cNvPr id="87" name="task-title-3-1"/>
          <p:cNvSpPr txBox="1"/>
          <p:nvPr/>
        </p:nvSpPr>
        <p:spPr>
          <a:xfrm>
            <a:off x="3200400" y="4873752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1A1A1A"/>
                </a:solidFill>
                <a:latin typeface="Consolas"/>
              </a:rPr>
              <a:t>Profile</a:t>
            </a:r>
          </a:p>
        </p:txBody>
      </p:sp>
      <p:sp>
        <p:nvSpPr>
          <p:cNvPr id="88" name="task-state-3-1"/>
          <p:cNvSpPr txBox="1"/>
          <p:nvPr/>
        </p:nvSpPr>
        <p:spPr>
          <a:xfrm>
            <a:off x="3200400" y="5056632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1A1A1A"/>
                </a:solidFill>
                <a:latin typeface="Consolas"/>
              </a:rPr>
              <a:t>assigned</a:t>
            </a:r>
          </a:p>
        </p:txBody>
      </p:sp>
      <p:sp>
        <p:nvSpPr>
          <p:cNvPr id="89" name="task-title-3-2"/>
          <p:cNvSpPr txBox="1"/>
          <p:nvPr/>
        </p:nvSpPr>
        <p:spPr>
          <a:xfrm>
            <a:off x="4553712" y="4873752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1A1A1A"/>
                </a:solidFill>
                <a:latin typeface="Consolas"/>
              </a:rPr>
              <a:t>Spec</a:t>
            </a:r>
          </a:p>
        </p:txBody>
      </p:sp>
      <p:sp>
        <p:nvSpPr>
          <p:cNvPr id="90" name="task-state-3-2"/>
          <p:cNvSpPr txBox="1"/>
          <p:nvPr/>
        </p:nvSpPr>
        <p:spPr>
          <a:xfrm>
            <a:off x="4553712" y="5056632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1A1A1A"/>
                </a:solidFill>
                <a:latin typeface="Consolas"/>
              </a:rPr>
              <a:t>new</a:t>
            </a:r>
          </a:p>
        </p:txBody>
      </p:sp>
      <p:sp>
        <p:nvSpPr>
          <p:cNvPr id="91" name="task-title-3-3"/>
          <p:cNvSpPr txBox="1"/>
          <p:nvPr/>
        </p:nvSpPr>
        <p:spPr>
          <a:xfrm>
            <a:off x="5907024" y="4873752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1A1A1A"/>
                </a:solidFill>
                <a:latin typeface="Consolas"/>
              </a:rPr>
              <a:t>Audit</a:t>
            </a:r>
          </a:p>
        </p:txBody>
      </p:sp>
      <p:sp>
        <p:nvSpPr>
          <p:cNvPr id="92" name="task-state-3-3"/>
          <p:cNvSpPr txBox="1"/>
          <p:nvPr/>
        </p:nvSpPr>
        <p:spPr>
          <a:xfrm>
            <a:off x="5907024" y="5056632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1A1A1A"/>
                </a:solidFill>
                <a:latin typeface="Consolas"/>
              </a:rPr>
              <a:t>locked</a:t>
            </a:r>
          </a:p>
        </p:txBody>
      </p:sp>
      <p:sp>
        <p:nvSpPr>
          <p:cNvPr id="93" name="task-title-3-4"/>
          <p:cNvSpPr txBox="1"/>
          <p:nvPr/>
        </p:nvSpPr>
        <p:spPr>
          <a:xfrm>
            <a:off x="7260336" y="4873752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1A1A1A"/>
                </a:solidFill>
                <a:latin typeface="Consolas"/>
              </a:rPr>
              <a:t>Owner</a:t>
            </a:r>
          </a:p>
        </p:txBody>
      </p:sp>
      <p:sp>
        <p:nvSpPr>
          <p:cNvPr id="94" name="task-state-3-4"/>
          <p:cNvSpPr txBox="1"/>
          <p:nvPr/>
        </p:nvSpPr>
        <p:spPr>
          <a:xfrm>
            <a:off x="7260336" y="5056632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1A1A1A"/>
                </a:solidFill>
                <a:latin typeface="Consolas"/>
              </a:rPr>
              <a:t>ready</a:t>
            </a:r>
          </a:p>
        </p:txBody>
      </p:sp>
      <p:sp>
        <p:nvSpPr>
          <p:cNvPr id="95" name="workbench-rail-title"/>
          <p:cNvSpPr txBox="1"/>
          <p:nvPr/>
        </p:nvSpPr>
        <p:spPr>
          <a:xfrm>
            <a:off x="9436608" y="1325880"/>
            <a:ext cx="196596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1" lang="en-US">
                <a:solidFill>
                  <a:srgbClr val="1A1A1A"/>
                </a:solidFill>
                <a:latin typeface="Consolas"/>
              </a:rPr>
              <a:t>BUILD SIGNALS</a:t>
            </a:r>
          </a:p>
        </p:txBody>
      </p:sp>
      <p:sp>
        <p:nvSpPr>
          <p:cNvPr id="96" name="chart-label"/>
          <p:cNvSpPr txBox="1"/>
          <p:nvPr/>
        </p:nvSpPr>
        <p:spPr>
          <a:xfrm>
            <a:off x="9436608" y="4956048"/>
            <a:ext cx="192024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0" lang="en-US">
                <a:solidFill>
                  <a:srgbClr val="777777"/>
                </a:solidFill>
                <a:latin typeface="Consolas"/>
              </a:rPr>
              <a:t>completion by work lane</a:t>
            </a:r>
          </a:p>
        </p:txBody>
      </p:sp>
      <p:sp>
        <p:nvSpPr>
          <p:cNvPr id="97" name="check-label-0"/>
          <p:cNvSpPr txBox="1"/>
          <p:nvPr/>
        </p:nvSpPr>
        <p:spPr>
          <a:xfrm>
            <a:off x="9619488" y="5303520"/>
            <a:ext cx="141732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1" lang="en-US">
                <a:solidFill>
                  <a:srgbClr val="1A1A1A"/>
                </a:solidFill>
                <a:latin typeface="Consolas"/>
              </a:rPr>
              <a:t>bounds</a:t>
            </a:r>
          </a:p>
        </p:txBody>
      </p:sp>
      <p:sp>
        <p:nvSpPr>
          <p:cNvPr id="98" name="check-label-1"/>
          <p:cNvSpPr txBox="1"/>
          <p:nvPr/>
        </p:nvSpPr>
        <p:spPr>
          <a:xfrm>
            <a:off x="9619488" y="5468112"/>
            <a:ext cx="141732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1" lang="en-US">
                <a:solidFill>
                  <a:srgbClr val="1A1A1A"/>
                </a:solidFill>
                <a:latin typeface="Consolas"/>
              </a:rPr>
              <a:t>content</a:t>
            </a:r>
          </a:p>
        </p:txBody>
      </p:sp>
      <p:sp>
        <p:nvSpPr>
          <p:cNvPr id="99" name="check-label-2"/>
          <p:cNvSpPr txBox="1"/>
          <p:nvPr/>
        </p:nvSpPr>
        <p:spPr>
          <a:xfrm>
            <a:off x="9619488" y="5632704"/>
            <a:ext cx="141732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1" lang="en-US">
                <a:solidFill>
                  <a:srgbClr val="1A1A1A"/>
                </a:solidFill>
                <a:latin typeface="Consolas"/>
              </a:rPr>
              <a:t>tables</a:t>
            </a:r>
          </a:p>
        </p:txBody>
      </p:sp>
      <p:sp>
        <p:nvSpPr>
          <p:cNvPr id="100" name="check-label-3"/>
          <p:cNvSpPr txBox="1"/>
          <p:nvPr/>
        </p:nvSpPr>
        <p:spPr>
          <a:xfrm>
            <a:off x="9619488" y="5797296"/>
            <a:ext cx="141732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1" lang="en-US">
                <a:solidFill>
                  <a:srgbClr val="1A1A1A"/>
                </a:solidFill>
                <a:latin typeface="Consolas"/>
              </a:rPr>
              <a:t>order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 w="1016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uotone-right"/>
          <p:cNvSpPr/>
          <p:nvPr/>
        </p:nvSpPr>
        <p:spPr>
          <a:xfrm>
            <a:off x="6096304" y="0"/>
            <a:ext cx="6096304" cy="6858000"/>
          </a:xfrm>
          <a:prstGeom prst="rect">
            <a:avLst/>
          </a:prstGeom>
          <a:solidFill>
            <a:srgbClr val="FF4500"/>
          </a:solidFill>
          <a:ln w="10160">
            <a:solidFill>
              <a:srgbClr val="FF4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uotone-divider"/>
          <p:cNvSpPr/>
          <p:nvPr/>
        </p:nvSpPr>
        <p:spPr>
          <a:xfrm>
            <a:off x="6072530" y="0"/>
            <a:ext cx="45720" cy="685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op-band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F4500"/>
          </a:solidFill>
          <a:ln w="10160">
            <a:solidFill>
              <a:srgbClr val="FF4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nav-shell"/>
          <p:cNvSpPr/>
          <p:nvPr/>
        </p:nvSpPr>
        <p:spPr>
          <a:xfrm>
            <a:off x="457200" y="1078992"/>
            <a:ext cx="1572768" cy="5102352"/>
          </a:xfrm>
          <a:prstGeom prst="rect">
            <a:avLst/>
          </a:prstGeom>
          <a:solidFill>
            <a:srgbClr val="FF4500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metric-0-shell"/>
          <p:cNvSpPr/>
          <p:nvPr/>
        </p:nvSpPr>
        <p:spPr>
          <a:xfrm>
            <a:off x="2249424" y="1078992"/>
            <a:ext cx="1161288" cy="768096"/>
          </a:xfrm>
          <a:prstGeom prst="rect">
            <a:avLst/>
          </a:prstGeom>
          <a:solidFill>
            <a:srgbClr val="1A1A2E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metric-1-shell"/>
          <p:cNvSpPr/>
          <p:nvPr/>
        </p:nvSpPr>
        <p:spPr>
          <a:xfrm>
            <a:off x="3557016" y="1078992"/>
            <a:ext cx="1161288" cy="768096"/>
          </a:xfrm>
          <a:prstGeom prst="rect">
            <a:avLst/>
          </a:prstGeom>
          <a:solidFill>
            <a:srgbClr val="1A1A2E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metric-2-shell"/>
          <p:cNvSpPr/>
          <p:nvPr/>
        </p:nvSpPr>
        <p:spPr>
          <a:xfrm>
            <a:off x="4864608" y="1078992"/>
            <a:ext cx="1161288" cy="768096"/>
          </a:xfrm>
          <a:prstGeom prst="rect">
            <a:avLst/>
          </a:prstGeom>
          <a:solidFill>
            <a:srgbClr val="1A1A2E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metric-3-shell"/>
          <p:cNvSpPr/>
          <p:nvPr/>
        </p:nvSpPr>
        <p:spPr>
          <a:xfrm>
            <a:off x="6172200" y="1078992"/>
            <a:ext cx="1161288" cy="768096"/>
          </a:xfrm>
          <a:prstGeom prst="rect">
            <a:avLst/>
          </a:prstGeom>
          <a:solidFill>
            <a:srgbClr val="1A1A2E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metric-4-shell"/>
          <p:cNvSpPr/>
          <p:nvPr/>
        </p:nvSpPr>
        <p:spPr>
          <a:xfrm>
            <a:off x="7479792" y="1078992"/>
            <a:ext cx="1161288" cy="768096"/>
          </a:xfrm>
          <a:prstGeom prst="rect">
            <a:avLst/>
          </a:prstGeom>
          <a:solidFill>
            <a:srgbClr val="1A1A2E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isk-rail-shell"/>
          <p:cNvSpPr/>
          <p:nvPr/>
        </p:nvSpPr>
        <p:spPr>
          <a:xfrm>
            <a:off x="9052560" y="1078992"/>
            <a:ext cx="2679192" cy="4389120"/>
          </a:xfrm>
          <a:prstGeom prst="rect">
            <a:avLst/>
          </a:prstGeom>
          <a:solidFill>
            <a:srgbClr val="FF4500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nav-accent"/>
          <p:cNvSpPr/>
          <p:nvPr/>
        </p:nvSpPr>
        <p:spPr>
          <a:xfrm>
            <a:off x="457200" y="1078992"/>
            <a:ext cx="73152" cy="5102352"/>
          </a:xfrm>
          <a:prstGeom prst="rect">
            <a:avLst/>
          </a:prstGeom>
          <a:solidFill>
            <a:srgbClr val="FF4500"/>
          </a:solidFill>
          <a:ln w="10160">
            <a:solidFill>
              <a:srgbClr val="FF4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nav-0"/>
          <p:cNvSpPr/>
          <p:nvPr/>
        </p:nvSpPr>
        <p:spPr>
          <a:xfrm>
            <a:off x="658368" y="1874519"/>
            <a:ext cx="1143000" cy="329184"/>
          </a:xfrm>
          <a:prstGeom prst="roundRect">
            <a:avLst/>
          </a:prstGeom>
          <a:solidFill>
            <a:srgbClr val="FF4500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nav-1"/>
          <p:cNvSpPr/>
          <p:nvPr/>
        </p:nvSpPr>
        <p:spPr>
          <a:xfrm>
            <a:off x="658368" y="2386584"/>
            <a:ext cx="1143000" cy="329184"/>
          </a:xfrm>
          <a:prstGeom prst="roundRect">
            <a:avLst/>
          </a:prstGeom>
          <a:solidFill>
            <a:srgbClr val="1A1A2E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nav-2"/>
          <p:cNvSpPr/>
          <p:nvPr/>
        </p:nvSpPr>
        <p:spPr>
          <a:xfrm>
            <a:off x="658368" y="2898648"/>
            <a:ext cx="1143000" cy="329184"/>
          </a:xfrm>
          <a:prstGeom prst="roundRect">
            <a:avLst/>
          </a:prstGeom>
          <a:solidFill>
            <a:srgbClr val="1A1A2E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nav-3"/>
          <p:cNvSpPr/>
          <p:nvPr/>
        </p:nvSpPr>
        <p:spPr>
          <a:xfrm>
            <a:off x="658368" y="3410712"/>
            <a:ext cx="1143000" cy="329184"/>
          </a:xfrm>
          <a:prstGeom prst="roundRect">
            <a:avLst/>
          </a:prstGeom>
          <a:solidFill>
            <a:srgbClr val="1A1A2E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nav-4"/>
          <p:cNvSpPr/>
          <p:nvPr/>
        </p:nvSpPr>
        <p:spPr>
          <a:xfrm>
            <a:off x="658368" y="3922776"/>
            <a:ext cx="1143000" cy="329184"/>
          </a:xfrm>
          <a:prstGeom prst="roundRect">
            <a:avLst/>
          </a:prstGeom>
          <a:solidFill>
            <a:srgbClr val="1A1A2E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nav-5"/>
          <p:cNvSpPr/>
          <p:nvPr/>
        </p:nvSpPr>
        <p:spPr>
          <a:xfrm>
            <a:off x="658368" y="4434840"/>
            <a:ext cx="1143000" cy="329184"/>
          </a:xfrm>
          <a:prstGeom prst="roundRect">
            <a:avLst/>
          </a:prstGeom>
          <a:solidFill>
            <a:srgbClr val="1A1A2E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nav-6"/>
          <p:cNvSpPr/>
          <p:nvPr/>
        </p:nvSpPr>
        <p:spPr>
          <a:xfrm>
            <a:off x="658368" y="4946904"/>
            <a:ext cx="1143000" cy="329184"/>
          </a:xfrm>
          <a:prstGeom prst="roundRect">
            <a:avLst/>
          </a:prstGeom>
          <a:solidFill>
            <a:srgbClr val="1A1A2E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metric-0-accent"/>
          <p:cNvSpPr/>
          <p:nvPr/>
        </p:nvSpPr>
        <p:spPr>
          <a:xfrm>
            <a:off x="2249424" y="1078992"/>
            <a:ext cx="73152" cy="768096"/>
          </a:xfrm>
          <a:prstGeom prst="rect">
            <a:avLst/>
          </a:prstGeom>
          <a:solidFill>
            <a:srgbClr val="FF4500"/>
          </a:solidFill>
          <a:ln w="10160">
            <a:solidFill>
              <a:srgbClr val="FF4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metric-1-accent"/>
          <p:cNvSpPr/>
          <p:nvPr/>
        </p:nvSpPr>
        <p:spPr>
          <a:xfrm>
            <a:off x="3557016" y="1078992"/>
            <a:ext cx="73152" cy="768096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metric-2-accent"/>
          <p:cNvSpPr/>
          <p:nvPr/>
        </p:nvSpPr>
        <p:spPr>
          <a:xfrm>
            <a:off x="4864608" y="1078992"/>
            <a:ext cx="73152" cy="768096"/>
          </a:xfrm>
          <a:prstGeom prst="rect">
            <a:avLst/>
          </a:prstGeom>
          <a:solidFill>
            <a:srgbClr val="FF4500"/>
          </a:solidFill>
          <a:ln w="10160">
            <a:solidFill>
              <a:srgbClr val="FF4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metric-3-accent"/>
          <p:cNvSpPr/>
          <p:nvPr/>
        </p:nvSpPr>
        <p:spPr>
          <a:xfrm>
            <a:off x="6172200" y="1078992"/>
            <a:ext cx="73152" cy="768096"/>
          </a:xfrm>
          <a:prstGeom prst="rect">
            <a:avLst/>
          </a:prstGeom>
          <a:solidFill>
            <a:srgbClr val="FF4500"/>
          </a:solidFill>
          <a:ln w="10160">
            <a:solidFill>
              <a:srgbClr val="FF4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metric-4-accent"/>
          <p:cNvSpPr/>
          <p:nvPr/>
        </p:nvSpPr>
        <p:spPr>
          <a:xfrm>
            <a:off x="7479792" y="1078992"/>
            <a:ext cx="73152" cy="768096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isk-rail-accent"/>
          <p:cNvSpPr/>
          <p:nvPr/>
        </p:nvSpPr>
        <p:spPr>
          <a:xfrm>
            <a:off x="9052560" y="1078992"/>
            <a:ext cx="73152" cy="4389120"/>
          </a:xfrm>
          <a:prstGeom prst="rect">
            <a:avLst/>
          </a:prstGeom>
          <a:solidFill>
            <a:srgbClr val="FF4500"/>
          </a:solidFill>
          <a:ln w="10160">
            <a:solidFill>
              <a:srgbClr val="FF4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progress-track"/>
          <p:cNvSpPr/>
          <p:nvPr/>
        </p:nvSpPr>
        <p:spPr>
          <a:xfrm>
            <a:off x="2249424" y="5687568"/>
            <a:ext cx="9482328" cy="384048"/>
          </a:xfrm>
          <a:prstGeom prst="roundRect">
            <a:avLst/>
          </a:prstGeom>
          <a:solidFill>
            <a:srgbClr val="FF4500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28" name="signal-table"/>
          <p:cNvGraphicFramePr>
            <a:graphicFrameLocks noGrp="1"/>
          </p:cNvGraphicFramePr>
          <p:nvPr/>
        </p:nvGraphicFramePr>
        <p:xfrm>
          <a:off x="2249424" y="2066543"/>
          <a:ext cx="6537960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7592"/>
                <a:gridCol w="1307592"/>
                <a:gridCol w="1307592"/>
                <a:gridCol w="1307592"/>
                <a:gridCol w="1307592"/>
              </a:tblGrid>
              <a:tr h="425196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1A1A2E"/>
                          </a:solidFill>
                          <a:latin typeface="Consolas"/>
                        </a:rPr>
                        <a:t>Signal</a:t>
                      </a:r>
                    </a:p>
                  </a:txBody>
                  <a:tcPr marL="54864" marR="54864" marT="18288" marB="18288">
                    <a:solidFill>
                      <a:srgbClr val="FF45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1A1A2E"/>
                          </a:solidFill>
                          <a:latin typeface="Consolas"/>
                        </a:rPr>
                        <a:t>Owner</a:t>
                      </a:r>
                    </a:p>
                  </a:txBody>
                  <a:tcPr marL="54864" marR="54864" marT="18288" marB="18288">
                    <a:solidFill>
                      <a:srgbClr val="FF45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1A1A2E"/>
                          </a:solidFill>
                          <a:latin typeface="Consolas"/>
                        </a:rPr>
                        <a:t>State</a:t>
                      </a:r>
                    </a:p>
                  </a:txBody>
                  <a:tcPr marL="54864" marR="54864" marT="18288" marB="18288">
                    <a:solidFill>
                      <a:srgbClr val="FF45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1A1A2E"/>
                          </a:solidFill>
                          <a:latin typeface="Consolas"/>
                        </a:rPr>
                        <a:t>Gate</a:t>
                      </a:r>
                    </a:p>
                  </a:txBody>
                  <a:tcPr marL="54864" marR="54864" marT="18288" marB="18288">
                    <a:solidFill>
                      <a:srgbClr val="FF45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1A1A2E"/>
                          </a:solidFill>
                          <a:latin typeface="Consolas"/>
                        </a:rPr>
                        <a:t>Next</a:t>
                      </a:r>
                    </a:p>
                  </a:txBody>
                  <a:tcPr marL="54864" marR="54864" marT="18288" marB="18288">
                    <a:solidFill>
                      <a:srgbClr val="FF4500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FFFFFF"/>
                          </a:solidFill>
                          <a:latin typeface="Consolas"/>
                        </a:rPr>
                        <a:t>S-01</a:t>
                      </a:r>
                    </a:p>
                  </a:txBody>
                  <a:tcPr marL="54864" marR="54864" marT="18288" marB="18288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Consolas"/>
                        </a:rPr>
                        <a:t>Reviewer</a:t>
                      </a:r>
                    </a:p>
                  </a:txBody>
                  <a:tcPr marL="54864" marR="54864" marT="18288" marB="18288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Consolas"/>
                        </a:rPr>
                        <a:t>Watch</a:t>
                      </a:r>
                    </a:p>
                  </a:txBody>
                  <a:tcPr marL="54864" marR="54864" marT="18288" marB="18288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Consolas"/>
                        </a:rPr>
                        <a:t>Review</a:t>
                      </a:r>
                    </a:p>
                  </a:txBody>
                  <a:tcPr marL="54864" marR="54864" marT="18288" marB="18288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Consolas"/>
                        </a:rPr>
                        <a:t>Check</a:t>
                      </a:r>
                    </a:p>
                  </a:txBody>
                  <a:tcPr marL="54864" marR="54864" marT="18288" marB="18288">
                    <a:solidFill>
                      <a:srgbClr val="1A1A2E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FFFFFF"/>
                          </a:solidFill>
                          <a:latin typeface="Consolas"/>
                        </a:rPr>
                        <a:t>S-02</a:t>
                      </a:r>
                    </a:p>
                  </a:txBody>
                  <a:tcPr marL="54864" marR="54864" marT="18288" marB="18288">
                    <a:solidFill>
                      <a:srgbClr val="FF45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Consolas"/>
                        </a:rPr>
                        <a:t>Auditor</a:t>
                      </a:r>
                    </a:p>
                  </a:txBody>
                  <a:tcPr marL="54864" marR="54864" marT="18288" marB="18288">
                    <a:solidFill>
                      <a:srgbClr val="FF45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Consolas"/>
                        </a:rPr>
                        <a:t>Hold</a:t>
                      </a:r>
                    </a:p>
                  </a:txBody>
                  <a:tcPr marL="54864" marR="54864" marT="18288" marB="18288">
                    <a:solidFill>
                      <a:srgbClr val="FF45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Consolas"/>
                        </a:rPr>
                        <a:t>Repair</a:t>
                      </a:r>
                    </a:p>
                  </a:txBody>
                  <a:tcPr marL="54864" marR="54864" marT="18288" marB="18288">
                    <a:solidFill>
                      <a:srgbClr val="FF45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Consolas"/>
                        </a:rPr>
                        <a:t>Fix</a:t>
                      </a:r>
                    </a:p>
                  </a:txBody>
                  <a:tcPr marL="54864" marR="54864" marT="18288" marB="18288">
                    <a:solidFill>
                      <a:srgbClr val="FF4500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FFFFFF"/>
                          </a:solidFill>
                          <a:latin typeface="Consolas"/>
                        </a:rPr>
                        <a:t>S-03</a:t>
                      </a:r>
                    </a:p>
                  </a:txBody>
                  <a:tcPr marL="54864" marR="54864" marT="18288" marB="18288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Consolas"/>
                        </a:rPr>
                        <a:t>Author</a:t>
                      </a:r>
                    </a:p>
                  </a:txBody>
                  <a:tcPr marL="54864" marR="54864" marT="18288" marB="18288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Consolas"/>
                        </a:rPr>
                        <a:t>Ready</a:t>
                      </a:r>
                    </a:p>
                  </a:txBody>
                  <a:tcPr marL="54864" marR="54864" marT="18288" marB="18288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Consolas"/>
                        </a:rPr>
                        <a:t>Pass</a:t>
                      </a:r>
                    </a:p>
                  </a:txBody>
                  <a:tcPr marL="54864" marR="54864" marT="18288" marB="18288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Consolas"/>
                        </a:rPr>
                        <a:t>Ship</a:t>
                      </a:r>
                    </a:p>
                  </a:txBody>
                  <a:tcPr marL="54864" marR="54864" marT="18288" marB="18288">
                    <a:solidFill>
                      <a:srgbClr val="1A1A2E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FFFFFF"/>
                          </a:solidFill>
                          <a:latin typeface="Consolas"/>
                        </a:rPr>
                        <a:t>S-04</a:t>
                      </a:r>
                    </a:p>
                  </a:txBody>
                  <a:tcPr marL="54864" marR="54864" marT="18288" marB="18288">
                    <a:solidFill>
                      <a:srgbClr val="FF45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Consolas"/>
                        </a:rPr>
                        <a:t>Reviewer</a:t>
                      </a:r>
                    </a:p>
                  </a:txBody>
                  <a:tcPr marL="54864" marR="54864" marT="18288" marB="18288">
                    <a:solidFill>
                      <a:srgbClr val="FF45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Consolas"/>
                        </a:rPr>
                        <a:t>Watch</a:t>
                      </a:r>
                    </a:p>
                  </a:txBody>
                  <a:tcPr marL="54864" marR="54864" marT="18288" marB="18288">
                    <a:solidFill>
                      <a:srgbClr val="FF45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Consolas"/>
                        </a:rPr>
                        <a:t>Review</a:t>
                      </a:r>
                    </a:p>
                  </a:txBody>
                  <a:tcPr marL="54864" marR="54864" marT="18288" marB="18288">
                    <a:solidFill>
                      <a:srgbClr val="FF45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Consolas"/>
                        </a:rPr>
                        <a:t>Check</a:t>
                      </a:r>
                    </a:p>
                  </a:txBody>
                  <a:tcPr marL="54864" marR="54864" marT="18288" marB="18288">
                    <a:solidFill>
                      <a:srgbClr val="FF4500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FFFFFF"/>
                          </a:solidFill>
                          <a:latin typeface="Consolas"/>
                        </a:rPr>
                        <a:t>S-05</a:t>
                      </a:r>
                    </a:p>
                  </a:txBody>
                  <a:tcPr marL="54864" marR="54864" marT="18288" marB="18288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Consolas"/>
                        </a:rPr>
                        <a:t>Auditor</a:t>
                      </a:r>
                    </a:p>
                  </a:txBody>
                  <a:tcPr marL="54864" marR="54864" marT="18288" marB="18288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Consolas"/>
                        </a:rPr>
                        <a:t>Hold</a:t>
                      </a:r>
                    </a:p>
                  </a:txBody>
                  <a:tcPr marL="54864" marR="54864" marT="18288" marB="18288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Consolas"/>
                        </a:rPr>
                        <a:t>Repair</a:t>
                      </a:r>
                    </a:p>
                  </a:txBody>
                  <a:tcPr marL="54864" marR="54864" marT="18288" marB="18288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Consolas"/>
                        </a:rPr>
                        <a:t>Fix</a:t>
                      </a:r>
                    </a:p>
                  </a:txBody>
                  <a:tcPr marL="54864" marR="54864" marT="18288" marB="18288">
                    <a:solidFill>
                      <a:srgbClr val="1A1A2E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FFFFFF"/>
                          </a:solidFill>
                          <a:latin typeface="Consolas"/>
                        </a:rPr>
                        <a:t>S-06</a:t>
                      </a:r>
                    </a:p>
                  </a:txBody>
                  <a:tcPr marL="54864" marR="54864" marT="18288" marB="18288">
                    <a:solidFill>
                      <a:srgbClr val="FF45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Consolas"/>
                        </a:rPr>
                        <a:t>Author</a:t>
                      </a:r>
                    </a:p>
                  </a:txBody>
                  <a:tcPr marL="54864" marR="54864" marT="18288" marB="18288">
                    <a:solidFill>
                      <a:srgbClr val="FF45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Consolas"/>
                        </a:rPr>
                        <a:t>Ready</a:t>
                      </a:r>
                    </a:p>
                  </a:txBody>
                  <a:tcPr marL="54864" marR="54864" marT="18288" marB="18288">
                    <a:solidFill>
                      <a:srgbClr val="FF45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Consolas"/>
                        </a:rPr>
                        <a:t>Pass</a:t>
                      </a:r>
                    </a:p>
                  </a:txBody>
                  <a:tcPr marL="54864" marR="54864" marT="18288" marB="18288">
                    <a:solidFill>
                      <a:srgbClr val="FF45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Consolas"/>
                        </a:rPr>
                        <a:t>Ship</a:t>
                      </a:r>
                    </a:p>
                  </a:txBody>
                  <a:tcPr marL="54864" marR="54864" marT="18288" marB="18288">
                    <a:solidFill>
                      <a:srgbClr val="FF4500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FFFFFF"/>
                          </a:solidFill>
                          <a:latin typeface="Consolas"/>
                        </a:rPr>
                        <a:t>S-07</a:t>
                      </a:r>
                    </a:p>
                  </a:txBody>
                  <a:tcPr marL="54864" marR="54864" marT="18288" marB="18288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Consolas"/>
                        </a:rPr>
                        <a:t>Reviewer</a:t>
                      </a:r>
                    </a:p>
                  </a:txBody>
                  <a:tcPr marL="54864" marR="54864" marT="18288" marB="18288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Consolas"/>
                        </a:rPr>
                        <a:t>Watch</a:t>
                      </a:r>
                    </a:p>
                  </a:txBody>
                  <a:tcPr marL="54864" marR="54864" marT="18288" marB="18288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Consolas"/>
                        </a:rPr>
                        <a:t>Review</a:t>
                      </a:r>
                    </a:p>
                  </a:txBody>
                  <a:tcPr marL="54864" marR="54864" marT="18288" marB="18288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Consolas"/>
                        </a:rPr>
                        <a:t>Check</a:t>
                      </a:r>
                    </a:p>
                  </a:txBody>
                  <a:tcPr marL="54864" marR="54864" marT="18288" marB="18288">
                    <a:solidFill>
                      <a:srgbClr val="1A1A2E"/>
                    </a:solidFill>
                  </a:tcPr>
                </a:tc>
              </a:tr>
            </a:tbl>
          </a:graphicData>
        </a:graphic>
      </p:graphicFrame>
      <p:sp>
        <p:nvSpPr>
          <p:cNvPr id="29" name="risk-dot-0"/>
          <p:cNvSpPr/>
          <p:nvPr/>
        </p:nvSpPr>
        <p:spPr>
          <a:xfrm>
            <a:off x="9308592" y="1746504"/>
            <a:ext cx="164592" cy="16459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isk-dot-1"/>
          <p:cNvSpPr/>
          <p:nvPr/>
        </p:nvSpPr>
        <p:spPr>
          <a:xfrm>
            <a:off x="9308592" y="2276856"/>
            <a:ext cx="164592" cy="16459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isk-dot-2"/>
          <p:cNvSpPr/>
          <p:nvPr/>
        </p:nvSpPr>
        <p:spPr>
          <a:xfrm>
            <a:off x="9308592" y="2807208"/>
            <a:ext cx="164592" cy="164592"/>
          </a:xfrm>
          <a:prstGeom prst="ellipse">
            <a:avLst/>
          </a:prstGeom>
          <a:solidFill>
            <a:srgbClr val="FF4500"/>
          </a:solidFill>
          <a:ln w="10160">
            <a:solidFill>
              <a:srgbClr val="FF4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isk-dot-3"/>
          <p:cNvSpPr/>
          <p:nvPr/>
        </p:nvSpPr>
        <p:spPr>
          <a:xfrm>
            <a:off x="9308592" y="3337560"/>
            <a:ext cx="164592" cy="16459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isk-dot-4"/>
          <p:cNvSpPr/>
          <p:nvPr/>
        </p:nvSpPr>
        <p:spPr>
          <a:xfrm>
            <a:off x="9308592" y="3867912"/>
            <a:ext cx="164592" cy="164592"/>
          </a:xfrm>
          <a:prstGeom prst="ellipse">
            <a:avLst/>
          </a:prstGeom>
          <a:solidFill>
            <a:srgbClr val="FF4500"/>
          </a:solidFill>
          <a:ln w="10160">
            <a:solidFill>
              <a:srgbClr val="FF4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isk-dot-5"/>
          <p:cNvSpPr/>
          <p:nvPr/>
        </p:nvSpPr>
        <p:spPr>
          <a:xfrm>
            <a:off x="9308592" y="4398264"/>
            <a:ext cx="164592" cy="16459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progress-fill"/>
          <p:cNvSpPr/>
          <p:nvPr/>
        </p:nvSpPr>
        <p:spPr>
          <a:xfrm>
            <a:off x="2249424" y="5687568"/>
            <a:ext cx="7406640" cy="384048"/>
          </a:xfrm>
          <a:prstGeom prst="roundRect">
            <a:avLst/>
          </a:prstGeom>
          <a:solidFill>
            <a:srgbClr val="FF4500"/>
          </a:solidFill>
          <a:ln w="10160">
            <a:solidFill>
              <a:srgbClr val="FF4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profile-tag"/>
          <p:cNvSpPr txBox="1"/>
          <p:nvPr/>
        </p:nvSpPr>
        <p:spPr>
          <a:xfrm>
            <a:off x="457200" y="201168"/>
            <a:ext cx="768096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1" lang="en-US">
                <a:solidFill>
                  <a:srgbClr val="FF4500"/>
                </a:solidFill>
                <a:latin typeface="Consolas"/>
              </a:rPr>
              <a:t>V3 STRESS SUITE  ·  DUOTONE COLOR SPLIT  ·  CONTROL ROOM</a:t>
            </a:r>
          </a:p>
        </p:txBody>
      </p:sp>
      <p:sp>
        <p:nvSpPr>
          <p:cNvPr id="37" name="slide-index"/>
          <p:cNvSpPr txBox="1"/>
          <p:nvPr/>
        </p:nvSpPr>
        <p:spPr>
          <a:xfrm>
            <a:off x="10808208" y="201168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00" b="1" lang="en-US">
                <a:solidFill>
                  <a:srgbClr val="F2E6E0"/>
                </a:solidFill>
                <a:latin typeface="Consolas"/>
              </a:rPr>
              <a:t>31/60</a:t>
            </a:r>
          </a:p>
        </p:txBody>
      </p:sp>
      <p:sp>
        <p:nvSpPr>
          <p:cNvPr id="38" name="title"/>
          <p:cNvSpPr txBox="1"/>
          <p:nvPr/>
        </p:nvSpPr>
        <p:spPr>
          <a:xfrm>
            <a:off x="457200" y="484632"/>
            <a:ext cx="11274552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200" b="1" lang="en-US">
                <a:solidFill>
                  <a:srgbClr val="FFFFFF"/>
                </a:solidFill>
                <a:latin typeface="Arial Black"/>
              </a:rPr>
              <a:t>Control room layouts keep dense delivery signals governable</a:t>
            </a:r>
          </a:p>
        </p:txBody>
      </p:sp>
      <p:sp>
        <p:nvSpPr>
          <p:cNvPr id="39" name="footer"/>
          <p:cNvSpPr txBox="1"/>
          <p:nvPr/>
        </p:nvSpPr>
        <p:spPr>
          <a:xfrm>
            <a:off x="457200" y="6473952"/>
            <a:ext cx="1051560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0" lang="en-US">
                <a:solidFill>
                  <a:srgbClr val="F2E6E0"/>
                </a:solidFill>
                <a:latin typeface="Consolas"/>
              </a:rPr>
              <a:t>Native-object stress fixture · exact orange-red and navy split with cross-panel color echo · editable geometry and recorded style lock</a:t>
            </a:r>
          </a:p>
        </p:txBody>
      </p:sp>
      <p:sp>
        <p:nvSpPr>
          <p:cNvPr id="40" name="nav-title"/>
          <p:cNvSpPr txBox="1"/>
          <p:nvPr/>
        </p:nvSpPr>
        <p:spPr>
          <a:xfrm>
            <a:off x="667512" y="1298448"/>
            <a:ext cx="1078992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1" lang="en-US">
                <a:solidFill>
                  <a:srgbClr val="FF4500"/>
                </a:solidFill>
                <a:latin typeface="Consolas"/>
              </a:rPr>
              <a:t>CONTROL
PLANES</a:t>
            </a:r>
          </a:p>
        </p:txBody>
      </p:sp>
      <p:sp>
        <p:nvSpPr>
          <p:cNvPr id="41" name="nav-label-0"/>
          <p:cNvSpPr txBox="1"/>
          <p:nvPr/>
        </p:nvSpPr>
        <p:spPr>
          <a:xfrm>
            <a:off x="749808" y="1965960"/>
            <a:ext cx="932688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1" lang="en-US">
                <a:solidFill>
                  <a:srgbClr val="111111"/>
                </a:solidFill>
                <a:latin typeface="Consolas"/>
              </a:rPr>
              <a:t>INBOX</a:t>
            </a:r>
          </a:p>
        </p:txBody>
      </p:sp>
      <p:sp>
        <p:nvSpPr>
          <p:cNvPr id="42" name="nav-label-1"/>
          <p:cNvSpPr txBox="1"/>
          <p:nvPr/>
        </p:nvSpPr>
        <p:spPr>
          <a:xfrm>
            <a:off x="749808" y="2478024"/>
            <a:ext cx="932688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0" lang="en-US">
                <a:solidFill>
                  <a:srgbClr val="FFFFFF"/>
                </a:solidFill>
                <a:latin typeface="Consolas"/>
              </a:rPr>
              <a:t>SIGNALS</a:t>
            </a:r>
          </a:p>
        </p:txBody>
      </p:sp>
      <p:sp>
        <p:nvSpPr>
          <p:cNvPr id="43" name="nav-label-2"/>
          <p:cNvSpPr txBox="1"/>
          <p:nvPr/>
        </p:nvSpPr>
        <p:spPr>
          <a:xfrm>
            <a:off x="749808" y="2990088"/>
            <a:ext cx="932688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0" lang="en-US">
                <a:solidFill>
                  <a:srgbClr val="FFFFFF"/>
                </a:solidFill>
                <a:latin typeface="Consolas"/>
              </a:rPr>
              <a:t>EVIDENCE</a:t>
            </a:r>
          </a:p>
        </p:txBody>
      </p:sp>
      <p:sp>
        <p:nvSpPr>
          <p:cNvPr id="44" name="nav-label-3"/>
          <p:cNvSpPr txBox="1"/>
          <p:nvPr/>
        </p:nvSpPr>
        <p:spPr>
          <a:xfrm>
            <a:off x="749808" y="3502152"/>
            <a:ext cx="932688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0" lang="en-US">
                <a:solidFill>
                  <a:srgbClr val="FFFFFF"/>
                </a:solidFill>
                <a:latin typeface="Consolas"/>
              </a:rPr>
              <a:t>POLICY</a:t>
            </a:r>
          </a:p>
        </p:txBody>
      </p:sp>
      <p:sp>
        <p:nvSpPr>
          <p:cNvPr id="45" name="nav-label-4"/>
          <p:cNvSpPr txBox="1"/>
          <p:nvPr/>
        </p:nvSpPr>
        <p:spPr>
          <a:xfrm>
            <a:off x="749808" y="4014215"/>
            <a:ext cx="932688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0" lang="en-US">
                <a:solidFill>
                  <a:srgbClr val="FFFFFF"/>
                </a:solidFill>
                <a:latin typeface="Consolas"/>
              </a:rPr>
              <a:t>REPAIR</a:t>
            </a:r>
          </a:p>
        </p:txBody>
      </p:sp>
      <p:sp>
        <p:nvSpPr>
          <p:cNvPr id="46" name="nav-label-5"/>
          <p:cNvSpPr txBox="1"/>
          <p:nvPr/>
        </p:nvSpPr>
        <p:spPr>
          <a:xfrm>
            <a:off x="749808" y="4526280"/>
            <a:ext cx="932688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0" lang="en-US">
                <a:solidFill>
                  <a:srgbClr val="FFFFFF"/>
                </a:solidFill>
                <a:latin typeface="Consolas"/>
              </a:rPr>
              <a:t>RELEASE</a:t>
            </a:r>
          </a:p>
        </p:txBody>
      </p:sp>
      <p:sp>
        <p:nvSpPr>
          <p:cNvPr id="47" name="nav-label-6"/>
          <p:cNvSpPr txBox="1"/>
          <p:nvPr/>
        </p:nvSpPr>
        <p:spPr>
          <a:xfrm>
            <a:off x="749808" y="5038344"/>
            <a:ext cx="932688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0" lang="en-US">
                <a:solidFill>
                  <a:srgbClr val="FFFFFF"/>
                </a:solidFill>
                <a:latin typeface="Consolas"/>
              </a:rPr>
              <a:t>ARCHIVE</a:t>
            </a:r>
          </a:p>
        </p:txBody>
      </p:sp>
      <p:sp>
        <p:nvSpPr>
          <p:cNvPr id="48" name="metric-v-0"/>
          <p:cNvSpPr txBox="1"/>
          <p:nvPr/>
        </p:nvSpPr>
        <p:spPr>
          <a:xfrm>
            <a:off x="2432304" y="1234440"/>
            <a:ext cx="80467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lang="en-US">
                <a:solidFill>
                  <a:srgbClr val="FFFFFF"/>
                </a:solidFill>
                <a:latin typeface="Arial Black"/>
              </a:rPr>
              <a:t>48</a:t>
            </a:r>
          </a:p>
        </p:txBody>
      </p:sp>
      <p:sp>
        <p:nvSpPr>
          <p:cNvPr id="49" name="metric-l-0"/>
          <p:cNvSpPr txBox="1"/>
          <p:nvPr/>
        </p:nvSpPr>
        <p:spPr>
          <a:xfrm>
            <a:off x="2359152" y="1581912"/>
            <a:ext cx="932688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F2E6E0"/>
                </a:solidFill>
                <a:latin typeface="Consolas"/>
              </a:rPr>
              <a:t>WORK</a:t>
            </a:r>
          </a:p>
        </p:txBody>
      </p:sp>
      <p:sp>
        <p:nvSpPr>
          <p:cNvPr id="50" name="metric-v-1"/>
          <p:cNvSpPr txBox="1"/>
          <p:nvPr/>
        </p:nvSpPr>
        <p:spPr>
          <a:xfrm>
            <a:off x="3739896" y="1234440"/>
            <a:ext cx="80467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lang="en-US">
                <a:solidFill>
                  <a:srgbClr val="FFFFFF"/>
                </a:solidFill>
                <a:latin typeface="Arial Black"/>
              </a:rPr>
              <a:t>06</a:t>
            </a:r>
          </a:p>
        </p:txBody>
      </p:sp>
      <p:sp>
        <p:nvSpPr>
          <p:cNvPr id="51" name="metric-l-1"/>
          <p:cNvSpPr txBox="1"/>
          <p:nvPr/>
        </p:nvSpPr>
        <p:spPr>
          <a:xfrm>
            <a:off x="3666744" y="1581912"/>
            <a:ext cx="932688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F2E6E0"/>
                </a:solidFill>
                <a:latin typeface="Consolas"/>
              </a:rPr>
              <a:t>FLAGS</a:t>
            </a:r>
          </a:p>
        </p:txBody>
      </p:sp>
      <p:sp>
        <p:nvSpPr>
          <p:cNvPr id="52" name="metric-v-2"/>
          <p:cNvSpPr txBox="1"/>
          <p:nvPr/>
        </p:nvSpPr>
        <p:spPr>
          <a:xfrm>
            <a:off x="5047488" y="1234440"/>
            <a:ext cx="80467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lang="en-US">
                <a:solidFill>
                  <a:srgbClr val="FFFFFF"/>
                </a:solidFill>
                <a:latin typeface="Arial Black"/>
              </a:rPr>
              <a:t>31</a:t>
            </a:r>
          </a:p>
        </p:txBody>
      </p:sp>
      <p:sp>
        <p:nvSpPr>
          <p:cNvPr id="53" name="metric-l-2"/>
          <p:cNvSpPr txBox="1"/>
          <p:nvPr/>
        </p:nvSpPr>
        <p:spPr>
          <a:xfrm>
            <a:off x="4974336" y="1581912"/>
            <a:ext cx="932688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F2E6E0"/>
                </a:solidFill>
                <a:latin typeface="Consolas"/>
              </a:rPr>
              <a:t>READY</a:t>
            </a:r>
          </a:p>
        </p:txBody>
      </p:sp>
      <p:sp>
        <p:nvSpPr>
          <p:cNvPr id="54" name="metric-v-3"/>
          <p:cNvSpPr txBox="1"/>
          <p:nvPr/>
        </p:nvSpPr>
        <p:spPr>
          <a:xfrm>
            <a:off x="6355080" y="1234440"/>
            <a:ext cx="80467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lang="en-US">
                <a:solidFill>
                  <a:srgbClr val="FFFFFF"/>
                </a:solidFill>
                <a:latin typeface="Arial Black"/>
              </a:rPr>
              <a:t>04</a:t>
            </a:r>
          </a:p>
        </p:txBody>
      </p:sp>
      <p:sp>
        <p:nvSpPr>
          <p:cNvPr id="55" name="metric-l-3"/>
          <p:cNvSpPr txBox="1"/>
          <p:nvPr/>
        </p:nvSpPr>
        <p:spPr>
          <a:xfrm>
            <a:off x="6281928" y="1581912"/>
            <a:ext cx="932688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F2E6E0"/>
                </a:solidFill>
                <a:latin typeface="Consolas"/>
              </a:rPr>
              <a:t>HOLD</a:t>
            </a:r>
          </a:p>
        </p:txBody>
      </p:sp>
      <p:sp>
        <p:nvSpPr>
          <p:cNvPr id="56" name="metric-v-4"/>
          <p:cNvSpPr txBox="1"/>
          <p:nvPr/>
        </p:nvSpPr>
        <p:spPr>
          <a:xfrm>
            <a:off x="7662672" y="1234440"/>
            <a:ext cx="80467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lang="en-US">
                <a:solidFill>
                  <a:srgbClr val="FFFFFF"/>
                </a:solidFill>
                <a:latin typeface="Arial Black"/>
              </a:rPr>
              <a:t>12</a:t>
            </a:r>
          </a:p>
        </p:txBody>
      </p:sp>
      <p:sp>
        <p:nvSpPr>
          <p:cNvPr id="57" name="metric-l-4"/>
          <p:cNvSpPr txBox="1"/>
          <p:nvPr/>
        </p:nvSpPr>
        <p:spPr>
          <a:xfrm>
            <a:off x="7589520" y="1581912"/>
            <a:ext cx="932688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F2E6E0"/>
                </a:solidFill>
                <a:latin typeface="Consolas"/>
              </a:rPr>
              <a:t>STYLE</a:t>
            </a:r>
          </a:p>
        </p:txBody>
      </p:sp>
      <p:sp>
        <p:nvSpPr>
          <p:cNvPr id="58" name="risk-title"/>
          <p:cNvSpPr txBox="1"/>
          <p:nvPr/>
        </p:nvSpPr>
        <p:spPr>
          <a:xfrm>
            <a:off x="9308592" y="1298448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1" lang="en-US">
                <a:solidFill>
                  <a:srgbClr val="FF4500"/>
                </a:solidFill>
                <a:latin typeface="Consolas"/>
              </a:rPr>
              <a:t>LIVE REVIEW QUEUE</a:t>
            </a:r>
          </a:p>
        </p:txBody>
      </p:sp>
      <p:sp>
        <p:nvSpPr>
          <p:cNvPr id="59" name="risk-label-0"/>
          <p:cNvSpPr txBox="1"/>
          <p:nvPr/>
        </p:nvSpPr>
        <p:spPr>
          <a:xfrm>
            <a:off x="9619488" y="1691640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50" b="1" lang="en-US">
                <a:solidFill>
                  <a:srgbClr val="FFFFFF"/>
                </a:solidFill>
                <a:latin typeface="Consolas"/>
              </a:rPr>
              <a:t>Scope stable</a:t>
            </a:r>
          </a:p>
        </p:txBody>
      </p:sp>
      <p:sp>
        <p:nvSpPr>
          <p:cNvPr id="60" name="risk-state-0"/>
          <p:cNvSpPr txBox="1"/>
          <p:nvPr/>
        </p:nvSpPr>
        <p:spPr>
          <a:xfrm>
            <a:off x="10972800" y="169164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00" b="1" lang="en-US">
                <a:solidFill>
                  <a:srgbClr val="FFFFFF"/>
                </a:solidFill>
                <a:latin typeface="Consolas"/>
              </a:rPr>
              <a:t>PASS</a:t>
            </a:r>
          </a:p>
        </p:txBody>
      </p:sp>
      <p:sp>
        <p:nvSpPr>
          <p:cNvPr id="61" name="risk-label-1"/>
          <p:cNvSpPr txBox="1"/>
          <p:nvPr/>
        </p:nvSpPr>
        <p:spPr>
          <a:xfrm>
            <a:off x="9619488" y="2221992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50" b="1" lang="en-US">
                <a:solidFill>
                  <a:srgbClr val="FFFFFF"/>
                </a:solidFill>
                <a:latin typeface="Consolas"/>
              </a:rPr>
              <a:t>Text capacity</a:t>
            </a:r>
          </a:p>
        </p:txBody>
      </p:sp>
      <p:sp>
        <p:nvSpPr>
          <p:cNvPr id="62" name="risk-state-1"/>
          <p:cNvSpPr txBox="1"/>
          <p:nvPr/>
        </p:nvSpPr>
        <p:spPr>
          <a:xfrm>
            <a:off x="10972800" y="2221992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00" b="1" lang="en-US">
                <a:solidFill>
                  <a:srgbClr val="FFFFFF"/>
                </a:solidFill>
                <a:latin typeface="Consolas"/>
              </a:rPr>
              <a:t>PASS</a:t>
            </a:r>
          </a:p>
        </p:txBody>
      </p:sp>
      <p:sp>
        <p:nvSpPr>
          <p:cNvPr id="63" name="risk-label-2"/>
          <p:cNvSpPr txBox="1"/>
          <p:nvPr/>
        </p:nvSpPr>
        <p:spPr>
          <a:xfrm>
            <a:off x="9619488" y="2752344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50" b="1" lang="en-US">
                <a:solidFill>
                  <a:srgbClr val="FFFFFF"/>
                </a:solidFill>
                <a:latin typeface="Consolas"/>
              </a:rPr>
              <a:t>Contrast check</a:t>
            </a:r>
          </a:p>
        </p:txBody>
      </p:sp>
      <p:sp>
        <p:nvSpPr>
          <p:cNvPr id="64" name="risk-state-2"/>
          <p:cNvSpPr txBox="1"/>
          <p:nvPr/>
        </p:nvSpPr>
        <p:spPr>
          <a:xfrm>
            <a:off x="10972800" y="275234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00" b="1" lang="en-US">
                <a:solidFill>
                  <a:srgbClr val="FF4500"/>
                </a:solidFill>
                <a:latin typeface="Consolas"/>
              </a:rPr>
              <a:t>WATCH</a:t>
            </a:r>
          </a:p>
        </p:txBody>
      </p:sp>
      <p:sp>
        <p:nvSpPr>
          <p:cNvPr id="65" name="risk-label-3"/>
          <p:cNvSpPr txBox="1"/>
          <p:nvPr/>
        </p:nvSpPr>
        <p:spPr>
          <a:xfrm>
            <a:off x="9619488" y="3282696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50" b="1" lang="en-US">
                <a:solidFill>
                  <a:srgbClr val="FFFFFF"/>
                </a:solidFill>
                <a:latin typeface="Consolas"/>
              </a:rPr>
              <a:t>Table fit</a:t>
            </a:r>
          </a:p>
        </p:txBody>
      </p:sp>
      <p:sp>
        <p:nvSpPr>
          <p:cNvPr id="66" name="risk-state-3"/>
          <p:cNvSpPr txBox="1"/>
          <p:nvPr/>
        </p:nvSpPr>
        <p:spPr>
          <a:xfrm>
            <a:off x="10972800" y="3282696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00" b="1" lang="en-US">
                <a:solidFill>
                  <a:srgbClr val="FFFFFF"/>
                </a:solidFill>
                <a:latin typeface="Consolas"/>
              </a:rPr>
              <a:t>PASS</a:t>
            </a:r>
          </a:p>
        </p:txBody>
      </p:sp>
      <p:sp>
        <p:nvSpPr>
          <p:cNvPr id="67" name="risk-label-4"/>
          <p:cNvSpPr txBox="1"/>
          <p:nvPr/>
        </p:nvSpPr>
        <p:spPr>
          <a:xfrm>
            <a:off x="9619488" y="3813048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50" b="1" lang="en-US">
                <a:solidFill>
                  <a:srgbClr val="FFFFFF"/>
                </a:solidFill>
                <a:latin typeface="Consolas"/>
              </a:rPr>
              <a:t>Read order</a:t>
            </a:r>
          </a:p>
        </p:txBody>
      </p:sp>
      <p:sp>
        <p:nvSpPr>
          <p:cNvPr id="68" name="risk-state-4"/>
          <p:cNvSpPr txBox="1"/>
          <p:nvPr/>
        </p:nvSpPr>
        <p:spPr>
          <a:xfrm>
            <a:off x="10972800" y="3813048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00" b="1" lang="en-US">
                <a:solidFill>
                  <a:srgbClr val="FF4500"/>
                </a:solidFill>
                <a:latin typeface="Consolas"/>
              </a:rPr>
              <a:t>WATCH</a:t>
            </a:r>
          </a:p>
        </p:txBody>
      </p:sp>
      <p:sp>
        <p:nvSpPr>
          <p:cNvPr id="69" name="risk-label-5"/>
          <p:cNvSpPr txBox="1"/>
          <p:nvPr/>
        </p:nvSpPr>
        <p:spPr>
          <a:xfrm>
            <a:off x="9619488" y="4343400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50" b="1" lang="en-US">
                <a:solidFill>
                  <a:srgbClr val="FFFFFF"/>
                </a:solidFill>
                <a:latin typeface="Consolas"/>
              </a:rPr>
              <a:t>Package</a:t>
            </a:r>
          </a:p>
        </p:txBody>
      </p:sp>
      <p:sp>
        <p:nvSpPr>
          <p:cNvPr id="70" name="risk-state-5"/>
          <p:cNvSpPr txBox="1"/>
          <p:nvPr/>
        </p:nvSpPr>
        <p:spPr>
          <a:xfrm>
            <a:off x="10972800" y="434340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00" b="1" lang="en-US">
                <a:solidFill>
                  <a:srgbClr val="FFFFFF"/>
                </a:solidFill>
                <a:latin typeface="Consolas"/>
              </a:rPr>
              <a:t>PASS</a:t>
            </a:r>
          </a:p>
        </p:txBody>
      </p:sp>
      <p:sp>
        <p:nvSpPr>
          <p:cNvPr id="71" name="progress-label"/>
          <p:cNvSpPr txBox="1"/>
          <p:nvPr/>
        </p:nvSpPr>
        <p:spPr>
          <a:xfrm>
            <a:off x="2468880" y="5788152"/>
            <a:ext cx="886968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50" b="1" lang="en-US">
                <a:solidFill>
                  <a:srgbClr val="111111"/>
                </a:solidFill>
                <a:latin typeface="Consolas"/>
              </a:rPr>
              <a:t>Stress workload: 78% complete · 12 profiles locked · 0 geometry regressions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 w="1016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uotone-right"/>
          <p:cNvSpPr/>
          <p:nvPr/>
        </p:nvSpPr>
        <p:spPr>
          <a:xfrm>
            <a:off x="6096304" y="0"/>
            <a:ext cx="6096304" cy="6858000"/>
          </a:xfrm>
          <a:prstGeom prst="rect">
            <a:avLst/>
          </a:prstGeom>
          <a:solidFill>
            <a:srgbClr val="FF4500"/>
          </a:solidFill>
          <a:ln w="10160">
            <a:solidFill>
              <a:srgbClr val="FF4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uotone-divider"/>
          <p:cNvSpPr/>
          <p:nvPr/>
        </p:nvSpPr>
        <p:spPr>
          <a:xfrm>
            <a:off x="6072530" y="0"/>
            <a:ext cx="45720" cy="685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op-band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F4500"/>
          </a:solidFill>
          <a:ln w="10160">
            <a:solidFill>
              <a:srgbClr val="FF4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mesh-shell"/>
          <p:cNvSpPr/>
          <p:nvPr/>
        </p:nvSpPr>
        <p:spPr>
          <a:xfrm>
            <a:off x="457200" y="1078992"/>
            <a:ext cx="7360920" cy="5029200"/>
          </a:xfrm>
          <a:prstGeom prst="rect">
            <a:avLst/>
          </a:prstGeom>
          <a:solidFill>
            <a:srgbClr val="FF4500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mesh-rail-shell"/>
          <p:cNvSpPr/>
          <p:nvPr/>
        </p:nvSpPr>
        <p:spPr>
          <a:xfrm>
            <a:off x="8092440" y="1078992"/>
            <a:ext cx="3639312" cy="5029200"/>
          </a:xfrm>
          <a:prstGeom prst="rect">
            <a:avLst/>
          </a:prstGeom>
          <a:solidFill>
            <a:srgbClr val="1A1A2E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mesh-accent"/>
          <p:cNvSpPr/>
          <p:nvPr/>
        </p:nvSpPr>
        <p:spPr>
          <a:xfrm>
            <a:off x="457200" y="1078992"/>
            <a:ext cx="73152" cy="5029200"/>
          </a:xfrm>
          <a:prstGeom prst="rect">
            <a:avLst/>
          </a:prstGeom>
          <a:solidFill>
            <a:srgbClr val="FF4500"/>
          </a:solidFill>
          <a:ln w="10160">
            <a:solidFill>
              <a:srgbClr val="FF4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mesh-edge-0"/>
          <p:cNvCxnSpPr/>
          <p:nvPr/>
        </p:nvCxnSpPr>
        <p:spPr>
          <a:xfrm flipV="1">
            <a:off x="1618488" y="1920240"/>
            <a:ext cx="1828800" cy="320040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mesh-edge-1"/>
          <p:cNvCxnSpPr/>
          <p:nvPr/>
        </p:nvCxnSpPr>
        <p:spPr>
          <a:xfrm>
            <a:off x="3447288" y="1920240"/>
            <a:ext cx="1920240" cy="320040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mesh-edge-2"/>
          <p:cNvCxnSpPr/>
          <p:nvPr/>
        </p:nvCxnSpPr>
        <p:spPr>
          <a:xfrm>
            <a:off x="1618488" y="2240280"/>
            <a:ext cx="868680" cy="1325880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mesh-edge-3"/>
          <p:cNvCxnSpPr/>
          <p:nvPr/>
        </p:nvCxnSpPr>
        <p:spPr>
          <a:xfrm flipH="1">
            <a:off x="2487168" y="1920240"/>
            <a:ext cx="960120" cy="1645920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mesh-edge-4"/>
          <p:cNvCxnSpPr/>
          <p:nvPr/>
        </p:nvCxnSpPr>
        <p:spPr>
          <a:xfrm>
            <a:off x="3447288" y="1920240"/>
            <a:ext cx="1005840" cy="1307592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mesh-edge-5"/>
          <p:cNvCxnSpPr/>
          <p:nvPr/>
        </p:nvCxnSpPr>
        <p:spPr>
          <a:xfrm flipH="1">
            <a:off x="4453128" y="2240280"/>
            <a:ext cx="914400" cy="987552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mesh-edge-6"/>
          <p:cNvCxnSpPr/>
          <p:nvPr/>
        </p:nvCxnSpPr>
        <p:spPr>
          <a:xfrm>
            <a:off x="5367528" y="2240280"/>
            <a:ext cx="1005840" cy="1325880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mesh-edge-7"/>
          <p:cNvCxnSpPr/>
          <p:nvPr/>
        </p:nvCxnSpPr>
        <p:spPr>
          <a:xfrm flipV="1">
            <a:off x="2487168" y="3227832"/>
            <a:ext cx="1965960" cy="338328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mesh-edge-8"/>
          <p:cNvCxnSpPr/>
          <p:nvPr/>
        </p:nvCxnSpPr>
        <p:spPr>
          <a:xfrm>
            <a:off x="4453128" y="3227832"/>
            <a:ext cx="1920240" cy="338328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mesh-edge-9"/>
          <p:cNvCxnSpPr/>
          <p:nvPr/>
        </p:nvCxnSpPr>
        <p:spPr>
          <a:xfrm>
            <a:off x="2487168" y="3566160"/>
            <a:ext cx="960120" cy="1325880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mesh-edge-10"/>
          <p:cNvCxnSpPr/>
          <p:nvPr/>
        </p:nvCxnSpPr>
        <p:spPr>
          <a:xfrm flipH="1">
            <a:off x="3447288" y="3227832"/>
            <a:ext cx="1005840" cy="1664208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mesh-edge-11"/>
          <p:cNvCxnSpPr/>
          <p:nvPr/>
        </p:nvCxnSpPr>
        <p:spPr>
          <a:xfrm>
            <a:off x="4453128" y="3227832"/>
            <a:ext cx="914400" cy="1664208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mesh-edge-12"/>
          <p:cNvCxnSpPr/>
          <p:nvPr/>
        </p:nvCxnSpPr>
        <p:spPr>
          <a:xfrm flipH="1">
            <a:off x="5367528" y="3566160"/>
            <a:ext cx="1005840" cy="1325880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mesh-edge-13"/>
          <p:cNvCxnSpPr/>
          <p:nvPr/>
        </p:nvCxnSpPr>
        <p:spPr>
          <a:xfrm>
            <a:off x="3447288" y="4892040"/>
            <a:ext cx="1920240" cy="0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mesh-rail-accent"/>
          <p:cNvSpPr/>
          <p:nvPr/>
        </p:nvSpPr>
        <p:spPr>
          <a:xfrm>
            <a:off x="8092440" y="1078992"/>
            <a:ext cx="73152" cy="5029200"/>
          </a:xfrm>
          <a:prstGeom prst="rect">
            <a:avLst/>
          </a:prstGeom>
          <a:solidFill>
            <a:srgbClr val="FF4500"/>
          </a:solidFill>
          <a:ln w="10160">
            <a:solidFill>
              <a:srgbClr val="FF4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trace-line-0"/>
          <p:cNvCxnSpPr/>
          <p:nvPr/>
        </p:nvCxnSpPr>
        <p:spPr>
          <a:xfrm>
            <a:off x="8577072" y="2029968"/>
            <a:ext cx="0" cy="164592"/>
          </a:xfrm>
          <a:prstGeom prst="line">
            <a:avLst/>
          </a:prstGeom>
          <a:ln w="13970">
            <a:solidFill>
              <a:srgbClr val="FF45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trace-line-1"/>
          <p:cNvCxnSpPr/>
          <p:nvPr/>
        </p:nvCxnSpPr>
        <p:spPr>
          <a:xfrm>
            <a:off x="8577072" y="2596896"/>
            <a:ext cx="0" cy="164592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trace-line-2"/>
          <p:cNvCxnSpPr/>
          <p:nvPr/>
        </p:nvCxnSpPr>
        <p:spPr>
          <a:xfrm>
            <a:off x="8577072" y="3163824"/>
            <a:ext cx="0" cy="164592"/>
          </a:xfrm>
          <a:prstGeom prst="line">
            <a:avLst/>
          </a:prstGeom>
          <a:ln w="13970">
            <a:solidFill>
              <a:srgbClr val="FF45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trace-line-3"/>
          <p:cNvCxnSpPr/>
          <p:nvPr/>
        </p:nvCxnSpPr>
        <p:spPr>
          <a:xfrm>
            <a:off x="8577072" y="3730752"/>
            <a:ext cx="0" cy="164592"/>
          </a:xfrm>
          <a:prstGeom prst="line">
            <a:avLst/>
          </a:prstGeom>
          <a:ln w="13970">
            <a:solidFill>
              <a:srgbClr val="FF45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trace-line-4"/>
          <p:cNvCxnSpPr/>
          <p:nvPr/>
        </p:nvCxnSpPr>
        <p:spPr>
          <a:xfrm>
            <a:off x="8577072" y="4297680"/>
            <a:ext cx="0" cy="164592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trace-line-5"/>
          <p:cNvCxnSpPr/>
          <p:nvPr/>
        </p:nvCxnSpPr>
        <p:spPr>
          <a:xfrm>
            <a:off x="8577072" y="4864608"/>
            <a:ext cx="0" cy="164592"/>
          </a:xfrm>
          <a:prstGeom prst="line">
            <a:avLst/>
          </a:prstGeom>
          <a:ln w="13970">
            <a:solidFill>
              <a:srgbClr val="FF45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mesh-node-0"/>
          <p:cNvSpPr/>
          <p:nvPr/>
        </p:nvSpPr>
        <p:spPr>
          <a:xfrm>
            <a:off x="1051560" y="1920240"/>
            <a:ext cx="1143000" cy="640080"/>
          </a:xfrm>
          <a:prstGeom prst="roundRect">
            <a:avLst/>
          </a:prstGeom>
          <a:solidFill>
            <a:srgbClr val="FF4500"/>
          </a:solidFill>
          <a:ln w="10160">
            <a:solidFill>
              <a:srgbClr val="FF4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mesh-node-1"/>
          <p:cNvSpPr/>
          <p:nvPr/>
        </p:nvSpPr>
        <p:spPr>
          <a:xfrm>
            <a:off x="2880360" y="1600200"/>
            <a:ext cx="1143000" cy="640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mesh-node-2"/>
          <p:cNvSpPr/>
          <p:nvPr/>
        </p:nvSpPr>
        <p:spPr>
          <a:xfrm>
            <a:off x="4800600" y="1920240"/>
            <a:ext cx="1143000" cy="640080"/>
          </a:xfrm>
          <a:prstGeom prst="roundRect">
            <a:avLst/>
          </a:prstGeom>
          <a:solidFill>
            <a:srgbClr val="FF4500"/>
          </a:solidFill>
          <a:ln w="10160">
            <a:solidFill>
              <a:srgbClr val="FF4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mesh-node-3"/>
          <p:cNvSpPr/>
          <p:nvPr/>
        </p:nvSpPr>
        <p:spPr>
          <a:xfrm>
            <a:off x="1920240" y="3246120"/>
            <a:ext cx="1143000" cy="640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mesh-node-4"/>
          <p:cNvSpPr/>
          <p:nvPr/>
        </p:nvSpPr>
        <p:spPr>
          <a:xfrm>
            <a:off x="3886200" y="2907792"/>
            <a:ext cx="1143000" cy="640080"/>
          </a:xfrm>
          <a:prstGeom prst="roundRect">
            <a:avLst/>
          </a:prstGeom>
          <a:solidFill>
            <a:srgbClr val="FF4500"/>
          </a:solidFill>
          <a:ln w="10160">
            <a:solidFill>
              <a:srgbClr val="FF4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mesh-node-5"/>
          <p:cNvSpPr/>
          <p:nvPr/>
        </p:nvSpPr>
        <p:spPr>
          <a:xfrm>
            <a:off x="5806440" y="3246120"/>
            <a:ext cx="1143000" cy="640080"/>
          </a:xfrm>
          <a:prstGeom prst="roundRect">
            <a:avLst/>
          </a:prstGeom>
          <a:solidFill>
            <a:srgbClr val="FF4500"/>
          </a:solidFill>
          <a:ln w="10160">
            <a:solidFill>
              <a:srgbClr val="FF4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mesh-node-6"/>
          <p:cNvSpPr/>
          <p:nvPr/>
        </p:nvSpPr>
        <p:spPr>
          <a:xfrm>
            <a:off x="2880360" y="4572000"/>
            <a:ext cx="1143000" cy="640080"/>
          </a:xfrm>
          <a:prstGeom prst="roundRect">
            <a:avLst/>
          </a:prstGeom>
          <a:solidFill>
            <a:srgbClr val="FF4500"/>
          </a:solidFill>
          <a:ln w="10160">
            <a:solidFill>
              <a:srgbClr val="FF4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mesh-node-7"/>
          <p:cNvSpPr/>
          <p:nvPr/>
        </p:nvSpPr>
        <p:spPr>
          <a:xfrm>
            <a:off x="4800600" y="4572000"/>
            <a:ext cx="1143000" cy="640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race-badge-0"/>
          <p:cNvSpPr/>
          <p:nvPr/>
        </p:nvSpPr>
        <p:spPr>
          <a:xfrm>
            <a:off x="8357616" y="1682496"/>
            <a:ext cx="438912" cy="347472"/>
          </a:xfrm>
          <a:prstGeom prst="roundRect">
            <a:avLst/>
          </a:prstGeom>
          <a:solidFill>
            <a:srgbClr val="FF4500"/>
          </a:solidFill>
          <a:ln w="10160">
            <a:solidFill>
              <a:srgbClr val="FF4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race-badge-1"/>
          <p:cNvSpPr/>
          <p:nvPr/>
        </p:nvSpPr>
        <p:spPr>
          <a:xfrm>
            <a:off x="8357616" y="2249424"/>
            <a:ext cx="438912" cy="3474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race-badge-2"/>
          <p:cNvSpPr/>
          <p:nvPr/>
        </p:nvSpPr>
        <p:spPr>
          <a:xfrm>
            <a:off x="8357616" y="2816352"/>
            <a:ext cx="438912" cy="347472"/>
          </a:xfrm>
          <a:prstGeom prst="roundRect">
            <a:avLst/>
          </a:prstGeom>
          <a:solidFill>
            <a:srgbClr val="FF4500"/>
          </a:solidFill>
          <a:ln w="10160">
            <a:solidFill>
              <a:srgbClr val="FF4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race-badge-3"/>
          <p:cNvSpPr/>
          <p:nvPr/>
        </p:nvSpPr>
        <p:spPr>
          <a:xfrm>
            <a:off x="8357616" y="3383280"/>
            <a:ext cx="438912" cy="347472"/>
          </a:xfrm>
          <a:prstGeom prst="roundRect">
            <a:avLst/>
          </a:prstGeom>
          <a:solidFill>
            <a:srgbClr val="FF4500"/>
          </a:solidFill>
          <a:ln w="10160">
            <a:solidFill>
              <a:srgbClr val="FF4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race-badge-4"/>
          <p:cNvSpPr/>
          <p:nvPr/>
        </p:nvSpPr>
        <p:spPr>
          <a:xfrm>
            <a:off x="8357616" y="3950208"/>
            <a:ext cx="438912" cy="3474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race-badge-5"/>
          <p:cNvSpPr/>
          <p:nvPr/>
        </p:nvSpPr>
        <p:spPr>
          <a:xfrm>
            <a:off x="8357616" y="4517136"/>
            <a:ext cx="438912" cy="347472"/>
          </a:xfrm>
          <a:prstGeom prst="roundRect">
            <a:avLst/>
          </a:prstGeom>
          <a:solidFill>
            <a:srgbClr val="FF4500"/>
          </a:solidFill>
          <a:ln w="10160">
            <a:solidFill>
              <a:srgbClr val="FF4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profile-tag"/>
          <p:cNvSpPr txBox="1"/>
          <p:nvPr/>
        </p:nvSpPr>
        <p:spPr>
          <a:xfrm>
            <a:off x="457200" y="201168"/>
            <a:ext cx="768096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1" lang="en-US">
                <a:solidFill>
                  <a:srgbClr val="FF4500"/>
                </a:solidFill>
                <a:latin typeface="Consolas"/>
              </a:rPr>
              <a:t>V3 STRESS SUITE  ·  DUOTONE COLOR SPLIT  ·  EVIDENCE MESH</a:t>
            </a:r>
          </a:p>
        </p:txBody>
      </p:sp>
      <p:sp>
        <p:nvSpPr>
          <p:cNvPr id="45" name="slide-index"/>
          <p:cNvSpPr txBox="1"/>
          <p:nvPr/>
        </p:nvSpPr>
        <p:spPr>
          <a:xfrm>
            <a:off x="10808208" y="201168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00" b="1" lang="en-US">
                <a:solidFill>
                  <a:srgbClr val="F2E6E0"/>
                </a:solidFill>
                <a:latin typeface="Consolas"/>
              </a:rPr>
              <a:t>32/60</a:t>
            </a:r>
          </a:p>
        </p:txBody>
      </p:sp>
      <p:sp>
        <p:nvSpPr>
          <p:cNvPr id="46" name="title"/>
          <p:cNvSpPr txBox="1"/>
          <p:nvPr/>
        </p:nvSpPr>
        <p:spPr>
          <a:xfrm>
            <a:off x="457200" y="484632"/>
            <a:ext cx="11274552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200" b="1" lang="en-US">
                <a:solidFill>
                  <a:srgbClr val="FFFFFF"/>
                </a:solidFill>
                <a:latin typeface="Arial Black"/>
              </a:rPr>
              <a:t>Evidence meshes preserve traceability across a dense editable graph</a:t>
            </a:r>
          </a:p>
        </p:txBody>
      </p:sp>
      <p:sp>
        <p:nvSpPr>
          <p:cNvPr id="47" name="footer"/>
          <p:cNvSpPr txBox="1"/>
          <p:nvPr/>
        </p:nvSpPr>
        <p:spPr>
          <a:xfrm>
            <a:off x="457200" y="6473952"/>
            <a:ext cx="1051560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0" lang="en-US">
                <a:solidFill>
                  <a:srgbClr val="F2E6E0"/>
                </a:solidFill>
                <a:latin typeface="Consolas"/>
              </a:rPr>
              <a:t>Native-object stress fixture · exact orange-red and navy split with cross-panel color echo · editable geometry and recorded style lock</a:t>
            </a:r>
          </a:p>
        </p:txBody>
      </p:sp>
      <p:sp>
        <p:nvSpPr>
          <p:cNvPr id="48" name="mesh-title"/>
          <p:cNvSpPr txBox="1"/>
          <p:nvPr/>
        </p:nvSpPr>
        <p:spPr>
          <a:xfrm>
            <a:off x="713232" y="1298448"/>
            <a:ext cx="320040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1" lang="en-US">
                <a:solidFill>
                  <a:srgbClr val="FF4500"/>
                </a:solidFill>
                <a:latin typeface="Consolas"/>
              </a:rPr>
              <a:t>EVIDENCE ROUTING MESH</a:t>
            </a:r>
          </a:p>
        </p:txBody>
      </p:sp>
      <p:sp>
        <p:nvSpPr>
          <p:cNvPr id="49" name="mesh-label-0"/>
          <p:cNvSpPr txBox="1"/>
          <p:nvPr/>
        </p:nvSpPr>
        <p:spPr>
          <a:xfrm>
            <a:off x="1143000" y="2139696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lang="en-US">
                <a:solidFill>
                  <a:srgbClr val="111111"/>
                </a:solidFill>
                <a:latin typeface="Consolas"/>
              </a:rPr>
              <a:t>Request</a:t>
            </a:r>
          </a:p>
        </p:txBody>
      </p:sp>
      <p:sp>
        <p:nvSpPr>
          <p:cNvPr id="50" name="mesh-label-1"/>
          <p:cNvSpPr txBox="1"/>
          <p:nvPr/>
        </p:nvSpPr>
        <p:spPr>
          <a:xfrm>
            <a:off x="2971800" y="1819656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lang="en-US">
                <a:solidFill>
                  <a:srgbClr val="111111"/>
                </a:solidFill>
                <a:latin typeface="Consolas"/>
              </a:rPr>
              <a:t>Profile</a:t>
            </a:r>
          </a:p>
        </p:txBody>
      </p:sp>
      <p:sp>
        <p:nvSpPr>
          <p:cNvPr id="51" name="mesh-label-2"/>
          <p:cNvSpPr txBox="1"/>
          <p:nvPr/>
        </p:nvSpPr>
        <p:spPr>
          <a:xfrm>
            <a:off x="4892040" y="2139696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lang="en-US">
                <a:solidFill>
                  <a:srgbClr val="111111"/>
                </a:solidFill>
                <a:latin typeface="Consolas"/>
              </a:rPr>
              <a:t>Source</a:t>
            </a:r>
          </a:p>
        </p:txBody>
      </p:sp>
      <p:sp>
        <p:nvSpPr>
          <p:cNvPr id="52" name="mesh-label-3"/>
          <p:cNvSpPr txBox="1"/>
          <p:nvPr/>
        </p:nvSpPr>
        <p:spPr>
          <a:xfrm>
            <a:off x="2011680" y="3465576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lang="en-US">
                <a:solidFill>
                  <a:srgbClr val="111111"/>
                </a:solidFill>
                <a:latin typeface="Consolas"/>
              </a:rPr>
              <a:t>Spec</a:t>
            </a:r>
          </a:p>
        </p:txBody>
      </p:sp>
      <p:sp>
        <p:nvSpPr>
          <p:cNvPr id="53" name="mesh-label-4"/>
          <p:cNvSpPr txBox="1"/>
          <p:nvPr/>
        </p:nvSpPr>
        <p:spPr>
          <a:xfrm>
            <a:off x="3977639" y="3127248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lang="en-US">
                <a:solidFill>
                  <a:srgbClr val="111111"/>
                </a:solidFill>
                <a:latin typeface="Consolas"/>
              </a:rPr>
              <a:t>Audit</a:t>
            </a:r>
          </a:p>
        </p:txBody>
      </p:sp>
      <p:sp>
        <p:nvSpPr>
          <p:cNvPr id="54" name="mesh-label-5"/>
          <p:cNvSpPr txBox="1"/>
          <p:nvPr/>
        </p:nvSpPr>
        <p:spPr>
          <a:xfrm>
            <a:off x="5897880" y="3465576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lang="en-US">
                <a:solidFill>
                  <a:srgbClr val="111111"/>
                </a:solidFill>
                <a:latin typeface="Consolas"/>
              </a:rPr>
              <a:t>Render</a:t>
            </a:r>
          </a:p>
        </p:txBody>
      </p:sp>
      <p:sp>
        <p:nvSpPr>
          <p:cNvPr id="55" name="mesh-label-6"/>
          <p:cNvSpPr txBox="1"/>
          <p:nvPr/>
        </p:nvSpPr>
        <p:spPr>
          <a:xfrm>
            <a:off x="2971800" y="4791456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lang="en-US">
                <a:solidFill>
                  <a:srgbClr val="111111"/>
                </a:solidFill>
                <a:latin typeface="Consolas"/>
              </a:rPr>
              <a:t>Repair</a:t>
            </a:r>
          </a:p>
        </p:txBody>
      </p:sp>
      <p:sp>
        <p:nvSpPr>
          <p:cNvPr id="56" name="mesh-label-7"/>
          <p:cNvSpPr txBox="1"/>
          <p:nvPr/>
        </p:nvSpPr>
        <p:spPr>
          <a:xfrm>
            <a:off x="4892040" y="4791456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lang="en-US">
                <a:solidFill>
                  <a:srgbClr val="111111"/>
                </a:solidFill>
                <a:latin typeface="Consolas"/>
              </a:rPr>
              <a:t>Ship</a:t>
            </a:r>
          </a:p>
        </p:txBody>
      </p:sp>
      <p:sp>
        <p:nvSpPr>
          <p:cNvPr id="57" name="mesh-rail-title"/>
          <p:cNvSpPr txBox="1"/>
          <p:nvPr/>
        </p:nvSpPr>
        <p:spPr>
          <a:xfrm>
            <a:off x="8357616" y="1298448"/>
            <a:ext cx="265176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1" lang="en-US">
                <a:solidFill>
                  <a:srgbClr val="FF4500"/>
                </a:solidFill>
                <a:latin typeface="Consolas"/>
              </a:rPr>
              <a:t>TRACEABILITY</a:t>
            </a:r>
          </a:p>
        </p:txBody>
      </p:sp>
      <p:sp>
        <p:nvSpPr>
          <p:cNvPr id="58" name="trace-number-0"/>
          <p:cNvSpPr txBox="1"/>
          <p:nvPr/>
        </p:nvSpPr>
        <p:spPr>
          <a:xfrm>
            <a:off x="8375904" y="1783080"/>
            <a:ext cx="402336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111111"/>
                </a:solidFill>
                <a:latin typeface="Consolas"/>
              </a:rPr>
              <a:t>01</a:t>
            </a:r>
          </a:p>
        </p:txBody>
      </p:sp>
      <p:sp>
        <p:nvSpPr>
          <p:cNvPr id="59" name="trace-label-0"/>
          <p:cNvSpPr txBox="1"/>
          <p:nvPr/>
        </p:nvSpPr>
        <p:spPr>
          <a:xfrm>
            <a:off x="8979408" y="173736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1" lang="en-US">
                <a:solidFill>
                  <a:srgbClr val="FFFFFF"/>
                </a:solidFill>
                <a:latin typeface="Consolas"/>
              </a:rPr>
              <a:t>Intent</a:t>
            </a:r>
          </a:p>
        </p:txBody>
      </p:sp>
      <p:sp>
        <p:nvSpPr>
          <p:cNvPr id="60" name="trace-number-1"/>
          <p:cNvSpPr txBox="1"/>
          <p:nvPr/>
        </p:nvSpPr>
        <p:spPr>
          <a:xfrm>
            <a:off x="8375904" y="2350008"/>
            <a:ext cx="402336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111111"/>
                </a:solidFill>
                <a:latin typeface="Consolas"/>
              </a:rPr>
              <a:t>02</a:t>
            </a:r>
          </a:p>
        </p:txBody>
      </p:sp>
      <p:sp>
        <p:nvSpPr>
          <p:cNvPr id="61" name="trace-label-1"/>
          <p:cNvSpPr txBox="1"/>
          <p:nvPr/>
        </p:nvSpPr>
        <p:spPr>
          <a:xfrm>
            <a:off x="8979408" y="2304288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1" lang="en-US">
                <a:solidFill>
                  <a:srgbClr val="FFFFFF"/>
                </a:solidFill>
                <a:latin typeface="Consolas"/>
              </a:rPr>
              <a:t>Profile lock</a:t>
            </a:r>
          </a:p>
        </p:txBody>
      </p:sp>
      <p:sp>
        <p:nvSpPr>
          <p:cNvPr id="62" name="trace-number-2"/>
          <p:cNvSpPr txBox="1"/>
          <p:nvPr/>
        </p:nvSpPr>
        <p:spPr>
          <a:xfrm>
            <a:off x="8375904" y="2916936"/>
            <a:ext cx="402336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111111"/>
                </a:solidFill>
                <a:latin typeface="Consolas"/>
              </a:rPr>
              <a:t>03</a:t>
            </a:r>
          </a:p>
        </p:txBody>
      </p:sp>
      <p:sp>
        <p:nvSpPr>
          <p:cNvPr id="63" name="trace-label-2"/>
          <p:cNvSpPr txBox="1"/>
          <p:nvPr/>
        </p:nvSpPr>
        <p:spPr>
          <a:xfrm>
            <a:off x="8979408" y="2871216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1" lang="en-US">
                <a:solidFill>
                  <a:srgbClr val="FFFFFF"/>
                </a:solidFill>
                <a:latin typeface="Consolas"/>
              </a:rPr>
              <a:t>Object spec</a:t>
            </a:r>
          </a:p>
        </p:txBody>
      </p:sp>
      <p:sp>
        <p:nvSpPr>
          <p:cNvPr id="64" name="trace-number-3"/>
          <p:cNvSpPr txBox="1"/>
          <p:nvPr/>
        </p:nvSpPr>
        <p:spPr>
          <a:xfrm>
            <a:off x="8375904" y="3483864"/>
            <a:ext cx="402336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111111"/>
                </a:solidFill>
                <a:latin typeface="Consolas"/>
              </a:rPr>
              <a:t>04</a:t>
            </a:r>
          </a:p>
        </p:txBody>
      </p:sp>
      <p:sp>
        <p:nvSpPr>
          <p:cNvPr id="65" name="trace-label-3"/>
          <p:cNvSpPr txBox="1"/>
          <p:nvPr/>
        </p:nvSpPr>
        <p:spPr>
          <a:xfrm>
            <a:off x="8979408" y="3438144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1" lang="en-US">
                <a:solidFill>
                  <a:srgbClr val="FFFFFF"/>
                </a:solidFill>
                <a:latin typeface="Consolas"/>
              </a:rPr>
              <a:t>Quality gate</a:t>
            </a:r>
          </a:p>
        </p:txBody>
      </p:sp>
      <p:sp>
        <p:nvSpPr>
          <p:cNvPr id="66" name="trace-number-4"/>
          <p:cNvSpPr txBox="1"/>
          <p:nvPr/>
        </p:nvSpPr>
        <p:spPr>
          <a:xfrm>
            <a:off x="8375904" y="4050791"/>
            <a:ext cx="402336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111111"/>
                </a:solidFill>
                <a:latin typeface="Consolas"/>
              </a:rPr>
              <a:t>05</a:t>
            </a:r>
          </a:p>
        </p:txBody>
      </p:sp>
      <p:sp>
        <p:nvSpPr>
          <p:cNvPr id="67" name="trace-label-4"/>
          <p:cNvSpPr txBox="1"/>
          <p:nvPr/>
        </p:nvSpPr>
        <p:spPr>
          <a:xfrm>
            <a:off x="8979408" y="400507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1" lang="en-US">
                <a:solidFill>
                  <a:srgbClr val="FFFFFF"/>
                </a:solidFill>
                <a:latin typeface="Consolas"/>
              </a:rPr>
              <a:t>Repair trace</a:t>
            </a:r>
          </a:p>
        </p:txBody>
      </p:sp>
      <p:sp>
        <p:nvSpPr>
          <p:cNvPr id="68" name="trace-number-5"/>
          <p:cNvSpPr txBox="1"/>
          <p:nvPr/>
        </p:nvSpPr>
        <p:spPr>
          <a:xfrm>
            <a:off x="8375904" y="4617720"/>
            <a:ext cx="402336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111111"/>
                </a:solidFill>
                <a:latin typeface="Consolas"/>
              </a:rPr>
              <a:t>06</a:t>
            </a:r>
          </a:p>
        </p:txBody>
      </p:sp>
      <p:sp>
        <p:nvSpPr>
          <p:cNvPr id="69" name="trace-label-5"/>
          <p:cNvSpPr txBox="1"/>
          <p:nvPr/>
        </p:nvSpPr>
        <p:spPr>
          <a:xfrm>
            <a:off x="8979408" y="457200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1" lang="en-US">
                <a:solidFill>
                  <a:srgbClr val="FFFFFF"/>
                </a:solidFill>
                <a:latin typeface="Consolas"/>
              </a:rPr>
              <a:t>Artifact</a:t>
            </a:r>
          </a:p>
        </p:txBody>
      </p:sp>
      <p:sp>
        <p:nvSpPr>
          <p:cNvPr id="70" name="mesh-note"/>
          <p:cNvSpPr txBox="1"/>
          <p:nvPr/>
        </p:nvSpPr>
        <p:spPr>
          <a:xfrm>
            <a:off x="8357616" y="5321808"/>
            <a:ext cx="2834640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00" b="0" lang="en-US">
                <a:solidFill>
                  <a:srgbClr val="F2E6E0"/>
                </a:solidFill>
                <a:latin typeface="Consolas"/>
              </a:rPr>
              <a:t>Fourteen editable links prove dense graph routing and layering.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 w="1016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uotone-right"/>
          <p:cNvSpPr/>
          <p:nvPr/>
        </p:nvSpPr>
        <p:spPr>
          <a:xfrm>
            <a:off x="6096304" y="0"/>
            <a:ext cx="6096304" cy="6858000"/>
          </a:xfrm>
          <a:prstGeom prst="rect">
            <a:avLst/>
          </a:prstGeom>
          <a:solidFill>
            <a:srgbClr val="FF4500"/>
          </a:solidFill>
          <a:ln w="10160">
            <a:solidFill>
              <a:srgbClr val="FF4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uotone-divider"/>
          <p:cNvSpPr/>
          <p:nvPr/>
        </p:nvSpPr>
        <p:spPr>
          <a:xfrm>
            <a:off x="6072530" y="0"/>
            <a:ext cx="45720" cy="685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op-band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F4500"/>
          </a:solidFill>
          <a:ln w="10160">
            <a:solidFill>
              <a:srgbClr val="FF4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matrix-rail-shell"/>
          <p:cNvSpPr/>
          <p:nvPr/>
        </p:nvSpPr>
        <p:spPr>
          <a:xfrm>
            <a:off x="8823960" y="1143000"/>
            <a:ext cx="2907792" cy="4443984"/>
          </a:xfrm>
          <a:prstGeom prst="rect">
            <a:avLst/>
          </a:prstGeom>
          <a:solidFill>
            <a:srgbClr val="FF4500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matrix-rail-accent"/>
          <p:cNvSpPr/>
          <p:nvPr/>
        </p:nvSpPr>
        <p:spPr>
          <a:xfrm>
            <a:off x="8823960" y="1143000"/>
            <a:ext cx="73152" cy="4443984"/>
          </a:xfrm>
          <a:prstGeom prst="rect">
            <a:avLst/>
          </a:prstGeom>
          <a:solidFill>
            <a:srgbClr val="FF4500"/>
          </a:solidFill>
          <a:ln w="10160">
            <a:solidFill>
              <a:srgbClr val="FF4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adar-ring-0.45"/>
          <p:cNvSpPr/>
          <p:nvPr/>
        </p:nvSpPr>
        <p:spPr>
          <a:xfrm>
            <a:off x="9866376" y="2834640"/>
            <a:ext cx="822960" cy="822960"/>
          </a:xfrm>
          <a:prstGeom prst="ellipse">
            <a:avLst/>
          </a:prstGeom>
          <a:solidFill>
            <a:srgbClr val="FF4500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adar-ring-0.85"/>
          <p:cNvSpPr/>
          <p:nvPr/>
        </p:nvSpPr>
        <p:spPr>
          <a:xfrm>
            <a:off x="9500616" y="2468880"/>
            <a:ext cx="1554480" cy="1554480"/>
          </a:xfrm>
          <a:prstGeom prst="ellipse">
            <a:avLst/>
          </a:prstGeom>
          <a:solidFill>
            <a:srgbClr val="FF4500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adar-ring-1.25"/>
          <p:cNvSpPr/>
          <p:nvPr/>
        </p:nvSpPr>
        <p:spPr>
          <a:xfrm>
            <a:off x="9134856" y="2103120"/>
            <a:ext cx="2286000" cy="2286000"/>
          </a:xfrm>
          <a:prstGeom prst="ellipse">
            <a:avLst/>
          </a:prstGeom>
          <a:solidFill>
            <a:srgbClr val="FF4500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radar-axis-0"/>
          <p:cNvCxnSpPr/>
          <p:nvPr/>
        </p:nvCxnSpPr>
        <p:spPr>
          <a:xfrm flipV="1">
            <a:off x="10277856" y="1828799"/>
            <a:ext cx="0" cy="1417321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radar-axis-1"/>
          <p:cNvCxnSpPr/>
          <p:nvPr/>
        </p:nvCxnSpPr>
        <p:spPr>
          <a:xfrm flipV="1">
            <a:off x="10277856" y="2537460"/>
            <a:ext cx="1227435" cy="708660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radar-axis-2"/>
          <p:cNvCxnSpPr/>
          <p:nvPr/>
        </p:nvCxnSpPr>
        <p:spPr>
          <a:xfrm>
            <a:off x="10277856" y="3246120"/>
            <a:ext cx="1227435" cy="708659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radar-axis-3"/>
          <p:cNvCxnSpPr/>
          <p:nvPr/>
        </p:nvCxnSpPr>
        <p:spPr>
          <a:xfrm>
            <a:off x="10277856" y="3246120"/>
            <a:ext cx="0" cy="1417320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radar-axis-4"/>
          <p:cNvCxnSpPr/>
          <p:nvPr/>
        </p:nvCxnSpPr>
        <p:spPr>
          <a:xfrm flipH="1">
            <a:off x="9050420" y="3246120"/>
            <a:ext cx="1227436" cy="708659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radar-axis-5"/>
          <p:cNvCxnSpPr/>
          <p:nvPr/>
        </p:nvCxnSpPr>
        <p:spPr>
          <a:xfrm flipH="1" flipV="1">
            <a:off x="9050420" y="2537459"/>
            <a:ext cx="1227436" cy="708661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flow-link-0"/>
          <p:cNvCxnSpPr/>
          <p:nvPr/>
        </p:nvCxnSpPr>
        <p:spPr>
          <a:xfrm>
            <a:off x="2066543" y="5934456"/>
            <a:ext cx="265177" cy="0"/>
          </a:xfrm>
          <a:prstGeom prst="line">
            <a:avLst/>
          </a:prstGeom>
          <a:ln w="13970">
            <a:solidFill>
              <a:srgbClr val="FF45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flow-link-1"/>
          <p:cNvCxnSpPr/>
          <p:nvPr/>
        </p:nvCxnSpPr>
        <p:spPr>
          <a:xfrm>
            <a:off x="3959352" y="5934456"/>
            <a:ext cx="265175" cy="0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flow-link-2"/>
          <p:cNvCxnSpPr/>
          <p:nvPr/>
        </p:nvCxnSpPr>
        <p:spPr>
          <a:xfrm>
            <a:off x="5852159" y="5934456"/>
            <a:ext cx="265177" cy="0"/>
          </a:xfrm>
          <a:prstGeom prst="line">
            <a:avLst/>
          </a:prstGeom>
          <a:ln w="13970">
            <a:solidFill>
              <a:srgbClr val="FF45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flow-link-3"/>
          <p:cNvCxnSpPr/>
          <p:nvPr/>
        </p:nvCxnSpPr>
        <p:spPr>
          <a:xfrm>
            <a:off x="7744967" y="5934456"/>
            <a:ext cx="265176" cy="0"/>
          </a:xfrm>
          <a:prstGeom prst="line">
            <a:avLst/>
          </a:prstGeom>
          <a:ln w="13970">
            <a:solidFill>
              <a:srgbClr val="FF45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flow-link-4"/>
          <p:cNvCxnSpPr/>
          <p:nvPr/>
        </p:nvCxnSpPr>
        <p:spPr>
          <a:xfrm>
            <a:off x="9637776" y="5934456"/>
            <a:ext cx="265175" cy="0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2" name="operating-table"/>
          <p:cNvGraphicFramePr>
            <a:graphicFrameLocks noGrp="1"/>
          </p:cNvGraphicFramePr>
          <p:nvPr/>
        </p:nvGraphicFramePr>
        <p:xfrm>
          <a:off x="457200" y="1143000"/>
          <a:ext cx="8092440" cy="44439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8740"/>
                <a:gridCol w="1348740"/>
                <a:gridCol w="1348740"/>
                <a:gridCol w="1348740"/>
                <a:gridCol w="1348740"/>
                <a:gridCol w="1348740"/>
              </a:tblGrid>
              <a:tr h="444398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1A1A2E"/>
                          </a:solidFill>
                          <a:latin typeface="Consolas"/>
                        </a:rPr>
                        <a:t>Workstream</a:t>
                      </a:r>
                    </a:p>
                  </a:txBody>
                  <a:tcPr marL="54864" marR="54864" marT="18288" marB="18288">
                    <a:solidFill>
                      <a:srgbClr val="FF45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1A1A2E"/>
                          </a:solidFill>
                          <a:latin typeface="Consolas"/>
                        </a:rPr>
                        <a:t>Profile</a:t>
                      </a:r>
                    </a:p>
                  </a:txBody>
                  <a:tcPr marL="54864" marR="54864" marT="18288" marB="18288">
                    <a:solidFill>
                      <a:srgbClr val="FF45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1A1A2E"/>
                          </a:solidFill>
                          <a:latin typeface="Consolas"/>
                        </a:rPr>
                        <a:t>Structure</a:t>
                      </a:r>
                    </a:p>
                  </a:txBody>
                  <a:tcPr marL="54864" marR="54864" marT="18288" marB="18288">
                    <a:solidFill>
                      <a:srgbClr val="FF45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1A1A2E"/>
                          </a:solidFill>
                          <a:latin typeface="Consolas"/>
                        </a:rPr>
                        <a:t>Density</a:t>
                      </a:r>
                    </a:p>
                  </a:txBody>
                  <a:tcPr marL="54864" marR="54864" marT="18288" marB="18288">
                    <a:solidFill>
                      <a:srgbClr val="FF45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1A1A2E"/>
                          </a:solidFill>
                          <a:latin typeface="Consolas"/>
                        </a:rPr>
                        <a:t>Gate</a:t>
                      </a:r>
                    </a:p>
                  </a:txBody>
                  <a:tcPr marL="54864" marR="54864" marT="18288" marB="18288">
                    <a:solidFill>
                      <a:srgbClr val="FF45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1A1A2E"/>
                          </a:solidFill>
                          <a:latin typeface="Consolas"/>
                        </a:rPr>
                        <a:t>Owner</a:t>
                      </a:r>
                    </a:p>
                  </a:txBody>
                  <a:tcPr marL="54864" marR="54864" marT="18288" marB="18288">
                    <a:solidFill>
                      <a:srgbClr val="FF4500"/>
                    </a:solidFill>
                  </a:tcPr>
                </a:tc>
              </a:tr>
              <a:tr h="444398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FFFFFF"/>
                          </a:solidFill>
                          <a:latin typeface="Consolas"/>
                        </a:rPr>
                        <a:t>W-01</a:t>
                      </a:r>
                    </a:p>
                  </a:txBody>
                  <a:tcPr marL="54864" marR="54864" marT="18288" marB="18288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Consolas"/>
                        </a:rPr>
                        <a:t>Ember</a:t>
                      </a:r>
                    </a:p>
                  </a:txBody>
                  <a:tcPr marL="54864" marR="54864" marT="18288" marB="18288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Consolas"/>
                        </a:rPr>
                        <a:t>Mesh</a:t>
                      </a:r>
                    </a:p>
                  </a:txBody>
                  <a:tcPr marL="54864" marR="54864" marT="18288" marB="18288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Consolas"/>
                        </a:rPr>
                        <a:t>Dense</a:t>
                      </a:r>
                    </a:p>
                  </a:txBody>
                  <a:tcPr marL="54864" marR="54864" marT="18288" marB="18288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Consolas"/>
                        </a:rPr>
                        <a:t>Watch</a:t>
                      </a:r>
                    </a:p>
                  </a:txBody>
                  <a:tcPr marL="54864" marR="54864" marT="18288" marB="18288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Consolas"/>
                        </a:rPr>
                        <a:t>R</a:t>
                      </a:r>
                    </a:p>
                  </a:txBody>
                  <a:tcPr marL="54864" marR="54864" marT="18288" marB="18288">
                    <a:solidFill>
                      <a:srgbClr val="1A1A2E"/>
                    </a:solidFill>
                  </a:tcPr>
                </a:tc>
              </a:tr>
              <a:tr h="444398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FFFFFF"/>
                          </a:solidFill>
                          <a:latin typeface="Consolas"/>
                        </a:rPr>
                        <a:t>W-02</a:t>
                      </a:r>
                    </a:p>
                  </a:txBody>
                  <a:tcPr marL="54864" marR="54864" marT="18288" marB="18288">
                    <a:solidFill>
                      <a:srgbClr val="FF45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Consolas"/>
                        </a:rPr>
                        <a:t>Signal</a:t>
                      </a:r>
                    </a:p>
                  </a:txBody>
                  <a:tcPr marL="54864" marR="54864" marT="18288" marB="18288">
                    <a:solidFill>
                      <a:srgbClr val="FF45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Consolas"/>
                        </a:rPr>
                        <a:t>Matrix</a:t>
                      </a:r>
                    </a:p>
                  </a:txBody>
                  <a:tcPr marL="54864" marR="54864" marT="18288" marB="18288">
                    <a:solidFill>
                      <a:srgbClr val="FF45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Consolas"/>
                        </a:rPr>
                        <a:t>Layered</a:t>
                      </a:r>
                    </a:p>
                  </a:txBody>
                  <a:tcPr marL="54864" marR="54864" marT="18288" marB="18288">
                    <a:solidFill>
                      <a:srgbClr val="FF45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Consolas"/>
                        </a:rPr>
                        <a:t>Repair</a:t>
                      </a:r>
                    </a:p>
                  </a:txBody>
                  <a:tcPr marL="54864" marR="54864" marT="18288" marB="18288">
                    <a:solidFill>
                      <a:srgbClr val="FF45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Consolas"/>
                        </a:rPr>
                        <a:t>C</a:t>
                      </a:r>
                    </a:p>
                  </a:txBody>
                  <a:tcPr marL="54864" marR="54864" marT="18288" marB="18288">
                    <a:solidFill>
                      <a:srgbClr val="FF4500"/>
                    </a:solidFill>
                  </a:tcPr>
                </a:tc>
              </a:tr>
              <a:tr h="444398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FFFFFF"/>
                          </a:solidFill>
                          <a:latin typeface="Consolas"/>
                        </a:rPr>
                        <a:t>W-03</a:t>
                      </a:r>
                    </a:p>
                  </a:txBody>
                  <a:tcPr marL="54864" marR="54864" marT="18288" marB="18288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Consolas"/>
                        </a:rPr>
                        <a:t>Grove</a:t>
                      </a:r>
                    </a:p>
                  </a:txBody>
                  <a:tcPr marL="54864" marR="54864" marT="18288" marB="18288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Consolas"/>
                        </a:rPr>
                        <a:t>Board</a:t>
                      </a:r>
                    </a:p>
                  </a:txBody>
                  <a:tcPr marL="54864" marR="54864" marT="18288" marB="18288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Consolas"/>
                        </a:rPr>
                        <a:t>Packed</a:t>
                      </a:r>
                    </a:p>
                  </a:txBody>
                  <a:tcPr marL="54864" marR="54864" marT="18288" marB="18288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Consolas"/>
                        </a:rPr>
                        <a:t>Pass</a:t>
                      </a:r>
                    </a:p>
                  </a:txBody>
                  <a:tcPr marL="54864" marR="54864" marT="18288" marB="18288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Consolas"/>
                        </a:rPr>
                        <a:t>I</a:t>
                      </a:r>
                    </a:p>
                  </a:txBody>
                  <a:tcPr marL="54864" marR="54864" marT="18288" marB="18288">
                    <a:solidFill>
                      <a:srgbClr val="1A1A2E"/>
                    </a:solidFill>
                  </a:tcPr>
                </a:tc>
              </a:tr>
              <a:tr h="444398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FFFFFF"/>
                          </a:solidFill>
                          <a:latin typeface="Consolas"/>
                        </a:rPr>
                        <a:t>W-04</a:t>
                      </a:r>
                    </a:p>
                  </a:txBody>
                  <a:tcPr marL="54864" marR="54864" marT="18288" marB="18288">
                    <a:solidFill>
                      <a:srgbClr val="FF45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Consolas"/>
                        </a:rPr>
                        <a:t>Atlas</a:t>
                      </a:r>
                    </a:p>
                  </a:txBody>
                  <a:tcPr marL="54864" marR="54864" marT="18288" marB="18288">
                    <a:solidFill>
                      <a:srgbClr val="FF45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Consolas"/>
                        </a:rPr>
                        <a:t>Cards</a:t>
                      </a:r>
                    </a:p>
                  </a:txBody>
                  <a:tcPr marL="54864" marR="54864" marT="18288" marB="18288">
                    <a:solidFill>
                      <a:srgbClr val="FF45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Consolas"/>
                        </a:rPr>
                        <a:t>High</a:t>
                      </a:r>
                    </a:p>
                  </a:txBody>
                  <a:tcPr marL="54864" marR="54864" marT="18288" marB="18288">
                    <a:solidFill>
                      <a:srgbClr val="FF45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Consolas"/>
                        </a:rPr>
                        <a:t>Pass</a:t>
                      </a:r>
                    </a:p>
                  </a:txBody>
                  <a:tcPr marL="54864" marR="54864" marT="18288" marB="18288">
                    <a:solidFill>
                      <a:srgbClr val="FF45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Consolas"/>
                        </a:rPr>
                        <a:t>A</a:t>
                      </a:r>
                    </a:p>
                  </a:txBody>
                  <a:tcPr marL="54864" marR="54864" marT="18288" marB="18288">
                    <a:solidFill>
                      <a:srgbClr val="FF4500"/>
                    </a:solidFill>
                  </a:tcPr>
                </a:tc>
              </a:tr>
              <a:tr h="444398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FFFFFF"/>
                          </a:solidFill>
                          <a:latin typeface="Consolas"/>
                        </a:rPr>
                        <a:t>W-05</a:t>
                      </a:r>
                    </a:p>
                  </a:txBody>
                  <a:tcPr marL="54864" marR="54864" marT="18288" marB="18288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Consolas"/>
                        </a:rPr>
                        <a:t>Ember</a:t>
                      </a:r>
                    </a:p>
                  </a:txBody>
                  <a:tcPr marL="54864" marR="54864" marT="18288" marB="18288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Consolas"/>
                        </a:rPr>
                        <a:t>Mesh</a:t>
                      </a:r>
                    </a:p>
                  </a:txBody>
                  <a:tcPr marL="54864" marR="54864" marT="18288" marB="18288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Consolas"/>
                        </a:rPr>
                        <a:t>Dense</a:t>
                      </a:r>
                    </a:p>
                  </a:txBody>
                  <a:tcPr marL="54864" marR="54864" marT="18288" marB="18288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Consolas"/>
                        </a:rPr>
                        <a:t>Watch</a:t>
                      </a:r>
                    </a:p>
                  </a:txBody>
                  <a:tcPr marL="54864" marR="54864" marT="18288" marB="18288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Consolas"/>
                        </a:rPr>
                        <a:t>R</a:t>
                      </a:r>
                    </a:p>
                  </a:txBody>
                  <a:tcPr marL="54864" marR="54864" marT="18288" marB="18288">
                    <a:solidFill>
                      <a:srgbClr val="1A1A2E"/>
                    </a:solidFill>
                  </a:tcPr>
                </a:tc>
              </a:tr>
              <a:tr h="444398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FFFFFF"/>
                          </a:solidFill>
                          <a:latin typeface="Consolas"/>
                        </a:rPr>
                        <a:t>W-06</a:t>
                      </a:r>
                    </a:p>
                  </a:txBody>
                  <a:tcPr marL="54864" marR="54864" marT="18288" marB="18288">
                    <a:solidFill>
                      <a:srgbClr val="FF45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Consolas"/>
                        </a:rPr>
                        <a:t>Signal</a:t>
                      </a:r>
                    </a:p>
                  </a:txBody>
                  <a:tcPr marL="54864" marR="54864" marT="18288" marB="18288">
                    <a:solidFill>
                      <a:srgbClr val="FF45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Consolas"/>
                        </a:rPr>
                        <a:t>Matrix</a:t>
                      </a:r>
                    </a:p>
                  </a:txBody>
                  <a:tcPr marL="54864" marR="54864" marT="18288" marB="18288">
                    <a:solidFill>
                      <a:srgbClr val="FF45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Consolas"/>
                        </a:rPr>
                        <a:t>Layered</a:t>
                      </a:r>
                    </a:p>
                  </a:txBody>
                  <a:tcPr marL="54864" marR="54864" marT="18288" marB="18288">
                    <a:solidFill>
                      <a:srgbClr val="FF45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Consolas"/>
                        </a:rPr>
                        <a:t>Repair</a:t>
                      </a:r>
                    </a:p>
                  </a:txBody>
                  <a:tcPr marL="54864" marR="54864" marT="18288" marB="18288">
                    <a:solidFill>
                      <a:srgbClr val="FF45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Consolas"/>
                        </a:rPr>
                        <a:t>C</a:t>
                      </a:r>
                    </a:p>
                  </a:txBody>
                  <a:tcPr marL="54864" marR="54864" marT="18288" marB="18288">
                    <a:solidFill>
                      <a:srgbClr val="FF4500"/>
                    </a:solidFill>
                  </a:tcPr>
                </a:tc>
              </a:tr>
              <a:tr h="444398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FFFFFF"/>
                          </a:solidFill>
                          <a:latin typeface="Consolas"/>
                        </a:rPr>
                        <a:t>W-07</a:t>
                      </a:r>
                    </a:p>
                  </a:txBody>
                  <a:tcPr marL="54864" marR="54864" marT="18288" marB="18288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Consolas"/>
                        </a:rPr>
                        <a:t>Grove</a:t>
                      </a:r>
                    </a:p>
                  </a:txBody>
                  <a:tcPr marL="54864" marR="54864" marT="18288" marB="18288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Consolas"/>
                        </a:rPr>
                        <a:t>Board</a:t>
                      </a:r>
                    </a:p>
                  </a:txBody>
                  <a:tcPr marL="54864" marR="54864" marT="18288" marB="18288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Consolas"/>
                        </a:rPr>
                        <a:t>Packed</a:t>
                      </a:r>
                    </a:p>
                  </a:txBody>
                  <a:tcPr marL="54864" marR="54864" marT="18288" marB="18288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Consolas"/>
                        </a:rPr>
                        <a:t>Pass</a:t>
                      </a:r>
                    </a:p>
                  </a:txBody>
                  <a:tcPr marL="54864" marR="54864" marT="18288" marB="18288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Consolas"/>
                        </a:rPr>
                        <a:t>I</a:t>
                      </a:r>
                    </a:p>
                  </a:txBody>
                  <a:tcPr marL="54864" marR="54864" marT="18288" marB="18288">
                    <a:solidFill>
                      <a:srgbClr val="1A1A2E"/>
                    </a:solidFill>
                  </a:tcPr>
                </a:tc>
              </a:tr>
              <a:tr h="444398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FFFFFF"/>
                          </a:solidFill>
                          <a:latin typeface="Consolas"/>
                        </a:rPr>
                        <a:t>W-08</a:t>
                      </a:r>
                    </a:p>
                  </a:txBody>
                  <a:tcPr marL="54864" marR="54864" marT="18288" marB="18288">
                    <a:solidFill>
                      <a:srgbClr val="FF45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Consolas"/>
                        </a:rPr>
                        <a:t>Atlas</a:t>
                      </a:r>
                    </a:p>
                  </a:txBody>
                  <a:tcPr marL="54864" marR="54864" marT="18288" marB="18288">
                    <a:solidFill>
                      <a:srgbClr val="FF45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Consolas"/>
                        </a:rPr>
                        <a:t>Cards</a:t>
                      </a:r>
                    </a:p>
                  </a:txBody>
                  <a:tcPr marL="54864" marR="54864" marT="18288" marB="18288">
                    <a:solidFill>
                      <a:srgbClr val="FF45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Consolas"/>
                        </a:rPr>
                        <a:t>High</a:t>
                      </a:r>
                    </a:p>
                  </a:txBody>
                  <a:tcPr marL="54864" marR="54864" marT="18288" marB="18288">
                    <a:solidFill>
                      <a:srgbClr val="FF45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Consolas"/>
                        </a:rPr>
                        <a:t>Pass</a:t>
                      </a:r>
                    </a:p>
                  </a:txBody>
                  <a:tcPr marL="54864" marR="54864" marT="18288" marB="18288">
                    <a:solidFill>
                      <a:srgbClr val="FF45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Consolas"/>
                        </a:rPr>
                        <a:t>A</a:t>
                      </a:r>
                    </a:p>
                  </a:txBody>
                  <a:tcPr marL="54864" marR="54864" marT="18288" marB="18288">
                    <a:solidFill>
                      <a:srgbClr val="FF4500"/>
                    </a:solidFill>
                  </a:tcPr>
                </a:tc>
              </a:tr>
              <a:tr h="444402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FFFFFF"/>
                          </a:solidFill>
                          <a:latin typeface="Consolas"/>
                        </a:rPr>
                        <a:t>W-09</a:t>
                      </a:r>
                    </a:p>
                  </a:txBody>
                  <a:tcPr marL="54864" marR="54864" marT="18288" marB="18288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Consolas"/>
                        </a:rPr>
                        <a:t>Ember</a:t>
                      </a:r>
                    </a:p>
                  </a:txBody>
                  <a:tcPr marL="54864" marR="54864" marT="18288" marB="18288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Consolas"/>
                        </a:rPr>
                        <a:t>Mesh</a:t>
                      </a:r>
                    </a:p>
                  </a:txBody>
                  <a:tcPr marL="54864" marR="54864" marT="18288" marB="18288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Consolas"/>
                        </a:rPr>
                        <a:t>Dense</a:t>
                      </a:r>
                    </a:p>
                  </a:txBody>
                  <a:tcPr marL="54864" marR="54864" marT="18288" marB="18288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Consolas"/>
                        </a:rPr>
                        <a:t>Watch</a:t>
                      </a:r>
                    </a:p>
                  </a:txBody>
                  <a:tcPr marL="54864" marR="54864" marT="18288" marB="18288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Consolas"/>
                        </a:rPr>
                        <a:t>R</a:t>
                      </a:r>
                    </a:p>
                  </a:txBody>
                  <a:tcPr marL="54864" marR="54864" marT="18288" marB="18288">
                    <a:solidFill>
                      <a:srgbClr val="1A1A2E"/>
                    </a:solidFill>
                  </a:tcPr>
                </a:tc>
              </a:tr>
            </a:tbl>
          </a:graphicData>
        </a:graphic>
      </p:graphicFrame>
      <p:sp>
        <p:nvSpPr>
          <p:cNvPr id="23" name="flow-0"/>
          <p:cNvSpPr/>
          <p:nvPr/>
        </p:nvSpPr>
        <p:spPr>
          <a:xfrm>
            <a:off x="457200" y="5742432"/>
            <a:ext cx="1600200" cy="384048"/>
          </a:xfrm>
          <a:prstGeom prst="roundRect">
            <a:avLst/>
          </a:prstGeom>
          <a:solidFill>
            <a:srgbClr val="1A1A2E"/>
          </a:solidFill>
          <a:ln w="10160">
            <a:solidFill>
              <a:srgbClr val="FF4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flow-1"/>
          <p:cNvSpPr/>
          <p:nvPr/>
        </p:nvSpPr>
        <p:spPr>
          <a:xfrm>
            <a:off x="2350008" y="5742432"/>
            <a:ext cx="1600200" cy="384048"/>
          </a:xfrm>
          <a:prstGeom prst="roundRect">
            <a:avLst/>
          </a:prstGeom>
          <a:solidFill>
            <a:srgbClr val="1A1A2E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low-2"/>
          <p:cNvSpPr/>
          <p:nvPr/>
        </p:nvSpPr>
        <p:spPr>
          <a:xfrm>
            <a:off x="4242816" y="5742432"/>
            <a:ext cx="1600200" cy="384048"/>
          </a:xfrm>
          <a:prstGeom prst="roundRect">
            <a:avLst/>
          </a:prstGeom>
          <a:solidFill>
            <a:srgbClr val="1A1A2E"/>
          </a:solidFill>
          <a:ln w="10160">
            <a:solidFill>
              <a:srgbClr val="FF4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low-3"/>
          <p:cNvSpPr/>
          <p:nvPr/>
        </p:nvSpPr>
        <p:spPr>
          <a:xfrm>
            <a:off x="6135624" y="5742432"/>
            <a:ext cx="1600200" cy="384048"/>
          </a:xfrm>
          <a:prstGeom prst="roundRect">
            <a:avLst/>
          </a:prstGeom>
          <a:solidFill>
            <a:srgbClr val="1A1A2E"/>
          </a:solidFill>
          <a:ln w="10160">
            <a:solidFill>
              <a:srgbClr val="FF4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low-4"/>
          <p:cNvSpPr/>
          <p:nvPr/>
        </p:nvSpPr>
        <p:spPr>
          <a:xfrm>
            <a:off x="8028431" y="5742432"/>
            <a:ext cx="1600200" cy="384048"/>
          </a:xfrm>
          <a:prstGeom prst="roundRect">
            <a:avLst/>
          </a:prstGeom>
          <a:solidFill>
            <a:srgbClr val="1A1A2E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low-5"/>
          <p:cNvSpPr/>
          <p:nvPr/>
        </p:nvSpPr>
        <p:spPr>
          <a:xfrm>
            <a:off x="9921240" y="5742432"/>
            <a:ext cx="1600200" cy="384048"/>
          </a:xfrm>
          <a:prstGeom prst="roundRect">
            <a:avLst/>
          </a:prstGeom>
          <a:solidFill>
            <a:srgbClr val="1A1A2E"/>
          </a:solidFill>
          <a:ln w="10160">
            <a:solidFill>
              <a:srgbClr val="FF4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profile-tag"/>
          <p:cNvSpPr txBox="1"/>
          <p:nvPr/>
        </p:nvSpPr>
        <p:spPr>
          <a:xfrm>
            <a:off x="457200" y="201168"/>
            <a:ext cx="768096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1" lang="en-US">
                <a:solidFill>
                  <a:srgbClr val="FF4500"/>
                </a:solidFill>
                <a:latin typeface="Consolas"/>
              </a:rPr>
              <a:t>V3 STRESS SUITE  ·  DUOTONE COLOR SPLIT  ·  OPERATING MATRIX</a:t>
            </a:r>
          </a:p>
        </p:txBody>
      </p:sp>
      <p:sp>
        <p:nvSpPr>
          <p:cNvPr id="30" name="slide-index"/>
          <p:cNvSpPr txBox="1"/>
          <p:nvPr/>
        </p:nvSpPr>
        <p:spPr>
          <a:xfrm>
            <a:off x="10808208" y="201168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00" b="1" lang="en-US">
                <a:solidFill>
                  <a:srgbClr val="F2E6E0"/>
                </a:solidFill>
                <a:latin typeface="Consolas"/>
              </a:rPr>
              <a:t>33/60</a:t>
            </a:r>
          </a:p>
        </p:txBody>
      </p:sp>
      <p:sp>
        <p:nvSpPr>
          <p:cNvPr id="31" name="title"/>
          <p:cNvSpPr txBox="1"/>
          <p:nvPr/>
        </p:nvSpPr>
        <p:spPr>
          <a:xfrm>
            <a:off x="457200" y="484632"/>
            <a:ext cx="11274552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200" b="1" lang="en-US">
                <a:solidFill>
                  <a:srgbClr val="FFFFFF"/>
                </a:solidFill>
                <a:latin typeface="Arial Black"/>
              </a:rPr>
              <a:t>Operating matrices make quality ownership visible at a glance</a:t>
            </a:r>
          </a:p>
        </p:txBody>
      </p:sp>
      <p:sp>
        <p:nvSpPr>
          <p:cNvPr id="32" name="footer"/>
          <p:cNvSpPr txBox="1"/>
          <p:nvPr/>
        </p:nvSpPr>
        <p:spPr>
          <a:xfrm>
            <a:off x="457200" y="6473952"/>
            <a:ext cx="1051560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0" lang="en-US">
                <a:solidFill>
                  <a:srgbClr val="F2E6E0"/>
                </a:solidFill>
                <a:latin typeface="Consolas"/>
              </a:rPr>
              <a:t>Native-object stress fixture · exact orange-red and navy split with cross-panel color echo · editable geometry and recorded style lock</a:t>
            </a:r>
          </a:p>
        </p:txBody>
      </p:sp>
      <p:sp>
        <p:nvSpPr>
          <p:cNvPr id="33" name="matrix-rail-title"/>
          <p:cNvSpPr txBox="1"/>
          <p:nvPr/>
        </p:nvSpPr>
        <p:spPr>
          <a:xfrm>
            <a:off x="9089136" y="1371600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1" lang="en-US">
                <a:solidFill>
                  <a:srgbClr val="FF4500"/>
                </a:solidFill>
                <a:latin typeface="Consolas"/>
              </a:rPr>
              <a:t>QUALITY RADAR</a:t>
            </a:r>
          </a:p>
        </p:txBody>
      </p:sp>
      <p:sp>
        <p:nvSpPr>
          <p:cNvPr id="34" name="radar-label-0"/>
          <p:cNvSpPr txBox="1"/>
          <p:nvPr/>
        </p:nvSpPr>
        <p:spPr>
          <a:xfrm>
            <a:off x="9893808" y="1737360"/>
            <a:ext cx="768096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F2E6E0"/>
                </a:solidFill>
                <a:latin typeface="Consolas"/>
              </a:rPr>
              <a:t>Bounds</a:t>
            </a:r>
          </a:p>
        </p:txBody>
      </p:sp>
      <p:sp>
        <p:nvSpPr>
          <p:cNvPr id="35" name="radar-label-1"/>
          <p:cNvSpPr txBox="1"/>
          <p:nvPr/>
        </p:nvSpPr>
        <p:spPr>
          <a:xfrm>
            <a:off x="11120932" y="2446020"/>
            <a:ext cx="768096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F2E6E0"/>
                </a:solidFill>
                <a:latin typeface="Consolas"/>
              </a:rPr>
              <a:t>Fonts</a:t>
            </a:r>
          </a:p>
        </p:txBody>
      </p:sp>
      <p:sp>
        <p:nvSpPr>
          <p:cNvPr id="36" name="radar-label-2"/>
          <p:cNvSpPr txBox="1"/>
          <p:nvPr/>
        </p:nvSpPr>
        <p:spPr>
          <a:xfrm>
            <a:off x="11120932" y="3863339"/>
            <a:ext cx="768096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F2E6E0"/>
                </a:solidFill>
                <a:latin typeface="Consolas"/>
              </a:rPr>
              <a:t>Tables</a:t>
            </a:r>
          </a:p>
        </p:txBody>
      </p:sp>
      <p:sp>
        <p:nvSpPr>
          <p:cNvPr id="37" name="radar-label-3"/>
          <p:cNvSpPr txBox="1"/>
          <p:nvPr/>
        </p:nvSpPr>
        <p:spPr>
          <a:xfrm>
            <a:off x="9893808" y="4572000"/>
            <a:ext cx="768096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F2E6E0"/>
                </a:solidFill>
                <a:latin typeface="Consolas"/>
              </a:rPr>
              <a:t>Contrast</a:t>
            </a:r>
          </a:p>
        </p:txBody>
      </p:sp>
      <p:sp>
        <p:nvSpPr>
          <p:cNvPr id="38" name="radar-label-4"/>
          <p:cNvSpPr txBox="1"/>
          <p:nvPr/>
        </p:nvSpPr>
        <p:spPr>
          <a:xfrm>
            <a:off x="8666683" y="3863339"/>
            <a:ext cx="768096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F2E6E0"/>
                </a:solidFill>
                <a:latin typeface="Consolas"/>
              </a:rPr>
              <a:t>Order</a:t>
            </a:r>
          </a:p>
        </p:txBody>
      </p:sp>
      <p:sp>
        <p:nvSpPr>
          <p:cNvPr id="39" name="radar-label-5"/>
          <p:cNvSpPr txBox="1"/>
          <p:nvPr/>
        </p:nvSpPr>
        <p:spPr>
          <a:xfrm>
            <a:off x="8666683" y="2446020"/>
            <a:ext cx="768096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F2E6E0"/>
                </a:solidFill>
                <a:latin typeface="Consolas"/>
              </a:rPr>
              <a:t>Style</a:t>
            </a:r>
          </a:p>
        </p:txBody>
      </p:sp>
      <p:sp>
        <p:nvSpPr>
          <p:cNvPr id="40" name="radar-point-0"/>
          <p:cNvSpPr/>
          <p:nvPr/>
        </p:nvSpPr>
        <p:spPr>
          <a:xfrm>
            <a:off x="10204704" y="2258568"/>
            <a:ext cx="146304" cy="146304"/>
          </a:xfrm>
          <a:prstGeom prst="ellipse">
            <a:avLst/>
          </a:prstGeom>
          <a:solidFill>
            <a:srgbClr val="FF4500"/>
          </a:solidFill>
          <a:ln w="10160">
            <a:solidFill>
              <a:srgbClr val="FF4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adar-point-1"/>
          <p:cNvSpPr/>
          <p:nvPr/>
        </p:nvSpPr>
        <p:spPr>
          <a:xfrm>
            <a:off x="10806379" y="2825496"/>
            <a:ext cx="146304" cy="146304"/>
          </a:xfrm>
          <a:prstGeom prst="ellipse">
            <a:avLst/>
          </a:prstGeom>
          <a:solidFill>
            <a:srgbClr val="FF4500"/>
          </a:solidFill>
          <a:ln w="10160">
            <a:solidFill>
              <a:srgbClr val="FF4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adar-point-2"/>
          <p:cNvSpPr/>
          <p:nvPr/>
        </p:nvSpPr>
        <p:spPr>
          <a:xfrm>
            <a:off x="11139220" y="3712463"/>
            <a:ext cx="146304" cy="146304"/>
          </a:xfrm>
          <a:prstGeom prst="ellipse">
            <a:avLst/>
          </a:prstGeom>
          <a:solidFill>
            <a:srgbClr val="FF4500"/>
          </a:solidFill>
          <a:ln w="10160">
            <a:solidFill>
              <a:srgbClr val="FF4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adar-point-3"/>
          <p:cNvSpPr/>
          <p:nvPr/>
        </p:nvSpPr>
        <p:spPr>
          <a:xfrm>
            <a:off x="10204704" y="3995928"/>
            <a:ext cx="146304" cy="146304"/>
          </a:xfrm>
          <a:prstGeom prst="ellipse">
            <a:avLst/>
          </a:prstGeom>
          <a:solidFill>
            <a:srgbClr val="FF4500"/>
          </a:solidFill>
          <a:ln w="10160">
            <a:solidFill>
              <a:srgbClr val="FF4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adar-point-4"/>
          <p:cNvSpPr/>
          <p:nvPr/>
        </p:nvSpPr>
        <p:spPr>
          <a:xfrm>
            <a:off x="9317736" y="3685032"/>
            <a:ext cx="146304" cy="146304"/>
          </a:xfrm>
          <a:prstGeom prst="ellipse">
            <a:avLst/>
          </a:prstGeom>
          <a:solidFill>
            <a:srgbClr val="FF4500"/>
          </a:solidFill>
          <a:ln w="10160">
            <a:solidFill>
              <a:srgbClr val="FF4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adar-point-5"/>
          <p:cNvSpPr/>
          <p:nvPr/>
        </p:nvSpPr>
        <p:spPr>
          <a:xfrm>
            <a:off x="9650577" y="2852928"/>
            <a:ext cx="146304" cy="146304"/>
          </a:xfrm>
          <a:prstGeom prst="ellipse">
            <a:avLst/>
          </a:prstGeom>
          <a:solidFill>
            <a:srgbClr val="FF4500"/>
          </a:solidFill>
          <a:ln w="10160">
            <a:solidFill>
              <a:srgbClr val="FF4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matrix-note"/>
          <p:cNvSpPr txBox="1"/>
          <p:nvPr/>
        </p:nvSpPr>
        <p:spPr>
          <a:xfrm>
            <a:off x="9089136" y="4800600"/>
            <a:ext cx="2267712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00" b="0" lang="en-US">
                <a:solidFill>
                  <a:srgbClr val="F2E6E0"/>
                </a:solidFill>
                <a:latin typeface="Consolas"/>
              </a:rPr>
              <a:t>Editable table and quality geometry share one governed frame.</a:t>
            </a:r>
          </a:p>
        </p:txBody>
      </p:sp>
      <p:sp>
        <p:nvSpPr>
          <p:cNvPr id="47" name="flow-label-0"/>
          <p:cNvSpPr txBox="1"/>
          <p:nvPr/>
        </p:nvSpPr>
        <p:spPr>
          <a:xfrm>
            <a:off x="566928" y="5852160"/>
            <a:ext cx="137160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50" b="1" lang="en-US">
                <a:solidFill>
                  <a:srgbClr val="FF4500"/>
                </a:solidFill>
                <a:latin typeface="Consolas"/>
              </a:rPr>
              <a:t>Lock</a:t>
            </a:r>
          </a:p>
        </p:txBody>
      </p:sp>
      <p:sp>
        <p:nvSpPr>
          <p:cNvPr id="48" name="flow-label-1"/>
          <p:cNvSpPr txBox="1"/>
          <p:nvPr/>
        </p:nvSpPr>
        <p:spPr>
          <a:xfrm>
            <a:off x="2459736" y="5852160"/>
            <a:ext cx="137160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50" b="1" lang="en-US">
                <a:solidFill>
                  <a:srgbClr val="FFFFFF"/>
                </a:solidFill>
                <a:latin typeface="Consolas"/>
              </a:rPr>
              <a:t>Compose</a:t>
            </a:r>
          </a:p>
        </p:txBody>
      </p:sp>
      <p:sp>
        <p:nvSpPr>
          <p:cNvPr id="49" name="flow-label-2"/>
          <p:cNvSpPr txBox="1"/>
          <p:nvPr/>
        </p:nvSpPr>
        <p:spPr>
          <a:xfrm>
            <a:off x="4352544" y="5852160"/>
            <a:ext cx="137160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50" b="1" lang="en-US">
                <a:solidFill>
                  <a:srgbClr val="FF4500"/>
                </a:solidFill>
                <a:latin typeface="Consolas"/>
              </a:rPr>
              <a:t>Validate</a:t>
            </a:r>
          </a:p>
        </p:txBody>
      </p:sp>
      <p:sp>
        <p:nvSpPr>
          <p:cNvPr id="50" name="flow-label-3"/>
          <p:cNvSpPr txBox="1"/>
          <p:nvPr/>
        </p:nvSpPr>
        <p:spPr>
          <a:xfrm>
            <a:off x="6245352" y="5852160"/>
            <a:ext cx="137160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50" b="1" lang="en-US">
                <a:solidFill>
                  <a:srgbClr val="FF4500"/>
                </a:solidFill>
                <a:latin typeface="Consolas"/>
              </a:rPr>
              <a:t>Render</a:t>
            </a:r>
          </a:p>
        </p:txBody>
      </p:sp>
      <p:sp>
        <p:nvSpPr>
          <p:cNvPr id="51" name="flow-label-4"/>
          <p:cNvSpPr txBox="1"/>
          <p:nvPr/>
        </p:nvSpPr>
        <p:spPr>
          <a:xfrm>
            <a:off x="8138160" y="5852160"/>
            <a:ext cx="137160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50" b="1" lang="en-US">
                <a:solidFill>
                  <a:srgbClr val="FFFFFF"/>
                </a:solidFill>
                <a:latin typeface="Consolas"/>
              </a:rPr>
              <a:t>Inspect</a:t>
            </a:r>
          </a:p>
        </p:txBody>
      </p:sp>
      <p:sp>
        <p:nvSpPr>
          <p:cNvPr id="52" name="flow-label-5"/>
          <p:cNvSpPr txBox="1"/>
          <p:nvPr/>
        </p:nvSpPr>
        <p:spPr>
          <a:xfrm>
            <a:off x="10030968" y="5852160"/>
            <a:ext cx="137160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50" b="1" lang="en-US">
                <a:solidFill>
                  <a:srgbClr val="FF4500"/>
                </a:solidFill>
                <a:latin typeface="Consolas"/>
              </a:rPr>
              <a:t>Publish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 w="1016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uotone-right"/>
          <p:cNvSpPr/>
          <p:nvPr/>
        </p:nvSpPr>
        <p:spPr>
          <a:xfrm>
            <a:off x="6096304" y="0"/>
            <a:ext cx="6096304" cy="6858000"/>
          </a:xfrm>
          <a:prstGeom prst="rect">
            <a:avLst/>
          </a:prstGeom>
          <a:solidFill>
            <a:srgbClr val="FF4500"/>
          </a:solidFill>
          <a:ln w="10160">
            <a:solidFill>
              <a:srgbClr val="FF4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uotone-divider"/>
          <p:cNvSpPr/>
          <p:nvPr/>
        </p:nvSpPr>
        <p:spPr>
          <a:xfrm>
            <a:off x="6072530" y="0"/>
            <a:ext cx="45720" cy="685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op-band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F4500"/>
          </a:solidFill>
          <a:ln w="10160">
            <a:solidFill>
              <a:srgbClr val="FF4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ortfolio-0-shell"/>
          <p:cNvSpPr/>
          <p:nvPr/>
        </p:nvSpPr>
        <p:spPr>
          <a:xfrm>
            <a:off x="457200" y="1097280"/>
            <a:ext cx="2395728" cy="2057400"/>
          </a:xfrm>
          <a:prstGeom prst="rect">
            <a:avLst/>
          </a:prstGeom>
          <a:solidFill>
            <a:srgbClr val="1A1A2E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ortfolio-1-shell"/>
          <p:cNvSpPr/>
          <p:nvPr/>
        </p:nvSpPr>
        <p:spPr>
          <a:xfrm>
            <a:off x="3054096" y="1097280"/>
            <a:ext cx="2395728" cy="2057400"/>
          </a:xfrm>
          <a:prstGeom prst="rect">
            <a:avLst/>
          </a:prstGeom>
          <a:solidFill>
            <a:srgbClr val="1A1A2E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ortfolio-2-shell"/>
          <p:cNvSpPr/>
          <p:nvPr/>
        </p:nvSpPr>
        <p:spPr>
          <a:xfrm>
            <a:off x="5650992" y="1097280"/>
            <a:ext cx="2395728" cy="2057400"/>
          </a:xfrm>
          <a:prstGeom prst="rect">
            <a:avLst/>
          </a:prstGeom>
          <a:solidFill>
            <a:srgbClr val="1A1A2E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ortfolio-3-shell"/>
          <p:cNvSpPr/>
          <p:nvPr/>
        </p:nvSpPr>
        <p:spPr>
          <a:xfrm>
            <a:off x="457200" y="3429000"/>
            <a:ext cx="2395728" cy="2057400"/>
          </a:xfrm>
          <a:prstGeom prst="rect">
            <a:avLst/>
          </a:prstGeom>
          <a:solidFill>
            <a:srgbClr val="1A1A2E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ortfolio-4-shell"/>
          <p:cNvSpPr/>
          <p:nvPr/>
        </p:nvSpPr>
        <p:spPr>
          <a:xfrm>
            <a:off x="3054096" y="3429000"/>
            <a:ext cx="2395728" cy="2057400"/>
          </a:xfrm>
          <a:prstGeom prst="rect">
            <a:avLst/>
          </a:prstGeom>
          <a:solidFill>
            <a:srgbClr val="1A1A2E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portfolio-5-shell"/>
          <p:cNvSpPr/>
          <p:nvPr/>
        </p:nvSpPr>
        <p:spPr>
          <a:xfrm>
            <a:off x="5650992" y="3429000"/>
            <a:ext cx="2395728" cy="2057400"/>
          </a:xfrm>
          <a:prstGeom prst="rect">
            <a:avLst/>
          </a:prstGeom>
          <a:solidFill>
            <a:srgbClr val="1A1A2E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portfolio-rail-shell"/>
          <p:cNvSpPr/>
          <p:nvPr/>
        </p:nvSpPr>
        <p:spPr>
          <a:xfrm>
            <a:off x="8458200" y="1097280"/>
            <a:ext cx="3273552" cy="4892040"/>
          </a:xfrm>
          <a:prstGeom prst="rect">
            <a:avLst/>
          </a:prstGeom>
          <a:solidFill>
            <a:srgbClr val="FF4500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ortfolio-0-accent"/>
          <p:cNvSpPr/>
          <p:nvPr/>
        </p:nvSpPr>
        <p:spPr>
          <a:xfrm>
            <a:off x="457200" y="1097280"/>
            <a:ext cx="73152" cy="2057400"/>
          </a:xfrm>
          <a:prstGeom prst="rect">
            <a:avLst/>
          </a:prstGeom>
          <a:solidFill>
            <a:srgbClr val="FF4500"/>
          </a:solidFill>
          <a:ln w="10160">
            <a:solidFill>
              <a:srgbClr val="FF4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ortfolio-1-accent"/>
          <p:cNvSpPr/>
          <p:nvPr/>
        </p:nvSpPr>
        <p:spPr>
          <a:xfrm>
            <a:off x="3054096" y="1097280"/>
            <a:ext cx="73152" cy="2057400"/>
          </a:xfrm>
          <a:prstGeom prst="rect">
            <a:avLst/>
          </a:prstGeom>
          <a:solidFill>
            <a:srgbClr val="FF4500"/>
          </a:solidFill>
          <a:ln w="10160">
            <a:solidFill>
              <a:srgbClr val="FF4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portfolio-2-accent"/>
          <p:cNvSpPr/>
          <p:nvPr/>
        </p:nvSpPr>
        <p:spPr>
          <a:xfrm>
            <a:off x="5650992" y="1097280"/>
            <a:ext cx="73152" cy="2057400"/>
          </a:xfrm>
          <a:prstGeom prst="rect">
            <a:avLst/>
          </a:prstGeom>
          <a:solidFill>
            <a:srgbClr val="FF4500"/>
          </a:solidFill>
          <a:ln w="10160">
            <a:solidFill>
              <a:srgbClr val="FF4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portfolio-3-accent"/>
          <p:cNvSpPr/>
          <p:nvPr/>
        </p:nvSpPr>
        <p:spPr>
          <a:xfrm>
            <a:off x="457200" y="3429000"/>
            <a:ext cx="73152" cy="2057400"/>
          </a:xfrm>
          <a:prstGeom prst="rect">
            <a:avLst/>
          </a:prstGeom>
          <a:solidFill>
            <a:srgbClr val="FF4500"/>
          </a:solidFill>
          <a:ln w="10160">
            <a:solidFill>
              <a:srgbClr val="FF4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portfolio-4-accent"/>
          <p:cNvSpPr/>
          <p:nvPr/>
        </p:nvSpPr>
        <p:spPr>
          <a:xfrm>
            <a:off x="3054096" y="3429000"/>
            <a:ext cx="73152" cy="2057400"/>
          </a:xfrm>
          <a:prstGeom prst="rect">
            <a:avLst/>
          </a:prstGeom>
          <a:solidFill>
            <a:srgbClr val="FF4500"/>
          </a:solidFill>
          <a:ln w="10160">
            <a:solidFill>
              <a:srgbClr val="FF4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portfolio-5-accent"/>
          <p:cNvSpPr/>
          <p:nvPr/>
        </p:nvSpPr>
        <p:spPr>
          <a:xfrm>
            <a:off x="5650992" y="3429000"/>
            <a:ext cx="73152" cy="2057400"/>
          </a:xfrm>
          <a:prstGeom prst="rect">
            <a:avLst/>
          </a:prstGeom>
          <a:solidFill>
            <a:srgbClr val="FF4500"/>
          </a:solidFill>
          <a:ln w="10160">
            <a:solidFill>
              <a:srgbClr val="FF4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portfolio-rail-accent"/>
          <p:cNvSpPr/>
          <p:nvPr/>
        </p:nvSpPr>
        <p:spPr>
          <a:xfrm>
            <a:off x="8458200" y="1097280"/>
            <a:ext cx="73152" cy="4892040"/>
          </a:xfrm>
          <a:prstGeom prst="rect">
            <a:avLst/>
          </a:prstGeom>
          <a:solidFill>
            <a:srgbClr val="FF4500"/>
          </a:solidFill>
          <a:ln w="10160">
            <a:solidFill>
              <a:srgbClr val="FF4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portfolio-micro-0-0"/>
          <p:cNvSpPr/>
          <p:nvPr/>
        </p:nvSpPr>
        <p:spPr>
          <a:xfrm>
            <a:off x="676656" y="2139696"/>
            <a:ext cx="859536" cy="256032"/>
          </a:xfrm>
          <a:prstGeom prst="roundRect">
            <a:avLst/>
          </a:prstGeom>
          <a:solidFill>
            <a:srgbClr val="FF4500"/>
          </a:solidFill>
          <a:ln w="10160">
            <a:solidFill>
              <a:srgbClr val="FF4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portfolio-micro-0-1"/>
          <p:cNvSpPr/>
          <p:nvPr/>
        </p:nvSpPr>
        <p:spPr>
          <a:xfrm>
            <a:off x="1664208" y="2139696"/>
            <a:ext cx="859536" cy="256032"/>
          </a:xfrm>
          <a:prstGeom prst="roundRect">
            <a:avLst/>
          </a:prstGeom>
          <a:solidFill>
            <a:srgbClr val="FF4500"/>
          </a:solidFill>
          <a:ln w="10160">
            <a:solidFill>
              <a:srgbClr val="FF4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portfolio-micro-0-2"/>
          <p:cNvSpPr/>
          <p:nvPr/>
        </p:nvSpPr>
        <p:spPr>
          <a:xfrm>
            <a:off x="676656" y="2523744"/>
            <a:ext cx="859536" cy="256032"/>
          </a:xfrm>
          <a:prstGeom prst="roundRect">
            <a:avLst/>
          </a:prstGeom>
          <a:solidFill>
            <a:srgbClr val="FF4500"/>
          </a:solidFill>
          <a:ln w="10160">
            <a:solidFill>
              <a:srgbClr val="FF4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portfolio-micro-0-3"/>
          <p:cNvSpPr/>
          <p:nvPr/>
        </p:nvSpPr>
        <p:spPr>
          <a:xfrm>
            <a:off x="1664208" y="2523744"/>
            <a:ext cx="859536" cy="256032"/>
          </a:xfrm>
          <a:prstGeom prst="roundRect">
            <a:avLst/>
          </a:prstGeom>
          <a:solidFill>
            <a:srgbClr val="FF4500"/>
          </a:solidFill>
          <a:ln w="10160">
            <a:solidFill>
              <a:srgbClr val="FF4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portfolio-micro-1-0"/>
          <p:cNvSpPr/>
          <p:nvPr/>
        </p:nvSpPr>
        <p:spPr>
          <a:xfrm>
            <a:off x="3273552" y="2139696"/>
            <a:ext cx="859536" cy="256032"/>
          </a:xfrm>
          <a:prstGeom prst="roundRect">
            <a:avLst/>
          </a:prstGeom>
          <a:solidFill>
            <a:srgbClr val="FF4500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portfolio-micro-1-1"/>
          <p:cNvSpPr/>
          <p:nvPr/>
        </p:nvSpPr>
        <p:spPr>
          <a:xfrm>
            <a:off x="4261104" y="2139696"/>
            <a:ext cx="859536" cy="256032"/>
          </a:xfrm>
          <a:prstGeom prst="roundRect">
            <a:avLst/>
          </a:prstGeom>
          <a:solidFill>
            <a:srgbClr val="FF4500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portfolio-micro-1-2"/>
          <p:cNvSpPr/>
          <p:nvPr/>
        </p:nvSpPr>
        <p:spPr>
          <a:xfrm>
            <a:off x="3273552" y="2523744"/>
            <a:ext cx="859536" cy="256032"/>
          </a:xfrm>
          <a:prstGeom prst="roundRect">
            <a:avLst/>
          </a:prstGeom>
          <a:solidFill>
            <a:srgbClr val="FF4500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portfolio-micro-1-3"/>
          <p:cNvSpPr/>
          <p:nvPr/>
        </p:nvSpPr>
        <p:spPr>
          <a:xfrm>
            <a:off x="4261104" y="2523744"/>
            <a:ext cx="859536" cy="256032"/>
          </a:xfrm>
          <a:prstGeom prst="roundRect">
            <a:avLst/>
          </a:prstGeom>
          <a:solidFill>
            <a:srgbClr val="FF4500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portfolio-micro-2-0"/>
          <p:cNvSpPr/>
          <p:nvPr/>
        </p:nvSpPr>
        <p:spPr>
          <a:xfrm>
            <a:off x="5870448" y="2139696"/>
            <a:ext cx="859536" cy="256032"/>
          </a:xfrm>
          <a:prstGeom prst="roundRect">
            <a:avLst/>
          </a:prstGeom>
          <a:solidFill>
            <a:srgbClr val="FF4500"/>
          </a:solidFill>
          <a:ln w="10160">
            <a:solidFill>
              <a:srgbClr val="FF4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portfolio-micro-2-1"/>
          <p:cNvSpPr/>
          <p:nvPr/>
        </p:nvSpPr>
        <p:spPr>
          <a:xfrm>
            <a:off x="6858000" y="2139696"/>
            <a:ext cx="859536" cy="256032"/>
          </a:xfrm>
          <a:prstGeom prst="roundRect">
            <a:avLst/>
          </a:prstGeom>
          <a:solidFill>
            <a:srgbClr val="FF4500"/>
          </a:solidFill>
          <a:ln w="10160">
            <a:solidFill>
              <a:srgbClr val="FF4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portfolio-micro-2-2"/>
          <p:cNvSpPr/>
          <p:nvPr/>
        </p:nvSpPr>
        <p:spPr>
          <a:xfrm>
            <a:off x="5870448" y="2523744"/>
            <a:ext cx="859536" cy="256032"/>
          </a:xfrm>
          <a:prstGeom prst="roundRect">
            <a:avLst/>
          </a:prstGeom>
          <a:solidFill>
            <a:srgbClr val="FF4500"/>
          </a:solidFill>
          <a:ln w="10160">
            <a:solidFill>
              <a:srgbClr val="FF4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portfolio-micro-2-3"/>
          <p:cNvSpPr/>
          <p:nvPr/>
        </p:nvSpPr>
        <p:spPr>
          <a:xfrm>
            <a:off x="6858000" y="2523744"/>
            <a:ext cx="859536" cy="256032"/>
          </a:xfrm>
          <a:prstGeom prst="roundRect">
            <a:avLst/>
          </a:prstGeom>
          <a:solidFill>
            <a:srgbClr val="FF4500"/>
          </a:solidFill>
          <a:ln w="10160">
            <a:solidFill>
              <a:srgbClr val="FF4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portfolio-micro-3-0"/>
          <p:cNvSpPr/>
          <p:nvPr/>
        </p:nvSpPr>
        <p:spPr>
          <a:xfrm>
            <a:off x="676656" y="4471416"/>
            <a:ext cx="859536" cy="256032"/>
          </a:xfrm>
          <a:prstGeom prst="roundRect">
            <a:avLst/>
          </a:prstGeom>
          <a:solidFill>
            <a:srgbClr val="FF4500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portfolio-micro-3-1"/>
          <p:cNvSpPr/>
          <p:nvPr/>
        </p:nvSpPr>
        <p:spPr>
          <a:xfrm>
            <a:off x="1664208" y="4471416"/>
            <a:ext cx="859536" cy="256032"/>
          </a:xfrm>
          <a:prstGeom prst="roundRect">
            <a:avLst/>
          </a:prstGeom>
          <a:solidFill>
            <a:srgbClr val="FF4500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portfolio-micro-3-2"/>
          <p:cNvSpPr/>
          <p:nvPr/>
        </p:nvSpPr>
        <p:spPr>
          <a:xfrm>
            <a:off x="676656" y="4855464"/>
            <a:ext cx="859536" cy="256032"/>
          </a:xfrm>
          <a:prstGeom prst="roundRect">
            <a:avLst/>
          </a:prstGeom>
          <a:solidFill>
            <a:srgbClr val="FF4500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portfolio-micro-3-3"/>
          <p:cNvSpPr/>
          <p:nvPr/>
        </p:nvSpPr>
        <p:spPr>
          <a:xfrm>
            <a:off x="1664208" y="4855464"/>
            <a:ext cx="859536" cy="256032"/>
          </a:xfrm>
          <a:prstGeom prst="roundRect">
            <a:avLst/>
          </a:prstGeom>
          <a:solidFill>
            <a:srgbClr val="FF4500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portfolio-micro-4-0"/>
          <p:cNvSpPr/>
          <p:nvPr/>
        </p:nvSpPr>
        <p:spPr>
          <a:xfrm>
            <a:off x="3273552" y="4471416"/>
            <a:ext cx="859536" cy="256032"/>
          </a:xfrm>
          <a:prstGeom prst="roundRect">
            <a:avLst/>
          </a:prstGeom>
          <a:solidFill>
            <a:srgbClr val="FF4500"/>
          </a:solidFill>
          <a:ln w="10160">
            <a:solidFill>
              <a:srgbClr val="FF4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portfolio-micro-4-1"/>
          <p:cNvSpPr/>
          <p:nvPr/>
        </p:nvSpPr>
        <p:spPr>
          <a:xfrm>
            <a:off x="4261104" y="4471416"/>
            <a:ext cx="859536" cy="256032"/>
          </a:xfrm>
          <a:prstGeom prst="roundRect">
            <a:avLst/>
          </a:prstGeom>
          <a:solidFill>
            <a:srgbClr val="FF4500"/>
          </a:solidFill>
          <a:ln w="10160">
            <a:solidFill>
              <a:srgbClr val="FF4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portfolio-micro-4-2"/>
          <p:cNvSpPr/>
          <p:nvPr/>
        </p:nvSpPr>
        <p:spPr>
          <a:xfrm>
            <a:off x="3273552" y="4855464"/>
            <a:ext cx="859536" cy="256032"/>
          </a:xfrm>
          <a:prstGeom prst="roundRect">
            <a:avLst/>
          </a:prstGeom>
          <a:solidFill>
            <a:srgbClr val="FF4500"/>
          </a:solidFill>
          <a:ln w="10160">
            <a:solidFill>
              <a:srgbClr val="FF4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portfolio-micro-4-3"/>
          <p:cNvSpPr/>
          <p:nvPr/>
        </p:nvSpPr>
        <p:spPr>
          <a:xfrm>
            <a:off x="4261104" y="4855464"/>
            <a:ext cx="859536" cy="256032"/>
          </a:xfrm>
          <a:prstGeom prst="roundRect">
            <a:avLst/>
          </a:prstGeom>
          <a:solidFill>
            <a:srgbClr val="FF4500"/>
          </a:solidFill>
          <a:ln w="10160">
            <a:solidFill>
              <a:srgbClr val="FF4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portfolio-micro-5-0"/>
          <p:cNvSpPr/>
          <p:nvPr/>
        </p:nvSpPr>
        <p:spPr>
          <a:xfrm>
            <a:off x="5870448" y="4471416"/>
            <a:ext cx="859536" cy="256032"/>
          </a:xfrm>
          <a:prstGeom prst="roundRect">
            <a:avLst/>
          </a:prstGeom>
          <a:solidFill>
            <a:srgbClr val="FF4500"/>
          </a:solidFill>
          <a:ln w="10160">
            <a:solidFill>
              <a:srgbClr val="FF4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portfolio-micro-5-1"/>
          <p:cNvSpPr/>
          <p:nvPr/>
        </p:nvSpPr>
        <p:spPr>
          <a:xfrm>
            <a:off x="6858000" y="4471416"/>
            <a:ext cx="859536" cy="256032"/>
          </a:xfrm>
          <a:prstGeom prst="roundRect">
            <a:avLst/>
          </a:prstGeom>
          <a:solidFill>
            <a:srgbClr val="FF4500"/>
          </a:solidFill>
          <a:ln w="10160">
            <a:solidFill>
              <a:srgbClr val="FF4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portfolio-micro-5-2"/>
          <p:cNvSpPr/>
          <p:nvPr/>
        </p:nvSpPr>
        <p:spPr>
          <a:xfrm>
            <a:off x="5870448" y="4855464"/>
            <a:ext cx="859536" cy="256032"/>
          </a:xfrm>
          <a:prstGeom prst="roundRect">
            <a:avLst/>
          </a:prstGeom>
          <a:solidFill>
            <a:srgbClr val="FF4500"/>
          </a:solidFill>
          <a:ln w="10160">
            <a:solidFill>
              <a:srgbClr val="FF4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portfolio-micro-5-3"/>
          <p:cNvSpPr/>
          <p:nvPr/>
        </p:nvSpPr>
        <p:spPr>
          <a:xfrm>
            <a:off x="6858000" y="4855464"/>
            <a:ext cx="859536" cy="256032"/>
          </a:xfrm>
          <a:prstGeom prst="roundRect">
            <a:avLst/>
          </a:prstGeom>
          <a:solidFill>
            <a:srgbClr val="FF4500"/>
          </a:solidFill>
          <a:ln w="10160">
            <a:solidFill>
              <a:srgbClr val="FF4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lease-cell-0"/>
          <p:cNvSpPr/>
          <p:nvPr/>
        </p:nvSpPr>
        <p:spPr>
          <a:xfrm>
            <a:off x="8723376" y="1737360"/>
            <a:ext cx="2697480" cy="512064"/>
          </a:xfrm>
          <a:prstGeom prst="roundRect">
            <a:avLst/>
          </a:prstGeom>
          <a:solidFill>
            <a:srgbClr val="1A1A2E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lease-cell-1"/>
          <p:cNvSpPr/>
          <p:nvPr/>
        </p:nvSpPr>
        <p:spPr>
          <a:xfrm>
            <a:off x="8723376" y="2432304"/>
            <a:ext cx="2697480" cy="512064"/>
          </a:xfrm>
          <a:prstGeom prst="roundRect">
            <a:avLst/>
          </a:prstGeom>
          <a:solidFill>
            <a:srgbClr val="1A1A2E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lease-cell-2"/>
          <p:cNvSpPr/>
          <p:nvPr/>
        </p:nvSpPr>
        <p:spPr>
          <a:xfrm>
            <a:off x="8723376" y="3127248"/>
            <a:ext cx="2697480" cy="512064"/>
          </a:xfrm>
          <a:prstGeom prst="roundRect">
            <a:avLst/>
          </a:prstGeom>
          <a:solidFill>
            <a:srgbClr val="1A1A2E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lease-cell-3"/>
          <p:cNvSpPr/>
          <p:nvPr/>
        </p:nvSpPr>
        <p:spPr>
          <a:xfrm>
            <a:off x="8723376" y="3822191"/>
            <a:ext cx="2697480" cy="512064"/>
          </a:xfrm>
          <a:prstGeom prst="roundRect">
            <a:avLst/>
          </a:prstGeom>
          <a:solidFill>
            <a:srgbClr val="1A1A2E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lease-cell-4"/>
          <p:cNvSpPr/>
          <p:nvPr/>
        </p:nvSpPr>
        <p:spPr>
          <a:xfrm>
            <a:off x="8723376" y="4517136"/>
            <a:ext cx="2697480" cy="512064"/>
          </a:xfrm>
          <a:prstGeom prst="roundRect">
            <a:avLst/>
          </a:prstGeom>
          <a:solidFill>
            <a:srgbClr val="1A1A2E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portfolio-banner"/>
          <p:cNvSpPr/>
          <p:nvPr/>
        </p:nvSpPr>
        <p:spPr>
          <a:xfrm>
            <a:off x="457200" y="5559552"/>
            <a:ext cx="7882127" cy="438912"/>
          </a:xfrm>
          <a:prstGeom prst="roundRect">
            <a:avLst/>
          </a:prstGeom>
          <a:solidFill>
            <a:srgbClr val="FF4500"/>
          </a:solidFill>
          <a:ln w="10160">
            <a:solidFill>
              <a:srgbClr val="FF4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profile-tag"/>
          <p:cNvSpPr txBox="1"/>
          <p:nvPr/>
        </p:nvSpPr>
        <p:spPr>
          <a:xfrm>
            <a:off x="457200" y="201168"/>
            <a:ext cx="768096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1" lang="en-US">
                <a:solidFill>
                  <a:srgbClr val="FF4500"/>
                </a:solidFill>
                <a:latin typeface="Consolas"/>
              </a:rPr>
              <a:t>V3 STRESS SUITE  ·  DUOTONE COLOR SPLIT  ·  PORTFOLIO GRID</a:t>
            </a:r>
          </a:p>
        </p:txBody>
      </p:sp>
      <p:sp>
        <p:nvSpPr>
          <p:cNvPr id="51" name="slide-index"/>
          <p:cNvSpPr txBox="1"/>
          <p:nvPr/>
        </p:nvSpPr>
        <p:spPr>
          <a:xfrm>
            <a:off x="10808208" y="201168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00" b="1" lang="en-US">
                <a:solidFill>
                  <a:srgbClr val="F2E6E0"/>
                </a:solidFill>
                <a:latin typeface="Consolas"/>
              </a:rPr>
              <a:t>34/60</a:t>
            </a:r>
          </a:p>
        </p:txBody>
      </p:sp>
      <p:sp>
        <p:nvSpPr>
          <p:cNvPr id="52" name="title"/>
          <p:cNvSpPr txBox="1"/>
          <p:nvPr/>
        </p:nvSpPr>
        <p:spPr>
          <a:xfrm>
            <a:off x="457200" y="484632"/>
            <a:ext cx="11274552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200" b="1" lang="en-US">
                <a:solidFill>
                  <a:srgbClr val="FFFFFF"/>
                </a:solidFill>
                <a:latin typeface="Arial Black"/>
              </a:rPr>
              <a:t>Portfolio grids compress six validated capability views into one scan</a:t>
            </a:r>
          </a:p>
        </p:txBody>
      </p:sp>
      <p:sp>
        <p:nvSpPr>
          <p:cNvPr id="53" name="footer"/>
          <p:cNvSpPr txBox="1"/>
          <p:nvPr/>
        </p:nvSpPr>
        <p:spPr>
          <a:xfrm>
            <a:off x="457200" y="6473952"/>
            <a:ext cx="1051560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0" lang="en-US">
                <a:solidFill>
                  <a:srgbClr val="F2E6E0"/>
                </a:solidFill>
                <a:latin typeface="Consolas"/>
              </a:rPr>
              <a:t>Native-object stress fixture · exact orange-red and navy split with cross-panel color echo · editable geometry and recorded style lock</a:t>
            </a:r>
          </a:p>
        </p:txBody>
      </p:sp>
      <p:sp>
        <p:nvSpPr>
          <p:cNvPr id="54" name="portfolio-num-0"/>
          <p:cNvSpPr txBox="1"/>
          <p:nvPr/>
        </p:nvSpPr>
        <p:spPr>
          <a:xfrm>
            <a:off x="676656" y="1298448"/>
            <a:ext cx="566928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1" lang="en-US">
                <a:solidFill>
                  <a:srgbClr val="FF4500"/>
                </a:solidFill>
                <a:latin typeface="Arial Black"/>
              </a:rPr>
              <a:t>01</a:t>
            </a:r>
          </a:p>
        </p:txBody>
      </p:sp>
      <p:sp>
        <p:nvSpPr>
          <p:cNvPr id="55" name="portfolio-name-0"/>
          <p:cNvSpPr txBox="1"/>
          <p:nvPr/>
        </p:nvSpPr>
        <p:spPr>
          <a:xfrm>
            <a:off x="676656" y="1719072"/>
            <a:ext cx="192024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50" b="1" lang="en-US">
                <a:solidFill>
                  <a:srgbClr val="FFFFFF"/>
                </a:solidFill>
                <a:latin typeface="Consolas"/>
              </a:rPr>
              <a:t>Profile lock</a:t>
            </a:r>
          </a:p>
        </p:txBody>
      </p:sp>
      <p:sp>
        <p:nvSpPr>
          <p:cNvPr id="56" name="portfolio-micro-label-0-0"/>
          <p:cNvSpPr txBox="1"/>
          <p:nvPr/>
        </p:nvSpPr>
        <p:spPr>
          <a:xfrm>
            <a:off x="722376" y="2208276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FF4500"/>
                </a:solidFill>
                <a:latin typeface="Consolas"/>
              </a:rPr>
              <a:t>spec</a:t>
            </a:r>
          </a:p>
        </p:txBody>
      </p:sp>
      <p:sp>
        <p:nvSpPr>
          <p:cNvPr id="57" name="portfolio-micro-label-0-1"/>
          <p:cNvSpPr txBox="1"/>
          <p:nvPr/>
        </p:nvSpPr>
        <p:spPr>
          <a:xfrm>
            <a:off x="1709928" y="2208276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FF4500"/>
                </a:solidFill>
                <a:latin typeface="Consolas"/>
              </a:rPr>
              <a:t>audit</a:t>
            </a:r>
          </a:p>
        </p:txBody>
      </p:sp>
      <p:sp>
        <p:nvSpPr>
          <p:cNvPr id="58" name="portfolio-micro-label-0-2"/>
          <p:cNvSpPr txBox="1"/>
          <p:nvPr/>
        </p:nvSpPr>
        <p:spPr>
          <a:xfrm>
            <a:off x="722376" y="2592324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FF4500"/>
                </a:solidFill>
                <a:latin typeface="Consolas"/>
              </a:rPr>
              <a:t>trace</a:t>
            </a:r>
          </a:p>
        </p:txBody>
      </p:sp>
      <p:sp>
        <p:nvSpPr>
          <p:cNvPr id="59" name="portfolio-micro-label-0-3"/>
          <p:cNvSpPr txBox="1"/>
          <p:nvPr/>
        </p:nvSpPr>
        <p:spPr>
          <a:xfrm>
            <a:off x="1709928" y="2592324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FF4500"/>
                </a:solidFill>
                <a:latin typeface="Consolas"/>
              </a:rPr>
              <a:t>pass</a:t>
            </a:r>
          </a:p>
        </p:txBody>
      </p:sp>
      <p:sp>
        <p:nvSpPr>
          <p:cNvPr id="60" name="portfolio-num-1"/>
          <p:cNvSpPr txBox="1"/>
          <p:nvPr/>
        </p:nvSpPr>
        <p:spPr>
          <a:xfrm>
            <a:off x="3273552" y="1298448"/>
            <a:ext cx="566928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1" lang="en-US">
                <a:solidFill>
                  <a:srgbClr val="FFFFFF"/>
                </a:solidFill>
                <a:latin typeface="Arial Black"/>
              </a:rPr>
              <a:t>02</a:t>
            </a:r>
          </a:p>
        </p:txBody>
      </p:sp>
      <p:sp>
        <p:nvSpPr>
          <p:cNvPr id="61" name="portfolio-name-1"/>
          <p:cNvSpPr txBox="1"/>
          <p:nvPr/>
        </p:nvSpPr>
        <p:spPr>
          <a:xfrm>
            <a:off x="3273552" y="1719072"/>
            <a:ext cx="192024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50" b="1" lang="en-US">
                <a:solidFill>
                  <a:srgbClr val="FFFFFF"/>
                </a:solidFill>
                <a:latin typeface="Consolas"/>
              </a:rPr>
              <a:t>Narrative</a:t>
            </a:r>
          </a:p>
        </p:txBody>
      </p:sp>
      <p:sp>
        <p:nvSpPr>
          <p:cNvPr id="62" name="portfolio-micro-label-1-0"/>
          <p:cNvSpPr txBox="1"/>
          <p:nvPr/>
        </p:nvSpPr>
        <p:spPr>
          <a:xfrm>
            <a:off x="3319272" y="2208276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FFFFFF"/>
                </a:solidFill>
                <a:latin typeface="Consolas"/>
              </a:rPr>
              <a:t>spec</a:t>
            </a:r>
          </a:p>
        </p:txBody>
      </p:sp>
      <p:sp>
        <p:nvSpPr>
          <p:cNvPr id="63" name="portfolio-micro-label-1-1"/>
          <p:cNvSpPr txBox="1"/>
          <p:nvPr/>
        </p:nvSpPr>
        <p:spPr>
          <a:xfrm>
            <a:off x="4306824" y="2208276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FFFFFF"/>
                </a:solidFill>
                <a:latin typeface="Consolas"/>
              </a:rPr>
              <a:t>audit</a:t>
            </a:r>
          </a:p>
        </p:txBody>
      </p:sp>
      <p:sp>
        <p:nvSpPr>
          <p:cNvPr id="64" name="portfolio-micro-label-1-2"/>
          <p:cNvSpPr txBox="1"/>
          <p:nvPr/>
        </p:nvSpPr>
        <p:spPr>
          <a:xfrm>
            <a:off x="3319272" y="2592324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FFFFFF"/>
                </a:solidFill>
                <a:latin typeface="Consolas"/>
              </a:rPr>
              <a:t>trace</a:t>
            </a:r>
          </a:p>
        </p:txBody>
      </p:sp>
      <p:sp>
        <p:nvSpPr>
          <p:cNvPr id="65" name="portfolio-micro-label-1-3"/>
          <p:cNvSpPr txBox="1"/>
          <p:nvPr/>
        </p:nvSpPr>
        <p:spPr>
          <a:xfrm>
            <a:off x="4306824" y="2592324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FFFFFF"/>
                </a:solidFill>
                <a:latin typeface="Consolas"/>
              </a:rPr>
              <a:t>pass</a:t>
            </a:r>
          </a:p>
        </p:txBody>
      </p:sp>
      <p:sp>
        <p:nvSpPr>
          <p:cNvPr id="66" name="portfolio-num-2"/>
          <p:cNvSpPr txBox="1"/>
          <p:nvPr/>
        </p:nvSpPr>
        <p:spPr>
          <a:xfrm>
            <a:off x="5870448" y="1298448"/>
            <a:ext cx="566928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1" lang="en-US">
                <a:solidFill>
                  <a:srgbClr val="FF4500"/>
                </a:solidFill>
                <a:latin typeface="Arial Black"/>
              </a:rPr>
              <a:t>03</a:t>
            </a:r>
          </a:p>
        </p:txBody>
      </p:sp>
      <p:sp>
        <p:nvSpPr>
          <p:cNvPr id="67" name="portfolio-name-2"/>
          <p:cNvSpPr txBox="1"/>
          <p:nvPr/>
        </p:nvSpPr>
        <p:spPr>
          <a:xfrm>
            <a:off x="5870448" y="1719072"/>
            <a:ext cx="192024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50" b="1" lang="en-US">
                <a:solidFill>
                  <a:srgbClr val="FFFFFF"/>
                </a:solidFill>
                <a:latin typeface="Consolas"/>
              </a:rPr>
              <a:t>Geometry</a:t>
            </a:r>
          </a:p>
        </p:txBody>
      </p:sp>
      <p:sp>
        <p:nvSpPr>
          <p:cNvPr id="68" name="portfolio-micro-label-2-0"/>
          <p:cNvSpPr txBox="1"/>
          <p:nvPr/>
        </p:nvSpPr>
        <p:spPr>
          <a:xfrm>
            <a:off x="5916168" y="2208276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FF4500"/>
                </a:solidFill>
                <a:latin typeface="Consolas"/>
              </a:rPr>
              <a:t>spec</a:t>
            </a:r>
          </a:p>
        </p:txBody>
      </p:sp>
      <p:sp>
        <p:nvSpPr>
          <p:cNvPr id="69" name="portfolio-micro-label-2-1"/>
          <p:cNvSpPr txBox="1"/>
          <p:nvPr/>
        </p:nvSpPr>
        <p:spPr>
          <a:xfrm>
            <a:off x="6903720" y="2208276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FF4500"/>
                </a:solidFill>
                <a:latin typeface="Consolas"/>
              </a:rPr>
              <a:t>audit</a:t>
            </a:r>
          </a:p>
        </p:txBody>
      </p:sp>
      <p:sp>
        <p:nvSpPr>
          <p:cNvPr id="70" name="portfolio-micro-label-2-2"/>
          <p:cNvSpPr txBox="1"/>
          <p:nvPr/>
        </p:nvSpPr>
        <p:spPr>
          <a:xfrm>
            <a:off x="5916168" y="2592324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FF4500"/>
                </a:solidFill>
                <a:latin typeface="Consolas"/>
              </a:rPr>
              <a:t>trace</a:t>
            </a:r>
          </a:p>
        </p:txBody>
      </p:sp>
      <p:sp>
        <p:nvSpPr>
          <p:cNvPr id="71" name="portfolio-micro-label-2-3"/>
          <p:cNvSpPr txBox="1"/>
          <p:nvPr/>
        </p:nvSpPr>
        <p:spPr>
          <a:xfrm>
            <a:off x="6903720" y="2592324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FF4500"/>
                </a:solidFill>
                <a:latin typeface="Consolas"/>
              </a:rPr>
              <a:t>pass</a:t>
            </a:r>
          </a:p>
        </p:txBody>
      </p:sp>
      <p:sp>
        <p:nvSpPr>
          <p:cNvPr id="72" name="portfolio-num-3"/>
          <p:cNvSpPr txBox="1"/>
          <p:nvPr/>
        </p:nvSpPr>
        <p:spPr>
          <a:xfrm>
            <a:off x="676656" y="3630168"/>
            <a:ext cx="566928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1" lang="en-US">
                <a:solidFill>
                  <a:srgbClr val="FFFFFF"/>
                </a:solidFill>
                <a:latin typeface="Arial Black"/>
              </a:rPr>
              <a:t>04</a:t>
            </a:r>
          </a:p>
        </p:txBody>
      </p:sp>
      <p:sp>
        <p:nvSpPr>
          <p:cNvPr id="73" name="portfolio-name-3"/>
          <p:cNvSpPr txBox="1"/>
          <p:nvPr/>
        </p:nvSpPr>
        <p:spPr>
          <a:xfrm>
            <a:off x="676656" y="4050791"/>
            <a:ext cx="192024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50" b="1" lang="en-US">
                <a:solidFill>
                  <a:srgbClr val="FFFFFF"/>
                </a:solidFill>
                <a:latin typeface="Consolas"/>
              </a:rPr>
              <a:t>Visuals</a:t>
            </a:r>
          </a:p>
        </p:txBody>
      </p:sp>
      <p:sp>
        <p:nvSpPr>
          <p:cNvPr id="74" name="portfolio-micro-label-3-0"/>
          <p:cNvSpPr txBox="1"/>
          <p:nvPr/>
        </p:nvSpPr>
        <p:spPr>
          <a:xfrm>
            <a:off x="722376" y="4539996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FFFFFF"/>
                </a:solidFill>
                <a:latin typeface="Consolas"/>
              </a:rPr>
              <a:t>spec</a:t>
            </a:r>
          </a:p>
        </p:txBody>
      </p:sp>
      <p:sp>
        <p:nvSpPr>
          <p:cNvPr id="75" name="portfolio-micro-label-3-1"/>
          <p:cNvSpPr txBox="1"/>
          <p:nvPr/>
        </p:nvSpPr>
        <p:spPr>
          <a:xfrm>
            <a:off x="1709928" y="4539996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FFFFFF"/>
                </a:solidFill>
                <a:latin typeface="Consolas"/>
              </a:rPr>
              <a:t>audit</a:t>
            </a:r>
          </a:p>
        </p:txBody>
      </p:sp>
      <p:sp>
        <p:nvSpPr>
          <p:cNvPr id="76" name="portfolio-micro-label-3-2"/>
          <p:cNvSpPr txBox="1"/>
          <p:nvPr/>
        </p:nvSpPr>
        <p:spPr>
          <a:xfrm>
            <a:off x="722376" y="4924044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FFFFFF"/>
                </a:solidFill>
                <a:latin typeface="Consolas"/>
              </a:rPr>
              <a:t>trace</a:t>
            </a:r>
          </a:p>
        </p:txBody>
      </p:sp>
      <p:sp>
        <p:nvSpPr>
          <p:cNvPr id="77" name="portfolio-micro-label-3-3"/>
          <p:cNvSpPr txBox="1"/>
          <p:nvPr/>
        </p:nvSpPr>
        <p:spPr>
          <a:xfrm>
            <a:off x="1709928" y="4924044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FFFFFF"/>
                </a:solidFill>
                <a:latin typeface="Consolas"/>
              </a:rPr>
              <a:t>pass</a:t>
            </a:r>
          </a:p>
        </p:txBody>
      </p:sp>
      <p:sp>
        <p:nvSpPr>
          <p:cNvPr id="78" name="portfolio-num-4"/>
          <p:cNvSpPr txBox="1"/>
          <p:nvPr/>
        </p:nvSpPr>
        <p:spPr>
          <a:xfrm>
            <a:off x="3273552" y="3630168"/>
            <a:ext cx="566928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1" lang="en-US">
                <a:solidFill>
                  <a:srgbClr val="FF4500"/>
                </a:solidFill>
                <a:latin typeface="Arial Black"/>
              </a:rPr>
              <a:t>05</a:t>
            </a:r>
          </a:p>
        </p:txBody>
      </p:sp>
      <p:sp>
        <p:nvSpPr>
          <p:cNvPr id="79" name="portfolio-name-4"/>
          <p:cNvSpPr txBox="1"/>
          <p:nvPr/>
        </p:nvSpPr>
        <p:spPr>
          <a:xfrm>
            <a:off x="3273552" y="4050791"/>
            <a:ext cx="192024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50" b="1" lang="en-US">
                <a:solidFill>
                  <a:srgbClr val="FFFFFF"/>
                </a:solidFill>
                <a:latin typeface="Consolas"/>
              </a:rPr>
              <a:t>Accessibility</a:t>
            </a:r>
          </a:p>
        </p:txBody>
      </p:sp>
      <p:sp>
        <p:nvSpPr>
          <p:cNvPr id="80" name="portfolio-micro-label-4-0"/>
          <p:cNvSpPr txBox="1"/>
          <p:nvPr/>
        </p:nvSpPr>
        <p:spPr>
          <a:xfrm>
            <a:off x="3319272" y="4539996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FF4500"/>
                </a:solidFill>
                <a:latin typeface="Consolas"/>
              </a:rPr>
              <a:t>spec</a:t>
            </a:r>
          </a:p>
        </p:txBody>
      </p:sp>
      <p:sp>
        <p:nvSpPr>
          <p:cNvPr id="81" name="portfolio-micro-label-4-1"/>
          <p:cNvSpPr txBox="1"/>
          <p:nvPr/>
        </p:nvSpPr>
        <p:spPr>
          <a:xfrm>
            <a:off x="4306824" y="4539996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FF4500"/>
                </a:solidFill>
                <a:latin typeface="Consolas"/>
              </a:rPr>
              <a:t>audit</a:t>
            </a:r>
          </a:p>
        </p:txBody>
      </p:sp>
      <p:sp>
        <p:nvSpPr>
          <p:cNvPr id="82" name="portfolio-micro-label-4-2"/>
          <p:cNvSpPr txBox="1"/>
          <p:nvPr/>
        </p:nvSpPr>
        <p:spPr>
          <a:xfrm>
            <a:off x="3319272" y="4924044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FF4500"/>
                </a:solidFill>
                <a:latin typeface="Consolas"/>
              </a:rPr>
              <a:t>trace</a:t>
            </a:r>
          </a:p>
        </p:txBody>
      </p:sp>
      <p:sp>
        <p:nvSpPr>
          <p:cNvPr id="83" name="portfolio-micro-label-4-3"/>
          <p:cNvSpPr txBox="1"/>
          <p:nvPr/>
        </p:nvSpPr>
        <p:spPr>
          <a:xfrm>
            <a:off x="4306824" y="4924044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FF4500"/>
                </a:solidFill>
                <a:latin typeface="Consolas"/>
              </a:rPr>
              <a:t>pass</a:t>
            </a:r>
          </a:p>
        </p:txBody>
      </p:sp>
      <p:sp>
        <p:nvSpPr>
          <p:cNvPr id="84" name="portfolio-num-5"/>
          <p:cNvSpPr txBox="1"/>
          <p:nvPr/>
        </p:nvSpPr>
        <p:spPr>
          <a:xfrm>
            <a:off x="5870448" y="3630168"/>
            <a:ext cx="566928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1" lang="en-US">
                <a:solidFill>
                  <a:srgbClr val="FF4500"/>
                </a:solidFill>
                <a:latin typeface="Arial Black"/>
              </a:rPr>
              <a:t>06</a:t>
            </a:r>
          </a:p>
        </p:txBody>
      </p:sp>
      <p:sp>
        <p:nvSpPr>
          <p:cNvPr id="85" name="portfolio-name-5"/>
          <p:cNvSpPr txBox="1"/>
          <p:nvPr/>
        </p:nvSpPr>
        <p:spPr>
          <a:xfrm>
            <a:off x="5870448" y="4050791"/>
            <a:ext cx="192024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50" b="1" lang="en-US">
                <a:solidFill>
                  <a:srgbClr val="FFFFFF"/>
                </a:solidFill>
                <a:latin typeface="Consolas"/>
              </a:rPr>
              <a:t>Package</a:t>
            </a:r>
          </a:p>
        </p:txBody>
      </p:sp>
      <p:sp>
        <p:nvSpPr>
          <p:cNvPr id="86" name="portfolio-micro-label-5-0"/>
          <p:cNvSpPr txBox="1"/>
          <p:nvPr/>
        </p:nvSpPr>
        <p:spPr>
          <a:xfrm>
            <a:off x="5916168" y="4539996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FF4500"/>
                </a:solidFill>
                <a:latin typeface="Consolas"/>
              </a:rPr>
              <a:t>spec</a:t>
            </a:r>
          </a:p>
        </p:txBody>
      </p:sp>
      <p:sp>
        <p:nvSpPr>
          <p:cNvPr id="87" name="portfolio-micro-label-5-1"/>
          <p:cNvSpPr txBox="1"/>
          <p:nvPr/>
        </p:nvSpPr>
        <p:spPr>
          <a:xfrm>
            <a:off x="6903720" y="4539996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FF4500"/>
                </a:solidFill>
                <a:latin typeface="Consolas"/>
              </a:rPr>
              <a:t>audit</a:t>
            </a:r>
          </a:p>
        </p:txBody>
      </p:sp>
      <p:sp>
        <p:nvSpPr>
          <p:cNvPr id="88" name="portfolio-micro-label-5-2"/>
          <p:cNvSpPr txBox="1"/>
          <p:nvPr/>
        </p:nvSpPr>
        <p:spPr>
          <a:xfrm>
            <a:off x="5916168" y="4924044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FF4500"/>
                </a:solidFill>
                <a:latin typeface="Consolas"/>
              </a:rPr>
              <a:t>trace</a:t>
            </a:r>
          </a:p>
        </p:txBody>
      </p:sp>
      <p:sp>
        <p:nvSpPr>
          <p:cNvPr id="89" name="portfolio-micro-label-5-3"/>
          <p:cNvSpPr txBox="1"/>
          <p:nvPr/>
        </p:nvSpPr>
        <p:spPr>
          <a:xfrm>
            <a:off x="6903720" y="4924044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FF4500"/>
                </a:solidFill>
                <a:latin typeface="Consolas"/>
              </a:rPr>
              <a:t>pass</a:t>
            </a:r>
          </a:p>
        </p:txBody>
      </p:sp>
      <p:sp>
        <p:nvSpPr>
          <p:cNvPr id="90" name="portfolio-rail-title"/>
          <p:cNvSpPr txBox="1"/>
          <p:nvPr/>
        </p:nvSpPr>
        <p:spPr>
          <a:xfrm>
            <a:off x="8723376" y="1325880"/>
            <a:ext cx="246888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1" lang="en-US">
                <a:solidFill>
                  <a:srgbClr val="FF4500"/>
                </a:solidFill>
                <a:latin typeface="Consolas"/>
              </a:rPr>
              <a:t>RELEASE BOARD</a:t>
            </a:r>
          </a:p>
        </p:txBody>
      </p:sp>
      <p:sp>
        <p:nvSpPr>
          <p:cNvPr id="91" name="release-label-0"/>
          <p:cNvSpPr txBox="1"/>
          <p:nvPr/>
        </p:nvSpPr>
        <p:spPr>
          <a:xfrm>
            <a:off x="8906256" y="1847088"/>
            <a:ext cx="137160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50" b="1" lang="en-US">
                <a:solidFill>
                  <a:srgbClr val="F2E6E0"/>
                </a:solidFill>
                <a:latin typeface="Consolas"/>
              </a:rPr>
              <a:t>Layouts</a:t>
            </a:r>
          </a:p>
        </p:txBody>
      </p:sp>
      <p:sp>
        <p:nvSpPr>
          <p:cNvPr id="92" name="release-value-0"/>
          <p:cNvSpPr txBox="1"/>
          <p:nvPr/>
        </p:nvSpPr>
        <p:spPr>
          <a:xfrm>
            <a:off x="10378440" y="1828800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1100" b="1" lang="en-US">
                <a:solidFill>
                  <a:srgbClr val="FF4500"/>
                </a:solidFill>
                <a:latin typeface="Consolas"/>
              </a:rPr>
              <a:t>60</a:t>
            </a:r>
          </a:p>
        </p:txBody>
      </p:sp>
      <p:sp>
        <p:nvSpPr>
          <p:cNvPr id="93" name="release-label-1"/>
          <p:cNvSpPr txBox="1"/>
          <p:nvPr/>
        </p:nvSpPr>
        <p:spPr>
          <a:xfrm>
            <a:off x="8906256" y="2542032"/>
            <a:ext cx="137160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50" b="1" lang="en-US">
                <a:solidFill>
                  <a:srgbClr val="F2E6E0"/>
                </a:solidFill>
                <a:latin typeface="Consolas"/>
              </a:rPr>
              <a:t>Profiles</a:t>
            </a:r>
          </a:p>
        </p:txBody>
      </p:sp>
      <p:sp>
        <p:nvSpPr>
          <p:cNvPr id="94" name="release-value-1"/>
          <p:cNvSpPr txBox="1"/>
          <p:nvPr/>
        </p:nvSpPr>
        <p:spPr>
          <a:xfrm>
            <a:off x="10378440" y="2523744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1100" b="1" lang="en-US">
                <a:solidFill>
                  <a:srgbClr val="FFFFFF"/>
                </a:solidFill>
                <a:latin typeface="Consolas"/>
              </a:rPr>
              <a:t>12</a:t>
            </a:r>
          </a:p>
        </p:txBody>
      </p:sp>
      <p:sp>
        <p:nvSpPr>
          <p:cNvPr id="95" name="release-label-2"/>
          <p:cNvSpPr txBox="1"/>
          <p:nvPr/>
        </p:nvSpPr>
        <p:spPr>
          <a:xfrm>
            <a:off x="8906256" y="3236976"/>
            <a:ext cx="137160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50" b="1" lang="en-US">
                <a:solidFill>
                  <a:srgbClr val="F2E6E0"/>
                </a:solidFill>
                <a:latin typeface="Consolas"/>
              </a:rPr>
              <a:t>Gate checks</a:t>
            </a:r>
          </a:p>
        </p:txBody>
      </p:sp>
      <p:sp>
        <p:nvSpPr>
          <p:cNvPr id="96" name="release-value-2"/>
          <p:cNvSpPr txBox="1"/>
          <p:nvPr/>
        </p:nvSpPr>
        <p:spPr>
          <a:xfrm>
            <a:off x="10378440" y="3218688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1100" b="1" lang="en-US">
                <a:solidFill>
                  <a:srgbClr val="FF4500"/>
                </a:solidFill>
                <a:latin typeface="Consolas"/>
              </a:rPr>
              <a:t>11</a:t>
            </a:r>
          </a:p>
        </p:txBody>
      </p:sp>
      <p:sp>
        <p:nvSpPr>
          <p:cNvPr id="97" name="release-label-3"/>
          <p:cNvSpPr txBox="1"/>
          <p:nvPr/>
        </p:nvSpPr>
        <p:spPr>
          <a:xfrm>
            <a:off x="8906256" y="3931920"/>
            <a:ext cx="137160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50" b="1" lang="en-US">
                <a:solidFill>
                  <a:srgbClr val="F2E6E0"/>
                </a:solidFill>
                <a:latin typeface="Consolas"/>
              </a:rPr>
              <a:t>Defects</a:t>
            </a:r>
          </a:p>
        </p:txBody>
      </p:sp>
      <p:sp>
        <p:nvSpPr>
          <p:cNvPr id="98" name="release-value-3"/>
          <p:cNvSpPr txBox="1"/>
          <p:nvPr/>
        </p:nvSpPr>
        <p:spPr>
          <a:xfrm>
            <a:off x="10378440" y="3913632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1100" b="1" lang="en-US">
                <a:solidFill>
                  <a:srgbClr val="FFFFFF"/>
                </a:solidFill>
                <a:latin typeface="Consolas"/>
              </a:rPr>
              <a:t>00</a:t>
            </a:r>
          </a:p>
        </p:txBody>
      </p:sp>
      <p:sp>
        <p:nvSpPr>
          <p:cNvPr id="99" name="release-label-4"/>
          <p:cNvSpPr txBox="1"/>
          <p:nvPr/>
        </p:nvSpPr>
        <p:spPr>
          <a:xfrm>
            <a:off x="8906256" y="4626864"/>
            <a:ext cx="137160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50" b="1" lang="en-US">
                <a:solidFill>
                  <a:srgbClr val="F2E6E0"/>
                </a:solidFill>
                <a:latin typeface="Consolas"/>
              </a:rPr>
              <a:t>Evidence</a:t>
            </a:r>
          </a:p>
        </p:txBody>
      </p:sp>
      <p:sp>
        <p:nvSpPr>
          <p:cNvPr id="100" name="release-value-4"/>
          <p:cNvSpPr txBox="1"/>
          <p:nvPr/>
        </p:nvSpPr>
        <p:spPr>
          <a:xfrm>
            <a:off x="10378440" y="4608576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1100" b="1" lang="en-US">
                <a:solidFill>
                  <a:srgbClr val="FF4500"/>
                </a:solidFill>
                <a:latin typeface="Consolas"/>
              </a:rPr>
              <a:t>native</a:t>
            </a:r>
          </a:p>
        </p:txBody>
      </p:sp>
      <p:sp>
        <p:nvSpPr>
          <p:cNvPr id="101" name="portfolio-banner-label"/>
          <p:cNvSpPr txBox="1"/>
          <p:nvPr/>
        </p:nvSpPr>
        <p:spPr>
          <a:xfrm>
            <a:off x="713232" y="5687568"/>
            <a:ext cx="740664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50" b="1" lang="en-US">
                <a:solidFill>
                  <a:srgbClr val="111111"/>
                </a:solidFill>
                <a:latin typeface="Consolas"/>
              </a:rPr>
              <a:t>Six dense tiles test nested cards, micro-labels, hierarchy, and high-information scanning.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 w="1016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uotone-right"/>
          <p:cNvSpPr/>
          <p:nvPr/>
        </p:nvSpPr>
        <p:spPr>
          <a:xfrm>
            <a:off x="6096304" y="0"/>
            <a:ext cx="6096304" cy="6858000"/>
          </a:xfrm>
          <a:prstGeom prst="rect">
            <a:avLst/>
          </a:prstGeom>
          <a:solidFill>
            <a:srgbClr val="FF4500"/>
          </a:solidFill>
          <a:ln w="10160">
            <a:solidFill>
              <a:srgbClr val="FF4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uotone-divider"/>
          <p:cNvSpPr/>
          <p:nvPr/>
        </p:nvSpPr>
        <p:spPr>
          <a:xfrm>
            <a:off x="6072530" y="0"/>
            <a:ext cx="45720" cy="685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op-band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F4500"/>
          </a:solidFill>
          <a:ln w="10160">
            <a:solidFill>
              <a:srgbClr val="FF4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lane-0"/>
          <p:cNvSpPr/>
          <p:nvPr/>
        </p:nvSpPr>
        <p:spPr>
          <a:xfrm>
            <a:off x="457200" y="1097280"/>
            <a:ext cx="8458200" cy="914400"/>
          </a:xfrm>
          <a:prstGeom prst="roundRect">
            <a:avLst/>
          </a:prstGeom>
          <a:solidFill>
            <a:srgbClr val="FF4500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lane-1"/>
          <p:cNvSpPr/>
          <p:nvPr/>
        </p:nvSpPr>
        <p:spPr>
          <a:xfrm>
            <a:off x="457200" y="2267712"/>
            <a:ext cx="8458200" cy="914400"/>
          </a:xfrm>
          <a:prstGeom prst="roundRect">
            <a:avLst/>
          </a:prstGeom>
          <a:solidFill>
            <a:srgbClr val="FF4500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lane-2"/>
          <p:cNvSpPr/>
          <p:nvPr/>
        </p:nvSpPr>
        <p:spPr>
          <a:xfrm>
            <a:off x="457200" y="3438144"/>
            <a:ext cx="8458200" cy="914400"/>
          </a:xfrm>
          <a:prstGeom prst="roundRect">
            <a:avLst/>
          </a:prstGeom>
          <a:solidFill>
            <a:srgbClr val="FF4500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lane-3"/>
          <p:cNvSpPr/>
          <p:nvPr/>
        </p:nvSpPr>
        <p:spPr>
          <a:xfrm>
            <a:off x="457200" y="4608576"/>
            <a:ext cx="8458200" cy="914400"/>
          </a:xfrm>
          <a:prstGeom prst="roundRect">
            <a:avLst/>
          </a:prstGeom>
          <a:solidFill>
            <a:srgbClr val="FF4500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workbench-rail-shell"/>
          <p:cNvSpPr/>
          <p:nvPr/>
        </p:nvSpPr>
        <p:spPr>
          <a:xfrm>
            <a:off x="9189720" y="1097280"/>
            <a:ext cx="2542032" cy="4892040"/>
          </a:xfrm>
          <a:prstGeom prst="rect">
            <a:avLst/>
          </a:prstGeom>
          <a:solidFill>
            <a:srgbClr val="1A1A2E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lane-label-0"/>
          <p:cNvSpPr/>
          <p:nvPr/>
        </p:nvSpPr>
        <p:spPr>
          <a:xfrm>
            <a:off x="457200" y="1097280"/>
            <a:ext cx="1097280" cy="914400"/>
          </a:xfrm>
          <a:prstGeom prst="rect">
            <a:avLst/>
          </a:prstGeom>
          <a:solidFill>
            <a:srgbClr val="FF4500"/>
          </a:solidFill>
          <a:ln w="10160">
            <a:solidFill>
              <a:srgbClr val="FF4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lane-label-1"/>
          <p:cNvSpPr/>
          <p:nvPr/>
        </p:nvSpPr>
        <p:spPr>
          <a:xfrm>
            <a:off x="457200" y="2267712"/>
            <a:ext cx="1097280" cy="914400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lane-label-2"/>
          <p:cNvSpPr/>
          <p:nvPr/>
        </p:nvSpPr>
        <p:spPr>
          <a:xfrm>
            <a:off x="457200" y="3438144"/>
            <a:ext cx="1097280" cy="914400"/>
          </a:xfrm>
          <a:prstGeom prst="rect">
            <a:avLst/>
          </a:prstGeom>
          <a:solidFill>
            <a:srgbClr val="FF4500"/>
          </a:solidFill>
          <a:ln w="10160">
            <a:solidFill>
              <a:srgbClr val="FF4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lane-label-3"/>
          <p:cNvSpPr/>
          <p:nvPr/>
        </p:nvSpPr>
        <p:spPr>
          <a:xfrm>
            <a:off x="457200" y="4608576"/>
            <a:ext cx="1097280" cy="914400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workbench-rail-accent"/>
          <p:cNvSpPr/>
          <p:nvPr/>
        </p:nvSpPr>
        <p:spPr>
          <a:xfrm>
            <a:off x="9189720" y="1097280"/>
            <a:ext cx="73152" cy="4892040"/>
          </a:xfrm>
          <a:prstGeom prst="rect">
            <a:avLst/>
          </a:prstGeom>
          <a:solidFill>
            <a:srgbClr val="FF4500"/>
          </a:solidFill>
          <a:ln w="10160">
            <a:solidFill>
              <a:srgbClr val="FF4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hart-axis"/>
          <p:cNvCxnSpPr/>
          <p:nvPr/>
        </p:nvCxnSpPr>
        <p:spPr>
          <a:xfrm>
            <a:off x="9400032" y="4718304"/>
            <a:ext cx="2048256" cy="0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ask-0-0"/>
          <p:cNvSpPr/>
          <p:nvPr/>
        </p:nvSpPr>
        <p:spPr>
          <a:xfrm>
            <a:off x="1773936" y="1234440"/>
            <a:ext cx="1161288" cy="621792"/>
          </a:xfrm>
          <a:prstGeom prst="roundRect">
            <a:avLst/>
          </a:prstGeom>
          <a:solidFill>
            <a:srgbClr val="1A1A2E"/>
          </a:solidFill>
          <a:ln w="10160">
            <a:solidFill>
              <a:srgbClr val="FF4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ask-0-1"/>
          <p:cNvSpPr/>
          <p:nvPr/>
        </p:nvSpPr>
        <p:spPr>
          <a:xfrm>
            <a:off x="3127248" y="1234440"/>
            <a:ext cx="1161288" cy="621792"/>
          </a:xfrm>
          <a:prstGeom prst="roundRect">
            <a:avLst/>
          </a:prstGeom>
          <a:solidFill>
            <a:srgbClr val="1A1A2E"/>
          </a:solidFill>
          <a:ln w="10160">
            <a:solidFill>
              <a:srgbClr val="FF4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ask-0-2"/>
          <p:cNvSpPr/>
          <p:nvPr/>
        </p:nvSpPr>
        <p:spPr>
          <a:xfrm>
            <a:off x="4480560" y="1234440"/>
            <a:ext cx="1161288" cy="621792"/>
          </a:xfrm>
          <a:prstGeom prst="roundRect">
            <a:avLst/>
          </a:prstGeom>
          <a:solidFill>
            <a:srgbClr val="1A1A2E"/>
          </a:solidFill>
          <a:ln w="10160">
            <a:solidFill>
              <a:srgbClr val="FF4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ask-0-3"/>
          <p:cNvSpPr/>
          <p:nvPr/>
        </p:nvSpPr>
        <p:spPr>
          <a:xfrm>
            <a:off x="5833872" y="1234440"/>
            <a:ext cx="1161288" cy="621792"/>
          </a:xfrm>
          <a:prstGeom prst="roundRect">
            <a:avLst/>
          </a:prstGeom>
          <a:solidFill>
            <a:srgbClr val="1A1A2E"/>
          </a:solidFill>
          <a:ln w="10160">
            <a:solidFill>
              <a:srgbClr val="FF4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ask-0-4"/>
          <p:cNvSpPr/>
          <p:nvPr/>
        </p:nvSpPr>
        <p:spPr>
          <a:xfrm>
            <a:off x="7187184" y="1234440"/>
            <a:ext cx="1161288" cy="621792"/>
          </a:xfrm>
          <a:prstGeom prst="roundRect">
            <a:avLst/>
          </a:prstGeom>
          <a:solidFill>
            <a:srgbClr val="1A1A2E"/>
          </a:solidFill>
          <a:ln w="10160">
            <a:solidFill>
              <a:srgbClr val="FF4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ask-1-0"/>
          <p:cNvSpPr/>
          <p:nvPr/>
        </p:nvSpPr>
        <p:spPr>
          <a:xfrm>
            <a:off x="1773936" y="2404872"/>
            <a:ext cx="1161288" cy="621792"/>
          </a:xfrm>
          <a:prstGeom prst="roundRect">
            <a:avLst/>
          </a:prstGeom>
          <a:solidFill>
            <a:srgbClr val="1A1A2E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ask-1-1"/>
          <p:cNvSpPr/>
          <p:nvPr/>
        </p:nvSpPr>
        <p:spPr>
          <a:xfrm>
            <a:off x="3127248" y="2404872"/>
            <a:ext cx="1161288" cy="621792"/>
          </a:xfrm>
          <a:prstGeom prst="roundRect">
            <a:avLst/>
          </a:prstGeom>
          <a:solidFill>
            <a:srgbClr val="1A1A2E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ask-1-2"/>
          <p:cNvSpPr/>
          <p:nvPr/>
        </p:nvSpPr>
        <p:spPr>
          <a:xfrm>
            <a:off x="4480560" y="2404872"/>
            <a:ext cx="1161288" cy="621792"/>
          </a:xfrm>
          <a:prstGeom prst="roundRect">
            <a:avLst/>
          </a:prstGeom>
          <a:solidFill>
            <a:srgbClr val="1A1A2E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ask-1-3"/>
          <p:cNvSpPr/>
          <p:nvPr/>
        </p:nvSpPr>
        <p:spPr>
          <a:xfrm>
            <a:off x="5833872" y="2404872"/>
            <a:ext cx="1161288" cy="621792"/>
          </a:xfrm>
          <a:prstGeom prst="roundRect">
            <a:avLst/>
          </a:prstGeom>
          <a:solidFill>
            <a:srgbClr val="1A1A2E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ask-1-4"/>
          <p:cNvSpPr/>
          <p:nvPr/>
        </p:nvSpPr>
        <p:spPr>
          <a:xfrm>
            <a:off x="7187184" y="2404872"/>
            <a:ext cx="1161288" cy="621792"/>
          </a:xfrm>
          <a:prstGeom prst="roundRect">
            <a:avLst/>
          </a:prstGeom>
          <a:solidFill>
            <a:srgbClr val="1A1A2E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ask-2-0"/>
          <p:cNvSpPr/>
          <p:nvPr/>
        </p:nvSpPr>
        <p:spPr>
          <a:xfrm>
            <a:off x="1773936" y="3575304"/>
            <a:ext cx="1161288" cy="621792"/>
          </a:xfrm>
          <a:prstGeom prst="roundRect">
            <a:avLst/>
          </a:prstGeom>
          <a:solidFill>
            <a:srgbClr val="1A1A2E"/>
          </a:solidFill>
          <a:ln w="10160">
            <a:solidFill>
              <a:srgbClr val="FF4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ask-2-1"/>
          <p:cNvSpPr/>
          <p:nvPr/>
        </p:nvSpPr>
        <p:spPr>
          <a:xfrm>
            <a:off x="3127248" y="3575304"/>
            <a:ext cx="1161288" cy="621792"/>
          </a:xfrm>
          <a:prstGeom prst="roundRect">
            <a:avLst/>
          </a:prstGeom>
          <a:solidFill>
            <a:srgbClr val="1A1A2E"/>
          </a:solidFill>
          <a:ln w="10160">
            <a:solidFill>
              <a:srgbClr val="FF4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ask-2-2"/>
          <p:cNvSpPr/>
          <p:nvPr/>
        </p:nvSpPr>
        <p:spPr>
          <a:xfrm>
            <a:off x="4480560" y="3575304"/>
            <a:ext cx="1161288" cy="621792"/>
          </a:xfrm>
          <a:prstGeom prst="roundRect">
            <a:avLst/>
          </a:prstGeom>
          <a:solidFill>
            <a:srgbClr val="1A1A2E"/>
          </a:solidFill>
          <a:ln w="10160">
            <a:solidFill>
              <a:srgbClr val="FF4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ask-2-3"/>
          <p:cNvSpPr/>
          <p:nvPr/>
        </p:nvSpPr>
        <p:spPr>
          <a:xfrm>
            <a:off x="5833872" y="3575304"/>
            <a:ext cx="1161288" cy="621792"/>
          </a:xfrm>
          <a:prstGeom prst="roundRect">
            <a:avLst/>
          </a:prstGeom>
          <a:solidFill>
            <a:srgbClr val="1A1A2E"/>
          </a:solidFill>
          <a:ln w="10160">
            <a:solidFill>
              <a:srgbClr val="FF4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ask-2-4"/>
          <p:cNvSpPr/>
          <p:nvPr/>
        </p:nvSpPr>
        <p:spPr>
          <a:xfrm>
            <a:off x="7187184" y="3575304"/>
            <a:ext cx="1161288" cy="621792"/>
          </a:xfrm>
          <a:prstGeom prst="roundRect">
            <a:avLst/>
          </a:prstGeom>
          <a:solidFill>
            <a:srgbClr val="1A1A2E"/>
          </a:solidFill>
          <a:ln w="10160">
            <a:solidFill>
              <a:srgbClr val="FF4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ask-3-0"/>
          <p:cNvSpPr/>
          <p:nvPr/>
        </p:nvSpPr>
        <p:spPr>
          <a:xfrm>
            <a:off x="1773936" y="4745736"/>
            <a:ext cx="1161288" cy="621792"/>
          </a:xfrm>
          <a:prstGeom prst="roundRect">
            <a:avLst/>
          </a:prstGeom>
          <a:solidFill>
            <a:srgbClr val="1A1A2E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ask-3-1"/>
          <p:cNvSpPr/>
          <p:nvPr/>
        </p:nvSpPr>
        <p:spPr>
          <a:xfrm>
            <a:off x="3127248" y="4745736"/>
            <a:ext cx="1161288" cy="621792"/>
          </a:xfrm>
          <a:prstGeom prst="roundRect">
            <a:avLst/>
          </a:prstGeom>
          <a:solidFill>
            <a:srgbClr val="1A1A2E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ask-3-2"/>
          <p:cNvSpPr/>
          <p:nvPr/>
        </p:nvSpPr>
        <p:spPr>
          <a:xfrm>
            <a:off x="4480560" y="4745736"/>
            <a:ext cx="1161288" cy="621792"/>
          </a:xfrm>
          <a:prstGeom prst="roundRect">
            <a:avLst/>
          </a:prstGeom>
          <a:solidFill>
            <a:srgbClr val="1A1A2E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ask-3-3"/>
          <p:cNvSpPr/>
          <p:nvPr/>
        </p:nvSpPr>
        <p:spPr>
          <a:xfrm>
            <a:off x="5833872" y="4745736"/>
            <a:ext cx="1161288" cy="621792"/>
          </a:xfrm>
          <a:prstGeom prst="roundRect">
            <a:avLst/>
          </a:prstGeom>
          <a:solidFill>
            <a:srgbClr val="1A1A2E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ask-3-4"/>
          <p:cNvSpPr/>
          <p:nvPr/>
        </p:nvSpPr>
        <p:spPr>
          <a:xfrm>
            <a:off x="7187184" y="4745736"/>
            <a:ext cx="1161288" cy="621792"/>
          </a:xfrm>
          <a:prstGeom prst="roundRect">
            <a:avLst/>
          </a:prstGeom>
          <a:solidFill>
            <a:srgbClr val="1A1A2E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bar-0"/>
          <p:cNvSpPr/>
          <p:nvPr/>
        </p:nvSpPr>
        <p:spPr>
          <a:xfrm>
            <a:off x="9454896" y="3771900"/>
            <a:ext cx="155448" cy="946403"/>
          </a:xfrm>
          <a:prstGeom prst="roundRect">
            <a:avLst/>
          </a:prstGeom>
          <a:solidFill>
            <a:srgbClr val="FF4500"/>
          </a:solidFill>
          <a:ln w="10160">
            <a:solidFill>
              <a:srgbClr val="FF4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bar-1"/>
          <p:cNvSpPr/>
          <p:nvPr/>
        </p:nvSpPr>
        <p:spPr>
          <a:xfrm>
            <a:off x="9701784" y="3204057"/>
            <a:ext cx="155448" cy="151424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bar-2"/>
          <p:cNvSpPr/>
          <p:nvPr/>
        </p:nvSpPr>
        <p:spPr>
          <a:xfrm>
            <a:off x="9948672" y="3498494"/>
            <a:ext cx="155448" cy="1219809"/>
          </a:xfrm>
          <a:prstGeom prst="roundRect">
            <a:avLst/>
          </a:prstGeom>
          <a:solidFill>
            <a:srgbClr val="FF4500"/>
          </a:solidFill>
          <a:ln w="10160">
            <a:solidFill>
              <a:srgbClr val="FF4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bar-3"/>
          <p:cNvSpPr/>
          <p:nvPr/>
        </p:nvSpPr>
        <p:spPr>
          <a:xfrm>
            <a:off x="10195560" y="2909620"/>
            <a:ext cx="155448" cy="1808683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bar-4"/>
          <p:cNvSpPr/>
          <p:nvPr/>
        </p:nvSpPr>
        <p:spPr>
          <a:xfrm>
            <a:off x="10442448" y="3330244"/>
            <a:ext cx="155448" cy="1388059"/>
          </a:xfrm>
          <a:prstGeom prst="roundRect">
            <a:avLst/>
          </a:prstGeom>
          <a:solidFill>
            <a:srgbClr val="FF4500"/>
          </a:solidFill>
          <a:ln w="10160">
            <a:solidFill>
              <a:srgbClr val="FF4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bar-5"/>
          <p:cNvSpPr/>
          <p:nvPr/>
        </p:nvSpPr>
        <p:spPr>
          <a:xfrm>
            <a:off x="10689336" y="2783433"/>
            <a:ext cx="155448" cy="193487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bar-6"/>
          <p:cNvSpPr/>
          <p:nvPr/>
        </p:nvSpPr>
        <p:spPr>
          <a:xfrm>
            <a:off x="10936224" y="3119932"/>
            <a:ext cx="155448" cy="1598371"/>
          </a:xfrm>
          <a:prstGeom prst="roundRect">
            <a:avLst/>
          </a:prstGeom>
          <a:solidFill>
            <a:srgbClr val="FF4500"/>
          </a:solidFill>
          <a:ln w="10160">
            <a:solidFill>
              <a:srgbClr val="FF4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bar-7"/>
          <p:cNvSpPr/>
          <p:nvPr/>
        </p:nvSpPr>
        <p:spPr>
          <a:xfrm>
            <a:off x="11183112" y="3603650"/>
            <a:ext cx="155448" cy="1114653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check-dot-0"/>
          <p:cNvSpPr/>
          <p:nvPr/>
        </p:nvSpPr>
        <p:spPr>
          <a:xfrm>
            <a:off x="9436608" y="5321808"/>
            <a:ext cx="91440" cy="91440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check-dot-1"/>
          <p:cNvSpPr/>
          <p:nvPr/>
        </p:nvSpPr>
        <p:spPr>
          <a:xfrm>
            <a:off x="9436608" y="5486400"/>
            <a:ext cx="91440" cy="91440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check-dot-2"/>
          <p:cNvSpPr/>
          <p:nvPr/>
        </p:nvSpPr>
        <p:spPr>
          <a:xfrm>
            <a:off x="9436608" y="5650992"/>
            <a:ext cx="91440" cy="91440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check-dot-3"/>
          <p:cNvSpPr/>
          <p:nvPr/>
        </p:nvSpPr>
        <p:spPr>
          <a:xfrm>
            <a:off x="9436608" y="5815584"/>
            <a:ext cx="91440" cy="91440"/>
          </a:xfrm>
          <a:prstGeom prst="ellipse">
            <a:avLst/>
          </a:prstGeom>
          <a:solidFill>
            <a:srgbClr val="FF4500"/>
          </a:solidFill>
          <a:ln w="10160">
            <a:solidFill>
              <a:srgbClr val="FF4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profile-tag"/>
          <p:cNvSpPr txBox="1"/>
          <p:nvPr/>
        </p:nvSpPr>
        <p:spPr>
          <a:xfrm>
            <a:off x="457200" y="201168"/>
            <a:ext cx="768096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1" lang="en-US">
                <a:solidFill>
                  <a:srgbClr val="FF4500"/>
                </a:solidFill>
                <a:latin typeface="Consolas"/>
              </a:rPr>
              <a:t>V3 STRESS SUITE  ·  DUOTONE COLOR SPLIT  ·  DELIVERY WORKBENCH</a:t>
            </a:r>
          </a:p>
        </p:txBody>
      </p:sp>
      <p:sp>
        <p:nvSpPr>
          <p:cNvPr id="50" name="slide-index"/>
          <p:cNvSpPr txBox="1"/>
          <p:nvPr/>
        </p:nvSpPr>
        <p:spPr>
          <a:xfrm>
            <a:off x="10808208" y="201168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00" b="1" lang="en-US">
                <a:solidFill>
                  <a:srgbClr val="F2E6E0"/>
                </a:solidFill>
                <a:latin typeface="Consolas"/>
              </a:rPr>
              <a:t>35/60</a:t>
            </a:r>
          </a:p>
        </p:txBody>
      </p:sp>
      <p:sp>
        <p:nvSpPr>
          <p:cNvPr id="51" name="title"/>
          <p:cNvSpPr txBox="1"/>
          <p:nvPr/>
        </p:nvSpPr>
        <p:spPr>
          <a:xfrm>
            <a:off x="457200" y="484632"/>
            <a:ext cx="11274552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200" b="1" lang="en-US">
                <a:solidFill>
                  <a:srgbClr val="FFFFFF"/>
                </a:solidFill>
                <a:latin typeface="Arial Black"/>
              </a:rPr>
              <a:t>Delivery workbenches keep parallel work lanes legible under load</a:t>
            </a:r>
          </a:p>
        </p:txBody>
      </p:sp>
      <p:sp>
        <p:nvSpPr>
          <p:cNvPr id="52" name="footer"/>
          <p:cNvSpPr txBox="1"/>
          <p:nvPr/>
        </p:nvSpPr>
        <p:spPr>
          <a:xfrm>
            <a:off x="457200" y="6473952"/>
            <a:ext cx="1051560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0" lang="en-US">
                <a:solidFill>
                  <a:srgbClr val="F2E6E0"/>
                </a:solidFill>
                <a:latin typeface="Consolas"/>
              </a:rPr>
              <a:t>Native-object stress fixture · exact orange-red and navy split with cross-panel color echo · editable geometry and recorded style lock</a:t>
            </a:r>
          </a:p>
        </p:txBody>
      </p:sp>
      <p:sp>
        <p:nvSpPr>
          <p:cNvPr id="53" name="lane-name-0"/>
          <p:cNvSpPr txBox="1"/>
          <p:nvPr/>
        </p:nvSpPr>
        <p:spPr>
          <a:xfrm>
            <a:off x="566928" y="1444752"/>
            <a:ext cx="868680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lang="en-US">
                <a:solidFill>
                  <a:srgbClr val="111111"/>
                </a:solidFill>
                <a:latin typeface="Consolas"/>
              </a:rPr>
              <a:t>INTAKE</a:t>
            </a:r>
          </a:p>
        </p:txBody>
      </p:sp>
      <p:sp>
        <p:nvSpPr>
          <p:cNvPr id="54" name="task-title-0-0"/>
          <p:cNvSpPr txBox="1"/>
          <p:nvPr/>
        </p:nvSpPr>
        <p:spPr>
          <a:xfrm>
            <a:off x="1847088" y="1362456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FFFFFF"/>
                </a:solidFill>
                <a:latin typeface="Consolas"/>
              </a:rPr>
              <a:t>Scope</a:t>
            </a:r>
          </a:p>
        </p:txBody>
      </p:sp>
      <p:sp>
        <p:nvSpPr>
          <p:cNvPr id="55" name="task-state-0-0"/>
          <p:cNvSpPr txBox="1"/>
          <p:nvPr/>
        </p:nvSpPr>
        <p:spPr>
          <a:xfrm>
            <a:off x="1847088" y="1545336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FF4500"/>
                </a:solidFill>
                <a:latin typeface="Consolas"/>
              </a:rPr>
              <a:t>new</a:t>
            </a:r>
          </a:p>
        </p:txBody>
      </p:sp>
      <p:sp>
        <p:nvSpPr>
          <p:cNvPr id="56" name="task-title-0-1"/>
          <p:cNvSpPr txBox="1"/>
          <p:nvPr/>
        </p:nvSpPr>
        <p:spPr>
          <a:xfrm>
            <a:off x="3200400" y="1362456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FFFFFF"/>
                </a:solidFill>
                <a:latin typeface="Consolas"/>
              </a:rPr>
              <a:t>Profile</a:t>
            </a:r>
          </a:p>
        </p:txBody>
      </p:sp>
      <p:sp>
        <p:nvSpPr>
          <p:cNvPr id="57" name="task-state-0-1"/>
          <p:cNvSpPr txBox="1"/>
          <p:nvPr/>
        </p:nvSpPr>
        <p:spPr>
          <a:xfrm>
            <a:off x="3200400" y="1545336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FF4500"/>
                </a:solidFill>
                <a:latin typeface="Consolas"/>
              </a:rPr>
              <a:t>locked</a:t>
            </a:r>
          </a:p>
        </p:txBody>
      </p:sp>
      <p:sp>
        <p:nvSpPr>
          <p:cNvPr id="58" name="task-title-0-2"/>
          <p:cNvSpPr txBox="1"/>
          <p:nvPr/>
        </p:nvSpPr>
        <p:spPr>
          <a:xfrm>
            <a:off x="4553712" y="1362456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FFFFFF"/>
                </a:solidFill>
                <a:latin typeface="Consolas"/>
              </a:rPr>
              <a:t>Spec</a:t>
            </a:r>
          </a:p>
        </p:txBody>
      </p:sp>
      <p:sp>
        <p:nvSpPr>
          <p:cNvPr id="59" name="task-state-0-2"/>
          <p:cNvSpPr txBox="1"/>
          <p:nvPr/>
        </p:nvSpPr>
        <p:spPr>
          <a:xfrm>
            <a:off x="4553712" y="1545336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FF4500"/>
                </a:solidFill>
                <a:latin typeface="Consolas"/>
              </a:rPr>
              <a:t>ready</a:t>
            </a:r>
          </a:p>
        </p:txBody>
      </p:sp>
      <p:sp>
        <p:nvSpPr>
          <p:cNvPr id="60" name="task-title-0-3"/>
          <p:cNvSpPr txBox="1"/>
          <p:nvPr/>
        </p:nvSpPr>
        <p:spPr>
          <a:xfrm>
            <a:off x="5907024" y="1362456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FFFFFF"/>
                </a:solidFill>
                <a:latin typeface="Consolas"/>
              </a:rPr>
              <a:t>Audit</a:t>
            </a:r>
          </a:p>
        </p:txBody>
      </p:sp>
      <p:sp>
        <p:nvSpPr>
          <p:cNvPr id="61" name="task-state-0-3"/>
          <p:cNvSpPr txBox="1"/>
          <p:nvPr/>
        </p:nvSpPr>
        <p:spPr>
          <a:xfrm>
            <a:off x="5907024" y="1545336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FF4500"/>
                </a:solidFill>
                <a:latin typeface="Consolas"/>
              </a:rPr>
              <a:t>pass</a:t>
            </a:r>
          </a:p>
        </p:txBody>
      </p:sp>
      <p:sp>
        <p:nvSpPr>
          <p:cNvPr id="62" name="task-title-0-4"/>
          <p:cNvSpPr txBox="1"/>
          <p:nvPr/>
        </p:nvSpPr>
        <p:spPr>
          <a:xfrm>
            <a:off x="7260336" y="1362456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FFFFFF"/>
                </a:solidFill>
                <a:latin typeface="Consolas"/>
              </a:rPr>
              <a:t>Owner</a:t>
            </a:r>
          </a:p>
        </p:txBody>
      </p:sp>
      <p:sp>
        <p:nvSpPr>
          <p:cNvPr id="63" name="task-state-0-4"/>
          <p:cNvSpPr txBox="1"/>
          <p:nvPr/>
        </p:nvSpPr>
        <p:spPr>
          <a:xfrm>
            <a:off x="7260336" y="1545336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FF4500"/>
                </a:solidFill>
                <a:latin typeface="Consolas"/>
              </a:rPr>
              <a:t>assigned</a:t>
            </a:r>
          </a:p>
        </p:txBody>
      </p:sp>
      <p:sp>
        <p:nvSpPr>
          <p:cNvPr id="64" name="lane-name-1"/>
          <p:cNvSpPr txBox="1"/>
          <p:nvPr/>
        </p:nvSpPr>
        <p:spPr>
          <a:xfrm>
            <a:off x="566928" y="2615184"/>
            <a:ext cx="868680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lang="en-US">
                <a:solidFill>
                  <a:srgbClr val="111111"/>
                </a:solidFill>
                <a:latin typeface="Consolas"/>
              </a:rPr>
              <a:t>AUTHOR</a:t>
            </a:r>
          </a:p>
        </p:txBody>
      </p:sp>
      <p:sp>
        <p:nvSpPr>
          <p:cNvPr id="65" name="task-title-1-0"/>
          <p:cNvSpPr txBox="1"/>
          <p:nvPr/>
        </p:nvSpPr>
        <p:spPr>
          <a:xfrm>
            <a:off x="1847088" y="2532888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FFFFFF"/>
                </a:solidFill>
                <a:latin typeface="Consolas"/>
              </a:rPr>
              <a:t>Scope</a:t>
            </a:r>
          </a:p>
        </p:txBody>
      </p:sp>
      <p:sp>
        <p:nvSpPr>
          <p:cNvPr id="66" name="task-state-1-0"/>
          <p:cNvSpPr txBox="1"/>
          <p:nvPr/>
        </p:nvSpPr>
        <p:spPr>
          <a:xfrm>
            <a:off x="1847088" y="2715768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FFFFFF"/>
                </a:solidFill>
                <a:latin typeface="Consolas"/>
              </a:rPr>
              <a:t>locked</a:t>
            </a:r>
          </a:p>
        </p:txBody>
      </p:sp>
      <p:sp>
        <p:nvSpPr>
          <p:cNvPr id="67" name="task-title-1-1"/>
          <p:cNvSpPr txBox="1"/>
          <p:nvPr/>
        </p:nvSpPr>
        <p:spPr>
          <a:xfrm>
            <a:off x="3200400" y="2532888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FFFFFF"/>
                </a:solidFill>
                <a:latin typeface="Consolas"/>
              </a:rPr>
              <a:t>Profile</a:t>
            </a:r>
          </a:p>
        </p:txBody>
      </p:sp>
      <p:sp>
        <p:nvSpPr>
          <p:cNvPr id="68" name="task-state-1-1"/>
          <p:cNvSpPr txBox="1"/>
          <p:nvPr/>
        </p:nvSpPr>
        <p:spPr>
          <a:xfrm>
            <a:off x="3200400" y="2715768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FFFFFF"/>
                </a:solidFill>
                <a:latin typeface="Consolas"/>
              </a:rPr>
              <a:t>ready</a:t>
            </a:r>
          </a:p>
        </p:txBody>
      </p:sp>
      <p:sp>
        <p:nvSpPr>
          <p:cNvPr id="69" name="task-title-1-2"/>
          <p:cNvSpPr txBox="1"/>
          <p:nvPr/>
        </p:nvSpPr>
        <p:spPr>
          <a:xfrm>
            <a:off x="4553712" y="2532888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FFFFFF"/>
                </a:solidFill>
                <a:latin typeface="Consolas"/>
              </a:rPr>
              <a:t>Spec</a:t>
            </a:r>
          </a:p>
        </p:txBody>
      </p:sp>
      <p:sp>
        <p:nvSpPr>
          <p:cNvPr id="70" name="task-state-1-2"/>
          <p:cNvSpPr txBox="1"/>
          <p:nvPr/>
        </p:nvSpPr>
        <p:spPr>
          <a:xfrm>
            <a:off x="4553712" y="2715768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FFFFFF"/>
                </a:solidFill>
                <a:latin typeface="Consolas"/>
              </a:rPr>
              <a:t>pass</a:t>
            </a:r>
          </a:p>
        </p:txBody>
      </p:sp>
      <p:sp>
        <p:nvSpPr>
          <p:cNvPr id="71" name="task-title-1-3"/>
          <p:cNvSpPr txBox="1"/>
          <p:nvPr/>
        </p:nvSpPr>
        <p:spPr>
          <a:xfrm>
            <a:off x="5907024" y="2532888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FFFFFF"/>
                </a:solidFill>
                <a:latin typeface="Consolas"/>
              </a:rPr>
              <a:t>Audit</a:t>
            </a:r>
          </a:p>
        </p:txBody>
      </p:sp>
      <p:sp>
        <p:nvSpPr>
          <p:cNvPr id="72" name="task-state-1-3"/>
          <p:cNvSpPr txBox="1"/>
          <p:nvPr/>
        </p:nvSpPr>
        <p:spPr>
          <a:xfrm>
            <a:off x="5907024" y="2715768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FFFFFF"/>
                </a:solidFill>
                <a:latin typeface="Consolas"/>
              </a:rPr>
              <a:t>assigned</a:t>
            </a:r>
          </a:p>
        </p:txBody>
      </p:sp>
      <p:sp>
        <p:nvSpPr>
          <p:cNvPr id="73" name="task-title-1-4"/>
          <p:cNvSpPr txBox="1"/>
          <p:nvPr/>
        </p:nvSpPr>
        <p:spPr>
          <a:xfrm>
            <a:off x="7260336" y="2532888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FFFFFF"/>
                </a:solidFill>
                <a:latin typeface="Consolas"/>
              </a:rPr>
              <a:t>Owner</a:t>
            </a:r>
          </a:p>
        </p:txBody>
      </p:sp>
      <p:sp>
        <p:nvSpPr>
          <p:cNvPr id="74" name="task-state-1-4"/>
          <p:cNvSpPr txBox="1"/>
          <p:nvPr/>
        </p:nvSpPr>
        <p:spPr>
          <a:xfrm>
            <a:off x="7260336" y="2715768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FFFFFF"/>
                </a:solidFill>
                <a:latin typeface="Consolas"/>
              </a:rPr>
              <a:t>new</a:t>
            </a:r>
          </a:p>
        </p:txBody>
      </p:sp>
      <p:sp>
        <p:nvSpPr>
          <p:cNvPr id="75" name="lane-name-2"/>
          <p:cNvSpPr txBox="1"/>
          <p:nvPr/>
        </p:nvSpPr>
        <p:spPr>
          <a:xfrm>
            <a:off x="566928" y="3785615"/>
            <a:ext cx="868680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lang="en-US">
                <a:solidFill>
                  <a:srgbClr val="111111"/>
                </a:solidFill>
                <a:latin typeface="Consolas"/>
              </a:rPr>
              <a:t>VERIFY</a:t>
            </a:r>
          </a:p>
        </p:txBody>
      </p:sp>
      <p:sp>
        <p:nvSpPr>
          <p:cNvPr id="76" name="task-title-2-0"/>
          <p:cNvSpPr txBox="1"/>
          <p:nvPr/>
        </p:nvSpPr>
        <p:spPr>
          <a:xfrm>
            <a:off x="1847088" y="3703320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FFFFFF"/>
                </a:solidFill>
                <a:latin typeface="Consolas"/>
              </a:rPr>
              <a:t>Scope</a:t>
            </a:r>
          </a:p>
        </p:txBody>
      </p:sp>
      <p:sp>
        <p:nvSpPr>
          <p:cNvPr id="77" name="task-state-2-0"/>
          <p:cNvSpPr txBox="1"/>
          <p:nvPr/>
        </p:nvSpPr>
        <p:spPr>
          <a:xfrm>
            <a:off x="1847088" y="3886200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FF4500"/>
                </a:solidFill>
                <a:latin typeface="Consolas"/>
              </a:rPr>
              <a:t>ready</a:t>
            </a:r>
          </a:p>
        </p:txBody>
      </p:sp>
      <p:sp>
        <p:nvSpPr>
          <p:cNvPr id="78" name="task-title-2-1"/>
          <p:cNvSpPr txBox="1"/>
          <p:nvPr/>
        </p:nvSpPr>
        <p:spPr>
          <a:xfrm>
            <a:off x="3200400" y="3703320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FFFFFF"/>
                </a:solidFill>
                <a:latin typeface="Consolas"/>
              </a:rPr>
              <a:t>Profile</a:t>
            </a:r>
          </a:p>
        </p:txBody>
      </p:sp>
      <p:sp>
        <p:nvSpPr>
          <p:cNvPr id="79" name="task-state-2-1"/>
          <p:cNvSpPr txBox="1"/>
          <p:nvPr/>
        </p:nvSpPr>
        <p:spPr>
          <a:xfrm>
            <a:off x="3200400" y="3886200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FF4500"/>
                </a:solidFill>
                <a:latin typeface="Consolas"/>
              </a:rPr>
              <a:t>pass</a:t>
            </a:r>
          </a:p>
        </p:txBody>
      </p:sp>
      <p:sp>
        <p:nvSpPr>
          <p:cNvPr id="80" name="task-title-2-2"/>
          <p:cNvSpPr txBox="1"/>
          <p:nvPr/>
        </p:nvSpPr>
        <p:spPr>
          <a:xfrm>
            <a:off x="4553712" y="3703320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FFFFFF"/>
                </a:solidFill>
                <a:latin typeface="Consolas"/>
              </a:rPr>
              <a:t>Spec</a:t>
            </a:r>
          </a:p>
        </p:txBody>
      </p:sp>
      <p:sp>
        <p:nvSpPr>
          <p:cNvPr id="81" name="task-state-2-2"/>
          <p:cNvSpPr txBox="1"/>
          <p:nvPr/>
        </p:nvSpPr>
        <p:spPr>
          <a:xfrm>
            <a:off x="4553712" y="3886200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FF4500"/>
                </a:solidFill>
                <a:latin typeface="Consolas"/>
              </a:rPr>
              <a:t>assigned</a:t>
            </a:r>
          </a:p>
        </p:txBody>
      </p:sp>
      <p:sp>
        <p:nvSpPr>
          <p:cNvPr id="82" name="task-title-2-3"/>
          <p:cNvSpPr txBox="1"/>
          <p:nvPr/>
        </p:nvSpPr>
        <p:spPr>
          <a:xfrm>
            <a:off x="5907024" y="3703320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FFFFFF"/>
                </a:solidFill>
                <a:latin typeface="Consolas"/>
              </a:rPr>
              <a:t>Audit</a:t>
            </a:r>
          </a:p>
        </p:txBody>
      </p:sp>
      <p:sp>
        <p:nvSpPr>
          <p:cNvPr id="83" name="task-state-2-3"/>
          <p:cNvSpPr txBox="1"/>
          <p:nvPr/>
        </p:nvSpPr>
        <p:spPr>
          <a:xfrm>
            <a:off x="5907024" y="3886200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FF4500"/>
                </a:solidFill>
                <a:latin typeface="Consolas"/>
              </a:rPr>
              <a:t>new</a:t>
            </a:r>
          </a:p>
        </p:txBody>
      </p:sp>
      <p:sp>
        <p:nvSpPr>
          <p:cNvPr id="84" name="task-title-2-4"/>
          <p:cNvSpPr txBox="1"/>
          <p:nvPr/>
        </p:nvSpPr>
        <p:spPr>
          <a:xfrm>
            <a:off x="7260336" y="3703320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FFFFFF"/>
                </a:solidFill>
                <a:latin typeface="Consolas"/>
              </a:rPr>
              <a:t>Owner</a:t>
            </a:r>
          </a:p>
        </p:txBody>
      </p:sp>
      <p:sp>
        <p:nvSpPr>
          <p:cNvPr id="85" name="task-state-2-4"/>
          <p:cNvSpPr txBox="1"/>
          <p:nvPr/>
        </p:nvSpPr>
        <p:spPr>
          <a:xfrm>
            <a:off x="7260336" y="3886200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FF4500"/>
                </a:solidFill>
                <a:latin typeface="Consolas"/>
              </a:rPr>
              <a:t>locked</a:t>
            </a:r>
          </a:p>
        </p:txBody>
      </p:sp>
      <p:sp>
        <p:nvSpPr>
          <p:cNvPr id="86" name="lane-name-3"/>
          <p:cNvSpPr txBox="1"/>
          <p:nvPr/>
        </p:nvSpPr>
        <p:spPr>
          <a:xfrm>
            <a:off x="566928" y="4956048"/>
            <a:ext cx="868680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lang="en-US">
                <a:solidFill>
                  <a:srgbClr val="111111"/>
                </a:solidFill>
                <a:latin typeface="Consolas"/>
              </a:rPr>
              <a:t>SHIP</a:t>
            </a:r>
          </a:p>
        </p:txBody>
      </p:sp>
      <p:sp>
        <p:nvSpPr>
          <p:cNvPr id="87" name="task-title-3-0"/>
          <p:cNvSpPr txBox="1"/>
          <p:nvPr/>
        </p:nvSpPr>
        <p:spPr>
          <a:xfrm>
            <a:off x="1847088" y="4873752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FFFFFF"/>
                </a:solidFill>
                <a:latin typeface="Consolas"/>
              </a:rPr>
              <a:t>Scope</a:t>
            </a:r>
          </a:p>
        </p:txBody>
      </p:sp>
      <p:sp>
        <p:nvSpPr>
          <p:cNvPr id="88" name="task-state-3-0"/>
          <p:cNvSpPr txBox="1"/>
          <p:nvPr/>
        </p:nvSpPr>
        <p:spPr>
          <a:xfrm>
            <a:off x="1847088" y="5056632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FFFFFF"/>
                </a:solidFill>
                <a:latin typeface="Consolas"/>
              </a:rPr>
              <a:t>pass</a:t>
            </a:r>
          </a:p>
        </p:txBody>
      </p:sp>
      <p:sp>
        <p:nvSpPr>
          <p:cNvPr id="89" name="task-title-3-1"/>
          <p:cNvSpPr txBox="1"/>
          <p:nvPr/>
        </p:nvSpPr>
        <p:spPr>
          <a:xfrm>
            <a:off x="3200400" y="4873752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FFFFFF"/>
                </a:solidFill>
                <a:latin typeface="Consolas"/>
              </a:rPr>
              <a:t>Profile</a:t>
            </a:r>
          </a:p>
        </p:txBody>
      </p:sp>
      <p:sp>
        <p:nvSpPr>
          <p:cNvPr id="90" name="task-state-3-1"/>
          <p:cNvSpPr txBox="1"/>
          <p:nvPr/>
        </p:nvSpPr>
        <p:spPr>
          <a:xfrm>
            <a:off x="3200400" y="5056632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FFFFFF"/>
                </a:solidFill>
                <a:latin typeface="Consolas"/>
              </a:rPr>
              <a:t>assigned</a:t>
            </a:r>
          </a:p>
        </p:txBody>
      </p:sp>
      <p:sp>
        <p:nvSpPr>
          <p:cNvPr id="91" name="task-title-3-2"/>
          <p:cNvSpPr txBox="1"/>
          <p:nvPr/>
        </p:nvSpPr>
        <p:spPr>
          <a:xfrm>
            <a:off x="4553712" y="4873752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FFFFFF"/>
                </a:solidFill>
                <a:latin typeface="Consolas"/>
              </a:rPr>
              <a:t>Spec</a:t>
            </a:r>
          </a:p>
        </p:txBody>
      </p:sp>
      <p:sp>
        <p:nvSpPr>
          <p:cNvPr id="92" name="task-state-3-2"/>
          <p:cNvSpPr txBox="1"/>
          <p:nvPr/>
        </p:nvSpPr>
        <p:spPr>
          <a:xfrm>
            <a:off x="4553712" y="5056632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FFFFFF"/>
                </a:solidFill>
                <a:latin typeface="Consolas"/>
              </a:rPr>
              <a:t>new</a:t>
            </a:r>
          </a:p>
        </p:txBody>
      </p:sp>
      <p:sp>
        <p:nvSpPr>
          <p:cNvPr id="93" name="task-title-3-3"/>
          <p:cNvSpPr txBox="1"/>
          <p:nvPr/>
        </p:nvSpPr>
        <p:spPr>
          <a:xfrm>
            <a:off x="5907024" y="4873752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FFFFFF"/>
                </a:solidFill>
                <a:latin typeface="Consolas"/>
              </a:rPr>
              <a:t>Audit</a:t>
            </a:r>
          </a:p>
        </p:txBody>
      </p:sp>
      <p:sp>
        <p:nvSpPr>
          <p:cNvPr id="94" name="task-state-3-3"/>
          <p:cNvSpPr txBox="1"/>
          <p:nvPr/>
        </p:nvSpPr>
        <p:spPr>
          <a:xfrm>
            <a:off x="5907024" y="5056632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FFFFFF"/>
                </a:solidFill>
                <a:latin typeface="Consolas"/>
              </a:rPr>
              <a:t>locked</a:t>
            </a:r>
          </a:p>
        </p:txBody>
      </p:sp>
      <p:sp>
        <p:nvSpPr>
          <p:cNvPr id="95" name="task-title-3-4"/>
          <p:cNvSpPr txBox="1"/>
          <p:nvPr/>
        </p:nvSpPr>
        <p:spPr>
          <a:xfrm>
            <a:off x="7260336" y="4873752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FFFFFF"/>
                </a:solidFill>
                <a:latin typeface="Consolas"/>
              </a:rPr>
              <a:t>Owner</a:t>
            </a:r>
          </a:p>
        </p:txBody>
      </p:sp>
      <p:sp>
        <p:nvSpPr>
          <p:cNvPr id="96" name="task-state-3-4"/>
          <p:cNvSpPr txBox="1"/>
          <p:nvPr/>
        </p:nvSpPr>
        <p:spPr>
          <a:xfrm>
            <a:off x="7260336" y="5056632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FFFFFF"/>
                </a:solidFill>
                <a:latin typeface="Consolas"/>
              </a:rPr>
              <a:t>ready</a:t>
            </a:r>
          </a:p>
        </p:txBody>
      </p:sp>
      <p:sp>
        <p:nvSpPr>
          <p:cNvPr id="97" name="workbench-rail-title"/>
          <p:cNvSpPr txBox="1"/>
          <p:nvPr/>
        </p:nvSpPr>
        <p:spPr>
          <a:xfrm>
            <a:off x="9436608" y="1325880"/>
            <a:ext cx="196596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1" lang="en-US">
                <a:solidFill>
                  <a:srgbClr val="FF4500"/>
                </a:solidFill>
                <a:latin typeface="Consolas"/>
              </a:rPr>
              <a:t>BUILD SIGNALS</a:t>
            </a:r>
          </a:p>
        </p:txBody>
      </p:sp>
      <p:sp>
        <p:nvSpPr>
          <p:cNvPr id="98" name="chart-label"/>
          <p:cNvSpPr txBox="1"/>
          <p:nvPr/>
        </p:nvSpPr>
        <p:spPr>
          <a:xfrm>
            <a:off x="9436608" y="4956048"/>
            <a:ext cx="192024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0" lang="en-US">
                <a:solidFill>
                  <a:srgbClr val="F2E6E0"/>
                </a:solidFill>
                <a:latin typeface="Consolas"/>
              </a:rPr>
              <a:t>completion by work lane</a:t>
            </a:r>
          </a:p>
        </p:txBody>
      </p:sp>
      <p:sp>
        <p:nvSpPr>
          <p:cNvPr id="99" name="check-label-0"/>
          <p:cNvSpPr txBox="1"/>
          <p:nvPr/>
        </p:nvSpPr>
        <p:spPr>
          <a:xfrm>
            <a:off x="9619488" y="5303520"/>
            <a:ext cx="141732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1" lang="en-US">
                <a:solidFill>
                  <a:srgbClr val="FFFFFF"/>
                </a:solidFill>
                <a:latin typeface="Consolas"/>
              </a:rPr>
              <a:t>bounds</a:t>
            </a:r>
          </a:p>
        </p:txBody>
      </p:sp>
      <p:sp>
        <p:nvSpPr>
          <p:cNvPr id="100" name="check-label-1"/>
          <p:cNvSpPr txBox="1"/>
          <p:nvPr/>
        </p:nvSpPr>
        <p:spPr>
          <a:xfrm>
            <a:off x="9619488" y="5468112"/>
            <a:ext cx="141732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1" lang="en-US">
                <a:solidFill>
                  <a:srgbClr val="FFFFFF"/>
                </a:solidFill>
                <a:latin typeface="Consolas"/>
              </a:rPr>
              <a:t>content</a:t>
            </a:r>
          </a:p>
        </p:txBody>
      </p:sp>
      <p:sp>
        <p:nvSpPr>
          <p:cNvPr id="101" name="check-label-2"/>
          <p:cNvSpPr txBox="1"/>
          <p:nvPr/>
        </p:nvSpPr>
        <p:spPr>
          <a:xfrm>
            <a:off x="9619488" y="5632704"/>
            <a:ext cx="141732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1" lang="en-US">
                <a:solidFill>
                  <a:srgbClr val="FFFFFF"/>
                </a:solidFill>
                <a:latin typeface="Consolas"/>
              </a:rPr>
              <a:t>tables</a:t>
            </a:r>
          </a:p>
        </p:txBody>
      </p:sp>
      <p:sp>
        <p:nvSpPr>
          <p:cNvPr id="102" name="check-label-3"/>
          <p:cNvSpPr txBox="1"/>
          <p:nvPr/>
        </p:nvSpPr>
        <p:spPr>
          <a:xfrm>
            <a:off x="9619488" y="5797296"/>
            <a:ext cx="141732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1" lang="en-US">
                <a:solidFill>
                  <a:srgbClr val="FFFFFF"/>
                </a:solidFill>
                <a:latin typeface="Consolas"/>
              </a:rPr>
              <a:t>order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4FF"/>
          </a:solidFill>
          <a:ln w="10160">
            <a:solidFill>
              <a:srgbClr val="E8F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stel-blob-0"/>
          <p:cNvSpPr/>
          <p:nvPr/>
        </p:nvSpPr>
        <p:spPr>
          <a:xfrm>
            <a:off x="9509760" y="320040"/>
            <a:ext cx="1554480" cy="1554480"/>
          </a:xfrm>
          <a:prstGeom prst="ellipse">
            <a:avLst/>
          </a:prstGeom>
          <a:solidFill>
            <a:srgbClr val="C6E8F9"/>
          </a:solidFill>
          <a:ln w="10160">
            <a:solidFill>
              <a:srgbClr val="C6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stel-blob-1"/>
          <p:cNvSpPr/>
          <p:nvPr/>
        </p:nvSpPr>
        <p:spPr>
          <a:xfrm>
            <a:off x="10287000" y="4389120"/>
            <a:ext cx="1097280" cy="1097280"/>
          </a:xfrm>
          <a:prstGeom prst="ellipse">
            <a:avLst/>
          </a:prstGeom>
          <a:solidFill>
            <a:srgbClr val="F9C6E8"/>
          </a:solidFill>
          <a:ln w="10160">
            <a:solidFill>
              <a:srgbClr val="F9C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stel-blob-2"/>
          <p:cNvSpPr/>
          <p:nvPr/>
        </p:nvSpPr>
        <p:spPr>
          <a:xfrm>
            <a:off x="137160" y="4892040"/>
            <a:ext cx="1234440" cy="1234440"/>
          </a:xfrm>
          <a:prstGeom prst="ellipse">
            <a:avLst/>
          </a:prstGeom>
          <a:solidFill>
            <a:srgbClr val="F0FCE4"/>
          </a:solidFill>
          <a:ln w="10160">
            <a:solidFill>
              <a:srgbClr val="F0F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op-band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6E8F9"/>
          </a:solidFill>
          <a:ln w="10160">
            <a:solidFill>
              <a:srgbClr val="C6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nav-shell"/>
          <p:cNvSpPr/>
          <p:nvPr/>
        </p:nvSpPr>
        <p:spPr>
          <a:xfrm>
            <a:off x="457200" y="1078992"/>
            <a:ext cx="1572768" cy="5102352"/>
          </a:xfrm>
          <a:prstGeom prst="roundRect">
            <a:avLst/>
          </a:prstGeom>
          <a:solidFill>
            <a:srgbClr val="FCE4F3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metric-0-shell"/>
          <p:cNvSpPr/>
          <p:nvPr/>
        </p:nvSpPr>
        <p:spPr>
          <a:xfrm>
            <a:off x="2249424" y="1078992"/>
            <a:ext cx="1161288" cy="7680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metric-1-shell"/>
          <p:cNvSpPr/>
          <p:nvPr/>
        </p:nvSpPr>
        <p:spPr>
          <a:xfrm>
            <a:off x="3557016" y="1078992"/>
            <a:ext cx="1161288" cy="7680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metric-2-shell"/>
          <p:cNvSpPr/>
          <p:nvPr/>
        </p:nvSpPr>
        <p:spPr>
          <a:xfrm>
            <a:off x="4864608" y="1078992"/>
            <a:ext cx="1161288" cy="7680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metric-3-shell"/>
          <p:cNvSpPr/>
          <p:nvPr/>
        </p:nvSpPr>
        <p:spPr>
          <a:xfrm>
            <a:off x="6172200" y="1078992"/>
            <a:ext cx="1161288" cy="7680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metric-4-shell"/>
          <p:cNvSpPr/>
          <p:nvPr/>
        </p:nvSpPr>
        <p:spPr>
          <a:xfrm>
            <a:off x="7479792" y="1078992"/>
            <a:ext cx="1161288" cy="7680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isk-rail-shell"/>
          <p:cNvSpPr/>
          <p:nvPr/>
        </p:nvSpPr>
        <p:spPr>
          <a:xfrm>
            <a:off x="9052560" y="1078992"/>
            <a:ext cx="2679192" cy="4389120"/>
          </a:xfrm>
          <a:prstGeom prst="roundRect">
            <a:avLst/>
          </a:prstGeom>
          <a:solidFill>
            <a:srgbClr val="FCE4F3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nav-accent"/>
          <p:cNvSpPr/>
          <p:nvPr/>
        </p:nvSpPr>
        <p:spPr>
          <a:xfrm>
            <a:off x="457200" y="1078992"/>
            <a:ext cx="73152" cy="5102352"/>
          </a:xfrm>
          <a:prstGeom prst="rect">
            <a:avLst/>
          </a:prstGeom>
          <a:solidFill>
            <a:srgbClr val="C6E8F9"/>
          </a:solidFill>
          <a:ln w="10160">
            <a:solidFill>
              <a:srgbClr val="C6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nav-0"/>
          <p:cNvSpPr/>
          <p:nvPr/>
        </p:nvSpPr>
        <p:spPr>
          <a:xfrm>
            <a:off x="658368" y="1874519"/>
            <a:ext cx="1143000" cy="329184"/>
          </a:xfrm>
          <a:prstGeom prst="roundRect">
            <a:avLst/>
          </a:prstGeom>
          <a:solidFill>
            <a:srgbClr val="C6E8F9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nav-1"/>
          <p:cNvSpPr/>
          <p:nvPr/>
        </p:nvSpPr>
        <p:spPr>
          <a:xfrm>
            <a:off x="658368" y="2386584"/>
            <a:ext cx="1143000" cy="3291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nav-2"/>
          <p:cNvSpPr/>
          <p:nvPr/>
        </p:nvSpPr>
        <p:spPr>
          <a:xfrm>
            <a:off x="658368" y="2898648"/>
            <a:ext cx="1143000" cy="3291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nav-3"/>
          <p:cNvSpPr/>
          <p:nvPr/>
        </p:nvSpPr>
        <p:spPr>
          <a:xfrm>
            <a:off x="658368" y="3410712"/>
            <a:ext cx="1143000" cy="3291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nav-4"/>
          <p:cNvSpPr/>
          <p:nvPr/>
        </p:nvSpPr>
        <p:spPr>
          <a:xfrm>
            <a:off x="658368" y="3922776"/>
            <a:ext cx="1143000" cy="3291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nav-5"/>
          <p:cNvSpPr/>
          <p:nvPr/>
        </p:nvSpPr>
        <p:spPr>
          <a:xfrm>
            <a:off x="658368" y="4434840"/>
            <a:ext cx="1143000" cy="3291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nav-6"/>
          <p:cNvSpPr/>
          <p:nvPr/>
        </p:nvSpPr>
        <p:spPr>
          <a:xfrm>
            <a:off x="658368" y="4946904"/>
            <a:ext cx="1143000" cy="3291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metric-0-accent"/>
          <p:cNvSpPr/>
          <p:nvPr/>
        </p:nvSpPr>
        <p:spPr>
          <a:xfrm>
            <a:off x="2249424" y="1078992"/>
            <a:ext cx="73152" cy="768096"/>
          </a:xfrm>
          <a:prstGeom prst="rect">
            <a:avLst/>
          </a:prstGeom>
          <a:solidFill>
            <a:srgbClr val="C6E8F9"/>
          </a:solidFill>
          <a:ln w="10160">
            <a:solidFill>
              <a:srgbClr val="C6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metric-1-accent"/>
          <p:cNvSpPr/>
          <p:nvPr/>
        </p:nvSpPr>
        <p:spPr>
          <a:xfrm>
            <a:off x="3557016" y="1078992"/>
            <a:ext cx="73152" cy="768096"/>
          </a:xfrm>
          <a:prstGeom prst="rect">
            <a:avLst/>
          </a:prstGeom>
          <a:solidFill>
            <a:srgbClr val="F9C6E8"/>
          </a:solidFill>
          <a:ln w="10160">
            <a:solidFill>
              <a:srgbClr val="F9C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metric-2-accent"/>
          <p:cNvSpPr/>
          <p:nvPr/>
        </p:nvSpPr>
        <p:spPr>
          <a:xfrm>
            <a:off x="4864608" y="1078992"/>
            <a:ext cx="73152" cy="768096"/>
          </a:xfrm>
          <a:prstGeom prst="rect">
            <a:avLst/>
          </a:prstGeom>
          <a:solidFill>
            <a:srgbClr val="F0FCE4"/>
          </a:solidFill>
          <a:ln w="10160">
            <a:solidFill>
              <a:srgbClr val="F0F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metric-3-accent"/>
          <p:cNvSpPr/>
          <p:nvPr/>
        </p:nvSpPr>
        <p:spPr>
          <a:xfrm>
            <a:off x="6172200" y="1078992"/>
            <a:ext cx="73152" cy="768096"/>
          </a:xfrm>
          <a:prstGeom prst="rect">
            <a:avLst/>
          </a:prstGeom>
          <a:solidFill>
            <a:srgbClr val="D18D1E"/>
          </a:solidFill>
          <a:ln w="10160">
            <a:solidFill>
              <a:srgbClr val="D18D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metric-4-accent"/>
          <p:cNvSpPr/>
          <p:nvPr/>
        </p:nvSpPr>
        <p:spPr>
          <a:xfrm>
            <a:off x="7479792" y="1078992"/>
            <a:ext cx="73152" cy="768096"/>
          </a:xfrm>
          <a:prstGeom prst="rect">
            <a:avLst/>
          </a:prstGeom>
          <a:solidFill>
            <a:srgbClr val="4ECDC4"/>
          </a:solidFill>
          <a:ln w="1016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isk-rail-accent"/>
          <p:cNvSpPr/>
          <p:nvPr/>
        </p:nvSpPr>
        <p:spPr>
          <a:xfrm>
            <a:off x="9052560" y="1078992"/>
            <a:ext cx="73152" cy="4389120"/>
          </a:xfrm>
          <a:prstGeom prst="rect">
            <a:avLst/>
          </a:prstGeom>
          <a:solidFill>
            <a:srgbClr val="C6E8F9"/>
          </a:solidFill>
          <a:ln w="10160">
            <a:solidFill>
              <a:srgbClr val="C6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progress-track"/>
          <p:cNvSpPr/>
          <p:nvPr/>
        </p:nvSpPr>
        <p:spPr>
          <a:xfrm>
            <a:off x="2249424" y="5687568"/>
            <a:ext cx="9482328" cy="384048"/>
          </a:xfrm>
          <a:prstGeom prst="roundRect">
            <a:avLst/>
          </a:prstGeom>
          <a:solidFill>
            <a:srgbClr val="FCE4F3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29" name="signal-table"/>
          <p:cNvGraphicFramePr>
            <a:graphicFrameLocks noGrp="1"/>
          </p:cNvGraphicFramePr>
          <p:nvPr/>
        </p:nvGraphicFramePr>
        <p:xfrm>
          <a:off x="2249424" y="2066543"/>
          <a:ext cx="6537960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7592"/>
                <a:gridCol w="1307592"/>
                <a:gridCol w="1307592"/>
                <a:gridCol w="1307592"/>
                <a:gridCol w="1307592"/>
              </a:tblGrid>
              <a:tr h="425196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FFFFFF"/>
                          </a:solidFill>
                          <a:latin typeface="Aptos"/>
                        </a:rPr>
                        <a:t>Signal</a:t>
                      </a:r>
                    </a:p>
                  </a:txBody>
                  <a:tcPr marL="54864" marR="54864" marT="18288" marB="18288">
                    <a:solidFill>
                      <a:srgbClr val="C6E8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FFFFFF"/>
                          </a:solidFill>
                          <a:latin typeface="Aptos"/>
                        </a:rPr>
                        <a:t>Owner</a:t>
                      </a:r>
                    </a:p>
                  </a:txBody>
                  <a:tcPr marL="54864" marR="54864" marT="18288" marB="18288">
                    <a:solidFill>
                      <a:srgbClr val="C6E8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FFFFFF"/>
                          </a:solidFill>
                          <a:latin typeface="Aptos"/>
                        </a:rPr>
                        <a:t>State</a:t>
                      </a:r>
                    </a:p>
                  </a:txBody>
                  <a:tcPr marL="54864" marR="54864" marT="18288" marB="18288">
                    <a:solidFill>
                      <a:srgbClr val="C6E8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FFFFFF"/>
                          </a:solidFill>
                          <a:latin typeface="Aptos"/>
                        </a:rPr>
                        <a:t>Gate</a:t>
                      </a:r>
                    </a:p>
                  </a:txBody>
                  <a:tcPr marL="54864" marR="54864" marT="18288" marB="18288">
                    <a:solidFill>
                      <a:srgbClr val="C6E8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FFFFFF"/>
                          </a:solidFill>
                          <a:latin typeface="Aptos"/>
                        </a:rPr>
                        <a:t>Next</a:t>
                      </a:r>
                    </a:p>
                  </a:txBody>
                  <a:tcPr marL="54864" marR="54864" marT="18288" marB="18288">
                    <a:solidFill>
                      <a:srgbClr val="C6E8F9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24344D"/>
                          </a:solidFill>
                          <a:latin typeface="Aptos"/>
                        </a:rPr>
                        <a:t>S-01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24344D"/>
                          </a:solidFill>
                          <a:latin typeface="Aptos"/>
                        </a:rPr>
                        <a:t>Reviewer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24344D"/>
                          </a:solidFill>
                          <a:latin typeface="Aptos"/>
                        </a:rPr>
                        <a:t>Watch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24344D"/>
                          </a:solidFill>
                          <a:latin typeface="Aptos"/>
                        </a:rPr>
                        <a:t>Review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24344D"/>
                          </a:solidFill>
                          <a:latin typeface="Aptos"/>
                        </a:rPr>
                        <a:t>Check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24344D"/>
                          </a:solidFill>
                          <a:latin typeface="Aptos"/>
                        </a:rPr>
                        <a:t>S-02</a:t>
                      </a:r>
                    </a:p>
                  </a:txBody>
                  <a:tcPr marL="54864" marR="54864" marT="18288" marB="18288">
                    <a:solidFill>
                      <a:srgbClr val="FCE4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24344D"/>
                          </a:solidFill>
                          <a:latin typeface="Aptos"/>
                        </a:rPr>
                        <a:t>Auditor</a:t>
                      </a:r>
                    </a:p>
                  </a:txBody>
                  <a:tcPr marL="54864" marR="54864" marT="18288" marB="18288">
                    <a:solidFill>
                      <a:srgbClr val="FCE4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24344D"/>
                          </a:solidFill>
                          <a:latin typeface="Aptos"/>
                        </a:rPr>
                        <a:t>Hold</a:t>
                      </a:r>
                    </a:p>
                  </a:txBody>
                  <a:tcPr marL="54864" marR="54864" marT="18288" marB="18288">
                    <a:solidFill>
                      <a:srgbClr val="FCE4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24344D"/>
                          </a:solidFill>
                          <a:latin typeface="Aptos"/>
                        </a:rPr>
                        <a:t>Repair</a:t>
                      </a:r>
                    </a:p>
                  </a:txBody>
                  <a:tcPr marL="54864" marR="54864" marT="18288" marB="18288">
                    <a:solidFill>
                      <a:srgbClr val="FCE4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24344D"/>
                          </a:solidFill>
                          <a:latin typeface="Aptos"/>
                        </a:rPr>
                        <a:t>Fix</a:t>
                      </a:r>
                    </a:p>
                  </a:txBody>
                  <a:tcPr marL="54864" marR="54864" marT="18288" marB="18288">
                    <a:solidFill>
                      <a:srgbClr val="FCE4F3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24344D"/>
                          </a:solidFill>
                          <a:latin typeface="Aptos"/>
                        </a:rPr>
                        <a:t>S-03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24344D"/>
                          </a:solidFill>
                          <a:latin typeface="Aptos"/>
                        </a:rPr>
                        <a:t>Author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24344D"/>
                          </a:solidFill>
                          <a:latin typeface="Aptos"/>
                        </a:rPr>
                        <a:t>Ready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24344D"/>
                          </a:solidFill>
                          <a:latin typeface="Aptos"/>
                        </a:rPr>
                        <a:t>Pass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24344D"/>
                          </a:solidFill>
                          <a:latin typeface="Aptos"/>
                        </a:rPr>
                        <a:t>Ship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24344D"/>
                          </a:solidFill>
                          <a:latin typeface="Aptos"/>
                        </a:rPr>
                        <a:t>S-04</a:t>
                      </a:r>
                    </a:p>
                  </a:txBody>
                  <a:tcPr marL="54864" marR="54864" marT="18288" marB="18288">
                    <a:solidFill>
                      <a:srgbClr val="FCE4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24344D"/>
                          </a:solidFill>
                          <a:latin typeface="Aptos"/>
                        </a:rPr>
                        <a:t>Reviewer</a:t>
                      </a:r>
                    </a:p>
                  </a:txBody>
                  <a:tcPr marL="54864" marR="54864" marT="18288" marB="18288">
                    <a:solidFill>
                      <a:srgbClr val="FCE4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24344D"/>
                          </a:solidFill>
                          <a:latin typeface="Aptos"/>
                        </a:rPr>
                        <a:t>Watch</a:t>
                      </a:r>
                    </a:p>
                  </a:txBody>
                  <a:tcPr marL="54864" marR="54864" marT="18288" marB="18288">
                    <a:solidFill>
                      <a:srgbClr val="FCE4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24344D"/>
                          </a:solidFill>
                          <a:latin typeface="Aptos"/>
                        </a:rPr>
                        <a:t>Review</a:t>
                      </a:r>
                    </a:p>
                  </a:txBody>
                  <a:tcPr marL="54864" marR="54864" marT="18288" marB="18288">
                    <a:solidFill>
                      <a:srgbClr val="FCE4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24344D"/>
                          </a:solidFill>
                          <a:latin typeface="Aptos"/>
                        </a:rPr>
                        <a:t>Check</a:t>
                      </a:r>
                    </a:p>
                  </a:txBody>
                  <a:tcPr marL="54864" marR="54864" marT="18288" marB="18288">
                    <a:solidFill>
                      <a:srgbClr val="FCE4F3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24344D"/>
                          </a:solidFill>
                          <a:latin typeface="Aptos"/>
                        </a:rPr>
                        <a:t>S-05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24344D"/>
                          </a:solidFill>
                          <a:latin typeface="Aptos"/>
                        </a:rPr>
                        <a:t>Auditor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24344D"/>
                          </a:solidFill>
                          <a:latin typeface="Aptos"/>
                        </a:rPr>
                        <a:t>Hold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24344D"/>
                          </a:solidFill>
                          <a:latin typeface="Aptos"/>
                        </a:rPr>
                        <a:t>Repair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24344D"/>
                          </a:solidFill>
                          <a:latin typeface="Aptos"/>
                        </a:rPr>
                        <a:t>Fix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24344D"/>
                          </a:solidFill>
                          <a:latin typeface="Aptos"/>
                        </a:rPr>
                        <a:t>S-06</a:t>
                      </a:r>
                    </a:p>
                  </a:txBody>
                  <a:tcPr marL="54864" marR="54864" marT="18288" marB="18288">
                    <a:solidFill>
                      <a:srgbClr val="FCE4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24344D"/>
                          </a:solidFill>
                          <a:latin typeface="Aptos"/>
                        </a:rPr>
                        <a:t>Author</a:t>
                      </a:r>
                    </a:p>
                  </a:txBody>
                  <a:tcPr marL="54864" marR="54864" marT="18288" marB="18288">
                    <a:solidFill>
                      <a:srgbClr val="FCE4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24344D"/>
                          </a:solidFill>
                          <a:latin typeface="Aptos"/>
                        </a:rPr>
                        <a:t>Ready</a:t>
                      </a:r>
                    </a:p>
                  </a:txBody>
                  <a:tcPr marL="54864" marR="54864" marT="18288" marB="18288">
                    <a:solidFill>
                      <a:srgbClr val="FCE4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24344D"/>
                          </a:solidFill>
                          <a:latin typeface="Aptos"/>
                        </a:rPr>
                        <a:t>Pass</a:t>
                      </a:r>
                    </a:p>
                  </a:txBody>
                  <a:tcPr marL="54864" marR="54864" marT="18288" marB="18288">
                    <a:solidFill>
                      <a:srgbClr val="FCE4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24344D"/>
                          </a:solidFill>
                          <a:latin typeface="Aptos"/>
                        </a:rPr>
                        <a:t>Ship</a:t>
                      </a:r>
                    </a:p>
                  </a:txBody>
                  <a:tcPr marL="54864" marR="54864" marT="18288" marB="18288">
                    <a:solidFill>
                      <a:srgbClr val="FCE4F3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24344D"/>
                          </a:solidFill>
                          <a:latin typeface="Aptos"/>
                        </a:rPr>
                        <a:t>S-07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24344D"/>
                          </a:solidFill>
                          <a:latin typeface="Aptos"/>
                        </a:rPr>
                        <a:t>Reviewer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24344D"/>
                          </a:solidFill>
                          <a:latin typeface="Aptos"/>
                        </a:rPr>
                        <a:t>Watch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24344D"/>
                          </a:solidFill>
                          <a:latin typeface="Aptos"/>
                        </a:rPr>
                        <a:t>Review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24344D"/>
                          </a:solidFill>
                          <a:latin typeface="Aptos"/>
                        </a:rPr>
                        <a:t>Check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" name="risk-dot-0"/>
          <p:cNvSpPr/>
          <p:nvPr/>
        </p:nvSpPr>
        <p:spPr>
          <a:xfrm>
            <a:off x="9308592" y="1746504"/>
            <a:ext cx="164592" cy="164592"/>
          </a:xfrm>
          <a:prstGeom prst="ellipse">
            <a:avLst/>
          </a:prstGeom>
          <a:solidFill>
            <a:srgbClr val="4ECDC4"/>
          </a:solidFill>
          <a:ln w="1016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isk-dot-1"/>
          <p:cNvSpPr/>
          <p:nvPr/>
        </p:nvSpPr>
        <p:spPr>
          <a:xfrm>
            <a:off x="9308592" y="2276856"/>
            <a:ext cx="164592" cy="164592"/>
          </a:xfrm>
          <a:prstGeom prst="ellipse">
            <a:avLst/>
          </a:prstGeom>
          <a:solidFill>
            <a:srgbClr val="4ECDC4"/>
          </a:solidFill>
          <a:ln w="1016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isk-dot-2"/>
          <p:cNvSpPr/>
          <p:nvPr/>
        </p:nvSpPr>
        <p:spPr>
          <a:xfrm>
            <a:off x="9308592" y="2807208"/>
            <a:ext cx="164592" cy="164592"/>
          </a:xfrm>
          <a:prstGeom prst="ellipse">
            <a:avLst/>
          </a:prstGeom>
          <a:solidFill>
            <a:srgbClr val="D18D1E"/>
          </a:solidFill>
          <a:ln w="10160">
            <a:solidFill>
              <a:srgbClr val="D18D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isk-dot-3"/>
          <p:cNvSpPr/>
          <p:nvPr/>
        </p:nvSpPr>
        <p:spPr>
          <a:xfrm>
            <a:off x="9308592" y="3337560"/>
            <a:ext cx="164592" cy="164592"/>
          </a:xfrm>
          <a:prstGeom prst="ellipse">
            <a:avLst/>
          </a:prstGeom>
          <a:solidFill>
            <a:srgbClr val="4ECDC4"/>
          </a:solidFill>
          <a:ln w="1016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isk-dot-4"/>
          <p:cNvSpPr/>
          <p:nvPr/>
        </p:nvSpPr>
        <p:spPr>
          <a:xfrm>
            <a:off x="9308592" y="3867912"/>
            <a:ext cx="164592" cy="164592"/>
          </a:xfrm>
          <a:prstGeom prst="ellipse">
            <a:avLst/>
          </a:prstGeom>
          <a:solidFill>
            <a:srgbClr val="F0FCE4"/>
          </a:solidFill>
          <a:ln w="10160">
            <a:solidFill>
              <a:srgbClr val="F0F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isk-dot-5"/>
          <p:cNvSpPr/>
          <p:nvPr/>
        </p:nvSpPr>
        <p:spPr>
          <a:xfrm>
            <a:off x="9308592" y="4398264"/>
            <a:ext cx="164592" cy="164592"/>
          </a:xfrm>
          <a:prstGeom prst="ellipse">
            <a:avLst/>
          </a:prstGeom>
          <a:solidFill>
            <a:srgbClr val="4ECDC4"/>
          </a:solidFill>
          <a:ln w="1016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progress-fill"/>
          <p:cNvSpPr/>
          <p:nvPr/>
        </p:nvSpPr>
        <p:spPr>
          <a:xfrm>
            <a:off x="2249424" y="5687568"/>
            <a:ext cx="7406640" cy="384048"/>
          </a:xfrm>
          <a:prstGeom prst="roundRect">
            <a:avLst/>
          </a:prstGeom>
          <a:solidFill>
            <a:srgbClr val="C6E8F9"/>
          </a:solidFill>
          <a:ln w="10160">
            <a:solidFill>
              <a:srgbClr val="C6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profile-tag"/>
          <p:cNvSpPr txBox="1"/>
          <p:nvPr/>
        </p:nvSpPr>
        <p:spPr>
          <a:xfrm>
            <a:off x="457200" y="201168"/>
            <a:ext cx="768096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1" lang="en-US">
                <a:solidFill>
                  <a:srgbClr val="C6E8F9"/>
                </a:solidFill>
                <a:latin typeface="Aptos"/>
              </a:rPr>
              <a:t>V3 STRESS SUITE  ·  PASTEL SOFT UI  ·  CONTROL ROOM</a:t>
            </a:r>
          </a:p>
        </p:txBody>
      </p:sp>
      <p:sp>
        <p:nvSpPr>
          <p:cNvPr id="38" name="slide-index"/>
          <p:cNvSpPr txBox="1"/>
          <p:nvPr/>
        </p:nvSpPr>
        <p:spPr>
          <a:xfrm>
            <a:off x="10808208" y="201168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00" b="1" lang="en-US">
                <a:solidFill>
                  <a:srgbClr val="64748B"/>
                </a:solidFill>
                <a:latin typeface="Aptos"/>
              </a:rPr>
              <a:t>36/60</a:t>
            </a:r>
          </a:p>
        </p:txBody>
      </p:sp>
      <p:sp>
        <p:nvSpPr>
          <p:cNvPr id="39" name="title"/>
          <p:cNvSpPr txBox="1"/>
          <p:nvPr/>
        </p:nvSpPr>
        <p:spPr>
          <a:xfrm>
            <a:off x="457200" y="484632"/>
            <a:ext cx="11274552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200" b="1" lang="en-US">
                <a:solidFill>
                  <a:srgbClr val="24344D"/>
                </a:solidFill>
                <a:latin typeface="Aptos Display"/>
              </a:rPr>
              <a:t>Control room layouts keep dense delivery signals governable</a:t>
            </a:r>
          </a:p>
        </p:txBody>
      </p:sp>
      <p:sp>
        <p:nvSpPr>
          <p:cNvPr id="40" name="footer"/>
          <p:cNvSpPr txBox="1"/>
          <p:nvPr/>
        </p:nvSpPr>
        <p:spPr>
          <a:xfrm>
            <a:off x="457200" y="6473952"/>
            <a:ext cx="1051560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0" lang="en-US">
                <a:solidFill>
                  <a:srgbClr val="64748B"/>
                </a:solidFill>
                <a:latin typeface="Aptos"/>
              </a:rPr>
              <a:t>Native-object stress fixture · soft pink-blue-mint field with frosted white floating cards · editable geometry and recorded style lock</a:t>
            </a:r>
          </a:p>
        </p:txBody>
      </p:sp>
      <p:sp>
        <p:nvSpPr>
          <p:cNvPr id="41" name="nav-title"/>
          <p:cNvSpPr txBox="1"/>
          <p:nvPr/>
        </p:nvSpPr>
        <p:spPr>
          <a:xfrm>
            <a:off x="667512" y="1298448"/>
            <a:ext cx="1078992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1" lang="en-US">
                <a:solidFill>
                  <a:srgbClr val="C6E8F9"/>
                </a:solidFill>
                <a:latin typeface="Aptos"/>
              </a:rPr>
              <a:t>CONTROL
PLANES</a:t>
            </a:r>
          </a:p>
        </p:txBody>
      </p:sp>
      <p:sp>
        <p:nvSpPr>
          <p:cNvPr id="42" name="nav-label-0"/>
          <p:cNvSpPr txBox="1"/>
          <p:nvPr/>
        </p:nvSpPr>
        <p:spPr>
          <a:xfrm>
            <a:off x="749808" y="1965960"/>
            <a:ext cx="932688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1" lang="en-US">
                <a:solidFill>
                  <a:srgbClr val="111111"/>
                </a:solidFill>
                <a:latin typeface="Aptos"/>
              </a:rPr>
              <a:t>INBOX</a:t>
            </a:r>
          </a:p>
        </p:txBody>
      </p:sp>
      <p:sp>
        <p:nvSpPr>
          <p:cNvPr id="43" name="nav-label-1"/>
          <p:cNvSpPr txBox="1"/>
          <p:nvPr/>
        </p:nvSpPr>
        <p:spPr>
          <a:xfrm>
            <a:off x="749808" y="2478024"/>
            <a:ext cx="932688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0" lang="en-US">
                <a:solidFill>
                  <a:srgbClr val="24344D"/>
                </a:solidFill>
                <a:latin typeface="Aptos"/>
              </a:rPr>
              <a:t>SIGNALS</a:t>
            </a:r>
          </a:p>
        </p:txBody>
      </p:sp>
      <p:sp>
        <p:nvSpPr>
          <p:cNvPr id="44" name="nav-label-2"/>
          <p:cNvSpPr txBox="1"/>
          <p:nvPr/>
        </p:nvSpPr>
        <p:spPr>
          <a:xfrm>
            <a:off x="749808" y="2990088"/>
            <a:ext cx="932688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0" lang="en-US">
                <a:solidFill>
                  <a:srgbClr val="24344D"/>
                </a:solidFill>
                <a:latin typeface="Aptos"/>
              </a:rPr>
              <a:t>EVIDENCE</a:t>
            </a:r>
          </a:p>
        </p:txBody>
      </p:sp>
      <p:sp>
        <p:nvSpPr>
          <p:cNvPr id="45" name="nav-label-3"/>
          <p:cNvSpPr txBox="1"/>
          <p:nvPr/>
        </p:nvSpPr>
        <p:spPr>
          <a:xfrm>
            <a:off x="749808" y="3502152"/>
            <a:ext cx="932688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0" lang="en-US">
                <a:solidFill>
                  <a:srgbClr val="24344D"/>
                </a:solidFill>
                <a:latin typeface="Aptos"/>
              </a:rPr>
              <a:t>POLICY</a:t>
            </a:r>
          </a:p>
        </p:txBody>
      </p:sp>
      <p:sp>
        <p:nvSpPr>
          <p:cNvPr id="46" name="nav-label-4"/>
          <p:cNvSpPr txBox="1"/>
          <p:nvPr/>
        </p:nvSpPr>
        <p:spPr>
          <a:xfrm>
            <a:off x="749808" y="4014215"/>
            <a:ext cx="932688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0" lang="en-US">
                <a:solidFill>
                  <a:srgbClr val="24344D"/>
                </a:solidFill>
                <a:latin typeface="Aptos"/>
              </a:rPr>
              <a:t>REPAIR</a:t>
            </a:r>
          </a:p>
        </p:txBody>
      </p:sp>
      <p:sp>
        <p:nvSpPr>
          <p:cNvPr id="47" name="nav-label-5"/>
          <p:cNvSpPr txBox="1"/>
          <p:nvPr/>
        </p:nvSpPr>
        <p:spPr>
          <a:xfrm>
            <a:off x="749808" y="4526280"/>
            <a:ext cx="932688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0" lang="en-US">
                <a:solidFill>
                  <a:srgbClr val="24344D"/>
                </a:solidFill>
                <a:latin typeface="Aptos"/>
              </a:rPr>
              <a:t>RELEASE</a:t>
            </a:r>
          </a:p>
        </p:txBody>
      </p:sp>
      <p:sp>
        <p:nvSpPr>
          <p:cNvPr id="48" name="nav-label-6"/>
          <p:cNvSpPr txBox="1"/>
          <p:nvPr/>
        </p:nvSpPr>
        <p:spPr>
          <a:xfrm>
            <a:off x="749808" y="5038344"/>
            <a:ext cx="932688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0" lang="en-US">
                <a:solidFill>
                  <a:srgbClr val="24344D"/>
                </a:solidFill>
                <a:latin typeface="Aptos"/>
              </a:rPr>
              <a:t>ARCHIVE</a:t>
            </a:r>
          </a:p>
        </p:txBody>
      </p:sp>
      <p:sp>
        <p:nvSpPr>
          <p:cNvPr id="49" name="metric-v-0"/>
          <p:cNvSpPr txBox="1"/>
          <p:nvPr/>
        </p:nvSpPr>
        <p:spPr>
          <a:xfrm>
            <a:off x="2432304" y="1234440"/>
            <a:ext cx="80467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lang="en-US">
                <a:solidFill>
                  <a:srgbClr val="24344D"/>
                </a:solidFill>
                <a:latin typeface="Aptos Display"/>
              </a:rPr>
              <a:t>48</a:t>
            </a:r>
          </a:p>
        </p:txBody>
      </p:sp>
      <p:sp>
        <p:nvSpPr>
          <p:cNvPr id="50" name="metric-l-0"/>
          <p:cNvSpPr txBox="1"/>
          <p:nvPr/>
        </p:nvSpPr>
        <p:spPr>
          <a:xfrm>
            <a:off x="2359152" y="1581912"/>
            <a:ext cx="932688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64748B"/>
                </a:solidFill>
                <a:latin typeface="Aptos"/>
              </a:rPr>
              <a:t>WORK</a:t>
            </a:r>
          </a:p>
        </p:txBody>
      </p:sp>
      <p:sp>
        <p:nvSpPr>
          <p:cNvPr id="51" name="metric-v-1"/>
          <p:cNvSpPr txBox="1"/>
          <p:nvPr/>
        </p:nvSpPr>
        <p:spPr>
          <a:xfrm>
            <a:off x="3739896" y="1234440"/>
            <a:ext cx="80467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lang="en-US">
                <a:solidFill>
                  <a:srgbClr val="24344D"/>
                </a:solidFill>
                <a:latin typeface="Aptos Display"/>
              </a:rPr>
              <a:t>06</a:t>
            </a:r>
          </a:p>
        </p:txBody>
      </p:sp>
      <p:sp>
        <p:nvSpPr>
          <p:cNvPr id="52" name="metric-l-1"/>
          <p:cNvSpPr txBox="1"/>
          <p:nvPr/>
        </p:nvSpPr>
        <p:spPr>
          <a:xfrm>
            <a:off x="3666744" y="1581912"/>
            <a:ext cx="932688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64748B"/>
                </a:solidFill>
                <a:latin typeface="Aptos"/>
              </a:rPr>
              <a:t>FLAGS</a:t>
            </a:r>
          </a:p>
        </p:txBody>
      </p:sp>
      <p:sp>
        <p:nvSpPr>
          <p:cNvPr id="53" name="metric-v-2"/>
          <p:cNvSpPr txBox="1"/>
          <p:nvPr/>
        </p:nvSpPr>
        <p:spPr>
          <a:xfrm>
            <a:off x="5047488" y="1234440"/>
            <a:ext cx="80467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lang="en-US">
                <a:solidFill>
                  <a:srgbClr val="24344D"/>
                </a:solidFill>
                <a:latin typeface="Aptos Display"/>
              </a:rPr>
              <a:t>31</a:t>
            </a:r>
          </a:p>
        </p:txBody>
      </p:sp>
      <p:sp>
        <p:nvSpPr>
          <p:cNvPr id="54" name="metric-l-2"/>
          <p:cNvSpPr txBox="1"/>
          <p:nvPr/>
        </p:nvSpPr>
        <p:spPr>
          <a:xfrm>
            <a:off x="4974336" y="1581912"/>
            <a:ext cx="932688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64748B"/>
                </a:solidFill>
                <a:latin typeface="Aptos"/>
              </a:rPr>
              <a:t>READY</a:t>
            </a:r>
          </a:p>
        </p:txBody>
      </p:sp>
      <p:sp>
        <p:nvSpPr>
          <p:cNvPr id="55" name="metric-v-3"/>
          <p:cNvSpPr txBox="1"/>
          <p:nvPr/>
        </p:nvSpPr>
        <p:spPr>
          <a:xfrm>
            <a:off x="6355080" y="1234440"/>
            <a:ext cx="80467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lang="en-US">
                <a:solidFill>
                  <a:srgbClr val="24344D"/>
                </a:solidFill>
                <a:latin typeface="Aptos Display"/>
              </a:rPr>
              <a:t>04</a:t>
            </a:r>
          </a:p>
        </p:txBody>
      </p:sp>
      <p:sp>
        <p:nvSpPr>
          <p:cNvPr id="56" name="metric-l-3"/>
          <p:cNvSpPr txBox="1"/>
          <p:nvPr/>
        </p:nvSpPr>
        <p:spPr>
          <a:xfrm>
            <a:off x="6281928" y="1581912"/>
            <a:ext cx="932688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64748B"/>
                </a:solidFill>
                <a:latin typeface="Aptos"/>
              </a:rPr>
              <a:t>HOLD</a:t>
            </a:r>
          </a:p>
        </p:txBody>
      </p:sp>
      <p:sp>
        <p:nvSpPr>
          <p:cNvPr id="57" name="metric-v-4"/>
          <p:cNvSpPr txBox="1"/>
          <p:nvPr/>
        </p:nvSpPr>
        <p:spPr>
          <a:xfrm>
            <a:off x="7662672" y="1234440"/>
            <a:ext cx="80467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lang="en-US">
                <a:solidFill>
                  <a:srgbClr val="24344D"/>
                </a:solidFill>
                <a:latin typeface="Aptos Display"/>
              </a:rPr>
              <a:t>12</a:t>
            </a:r>
          </a:p>
        </p:txBody>
      </p:sp>
      <p:sp>
        <p:nvSpPr>
          <p:cNvPr id="58" name="metric-l-4"/>
          <p:cNvSpPr txBox="1"/>
          <p:nvPr/>
        </p:nvSpPr>
        <p:spPr>
          <a:xfrm>
            <a:off x="7589520" y="1581912"/>
            <a:ext cx="932688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64748B"/>
                </a:solidFill>
                <a:latin typeface="Aptos"/>
              </a:rPr>
              <a:t>STYLE</a:t>
            </a:r>
          </a:p>
        </p:txBody>
      </p:sp>
      <p:sp>
        <p:nvSpPr>
          <p:cNvPr id="59" name="risk-title"/>
          <p:cNvSpPr txBox="1"/>
          <p:nvPr/>
        </p:nvSpPr>
        <p:spPr>
          <a:xfrm>
            <a:off x="9308592" y="1298448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1" lang="en-US">
                <a:solidFill>
                  <a:srgbClr val="C6E8F9"/>
                </a:solidFill>
                <a:latin typeface="Aptos"/>
              </a:rPr>
              <a:t>LIVE REVIEW QUEUE</a:t>
            </a:r>
          </a:p>
        </p:txBody>
      </p:sp>
      <p:sp>
        <p:nvSpPr>
          <p:cNvPr id="60" name="risk-label-0"/>
          <p:cNvSpPr txBox="1"/>
          <p:nvPr/>
        </p:nvSpPr>
        <p:spPr>
          <a:xfrm>
            <a:off x="9619488" y="1691640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50" b="1" lang="en-US">
                <a:solidFill>
                  <a:srgbClr val="24344D"/>
                </a:solidFill>
                <a:latin typeface="Aptos"/>
              </a:rPr>
              <a:t>Scope stable</a:t>
            </a:r>
          </a:p>
        </p:txBody>
      </p:sp>
      <p:sp>
        <p:nvSpPr>
          <p:cNvPr id="61" name="risk-state-0"/>
          <p:cNvSpPr txBox="1"/>
          <p:nvPr/>
        </p:nvSpPr>
        <p:spPr>
          <a:xfrm>
            <a:off x="10972800" y="169164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00" b="1" lang="en-US">
                <a:solidFill>
                  <a:srgbClr val="4ECDC4"/>
                </a:solidFill>
                <a:latin typeface="Aptos"/>
              </a:rPr>
              <a:t>PASS</a:t>
            </a:r>
          </a:p>
        </p:txBody>
      </p:sp>
      <p:sp>
        <p:nvSpPr>
          <p:cNvPr id="62" name="risk-label-1"/>
          <p:cNvSpPr txBox="1"/>
          <p:nvPr/>
        </p:nvSpPr>
        <p:spPr>
          <a:xfrm>
            <a:off x="9619488" y="2221992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50" b="1" lang="en-US">
                <a:solidFill>
                  <a:srgbClr val="24344D"/>
                </a:solidFill>
                <a:latin typeface="Aptos"/>
              </a:rPr>
              <a:t>Text capacity</a:t>
            </a:r>
          </a:p>
        </p:txBody>
      </p:sp>
      <p:sp>
        <p:nvSpPr>
          <p:cNvPr id="63" name="risk-state-1"/>
          <p:cNvSpPr txBox="1"/>
          <p:nvPr/>
        </p:nvSpPr>
        <p:spPr>
          <a:xfrm>
            <a:off x="10972800" y="2221992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00" b="1" lang="en-US">
                <a:solidFill>
                  <a:srgbClr val="4ECDC4"/>
                </a:solidFill>
                <a:latin typeface="Aptos"/>
              </a:rPr>
              <a:t>PASS</a:t>
            </a:r>
          </a:p>
        </p:txBody>
      </p:sp>
      <p:sp>
        <p:nvSpPr>
          <p:cNvPr id="64" name="risk-label-2"/>
          <p:cNvSpPr txBox="1"/>
          <p:nvPr/>
        </p:nvSpPr>
        <p:spPr>
          <a:xfrm>
            <a:off x="9619488" y="2752344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50" b="1" lang="en-US">
                <a:solidFill>
                  <a:srgbClr val="24344D"/>
                </a:solidFill>
                <a:latin typeface="Aptos"/>
              </a:rPr>
              <a:t>Contrast check</a:t>
            </a:r>
          </a:p>
        </p:txBody>
      </p:sp>
      <p:sp>
        <p:nvSpPr>
          <p:cNvPr id="65" name="risk-state-2"/>
          <p:cNvSpPr txBox="1"/>
          <p:nvPr/>
        </p:nvSpPr>
        <p:spPr>
          <a:xfrm>
            <a:off x="10972800" y="275234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00" b="1" lang="en-US">
                <a:solidFill>
                  <a:srgbClr val="D18D1E"/>
                </a:solidFill>
                <a:latin typeface="Aptos"/>
              </a:rPr>
              <a:t>WATCH</a:t>
            </a:r>
          </a:p>
        </p:txBody>
      </p:sp>
      <p:sp>
        <p:nvSpPr>
          <p:cNvPr id="66" name="risk-label-3"/>
          <p:cNvSpPr txBox="1"/>
          <p:nvPr/>
        </p:nvSpPr>
        <p:spPr>
          <a:xfrm>
            <a:off x="9619488" y="3282696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50" b="1" lang="en-US">
                <a:solidFill>
                  <a:srgbClr val="24344D"/>
                </a:solidFill>
                <a:latin typeface="Aptos"/>
              </a:rPr>
              <a:t>Table fit</a:t>
            </a:r>
          </a:p>
        </p:txBody>
      </p:sp>
      <p:sp>
        <p:nvSpPr>
          <p:cNvPr id="67" name="risk-state-3"/>
          <p:cNvSpPr txBox="1"/>
          <p:nvPr/>
        </p:nvSpPr>
        <p:spPr>
          <a:xfrm>
            <a:off x="10972800" y="3282696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00" b="1" lang="en-US">
                <a:solidFill>
                  <a:srgbClr val="4ECDC4"/>
                </a:solidFill>
                <a:latin typeface="Aptos"/>
              </a:rPr>
              <a:t>PASS</a:t>
            </a:r>
          </a:p>
        </p:txBody>
      </p:sp>
      <p:sp>
        <p:nvSpPr>
          <p:cNvPr id="68" name="risk-label-4"/>
          <p:cNvSpPr txBox="1"/>
          <p:nvPr/>
        </p:nvSpPr>
        <p:spPr>
          <a:xfrm>
            <a:off x="9619488" y="3813048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50" b="1" lang="en-US">
                <a:solidFill>
                  <a:srgbClr val="24344D"/>
                </a:solidFill>
                <a:latin typeface="Aptos"/>
              </a:rPr>
              <a:t>Read order</a:t>
            </a:r>
          </a:p>
        </p:txBody>
      </p:sp>
      <p:sp>
        <p:nvSpPr>
          <p:cNvPr id="69" name="risk-state-4"/>
          <p:cNvSpPr txBox="1"/>
          <p:nvPr/>
        </p:nvSpPr>
        <p:spPr>
          <a:xfrm>
            <a:off x="10972800" y="3813048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00" b="1" lang="en-US">
                <a:solidFill>
                  <a:srgbClr val="F0FCE4"/>
                </a:solidFill>
                <a:latin typeface="Aptos"/>
              </a:rPr>
              <a:t>PASS</a:t>
            </a:r>
          </a:p>
        </p:txBody>
      </p:sp>
      <p:sp>
        <p:nvSpPr>
          <p:cNvPr id="70" name="risk-label-5"/>
          <p:cNvSpPr txBox="1"/>
          <p:nvPr/>
        </p:nvSpPr>
        <p:spPr>
          <a:xfrm>
            <a:off x="9619488" y="4343400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50" b="1" lang="en-US">
                <a:solidFill>
                  <a:srgbClr val="24344D"/>
                </a:solidFill>
                <a:latin typeface="Aptos"/>
              </a:rPr>
              <a:t>Package</a:t>
            </a:r>
          </a:p>
        </p:txBody>
      </p:sp>
      <p:sp>
        <p:nvSpPr>
          <p:cNvPr id="71" name="risk-state-5"/>
          <p:cNvSpPr txBox="1"/>
          <p:nvPr/>
        </p:nvSpPr>
        <p:spPr>
          <a:xfrm>
            <a:off x="10972800" y="434340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00" b="1" lang="en-US">
                <a:solidFill>
                  <a:srgbClr val="4ECDC4"/>
                </a:solidFill>
                <a:latin typeface="Aptos"/>
              </a:rPr>
              <a:t>PASS</a:t>
            </a:r>
          </a:p>
        </p:txBody>
      </p:sp>
      <p:sp>
        <p:nvSpPr>
          <p:cNvPr id="72" name="progress-label"/>
          <p:cNvSpPr txBox="1"/>
          <p:nvPr/>
        </p:nvSpPr>
        <p:spPr>
          <a:xfrm>
            <a:off x="2468880" y="5788152"/>
            <a:ext cx="886968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50" b="1" lang="en-US">
                <a:solidFill>
                  <a:srgbClr val="111111"/>
                </a:solidFill>
                <a:latin typeface="Aptos"/>
              </a:rPr>
              <a:t>Stress workload: 78% complete · 12 profiles locked · 0 geometry regressions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4FF"/>
          </a:solidFill>
          <a:ln w="10160">
            <a:solidFill>
              <a:srgbClr val="E8F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stel-blob-0"/>
          <p:cNvSpPr/>
          <p:nvPr/>
        </p:nvSpPr>
        <p:spPr>
          <a:xfrm>
            <a:off x="9509760" y="320040"/>
            <a:ext cx="1554480" cy="1554480"/>
          </a:xfrm>
          <a:prstGeom prst="ellipse">
            <a:avLst/>
          </a:prstGeom>
          <a:solidFill>
            <a:srgbClr val="C6E8F9"/>
          </a:solidFill>
          <a:ln w="10160">
            <a:solidFill>
              <a:srgbClr val="C6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stel-blob-1"/>
          <p:cNvSpPr/>
          <p:nvPr/>
        </p:nvSpPr>
        <p:spPr>
          <a:xfrm>
            <a:off x="10287000" y="4389120"/>
            <a:ext cx="1097280" cy="1097280"/>
          </a:xfrm>
          <a:prstGeom prst="ellipse">
            <a:avLst/>
          </a:prstGeom>
          <a:solidFill>
            <a:srgbClr val="F9C6E8"/>
          </a:solidFill>
          <a:ln w="10160">
            <a:solidFill>
              <a:srgbClr val="F9C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stel-blob-2"/>
          <p:cNvSpPr/>
          <p:nvPr/>
        </p:nvSpPr>
        <p:spPr>
          <a:xfrm>
            <a:off x="137160" y="4892040"/>
            <a:ext cx="1234440" cy="1234440"/>
          </a:xfrm>
          <a:prstGeom prst="ellipse">
            <a:avLst/>
          </a:prstGeom>
          <a:solidFill>
            <a:srgbClr val="F0FCE4"/>
          </a:solidFill>
          <a:ln w="10160">
            <a:solidFill>
              <a:srgbClr val="F0F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op-band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6E8F9"/>
          </a:solidFill>
          <a:ln w="10160">
            <a:solidFill>
              <a:srgbClr val="C6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mesh-shell"/>
          <p:cNvSpPr/>
          <p:nvPr/>
        </p:nvSpPr>
        <p:spPr>
          <a:xfrm>
            <a:off x="457200" y="1078992"/>
            <a:ext cx="7360920" cy="5029200"/>
          </a:xfrm>
          <a:prstGeom prst="roundRect">
            <a:avLst/>
          </a:prstGeom>
          <a:solidFill>
            <a:srgbClr val="FCE4F3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mesh-rail-shell"/>
          <p:cNvSpPr/>
          <p:nvPr/>
        </p:nvSpPr>
        <p:spPr>
          <a:xfrm>
            <a:off x="8092440" y="1078992"/>
            <a:ext cx="3639312" cy="5029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mesh-accent"/>
          <p:cNvSpPr/>
          <p:nvPr/>
        </p:nvSpPr>
        <p:spPr>
          <a:xfrm>
            <a:off x="457200" y="1078992"/>
            <a:ext cx="73152" cy="5029200"/>
          </a:xfrm>
          <a:prstGeom prst="rect">
            <a:avLst/>
          </a:prstGeom>
          <a:solidFill>
            <a:srgbClr val="C6E8F9"/>
          </a:solidFill>
          <a:ln w="10160">
            <a:solidFill>
              <a:srgbClr val="C6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mesh-edge-0"/>
          <p:cNvCxnSpPr/>
          <p:nvPr/>
        </p:nvCxnSpPr>
        <p:spPr>
          <a:xfrm flipV="1">
            <a:off x="1618488" y="1920240"/>
            <a:ext cx="1828800" cy="320040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mesh-edge-1"/>
          <p:cNvCxnSpPr/>
          <p:nvPr/>
        </p:nvCxnSpPr>
        <p:spPr>
          <a:xfrm>
            <a:off x="3447288" y="1920240"/>
            <a:ext cx="1920240" cy="320040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mesh-edge-2"/>
          <p:cNvCxnSpPr/>
          <p:nvPr/>
        </p:nvCxnSpPr>
        <p:spPr>
          <a:xfrm>
            <a:off x="1618488" y="2240280"/>
            <a:ext cx="868680" cy="1325880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mesh-edge-3"/>
          <p:cNvCxnSpPr/>
          <p:nvPr/>
        </p:nvCxnSpPr>
        <p:spPr>
          <a:xfrm flipH="1">
            <a:off x="2487168" y="1920240"/>
            <a:ext cx="960120" cy="1645920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mesh-edge-4"/>
          <p:cNvCxnSpPr/>
          <p:nvPr/>
        </p:nvCxnSpPr>
        <p:spPr>
          <a:xfrm>
            <a:off x="3447288" y="1920240"/>
            <a:ext cx="1005840" cy="1307592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mesh-edge-5"/>
          <p:cNvCxnSpPr/>
          <p:nvPr/>
        </p:nvCxnSpPr>
        <p:spPr>
          <a:xfrm flipH="1">
            <a:off x="4453128" y="2240280"/>
            <a:ext cx="914400" cy="987552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mesh-edge-6"/>
          <p:cNvCxnSpPr/>
          <p:nvPr/>
        </p:nvCxnSpPr>
        <p:spPr>
          <a:xfrm>
            <a:off x="5367528" y="2240280"/>
            <a:ext cx="1005840" cy="1325880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mesh-edge-7"/>
          <p:cNvCxnSpPr/>
          <p:nvPr/>
        </p:nvCxnSpPr>
        <p:spPr>
          <a:xfrm flipV="1">
            <a:off x="2487168" y="3227832"/>
            <a:ext cx="1965960" cy="338328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mesh-edge-8"/>
          <p:cNvCxnSpPr/>
          <p:nvPr/>
        </p:nvCxnSpPr>
        <p:spPr>
          <a:xfrm>
            <a:off x="4453128" y="3227832"/>
            <a:ext cx="1920240" cy="338328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mesh-edge-9"/>
          <p:cNvCxnSpPr/>
          <p:nvPr/>
        </p:nvCxnSpPr>
        <p:spPr>
          <a:xfrm>
            <a:off x="2487168" y="3566160"/>
            <a:ext cx="960120" cy="1325880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mesh-edge-10"/>
          <p:cNvCxnSpPr/>
          <p:nvPr/>
        </p:nvCxnSpPr>
        <p:spPr>
          <a:xfrm flipH="1">
            <a:off x="3447288" y="3227832"/>
            <a:ext cx="1005840" cy="1664208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mesh-edge-11"/>
          <p:cNvCxnSpPr/>
          <p:nvPr/>
        </p:nvCxnSpPr>
        <p:spPr>
          <a:xfrm>
            <a:off x="4453128" y="3227832"/>
            <a:ext cx="914400" cy="1664208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mesh-edge-12"/>
          <p:cNvCxnSpPr/>
          <p:nvPr/>
        </p:nvCxnSpPr>
        <p:spPr>
          <a:xfrm flipH="1">
            <a:off x="5367528" y="3566160"/>
            <a:ext cx="1005840" cy="1325880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mesh-edge-13"/>
          <p:cNvCxnSpPr/>
          <p:nvPr/>
        </p:nvCxnSpPr>
        <p:spPr>
          <a:xfrm>
            <a:off x="3447288" y="4892040"/>
            <a:ext cx="1920240" cy="0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mesh-rail-accent"/>
          <p:cNvSpPr/>
          <p:nvPr/>
        </p:nvSpPr>
        <p:spPr>
          <a:xfrm>
            <a:off x="8092440" y="1078992"/>
            <a:ext cx="73152" cy="5029200"/>
          </a:xfrm>
          <a:prstGeom prst="rect">
            <a:avLst/>
          </a:prstGeom>
          <a:solidFill>
            <a:srgbClr val="C6E8F9"/>
          </a:solidFill>
          <a:ln w="10160">
            <a:solidFill>
              <a:srgbClr val="C6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trace-line-0"/>
          <p:cNvCxnSpPr/>
          <p:nvPr/>
        </p:nvCxnSpPr>
        <p:spPr>
          <a:xfrm>
            <a:off x="8577072" y="2029968"/>
            <a:ext cx="0" cy="164592"/>
          </a:xfrm>
          <a:prstGeom prst="line">
            <a:avLst/>
          </a:prstGeom>
          <a:ln w="13970">
            <a:solidFill>
              <a:srgbClr val="C6E8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trace-line-1"/>
          <p:cNvCxnSpPr/>
          <p:nvPr/>
        </p:nvCxnSpPr>
        <p:spPr>
          <a:xfrm>
            <a:off x="8577072" y="2596896"/>
            <a:ext cx="0" cy="164592"/>
          </a:xfrm>
          <a:prstGeom prst="line">
            <a:avLst/>
          </a:prstGeom>
          <a:ln w="13970">
            <a:solidFill>
              <a:srgbClr val="F9C6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trace-line-2"/>
          <p:cNvCxnSpPr/>
          <p:nvPr/>
        </p:nvCxnSpPr>
        <p:spPr>
          <a:xfrm>
            <a:off x="8577072" y="3163824"/>
            <a:ext cx="0" cy="164592"/>
          </a:xfrm>
          <a:prstGeom prst="line">
            <a:avLst/>
          </a:prstGeom>
          <a:ln w="13970">
            <a:solidFill>
              <a:srgbClr val="F0F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trace-line-3"/>
          <p:cNvCxnSpPr/>
          <p:nvPr/>
        </p:nvCxnSpPr>
        <p:spPr>
          <a:xfrm>
            <a:off x="8577072" y="3730752"/>
            <a:ext cx="0" cy="164592"/>
          </a:xfrm>
          <a:prstGeom prst="line">
            <a:avLst/>
          </a:prstGeom>
          <a:ln w="13970">
            <a:solidFill>
              <a:srgbClr val="D18D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trace-line-4"/>
          <p:cNvCxnSpPr/>
          <p:nvPr/>
        </p:nvCxnSpPr>
        <p:spPr>
          <a:xfrm>
            <a:off x="8577072" y="4297680"/>
            <a:ext cx="0" cy="164592"/>
          </a:xfrm>
          <a:prstGeom prst="line">
            <a:avLst/>
          </a:prstGeom>
          <a:ln w="13970">
            <a:solidFill>
              <a:srgbClr val="4EC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trace-line-5"/>
          <p:cNvCxnSpPr/>
          <p:nvPr/>
        </p:nvCxnSpPr>
        <p:spPr>
          <a:xfrm>
            <a:off x="8577072" y="4864608"/>
            <a:ext cx="0" cy="164592"/>
          </a:xfrm>
          <a:prstGeom prst="line">
            <a:avLst/>
          </a:prstGeom>
          <a:ln w="13970">
            <a:solidFill>
              <a:srgbClr val="D95B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mesh-node-0"/>
          <p:cNvSpPr/>
          <p:nvPr/>
        </p:nvSpPr>
        <p:spPr>
          <a:xfrm>
            <a:off x="1051560" y="1920240"/>
            <a:ext cx="1143000" cy="640080"/>
          </a:xfrm>
          <a:prstGeom prst="roundRect">
            <a:avLst/>
          </a:prstGeom>
          <a:solidFill>
            <a:srgbClr val="C6E8F9"/>
          </a:solidFill>
          <a:ln w="10160">
            <a:solidFill>
              <a:srgbClr val="C6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mesh-node-1"/>
          <p:cNvSpPr/>
          <p:nvPr/>
        </p:nvSpPr>
        <p:spPr>
          <a:xfrm>
            <a:off x="2880360" y="1600200"/>
            <a:ext cx="1143000" cy="640080"/>
          </a:xfrm>
          <a:prstGeom prst="roundRect">
            <a:avLst/>
          </a:prstGeom>
          <a:solidFill>
            <a:srgbClr val="F9C6E8"/>
          </a:solidFill>
          <a:ln w="10160">
            <a:solidFill>
              <a:srgbClr val="F9C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mesh-node-2"/>
          <p:cNvSpPr/>
          <p:nvPr/>
        </p:nvSpPr>
        <p:spPr>
          <a:xfrm>
            <a:off x="4800600" y="1920240"/>
            <a:ext cx="1143000" cy="640080"/>
          </a:xfrm>
          <a:prstGeom prst="roundRect">
            <a:avLst/>
          </a:prstGeom>
          <a:solidFill>
            <a:srgbClr val="F0FCE4"/>
          </a:solidFill>
          <a:ln w="10160">
            <a:solidFill>
              <a:srgbClr val="F0F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mesh-node-3"/>
          <p:cNvSpPr/>
          <p:nvPr/>
        </p:nvSpPr>
        <p:spPr>
          <a:xfrm>
            <a:off x="1920240" y="3246120"/>
            <a:ext cx="1143000" cy="640080"/>
          </a:xfrm>
          <a:prstGeom prst="roundRect">
            <a:avLst/>
          </a:prstGeom>
          <a:solidFill>
            <a:srgbClr val="4ECDC4"/>
          </a:solidFill>
          <a:ln w="1016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mesh-node-4"/>
          <p:cNvSpPr/>
          <p:nvPr/>
        </p:nvSpPr>
        <p:spPr>
          <a:xfrm>
            <a:off x="3886200" y="2907792"/>
            <a:ext cx="1143000" cy="640080"/>
          </a:xfrm>
          <a:prstGeom prst="roundRect">
            <a:avLst/>
          </a:prstGeom>
          <a:solidFill>
            <a:srgbClr val="D18D1E"/>
          </a:solidFill>
          <a:ln w="10160">
            <a:solidFill>
              <a:srgbClr val="D18D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mesh-node-5"/>
          <p:cNvSpPr/>
          <p:nvPr/>
        </p:nvSpPr>
        <p:spPr>
          <a:xfrm>
            <a:off x="5806440" y="3246120"/>
            <a:ext cx="1143000" cy="640080"/>
          </a:xfrm>
          <a:prstGeom prst="roundRect">
            <a:avLst/>
          </a:prstGeom>
          <a:solidFill>
            <a:srgbClr val="C6E8F9"/>
          </a:solidFill>
          <a:ln w="10160">
            <a:solidFill>
              <a:srgbClr val="C6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mesh-node-6"/>
          <p:cNvSpPr/>
          <p:nvPr/>
        </p:nvSpPr>
        <p:spPr>
          <a:xfrm>
            <a:off x="2880360" y="4572000"/>
            <a:ext cx="1143000" cy="640080"/>
          </a:xfrm>
          <a:prstGeom prst="roundRect">
            <a:avLst/>
          </a:prstGeom>
          <a:solidFill>
            <a:srgbClr val="D95B7E"/>
          </a:solidFill>
          <a:ln w="10160">
            <a:solidFill>
              <a:srgbClr val="D95B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mesh-node-7"/>
          <p:cNvSpPr/>
          <p:nvPr/>
        </p:nvSpPr>
        <p:spPr>
          <a:xfrm>
            <a:off x="4800600" y="4572000"/>
            <a:ext cx="1143000" cy="640080"/>
          </a:xfrm>
          <a:prstGeom prst="roundRect">
            <a:avLst/>
          </a:prstGeom>
          <a:solidFill>
            <a:srgbClr val="4ECDC4"/>
          </a:solidFill>
          <a:ln w="1016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race-badge-0"/>
          <p:cNvSpPr/>
          <p:nvPr/>
        </p:nvSpPr>
        <p:spPr>
          <a:xfrm>
            <a:off x="8357616" y="1682496"/>
            <a:ext cx="438912" cy="347472"/>
          </a:xfrm>
          <a:prstGeom prst="roundRect">
            <a:avLst/>
          </a:prstGeom>
          <a:solidFill>
            <a:srgbClr val="C6E8F9"/>
          </a:solidFill>
          <a:ln w="10160">
            <a:solidFill>
              <a:srgbClr val="C6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race-badge-1"/>
          <p:cNvSpPr/>
          <p:nvPr/>
        </p:nvSpPr>
        <p:spPr>
          <a:xfrm>
            <a:off x="8357616" y="2249424"/>
            <a:ext cx="438912" cy="347472"/>
          </a:xfrm>
          <a:prstGeom prst="roundRect">
            <a:avLst/>
          </a:prstGeom>
          <a:solidFill>
            <a:srgbClr val="F9C6E8"/>
          </a:solidFill>
          <a:ln w="10160">
            <a:solidFill>
              <a:srgbClr val="F9C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race-badge-2"/>
          <p:cNvSpPr/>
          <p:nvPr/>
        </p:nvSpPr>
        <p:spPr>
          <a:xfrm>
            <a:off x="8357616" y="2816352"/>
            <a:ext cx="438912" cy="347472"/>
          </a:xfrm>
          <a:prstGeom prst="roundRect">
            <a:avLst/>
          </a:prstGeom>
          <a:solidFill>
            <a:srgbClr val="F0FCE4"/>
          </a:solidFill>
          <a:ln w="10160">
            <a:solidFill>
              <a:srgbClr val="F0F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race-badge-3"/>
          <p:cNvSpPr/>
          <p:nvPr/>
        </p:nvSpPr>
        <p:spPr>
          <a:xfrm>
            <a:off x="8357616" y="3383280"/>
            <a:ext cx="438912" cy="347472"/>
          </a:xfrm>
          <a:prstGeom prst="roundRect">
            <a:avLst/>
          </a:prstGeom>
          <a:solidFill>
            <a:srgbClr val="D18D1E"/>
          </a:solidFill>
          <a:ln w="10160">
            <a:solidFill>
              <a:srgbClr val="D18D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race-badge-4"/>
          <p:cNvSpPr/>
          <p:nvPr/>
        </p:nvSpPr>
        <p:spPr>
          <a:xfrm>
            <a:off x="8357616" y="3950208"/>
            <a:ext cx="438912" cy="347472"/>
          </a:xfrm>
          <a:prstGeom prst="roundRect">
            <a:avLst/>
          </a:prstGeom>
          <a:solidFill>
            <a:srgbClr val="4ECDC4"/>
          </a:solidFill>
          <a:ln w="1016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race-badge-5"/>
          <p:cNvSpPr/>
          <p:nvPr/>
        </p:nvSpPr>
        <p:spPr>
          <a:xfrm>
            <a:off x="8357616" y="4517136"/>
            <a:ext cx="438912" cy="347472"/>
          </a:xfrm>
          <a:prstGeom prst="roundRect">
            <a:avLst/>
          </a:prstGeom>
          <a:solidFill>
            <a:srgbClr val="D95B7E"/>
          </a:solidFill>
          <a:ln w="10160">
            <a:solidFill>
              <a:srgbClr val="D95B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profile-tag"/>
          <p:cNvSpPr txBox="1"/>
          <p:nvPr/>
        </p:nvSpPr>
        <p:spPr>
          <a:xfrm>
            <a:off x="457200" y="201168"/>
            <a:ext cx="768096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1" lang="en-US">
                <a:solidFill>
                  <a:srgbClr val="C6E8F9"/>
                </a:solidFill>
                <a:latin typeface="Aptos"/>
              </a:rPr>
              <a:t>V3 STRESS SUITE  ·  PASTEL SOFT UI  ·  EVIDENCE MESH</a:t>
            </a:r>
          </a:p>
        </p:txBody>
      </p:sp>
      <p:sp>
        <p:nvSpPr>
          <p:cNvPr id="46" name="slide-index"/>
          <p:cNvSpPr txBox="1"/>
          <p:nvPr/>
        </p:nvSpPr>
        <p:spPr>
          <a:xfrm>
            <a:off x="10808208" y="201168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00" b="1" lang="en-US">
                <a:solidFill>
                  <a:srgbClr val="64748B"/>
                </a:solidFill>
                <a:latin typeface="Aptos"/>
              </a:rPr>
              <a:t>37/60</a:t>
            </a:r>
          </a:p>
        </p:txBody>
      </p:sp>
      <p:sp>
        <p:nvSpPr>
          <p:cNvPr id="47" name="title"/>
          <p:cNvSpPr txBox="1"/>
          <p:nvPr/>
        </p:nvSpPr>
        <p:spPr>
          <a:xfrm>
            <a:off x="457200" y="484632"/>
            <a:ext cx="11274552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200" b="1" lang="en-US">
                <a:solidFill>
                  <a:srgbClr val="24344D"/>
                </a:solidFill>
                <a:latin typeface="Aptos Display"/>
              </a:rPr>
              <a:t>Evidence meshes preserve traceability across a dense editable graph</a:t>
            </a:r>
          </a:p>
        </p:txBody>
      </p:sp>
      <p:sp>
        <p:nvSpPr>
          <p:cNvPr id="48" name="footer"/>
          <p:cNvSpPr txBox="1"/>
          <p:nvPr/>
        </p:nvSpPr>
        <p:spPr>
          <a:xfrm>
            <a:off x="457200" y="6473952"/>
            <a:ext cx="1051560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0" lang="en-US">
                <a:solidFill>
                  <a:srgbClr val="64748B"/>
                </a:solidFill>
                <a:latin typeface="Aptos"/>
              </a:rPr>
              <a:t>Native-object stress fixture · soft pink-blue-mint field with frosted white floating cards · editable geometry and recorded style lock</a:t>
            </a:r>
          </a:p>
        </p:txBody>
      </p:sp>
      <p:sp>
        <p:nvSpPr>
          <p:cNvPr id="49" name="mesh-title"/>
          <p:cNvSpPr txBox="1"/>
          <p:nvPr/>
        </p:nvSpPr>
        <p:spPr>
          <a:xfrm>
            <a:off x="713232" y="1298448"/>
            <a:ext cx="320040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1" lang="en-US">
                <a:solidFill>
                  <a:srgbClr val="C6E8F9"/>
                </a:solidFill>
                <a:latin typeface="Aptos"/>
              </a:rPr>
              <a:t>EVIDENCE ROUTING MESH</a:t>
            </a:r>
          </a:p>
        </p:txBody>
      </p:sp>
      <p:sp>
        <p:nvSpPr>
          <p:cNvPr id="50" name="mesh-label-0"/>
          <p:cNvSpPr txBox="1"/>
          <p:nvPr/>
        </p:nvSpPr>
        <p:spPr>
          <a:xfrm>
            <a:off x="1143000" y="2139696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lang="en-US">
                <a:solidFill>
                  <a:srgbClr val="111111"/>
                </a:solidFill>
                <a:latin typeface="Aptos"/>
              </a:rPr>
              <a:t>Request</a:t>
            </a:r>
          </a:p>
        </p:txBody>
      </p:sp>
      <p:sp>
        <p:nvSpPr>
          <p:cNvPr id="51" name="mesh-label-1"/>
          <p:cNvSpPr txBox="1"/>
          <p:nvPr/>
        </p:nvSpPr>
        <p:spPr>
          <a:xfrm>
            <a:off x="2971800" y="1819656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lang="en-US">
                <a:solidFill>
                  <a:srgbClr val="111111"/>
                </a:solidFill>
                <a:latin typeface="Aptos"/>
              </a:rPr>
              <a:t>Profile</a:t>
            </a:r>
          </a:p>
        </p:txBody>
      </p:sp>
      <p:sp>
        <p:nvSpPr>
          <p:cNvPr id="52" name="mesh-label-2"/>
          <p:cNvSpPr txBox="1"/>
          <p:nvPr/>
        </p:nvSpPr>
        <p:spPr>
          <a:xfrm>
            <a:off x="4892040" y="2139696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lang="en-US">
                <a:solidFill>
                  <a:srgbClr val="111111"/>
                </a:solidFill>
                <a:latin typeface="Aptos"/>
              </a:rPr>
              <a:t>Source</a:t>
            </a:r>
          </a:p>
        </p:txBody>
      </p:sp>
      <p:sp>
        <p:nvSpPr>
          <p:cNvPr id="53" name="mesh-label-3"/>
          <p:cNvSpPr txBox="1"/>
          <p:nvPr/>
        </p:nvSpPr>
        <p:spPr>
          <a:xfrm>
            <a:off x="2011680" y="3465576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lang="en-US">
                <a:solidFill>
                  <a:srgbClr val="111111"/>
                </a:solidFill>
                <a:latin typeface="Aptos"/>
              </a:rPr>
              <a:t>Spec</a:t>
            </a:r>
          </a:p>
        </p:txBody>
      </p:sp>
      <p:sp>
        <p:nvSpPr>
          <p:cNvPr id="54" name="mesh-label-4"/>
          <p:cNvSpPr txBox="1"/>
          <p:nvPr/>
        </p:nvSpPr>
        <p:spPr>
          <a:xfrm>
            <a:off x="3977639" y="3127248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lang="en-US">
                <a:solidFill>
                  <a:srgbClr val="111111"/>
                </a:solidFill>
                <a:latin typeface="Aptos"/>
              </a:rPr>
              <a:t>Audit</a:t>
            </a:r>
          </a:p>
        </p:txBody>
      </p:sp>
      <p:sp>
        <p:nvSpPr>
          <p:cNvPr id="55" name="mesh-label-5"/>
          <p:cNvSpPr txBox="1"/>
          <p:nvPr/>
        </p:nvSpPr>
        <p:spPr>
          <a:xfrm>
            <a:off x="5897880" y="3465576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lang="en-US">
                <a:solidFill>
                  <a:srgbClr val="111111"/>
                </a:solidFill>
                <a:latin typeface="Aptos"/>
              </a:rPr>
              <a:t>Render</a:t>
            </a:r>
          </a:p>
        </p:txBody>
      </p:sp>
      <p:sp>
        <p:nvSpPr>
          <p:cNvPr id="56" name="mesh-label-6"/>
          <p:cNvSpPr txBox="1"/>
          <p:nvPr/>
        </p:nvSpPr>
        <p:spPr>
          <a:xfrm>
            <a:off x="2971800" y="4791456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lang="en-US">
                <a:solidFill>
                  <a:srgbClr val="111111"/>
                </a:solidFill>
                <a:latin typeface="Aptos"/>
              </a:rPr>
              <a:t>Repair</a:t>
            </a:r>
          </a:p>
        </p:txBody>
      </p:sp>
      <p:sp>
        <p:nvSpPr>
          <p:cNvPr id="57" name="mesh-label-7"/>
          <p:cNvSpPr txBox="1"/>
          <p:nvPr/>
        </p:nvSpPr>
        <p:spPr>
          <a:xfrm>
            <a:off x="4892040" y="4791456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lang="en-US">
                <a:solidFill>
                  <a:srgbClr val="111111"/>
                </a:solidFill>
                <a:latin typeface="Aptos"/>
              </a:rPr>
              <a:t>Ship</a:t>
            </a:r>
          </a:p>
        </p:txBody>
      </p:sp>
      <p:sp>
        <p:nvSpPr>
          <p:cNvPr id="58" name="mesh-rail-title"/>
          <p:cNvSpPr txBox="1"/>
          <p:nvPr/>
        </p:nvSpPr>
        <p:spPr>
          <a:xfrm>
            <a:off x="8357616" y="1298448"/>
            <a:ext cx="265176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1" lang="en-US">
                <a:solidFill>
                  <a:srgbClr val="C6E8F9"/>
                </a:solidFill>
                <a:latin typeface="Aptos"/>
              </a:rPr>
              <a:t>TRACEABILITY</a:t>
            </a:r>
          </a:p>
        </p:txBody>
      </p:sp>
      <p:sp>
        <p:nvSpPr>
          <p:cNvPr id="59" name="trace-number-0"/>
          <p:cNvSpPr txBox="1"/>
          <p:nvPr/>
        </p:nvSpPr>
        <p:spPr>
          <a:xfrm>
            <a:off x="8375904" y="1783080"/>
            <a:ext cx="402336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111111"/>
                </a:solidFill>
                <a:latin typeface="Aptos"/>
              </a:rPr>
              <a:t>01</a:t>
            </a:r>
          </a:p>
        </p:txBody>
      </p:sp>
      <p:sp>
        <p:nvSpPr>
          <p:cNvPr id="60" name="trace-label-0"/>
          <p:cNvSpPr txBox="1"/>
          <p:nvPr/>
        </p:nvSpPr>
        <p:spPr>
          <a:xfrm>
            <a:off x="8979408" y="173736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1" lang="en-US">
                <a:solidFill>
                  <a:srgbClr val="24344D"/>
                </a:solidFill>
                <a:latin typeface="Aptos"/>
              </a:rPr>
              <a:t>Intent</a:t>
            </a:r>
          </a:p>
        </p:txBody>
      </p:sp>
      <p:sp>
        <p:nvSpPr>
          <p:cNvPr id="61" name="trace-number-1"/>
          <p:cNvSpPr txBox="1"/>
          <p:nvPr/>
        </p:nvSpPr>
        <p:spPr>
          <a:xfrm>
            <a:off x="8375904" y="2350008"/>
            <a:ext cx="402336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111111"/>
                </a:solidFill>
                <a:latin typeface="Aptos"/>
              </a:rPr>
              <a:t>02</a:t>
            </a:r>
          </a:p>
        </p:txBody>
      </p:sp>
      <p:sp>
        <p:nvSpPr>
          <p:cNvPr id="62" name="trace-label-1"/>
          <p:cNvSpPr txBox="1"/>
          <p:nvPr/>
        </p:nvSpPr>
        <p:spPr>
          <a:xfrm>
            <a:off x="8979408" y="2304288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1" lang="en-US">
                <a:solidFill>
                  <a:srgbClr val="24344D"/>
                </a:solidFill>
                <a:latin typeface="Aptos"/>
              </a:rPr>
              <a:t>Profile lock</a:t>
            </a:r>
          </a:p>
        </p:txBody>
      </p:sp>
      <p:sp>
        <p:nvSpPr>
          <p:cNvPr id="63" name="trace-number-2"/>
          <p:cNvSpPr txBox="1"/>
          <p:nvPr/>
        </p:nvSpPr>
        <p:spPr>
          <a:xfrm>
            <a:off x="8375904" y="2916936"/>
            <a:ext cx="402336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111111"/>
                </a:solidFill>
                <a:latin typeface="Aptos"/>
              </a:rPr>
              <a:t>03</a:t>
            </a:r>
          </a:p>
        </p:txBody>
      </p:sp>
      <p:sp>
        <p:nvSpPr>
          <p:cNvPr id="64" name="trace-label-2"/>
          <p:cNvSpPr txBox="1"/>
          <p:nvPr/>
        </p:nvSpPr>
        <p:spPr>
          <a:xfrm>
            <a:off x="8979408" y="2871216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1" lang="en-US">
                <a:solidFill>
                  <a:srgbClr val="24344D"/>
                </a:solidFill>
                <a:latin typeface="Aptos"/>
              </a:rPr>
              <a:t>Object spec</a:t>
            </a:r>
          </a:p>
        </p:txBody>
      </p:sp>
      <p:sp>
        <p:nvSpPr>
          <p:cNvPr id="65" name="trace-number-3"/>
          <p:cNvSpPr txBox="1"/>
          <p:nvPr/>
        </p:nvSpPr>
        <p:spPr>
          <a:xfrm>
            <a:off x="8375904" y="3483864"/>
            <a:ext cx="402336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111111"/>
                </a:solidFill>
                <a:latin typeface="Aptos"/>
              </a:rPr>
              <a:t>04</a:t>
            </a:r>
          </a:p>
        </p:txBody>
      </p:sp>
      <p:sp>
        <p:nvSpPr>
          <p:cNvPr id="66" name="trace-label-3"/>
          <p:cNvSpPr txBox="1"/>
          <p:nvPr/>
        </p:nvSpPr>
        <p:spPr>
          <a:xfrm>
            <a:off x="8979408" y="3438144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1" lang="en-US">
                <a:solidFill>
                  <a:srgbClr val="24344D"/>
                </a:solidFill>
                <a:latin typeface="Aptos"/>
              </a:rPr>
              <a:t>Quality gate</a:t>
            </a:r>
          </a:p>
        </p:txBody>
      </p:sp>
      <p:sp>
        <p:nvSpPr>
          <p:cNvPr id="67" name="trace-number-4"/>
          <p:cNvSpPr txBox="1"/>
          <p:nvPr/>
        </p:nvSpPr>
        <p:spPr>
          <a:xfrm>
            <a:off x="8375904" y="4050791"/>
            <a:ext cx="402336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111111"/>
                </a:solidFill>
                <a:latin typeface="Aptos"/>
              </a:rPr>
              <a:t>05</a:t>
            </a:r>
          </a:p>
        </p:txBody>
      </p:sp>
      <p:sp>
        <p:nvSpPr>
          <p:cNvPr id="68" name="trace-label-4"/>
          <p:cNvSpPr txBox="1"/>
          <p:nvPr/>
        </p:nvSpPr>
        <p:spPr>
          <a:xfrm>
            <a:off x="8979408" y="400507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1" lang="en-US">
                <a:solidFill>
                  <a:srgbClr val="24344D"/>
                </a:solidFill>
                <a:latin typeface="Aptos"/>
              </a:rPr>
              <a:t>Repair trace</a:t>
            </a:r>
          </a:p>
        </p:txBody>
      </p:sp>
      <p:sp>
        <p:nvSpPr>
          <p:cNvPr id="69" name="trace-number-5"/>
          <p:cNvSpPr txBox="1"/>
          <p:nvPr/>
        </p:nvSpPr>
        <p:spPr>
          <a:xfrm>
            <a:off x="8375904" y="4617720"/>
            <a:ext cx="402336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111111"/>
                </a:solidFill>
                <a:latin typeface="Aptos"/>
              </a:rPr>
              <a:t>06</a:t>
            </a:r>
          </a:p>
        </p:txBody>
      </p:sp>
      <p:sp>
        <p:nvSpPr>
          <p:cNvPr id="70" name="trace-label-5"/>
          <p:cNvSpPr txBox="1"/>
          <p:nvPr/>
        </p:nvSpPr>
        <p:spPr>
          <a:xfrm>
            <a:off x="8979408" y="457200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1" lang="en-US">
                <a:solidFill>
                  <a:srgbClr val="24344D"/>
                </a:solidFill>
                <a:latin typeface="Aptos"/>
              </a:rPr>
              <a:t>Artifact</a:t>
            </a:r>
          </a:p>
        </p:txBody>
      </p:sp>
      <p:sp>
        <p:nvSpPr>
          <p:cNvPr id="71" name="mesh-note"/>
          <p:cNvSpPr txBox="1"/>
          <p:nvPr/>
        </p:nvSpPr>
        <p:spPr>
          <a:xfrm>
            <a:off x="8357616" y="5321808"/>
            <a:ext cx="2834640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00" b="0" lang="en-US">
                <a:solidFill>
                  <a:srgbClr val="64748B"/>
                </a:solidFill>
                <a:latin typeface="Aptos"/>
              </a:rPr>
              <a:t>Fourteen editable links prove dense graph routing and layering.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4FF"/>
          </a:solidFill>
          <a:ln w="10160">
            <a:solidFill>
              <a:srgbClr val="E8F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stel-blob-0"/>
          <p:cNvSpPr/>
          <p:nvPr/>
        </p:nvSpPr>
        <p:spPr>
          <a:xfrm>
            <a:off x="9509760" y="320040"/>
            <a:ext cx="1554480" cy="1554480"/>
          </a:xfrm>
          <a:prstGeom prst="ellipse">
            <a:avLst/>
          </a:prstGeom>
          <a:solidFill>
            <a:srgbClr val="C6E8F9"/>
          </a:solidFill>
          <a:ln w="10160">
            <a:solidFill>
              <a:srgbClr val="C6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stel-blob-1"/>
          <p:cNvSpPr/>
          <p:nvPr/>
        </p:nvSpPr>
        <p:spPr>
          <a:xfrm>
            <a:off x="10287000" y="4389120"/>
            <a:ext cx="1097280" cy="1097280"/>
          </a:xfrm>
          <a:prstGeom prst="ellipse">
            <a:avLst/>
          </a:prstGeom>
          <a:solidFill>
            <a:srgbClr val="F9C6E8"/>
          </a:solidFill>
          <a:ln w="10160">
            <a:solidFill>
              <a:srgbClr val="F9C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stel-blob-2"/>
          <p:cNvSpPr/>
          <p:nvPr/>
        </p:nvSpPr>
        <p:spPr>
          <a:xfrm>
            <a:off x="137160" y="4892040"/>
            <a:ext cx="1234440" cy="1234440"/>
          </a:xfrm>
          <a:prstGeom prst="ellipse">
            <a:avLst/>
          </a:prstGeom>
          <a:solidFill>
            <a:srgbClr val="F0FCE4"/>
          </a:solidFill>
          <a:ln w="10160">
            <a:solidFill>
              <a:srgbClr val="F0F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op-band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6E8F9"/>
          </a:solidFill>
          <a:ln w="10160">
            <a:solidFill>
              <a:srgbClr val="C6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matrix-rail-shell"/>
          <p:cNvSpPr/>
          <p:nvPr/>
        </p:nvSpPr>
        <p:spPr>
          <a:xfrm>
            <a:off x="8823960" y="1143000"/>
            <a:ext cx="2907792" cy="4443984"/>
          </a:xfrm>
          <a:prstGeom prst="roundRect">
            <a:avLst/>
          </a:prstGeom>
          <a:solidFill>
            <a:srgbClr val="FCE4F3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matrix-rail-accent"/>
          <p:cNvSpPr/>
          <p:nvPr/>
        </p:nvSpPr>
        <p:spPr>
          <a:xfrm>
            <a:off x="8823960" y="1143000"/>
            <a:ext cx="73152" cy="4443984"/>
          </a:xfrm>
          <a:prstGeom prst="rect">
            <a:avLst/>
          </a:prstGeom>
          <a:solidFill>
            <a:srgbClr val="C6E8F9"/>
          </a:solidFill>
          <a:ln w="10160">
            <a:solidFill>
              <a:srgbClr val="C6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adar-ring-0.45"/>
          <p:cNvSpPr/>
          <p:nvPr/>
        </p:nvSpPr>
        <p:spPr>
          <a:xfrm>
            <a:off x="9866376" y="2834640"/>
            <a:ext cx="822960" cy="822960"/>
          </a:xfrm>
          <a:prstGeom prst="ellipse">
            <a:avLst/>
          </a:prstGeom>
          <a:solidFill>
            <a:srgbClr val="FCE4F3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adar-ring-0.85"/>
          <p:cNvSpPr/>
          <p:nvPr/>
        </p:nvSpPr>
        <p:spPr>
          <a:xfrm>
            <a:off x="9500616" y="2468880"/>
            <a:ext cx="1554480" cy="1554480"/>
          </a:xfrm>
          <a:prstGeom prst="ellipse">
            <a:avLst/>
          </a:prstGeom>
          <a:solidFill>
            <a:srgbClr val="FCE4F3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adar-ring-1.25"/>
          <p:cNvSpPr/>
          <p:nvPr/>
        </p:nvSpPr>
        <p:spPr>
          <a:xfrm>
            <a:off x="9134856" y="2103120"/>
            <a:ext cx="2286000" cy="2286000"/>
          </a:xfrm>
          <a:prstGeom prst="ellipse">
            <a:avLst/>
          </a:prstGeom>
          <a:solidFill>
            <a:srgbClr val="FCE4F3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radar-axis-0"/>
          <p:cNvCxnSpPr/>
          <p:nvPr/>
        </p:nvCxnSpPr>
        <p:spPr>
          <a:xfrm flipV="1">
            <a:off x="10277856" y="1828799"/>
            <a:ext cx="0" cy="1417321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radar-axis-1"/>
          <p:cNvCxnSpPr/>
          <p:nvPr/>
        </p:nvCxnSpPr>
        <p:spPr>
          <a:xfrm flipV="1">
            <a:off x="10277856" y="2537460"/>
            <a:ext cx="1227435" cy="708660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radar-axis-2"/>
          <p:cNvCxnSpPr/>
          <p:nvPr/>
        </p:nvCxnSpPr>
        <p:spPr>
          <a:xfrm>
            <a:off x="10277856" y="3246120"/>
            <a:ext cx="1227435" cy="708659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radar-axis-3"/>
          <p:cNvCxnSpPr/>
          <p:nvPr/>
        </p:nvCxnSpPr>
        <p:spPr>
          <a:xfrm>
            <a:off x="10277856" y="3246120"/>
            <a:ext cx="0" cy="1417320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radar-axis-4"/>
          <p:cNvCxnSpPr/>
          <p:nvPr/>
        </p:nvCxnSpPr>
        <p:spPr>
          <a:xfrm flipH="1">
            <a:off x="9050420" y="3246120"/>
            <a:ext cx="1227436" cy="708659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radar-axis-5"/>
          <p:cNvCxnSpPr/>
          <p:nvPr/>
        </p:nvCxnSpPr>
        <p:spPr>
          <a:xfrm flipH="1" flipV="1">
            <a:off x="9050420" y="2537459"/>
            <a:ext cx="1227436" cy="708661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flow-link-0"/>
          <p:cNvCxnSpPr/>
          <p:nvPr/>
        </p:nvCxnSpPr>
        <p:spPr>
          <a:xfrm>
            <a:off x="2066543" y="5934456"/>
            <a:ext cx="265177" cy="0"/>
          </a:xfrm>
          <a:prstGeom prst="line">
            <a:avLst/>
          </a:prstGeom>
          <a:ln w="13970">
            <a:solidFill>
              <a:srgbClr val="C6E8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flow-link-1"/>
          <p:cNvCxnSpPr/>
          <p:nvPr/>
        </p:nvCxnSpPr>
        <p:spPr>
          <a:xfrm>
            <a:off x="3959352" y="5934456"/>
            <a:ext cx="265175" cy="0"/>
          </a:xfrm>
          <a:prstGeom prst="line">
            <a:avLst/>
          </a:prstGeom>
          <a:ln w="13970">
            <a:solidFill>
              <a:srgbClr val="F9C6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flow-link-2"/>
          <p:cNvCxnSpPr/>
          <p:nvPr/>
        </p:nvCxnSpPr>
        <p:spPr>
          <a:xfrm>
            <a:off x="5852159" y="5934456"/>
            <a:ext cx="265177" cy="0"/>
          </a:xfrm>
          <a:prstGeom prst="line">
            <a:avLst/>
          </a:prstGeom>
          <a:ln w="13970">
            <a:solidFill>
              <a:srgbClr val="F0F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flow-link-3"/>
          <p:cNvCxnSpPr/>
          <p:nvPr/>
        </p:nvCxnSpPr>
        <p:spPr>
          <a:xfrm>
            <a:off x="7744967" y="5934456"/>
            <a:ext cx="265176" cy="0"/>
          </a:xfrm>
          <a:prstGeom prst="line">
            <a:avLst/>
          </a:prstGeom>
          <a:ln w="13970">
            <a:solidFill>
              <a:srgbClr val="D18D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flow-link-4"/>
          <p:cNvCxnSpPr/>
          <p:nvPr/>
        </p:nvCxnSpPr>
        <p:spPr>
          <a:xfrm>
            <a:off x="9637776" y="5934456"/>
            <a:ext cx="265175" cy="0"/>
          </a:xfrm>
          <a:prstGeom prst="line">
            <a:avLst/>
          </a:prstGeom>
          <a:ln w="13970">
            <a:solidFill>
              <a:srgbClr val="4EC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operating-table"/>
          <p:cNvGraphicFramePr>
            <a:graphicFrameLocks noGrp="1"/>
          </p:cNvGraphicFramePr>
          <p:nvPr/>
        </p:nvGraphicFramePr>
        <p:xfrm>
          <a:off x="457200" y="1143000"/>
          <a:ext cx="8092440" cy="44439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8740"/>
                <a:gridCol w="1348740"/>
                <a:gridCol w="1348740"/>
                <a:gridCol w="1348740"/>
                <a:gridCol w="1348740"/>
                <a:gridCol w="1348740"/>
              </a:tblGrid>
              <a:tr h="444398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FFFFFF"/>
                          </a:solidFill>
                          <a:latin typeface="Aptos"/>
                        </a:rPr>
                        <a:t>Workstream</a:t>
                      </a:r>
                    </a:p>
                  </a:txBody>
                  <a:tcPr marL="54864" marR="54864" marT="18288" marB="18288">
                    <a:solidFill>
                      <a:srgbClr val="C6E8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FFFFFF"/>
                          </a:solidFill>
                          <a:latin typeface="Aptos"/>
                        </a:rPr>
                        <a:t>Profile</a:t>
                      </a:r>
                    </a:p>
                  </a:txBody>
                  <a:tcPr marL="54864" marR="54864" marT="18288" marB="18288">
                    <a:solidFill>
                      <a:srgbClr val="C6E8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FFFFFF"/>
                          </a:solidFill>
                          <a:latin typeface="Aptos"/>
                        </a:rPr>
                        <a:t>Structure</a:t>
                      </a:r>
                    </a:p>
                  </a:txBody>
                  <a:tcPr marL="54864" marR="54864" marT="18288" marB="18288">
                    <a:solidFill>
                      <a:srgbClr val="C6E8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FFFFFF"/>
                          </a:solidFill>
                          <a:latin typeface="Aptos"/>
                        </a:rPr>
                        <a:t>Density</a:t>
                      </a:r>
                    </a:p>
                  </a:txBody>
                  <a:tcPr marL="54864" marR="54864" marT="18288" marB="18288">
                    <a:solidFill>
                      <a:srgbClr val="C6E8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FFFFFF"/>
                          </a:solidFill>
                          <a:latin typeface="Aptos"/>
                        </a:rPr>
                        <a:t>Gate</a:t>
                      </a:r>
                    </a:p>
                  </a:txBody>
                  <a:tcPr marL="54864" marR="54864" marT="18288" marB="18288">
                    <a:solidFill>
                      <a:srgbClr val="C6E8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FFFFFF"/>
                          </a:solidFill>
                          <a:latin typeface="Aptos"/>
                        </a:rPr>
                        <a:t>Owner</a:t>
                      </a:r>
                    </a:p>
                  </a:txBody>
                  <a:tcPr marL="54864" marR="54864" marT="18288" marB="18288">
                    <a:solidFill>
                      <a:srgbClr val="C6E8F9"/>
                    </a:solidFill>
                  </a:tcPr>
                </a:tc>
              </a:tr>
              <a:tr h="444398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24344D"/>
                          </a:solidFill>
                          <a:latin typeface="Aptos"/>
                        </a:rPr>
                        <a:t>W-01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24344D"/>
                          </a:solidFill>
                          <a:latin typeface="Aptos"/>
                        </a:rPr>
                        <a:t>Ember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24344D"/>
                          </a:solidFill>
                          <a:latin typeface="Aptos"/>
                        </a:rPr>
                        <a:t>Mesh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24344D"/>
                          </a:solidFill>
                          <a:latin typeface="Aptos"/>
                        </a:rPr>
                        <a:t>Dense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24344D"/>
                          </a:solidFill>
                          <a:latin typeface="Aptos"/>
                        </a:rPr>
                        <a:t>Watch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24344D"/>
                          </a:solidFill>
                          <a:latin typeface="Aptos"/>
                        </a:rPr>
                        <a:t>R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44398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24344D"/>
                          </a:solidFill>
                          <a:latin typeface="Aptos"/>
                        </a:rPr>
                        <a:t>W-02</a:t>
                      </a:r>
                    </a:p>
                  </a:txBody>
                  <a:tcPr marL="54864" marR="54864" marT="18288" marB="18288">
                    <a:solidFill>
                      <a:srgbClr val="FCE4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24344D"/>
                          </a:solidFill>
                          <a:latin typeface="Aptos"/>
                        </a:rPr>
                        <a:t>Signal</a:t>
                      </a:r>
                    </a:p>
                  </a:txBody>
                  <a:tcPr marL="54864" marR="54864" marT="18288" marB="18288">
                    <a:solidFill>
                      <a:srgbClr val="FCE4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24344D"/>
                          </a:solidFill>
                          <a:latin typeface="Aptos"/>
                        </a:rPr>
                        <a:t>Matrix</a:t>
                      </a:r>
                    </a:p>
                  </a:txBody>
                  <a:tcPr marL="54864" marR="54864" marT="18288" marB="18288">
                    <a:solidFill>
                      <a:srgbClr val="FCE4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24344D"/>
                          </a:solidFill>
                          <a:latin typeface="Aptos"/>
                        </a:rPr>
                        <a:t>Layered</a:t>
                      </a:r>
                    </a:p>
                  </a:txBody>
                  <a:tcPr marL="54864" marR="54864" marT="18288" marB="18288">
                    <a:solidFill>
                      <a:srgbClr val="FCE4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24344D"/>
                          </a:solidFill>
                          <a:latin typeface="Aptos"/>
                        </a:rPr>
                        <a:t>Repair</a:t>
                      </a:r>
                    </a:p>
                  </a:txBody>
                  <a:tcPr marL="54864" marR="54864" marT="18288" marB="18288">
                    <a:solidFill>
                      <a:srgbClr val="FCE4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24344D"/>
                          </a:solidFill>
                          <a:latin typeface="Aptos"/>
                        </a:rPr>
                        <a:t>C</a:t>
                      </a:r>
                    </a:p>
                  </a:txBody>
                  <a:tcPr marL="54864" marR="54864" marT="18288" marB="18288">
                    <a:solidFill>
                      <a:srgbClr val="FCE4F3"/>
                    </a:solidFill>
                  </a:tcPr>
                </a:tc>
              </a:tr>
              <a:tr h="444398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24344D"/>
                          </a:solidFill>
                          <a:latin typeface="Aptos"/>
                        </a:rPr>
                        <a:t>W-03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24344D"/>
                          </a:solidFill>
                          <a:latin typeface="Aptos"/>
                        </a:rPr>
                        <a:t>Grove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24344D"/>
                          </a:solidFill>
                          <a:latin typeface="Aptos"/>
                        </a:rPr>
                        <a:t>Board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24344D"/>
                          </a:solidFill>
                          <a:latin typeface="Aptos"/>
                        </a:rPr>
                        <a:t>Packed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24344D"/>
                          </a:solidFill>
                          <a:latin typeface="Aptos"/>
                        </a:rPr>
                        <a:t>Pass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24344D"/>
                          </a:solidFill>
                          <a:latin typeface="Aptos"/>
                        </a:rPr>
                        <a:t>I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44398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24344D"/>
                          </a:solidFill>
                          <a:latin typeface="Aptos"/>
                        </a:rPr>
                        <a:t>W-04</a:t>
                      </a:r>
                    </a:p>
                  </a:txBody>
                  <a:tcPr marL="54864" marR="54864" marT="18288" marB="18288">
                    <a:solidFill>
                      <a:srgbClr val="FCE4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24344D"/>
                          </a:solidFill>
                          <a:latin typeface="Aptos"/>
                        </a:rPr>
                        <a:t>Atlas</a:t>
                      </a:r>
                    </a:p>
                  </a:txBody>
                  <a:tcPr marL="54864" marR="54864" marT="18288" marB="18288">
                    <a:solidFill>
                      <a:srgbClr val="FCE4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24344D"/>
                          </a:solidFill>
                          <a:latin typeface="Aptos"/>
                        </a:rPr>
                        <a:t>Cards</a:t>
                      </a:r>
                    </a:p>
                  </a:txBody>
                  <a:tcPr marL="54864" marR="54864" marT="18288" marB="18288">
                    <a:solidFill>
                      <a:srgbClr val="FCE4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24344D"/>
                          </a:solidFill>
                          <a:latin typeface="Aptos"/>
                        </a:rPr>
                        <a:t>High</a:t>
                      </a:r>
                    </a:p>
                  </a:txBody>
                  <a:tcPr marL="54864" marR="54864" marT="18288" marB="18288">
                    <a:solidFill>
                      <a:srgbClr val="FCE4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24344D"/>
                          </a:solidFill>
                          <a:latin typeface="Aptos"/>
                        </a:rPr>
                        <a:t>Pass</a:t>
                      </a:r>
                    </a:p>
                  </a:txBody>
                  <a:tcPr marL="54864" marR="54864" marT="18288" marB="18288">
                    <a:solidFill>
                      <a:srgbClr val="FCE4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24344D"/>
                          </a:solidFill>
                          <a:latin typeface="Aptos"/>
                        </a:rPr>
                        <a:t>A</a:t>
                      </a:r>
                    </a:p>
                  </a:txBody>
                  <a:tcPr marL="54864" marR="54864" marT="18288" marB="18288">
                    <a:solidFill>
                      <a:srgbClr val="FCE4F3"/>
                    </a:solidFill>
                  </a:tcPr>
                </a:tc>
              </a:tr>
              <a:tr h="444398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24344D"/>
                          </a:solidFill>
                          <a:latin typeface="Aptos"/>
                        </a:rPr>
                        <a:t>W-05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24344D"/>
                          </a:solidFill>
                          <a:latin typeface="Aptos"/>
                        </a:rPr>
                        <a:t>Ember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24344D"/>
                          </a:solidFill>
                          <a:latin typeface="Aptos"/>
                        </a:rPr>
                        <a:t>Mesh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24344D"/>
                          </a:solidFill>
                          <a:latin typeface="Aptos"/>
                        </a:rPr>
                        <a:t>Dense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24344D"/>
                          </a:solidFill>
                          <a:latin typeface="Aptos"/>
                        </a:rPr>
                        <a:t>Watch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24344D"/>
                          </a:solidFill>
                          <a:latin typeface="Aptos"/>
                        </a:rPr>
                        <a:t>R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44398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24344D"/>
                          </a:solidFill>
                          <a:latin typeface="Aptos"/>
                        </a:rPr>
                        <a:t>W-06</a:t>
                      </a:r>
                    </a:p>
                  </a:txBody>
                  <a:tcPr marL="54864" marR="54864" marT="18288" marB="18288">
                    <a:solidFill>
                      <a:srgbClr val="FCE4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24344D"/>
                          </a:solidFill>
                          <a:latin typeface="Aptos"/>
                        </a:rPr>
                        <a:t>Signal</a:t>
                      </a:r>
                    </a:p>
                  </a:txBody>
                  <a:tcPr marL="54864" marR="54864" marT="18288" marB="18288">
                    <a:solidFill>
                      <a:srgbClr val="FCE4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24344D"/>
                          </a:solidFill>
                          <a:latin typeface="Aptos"/>
                        </a:rPr>
                        <a:t>Matrix</a:t>
                      </a:r>
                    </a:p>
                  </a:txBody>
                  <a:tcPr marL="54864" marR="54864" marT="18288" marB="18288">
                    <a:solidFill>
                      <a:srgbClr val="FCE4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24344D"/>
                          </a:solidFill>
                          <a:latin typeface="Aptos"/>
                        </a:rPr>
                        <a:t>Layered</a:t>
                      </a:r>
                    </a:p>
                  </a:txBody>
                  <a:tcPr marL="54864" marR="54864" marT="18288" marB="18288">
                    <a:solidFill>
                      <a:srgbClr val="FCE4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24344D"/>
                          </a:solidFill>
                          <a:latin typeface="Aptos"/>
                        </a:rPr>
                        <a:t>Repair</a:t>
                      </a:r>
                    </a:p>
                  </a:txBody>
                  <a:tcPr marL="54864" marR="54864" marT="18288" marB="18288">
                    <a:solidFill>
                      <a:srgbClr val="FCE4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24344D"/>
                          </a:solidFill>
                          <a:latin typeface="Aptos"/>
                        </a:rPr>
                        <a:t>C</a:t>
                      </a:r>
                    </a:p>
                  </a:txBody>
                  <a:tcPr marL="54864" marR="54864" marT="18288" marB="18288">
                    <a:solidFill>
                      <a:srgbClr val="FCE4F3"/>
                    </a:solidFill>
                  </a:tcPr>
                </a:tc>
              </a:tr>
              <a:tr h="444398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24344D"/>
                          </a:solidFill>
                          <a:latin typeface="Aptos"/>
                        </a:rPr>
                        <a:t>W-07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24344D"/>
                          </a:solidFill>
                          <a:latin typeface="Aptos"/>
                        </a:rPr>
                        <a:t>Grove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24344D"/>
                          </a:solidFill>
                          <a:latin typeface="Aptos"/>
                        </a:rPr>
                        <a:t>Board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24344D"/>
                          </a:solidFill>
                          <a:latin typeface="Aptos"/>
                        </a:rPr>
                        <a:t>Packed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24344D"/>
                          </a:solidFill>
                          <a:latin typeface="Aptos"/>
                        </a:rPr>
                        <a:t>Pass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24344D"/>
                          </a:solidFill>
                          <a:latin typeface="Aptos"/>
                        </a:rPr>
                        <a:t>I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44398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24344D"/>
                          </a:solidFill>
                          <a:latin typeface="Aptos"/>
                        </a:rPr>
                        <a:t>W-08</a:t>
                      </a:r>
                    </a:p>
                  </a:txBody>
                  <a:tcPr marL="54864" marR="54864" marT="18288" marB="18288">
                    <a:solidFill>
                      <a:srgbClr val="FCE4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24344D"/>
                          </a:solidFill>
                          <a:latin typeface="Aptos"/>
                        </a:rPr>
                        <a:t>Atlas</a:t>
                      </a:r>
                    </a:p>
                  </a:txBody>
                  <a:tcPr marL="54864" marR="54864" marT="18288" marB="18288">
                    <a:solidFill>
                      <a:srgbClr val="FCE4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24344D"/>
                          </a:solidFill>
                          <a:latin typeface="Aptos"/>
                        </a:rPr>
                        <a:t>Cards</a:t>
                      </a:r>
                    </a:p>
                  </a:txBody>
                  <a:tcPr marL="54864" marR="54864" marT="18288" marB="18288">
                    <a:solidFill>
                      <a:srgbClr val="FCE4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24344D"/>
                          </a:solidFill>
                          <a:latin typeface="Aptos"/>
                        </a:rPr>
                        <a:t>High</a:t>
                      </a:r>
                    </a:p>
                  </a:txBody>
                  <a:tcPr marL="54864" marR="54864" marT="18288" marB="18288">
                    <a:solidFill>
                      <a:srgbClr val="FCE4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24344D"/>
                          </a:solidFill>
                          <a:latin typeface="Aptos"/>
                        </a:rPr>
                        <a:t>Pass</a:t>
                      </a:r>
                    </a:p>
                  </a:txBody>
                  <a:tcPr marL="54864" marR="54864" marT="18288" marB="18288">
                    <a:solidFill>
                      <a:srgbClr val="FCE4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24344D"/>
                          </a:solidFill>
                          <a:latin typeface="Aptos"/>
                        </a:rPr>
                        <a:t>A</a:t>
                      </a:r>
                    </a:p>
                  </a:txBody>
                  <a:tcPr marL="54864" marR="54864" marT="18288" marB="18288">
                    <a:solidFill>
                      <a:srgbClr val="FCE4F3"/>
                    </a:solidFill>
                  </a:tcPr>
                </a:tc>
              </a:tr>
              <a:tr h="444402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24344D"/>
                          </a:solidFill>
                          <a:latin typeface="Aptos"/>
                        </a:rPr>
                        <a:t>W-09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24344D"/>
                          </a:solidFill>
                          <a:latin typeface="Aptos"/>
                        </a:rPr>
                        <a:t>Ember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24344D"/>
                          </a:solidFill>
                          <a:latin typeface="Aptos"/>
                        </a:rPr>
                        <a:t>Mesh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24344D"/>
                          </a:solidFill>
                          <a:latin typeface="Aptos"/>
                        </a:rPr>
                        <a:t>Dense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24344D"/>
                          </a:solidFill>
                          <a:latin typeface="Aptos"/>
                        </a:rPr>
                        <a:t>Watch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24344D"/>
                          </a:solidFill>
                          <a:latin typeface="Aptos"/>
                        </a:rPr>
                        <a:t>R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flow-0"/>
          <p:cNvSpPr/>
          <p:nvPr/>
        </p:nvSpPr>
        <p:spPr>
          <a:xfrm>
            <a:off x="457200" y="5742432"/>
            <a:ext cx="1600200" cy="3840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6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low-1"/>
          <p:cNvSpPr/>
          <p:nvPr/>
        </p:nvSpPr>
        <p:spPr>
          <a:xfrm>
            <a:off x="2350008" y="5742432"/>
            <a:ext cx="1600200" cy="3840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9C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low-2"/>
          <p:cNvSpPr/>
          <p:nvPr/>
        </p:nvSpPr>
        <p:spPr>
          <a:xfrm>
            <a:off x="4242816" y="5742432"/>
            <a:ext cx="1600200" cy="3840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0F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low-3"/>
          <p:cNvSpPr/>
          <p:nvPr/>
        </p:nvSpPr>
        <p:spPr>
          <a:xfrm>
            <a:off x="6135624" y="5742432"/>
            <a:ext cx="1600200" cy="3840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18D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low-4"/>
          <p:cNvSpPr/>
          <p:nvPr/>
        </p:nvSpPr>
        <p:spPr>
          <a:xfrm>
            <a:off x="8028431" y="5742432"/>
            <a:ext cx="1600200" cy="3840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low-5"/>
          <p:cNvSpPr/>
          <p:nvPr/>
        </p:nvSpPr>
        <p:spPr>
          <a:xfrm>
            <a:off x="9921240" y="5742432"/>
            <a:ext cx="1600200" cy="3840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6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profile-tag"/>
          <p:cNvSpPr txBox="1"/>
          <p:nvPr/>
        </p:nvSpPr>
        <p:spPr>
          <a:xfrm>
            <a:off x="457200" y="201168"/>
            <a:ext cx="768096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1" lang="en-US">
                <a:solidFill>
                  <a:srgbClr val="C6E8F9"/>
                </a:solidFill>
                <a:latin typeface="Aptos"/>
              </a:rPr>
              <a:t>V3 STRESS SUITE  ·  PASTEL SOFT UI  ·  OPERATING MATRIX</a:t>
            </a:r>
          </a:p>
        </p:txBody>
      </p:sp>
      <p:sp>
        <p:nvSpPr>
          <p:cNvPr id="31" name="slide-index"/>
          <p:cNvSpPr txBox="1"/>
          <p:nvPr/>
        </p:nvSpPr>
        <p:spPr>
          <a:xfrm>
            <a:off x="10808208" y="201168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00" b="1" lang="en-US">
                <a:solidFill>
                  <a:srgbClr val="64748B"/>
                </a:solidFill>
                <a:latin typeface="Aptos"/>
              </a:rPr>
              <a:t>38/60</a:t>
            </a:r>
          </a:p>
        </p:txBody>
      </p:sp>
      <p:sp>
        <p:nvSpPr>
          <p:cNvPr id="32" name="title"/>
          <p:cNvSpPr txBox="1"/>
          <p:nvPr/>
        </p:nvSpPr>
        <p:spPr>
          <a:xfrm>
            <a:off x="457200" y="484632"/>
            <a:ext cx="11274552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200" b="1" lang="en-US">
                <a:solidFill>
                  <a:srgbClr val="24344D"/>
                </a:solidFill>
                <a:latin typeface="Aptos Display"/>
              </a:rPr>
              <a:t>Operating matrices make quality ownership visible at a glance</a:t>
            </a:r>
          </a:p>
        </p:txBody>
      </p:sp>
      <p:sp>
        <p:nvSpPr>
          <p:cNvPr id="33" name="footer"/>
          <p:cNvSpPr txBox="1"/>
          <p:nvPr/>
        </p:nvSpPr>
        <p:spPr>
          <a:xfrm>
            <a:off x="457200" y="6473952"/>
            <a:ext cx="1051560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0" lang="en-US">
                <a:solidFill>
                  <a:srgbClr val="64748B"/>
                </a:solidFill>
                <a:latin typeface="Aptos"/>
              </a:rPr>
              <a:t>Native-object stress fixture · soft pink-blue-mint field with frosted white floating cards · editable geometry and recorded style lock</a:t>
            </a:r>
          </a:p>
        </p:txBody>
      </p:sp>
      <p:sp>
        <p:nvSpPr>
          <p:cNvPr id="34" name="matrix-rail-title"/>
          <p:cNvSpPr txBox="1"/>
          <p:nvPr/>
        </p:nvSpPr>
        <p:spPr>
          <a:xfrm>
            <a:off x="9089136" y="1371600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1" lang="en-US">
                <a:solidFill>
                  <a:srgbClr val="C6E8F9"/>
                </a:solidFill>
                <a:latin typeface="Aptos"/>
              </a:rPr>
              <a:t>QUALITY RADAR</a:t>
            </a:r>
          </a:p>
        </p:txBody>
      </p:sp>
      <p:sp>
        <p:nvSpPr>
          <p:cNvPr id="35" name="radar-label-0"/>
          <p:cNvSpPr txBox="1"/>
          <p:nvPr/>
        </p:nvSpPr>
        <p:spPr>
          <a:xfrm>
            <a:off x="9893808" y="1737360"/>
            <a:ext cx="768096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64748B"/>
                </a:solidFill>
                <a:latin typeface="Aptos"/>
              </a:rPr>
              <a:t>Bounds</a:t>
            </a:r>
          </a:p>
        </p:txBody>
      </p:sp>
      <p:sp>
        <p:nvSpPr>
          <p:cNvPr id="36" name="radar-label-1"/>
          <p:cNvSpPr txBox="1"/>
          <p:nvPr/>
        </p:nvSpPr>
        <p:spPr>
          <a:xfrm>
            <a:off x="11120932" y="2446020"/>
            <a:ext cx="768096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64748B"/>
                </a:solidFill>
                <a:latin typeface="Aptos"/>
              </a:rPr>
              <a:t>Fonts</a:t>
            </a:r>
          </a:p>
        </p:txBody>
      </p:sp>
      <p:sp>
        <p:nvSpPr>
          <p:cNvPr id="37" name="radar-label-2"/>
          <p:cNvSpPr txBox="1"/>
          <p:nvPr/>
        </p:nvSpPr>
        <p:spPr>
          <a:xfrm>
            <a:off x="11120932" y="3863339"/>
            <a:ext cx="768096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64748B"/>
                </a:solidFill>
                <a:latin typeface="Aptos"/>
              </a:rPr>
              <a:t>Tables</a:t>
            </a:r>
          </a:p>
        </p:txBody>
      </p:sp>
      <p:sp>
        <p:nvSpPr>
          <p:cNvPr id="38" name="radar-label-3"/>
          <p:cNvSpPr txBox="1"/>
          <p:nvPr/>
        </p:nvSpPr>
        <p:spPr>
          <a:xfrm>
            <a:off x="9893808" y="4572000"/>
            <a:ext cx="768096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64748B"/>
                </a:solidFill>
                <a:latin typeface="Aptos"/>
              </a:rPr>
              <a:t>Contrast</a:t>
            </a:r>
          </a:p>
        </p:txBody>
      </p:sp>
      <p:sp>
        <p:nvSpPr>
          <p:cNvPr id="39" name="radar-label-4"/>
          <p:cNvSpPr txBox="1"/>
          <p:nvPr/>
        </p:nvSpPr>
        <p:spPr>
          <a:xfrm>
            <a:off x="8666683" y="3863339"/>
            <a:ext cx="768096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64748B"/>
                </a:solidFill>
                <a:latin typeface="Aptos"/>
              </a:rPr>
              <a:t>Order</a:t>
            </a:r>
          </a:p>
        </p:txBody>
      </p:sp>
      <p:sp>
        <p:nvSpPr>
          <p:cNvPr id="40" name="radar-label-5"/>
          <p:cNvSpPr txBox="1"/>
          <p:nvPr/>
        </p:nvSpPr>
        <p:spPr>
          <a:xfrm>
            <a:off x="8666683" y="2446020"/>
            <a:ext cx="768096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64748B"/>
                </a:solidFill>
                <a:latin typeface="Aptos"/>
              </a:rPr>
              <a:t>Style</a:t>
            </a:r>
          </a:p>
        </p:txBody>
      </p:sp>
      <p:sp>
        <p:nvSpPr>
          <p:cNvPr id="41" name="radar-point-0"/>
          <p:cNvSpPr/>
          <p:nvPr/>
        </p:nvSpPr>
        <p:spPr>
          <a:xfrm>
            <a:off x="10204704" y="2258568"/>
            <a:ext cx="146304" cy="146304"/>
          </a:xfrm>
          <a:prstGeom prst="ellipse">
            <a:avLst/>
          </a:prstGeom>
          <a:solidFill>
            <a:srgbClr val="F0FCE4"/>
          </a:solidFill>
          <a:ln w="10160">
            <a:solidFill>
              <a:srgbClr val="F0F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adar-point-1"/>
          <p:cNvSpPr/>
          <p:nvPr/>
        </p:nvSpPr>
        <p:spPr>
          <a:xfrm>
            <a:off x="10806379" y="2825496"/>
            <a:ext cx="146304" cy="146304"/>
          </a:xfrm>
          <a:prstGeom prst="ellipse">
            <a:avLst/>
          </a:prstGeom>
          <a:solidFill>
            <a:srgbClr val="F0FCE4"/>
          </a:solidFill>
          <a:ln w="10160">
            <a:solidFill>
              <a:srgbClr val="F0F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adar-point-2"/>
          <p:cNvSpPr/>
          <p:nvPr/>
        </p:nvSpPr>
        <p:spPr>
          <a:xfrm>
            <a:off x="11139220" y="3712463"/>
            <a:ext cx="146304" cy="146304"/>
          </a:xfrm>
          <a:prstGeom prst="ellipse">
            <a:avLst/>
          </a:prstGeom>
          <a:solidFill>
            <a:srgbClr val="F0FCE4"/>
          </a:solidFill>
          <a:ln w="10160">
            <a:solidFill>
              <a:srgbClr val="F0F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adar-point-3"/>
          <p:cNvSpPr/>
          <p:nvPr/>
        </p:nvSpPr>
        <p:spPr>
          <a:xfrm>
            <a:off x="10204704" y="3995928"/>
            <a:ext cx="146304" cy="146304"/>
          </a:xfrm>
          <a:prstGeom prst="ellipse">
            <a:avLst/>
          </a:prstGeom>
          <a:solidFill>
            <a:srgbClr val="F0FCE4"/>
          </a:solidFill>
          <a:ln w="10160">
            <a:solidFill>
              <a:srgbClr val="F0F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adar-point-4"/>
          <p:cNvSpPr/>
          <p:nvPr/>
        </p:nvSpPr>
        <p:spPr>
          <a:xfrm>
            <a:off x="9317736" y="3685032"/>
            <a:ext cx="146304" cy="146304"/>
          </a:xfrm>
          <a:prstGeom prst="ellipse">
            <a:avLst/>
          </a:prstGeom>
          <a:solidFill>
            <a:srgbClr val="F0FCE4"/>
          </a:solidFill>
          <a:ln w="10160">
            <a:solidFill>
              <a:srgbClr val="F0F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adar-point-5"/>
          <p:cNvSpPr/>
          <p:nvPr/>
        </p:nvSpPr>
        <p:spPr>
          <a:xfrm>
            <a:off x="9650577" y="2852928"/>
            <a:ext cx="146304" cy="146304"/>
          </a:xfrm>
          <a:prstGeom prst="ellipse">
            <a:avLst/>
          </a:prstGeom>
          <a:solidFill>
            <a:srgbClr val="F0FCE4"/>
          </a:solidFill>
          <a:ln w="10160">
            <a:solidFill>
              <a:srgbClr val="F0F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matrix-note"/>
          <p:cNvSpPr txBox="1"/>
          <p:nvPr/>
        </p:nvSpPr>
        <p:spPr>
          <a:xfrm>
            <a:off x="9089136" y="4800600"/>
            <a:ext cx="2267712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00" b="0" lang="en-US">
                <a:solidFill>
                  <a:srgbClr val="64748B"/>
                </a:solidFill>
                <a:latin typeface="Aptos"/>
              </a:rPr>
              <a:t>Editable table and quality geometry share one governed frame.</a:t>
            </a:r>
          </a:p>
        </p:txBody>
      </p:sp>
      <p:sp>
        <p:nvSpPr>
          <p:cNvPr id="48" name="flow-label-0"/>
          <p:cNvSpPr txBox="1"/>
          <p:nvPr/>
        </p:nvSpPr>
        <p:spPr>
          <a:xfrm>
            <a:off x="566928" y="5852160"/>
            <a:ext cx="137160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50" b="1" lang="en-US">
                <a:solidFill>
                  <a:srgbClr val="C6E8F9"/>
                </a:solidFill>
                <a:latin typeface="Aptos"/>
              </a:rPr>
              <a:t>Lock</a:t>
            </a:r>
          </a:p>
        </p:txBody>
      </p:sp>
      <p:sp>
        <p:nvSpPr>
          <p:cNvPr id="49" name="flow-label-1"/>
          <p:cNvSpPr txBox="1"/>
          <p:nvPr/>
        </p:nvSpPr>
        <p:spPr>
          <a:xfrm>
            <a:off x="2459736" y="5852160"/>
            <a:ext cx="137160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50" b="1" lang="en-US">
                <a:solidFill>
                  <a:srgbClr val="F9C6E8"/>
                </a:solidFill>
                <a:latin typeface="Aptos"/>
              </a:rPr>
              <a:t>Compose</a:t>
            </a:r>
          </a:p>
        </p:txBody>
      </p:sp>
      <p:sp>
        <p:nvSpPr>
          <p:cNvPr id="50" name="flow-label-2"/>
          <p:cNvSpPr txBox="1"/>
          <p:nvPr/>
        </p:nvSpPr>
        <p:spPr>
          <a:xfrm>
            <a:off x="4352544" y="5852160"/>
            <a:ext cx="137160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50" b="1" lang="en-US">
                <a:solidFill>
                  <a:srgbClr val="F0FCE4"/>
                </a:solidFill>
                <a:latin typeface="Aptos"/>
              </a:rPr>
              <a:t>Validate</a:t>
            </a:r>
          </a:p>
        </p:txBody>
      </p:sp>
      <p:sp>
        <p:nvSpPr>
          <p:cNvPr id="51" name="flow-label-3"/>
          <p:cNvSpPr txBox="1"/>
          <p:nvPr/>
        </p:nvSpPr>
        <p:spPr>
          <a:xfrm>
            <a:off x="6245352" y="5852160"/>
            <a:ext cx="137160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50" b="1" lang="en-US">
                <a:solidFill>
                  <a:srgbClr val="D18D1E"/>
                </a:solidFill>
                <a:latin typeface="Aptos"/>
              </a:rPr>
              <a:t>Render</a:t>
            </a:r>
          </a:p>
        </p:txBody>
      </p:sp>
      <p:sp>
        <p:nvSpPr>
          <p:cNvPr id="52" name="flow-label-4"/>
          <p:cNvSpPr txBox="1"/>
          <p:nvPr/>
        </p:nvSpPr>
        <p:spPr>
          <a:xfrm>
            <a:off x="8138160" y="5852160"/>
            <a:ext cx="137160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50" b="1" lang="en-US">
                <a:solidFill>
                  <a:srgbClr val="4ECDC4"/>
                </a:solidFill>
                <a:latin typeface="Aptos"/>
              </a:rPr>
              <a:t>Inspect</a:t>
            </a:r>
          </a:p>
        </p:txBody>
      </p:sp>
      <p:sp>
        <p:nvSpPr>
          <p:cNvPr id="53" name="flow-label-5"/>
          <p:cNvSpPr txBox="1"/>
          <p:nvPr/>
        </p:nvSpPr>
        <p:spPr>
          <a:xfrm>
            <a:off x="10030968" y="5852160"/>
            <a:ext cx="137160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50" b="1" lang="en-US">
                <a:solidFill>
                  <a:srgbClr val="C6E8F9"/>
                </a:solidFill>
                <a:latin typeface="Aptos"/>
              </a:rPr>
              <a:t>Publish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4FF"/>
          </a:solidFill>
          <a:ln w="10160">
            <a:solidFill>
              <a:srgbClr val="E8F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stel-blob-0"/>
          <p:cNvSpPr/>
          <p:nvPr/>
        </p:nvSpPr>
        <p:spPr>
          <a:xfrm>
            <a:off x="9509760" y="320040"/>
            <a:ext cx="1554480" cy="1554480"/>
          </a:xfrm>
          <a:prstGeom prst="ellipse">
            <a:avLst/>
          </a:prstGeom>
          <a:solidFill>
            <a:srgbClr val="C6E8F9"/>
          </a:solidFill>
          <a:ln w="10160">
            <a:solidFill>
              <a:srgbClr val="C6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stel-blob-1"/>
          <p:cNvSpPr/>
          <p:nvPr/>
        </p:nvSpPr>
        <p:spPr>
          <a:xfrm>
            <a:off x="10287000" y="4389120"/>
            <a:ext cx="1097280" cy="1097280"/>
          </a:xfrm>
          <a:prstGeom prst="ellipse">
            <a:avLst/>
          </a:prstGeom>
          <a:solidFill>
            <a:srgbClr val="F9C6E8"/>
          </a:solidFill>
          <a:ln w="10160">
            <a:solidFill>
              <a:srgbClr val="F9C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stel-blob-2"/>
          <p:cNvSpPr/>
          <p:nvPr/>
        </p:nvSpPr>
        <p:spPr>
          <a:xfrm>
            <a:off x="137160" y="4892040"/>
            <a:ext cx="1234440" cy="1234440"/>
          </a:xfrm>
          <a:prstGeom prst="ellipse">
            <a:avLst/>
          </a:prstGeom>
          <a:solidFill>
            <a:srgbClr val="F0FCE4"/>
          </a:solidFill>
          <a:ln w="10160">
            <a:solidFill>
              <a:srgbClr val="F0F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op-band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6E8F9"/>
          </a:solidFill>
          <a:ln w="10160">
            <a:solidFill>
              <a:srgbClr val="C6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ortfolio-0-shell"/>
          <p:cNvSpPr/>
          <p:nvPr/>
        </p:nvSpPr>
        <p:spPr>
          <a:xfrm>
            <a:off x="457200" y="1097280"/>
            <a:ext cx="23957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ortfolio-1-shell"/>
          <p:cNvSpPr/>
          <p:nvPr/>
        </p:nvSpPr>
        <p:spPr>
          <a:xfrm>
            <a:off x="3054096" y="1097280"/>
            <a:ext cx="23957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ortfolio-2-shell"/>
          <p:cNvSpPr/>
          <p:nvPr/>
        </p:nvSpPr>
        <p:spPr>
          <a:xfrm>
            <a:off x="5650992" y="1097280"/>
            <a:ext cx="23957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ortfolio-3-shell"/>
          <p:cNvSpPr/>
          <p:nvPr/>
        </p:nvSpPr>
        <p:spPr>
          <a:xfrm>
            <a:off x="457200" y="3429000"/>
            <a:ext cx="23957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portfolio-4-shell"/>
          <p:cNvSpPr/>
          <p:nvPr/>
        </p:nvSpPr>
        <p:spPr>
          <a:xfrm>
            <a:off x="3054096" y="3429000"/>
            <a:ext cx="23957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portfolio-5-shell"/>
          <p:cNvSpPr/>
          <p:nvPr/>
        </p:nvSpPr>
        <p:spPr>
          <a:xfrm>
            <a:off x="5650992" y="3429000"/>
            <a:ext cx="23957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ortfolio-rail-shell"/>
          <p:cNvSpPr/>
          <p:nvPr/>
        </p:nvSpPr>
        <p:spPr>
          <a:xfrm>
            <a:off x="8458200" y="1097280"/>
            <a:ext cx="3273552" cy="4892040"/>
          </a:xfrm>
          <a:prstGeom prst="roundRect">
            <a:avLst/>
          </a:prstGeom>
          <a:solidFill>
            <a:srgbClr val="FCE4F3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ortfolio-0-accent"/>
          <p:cNvSpPr/>
          <p:nvPr/>
        </p:nvSpPr>
        <p:spPr>
          <a:xfrm>
            <a:off x="457200" y="1097280"/>
            <a:ext cx="73152" cy="2057400"/>
          </a:xfrm>
          <a:prstGeom prst="rect">
            <a:avLst/>
          </a:prstGeom>
          <a:solidFill>
            <a:srgbClr val="C6E8F9"/>
          </a:solidFill>
          <a:ln w="10160">
            <a:solidFill>
              <a:srgbClr val="C6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portfolio-1-accent"/>
          <p:cNvSpPr/>
          <p:nvPr/>
        </p:nvSpPr>
        <p:spPr>
          <a:xfrm>
            <a:off x="3054096" y="1097280"/>
            <a:ext cx="73152" cy="2057400"/>
          </a:xfrm>
          <a:prstGeom prst="rect">
            <a:avLst/>
          </a:prstGeom>
          <a:solidFill>
            <a:srgbClr val="C6E8F9"/>
          </a:solidFill>
          <a:ln w="10160">
            <a:solidFill>
              <a:srgbClr val="C6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portfolio-2-accent"/>
          <p:cNvSpPr/>
          <p:nvPr/>
        </p:nvSpPr>
        <p:spPr>
          <a:xfrm>
            <a:off x="5650992" y="1097280"/>
            <a:ext cx="73152" cy="2057400"/>
          </a:xfrm>
          <a:prstGeom prst="rect">
            <a:avLst/>
          </a:prstGeom>
          <a:solidFill>
            <a:srgbClr val="C6E8F9"/>
          </a:solidFill>
          <a:ln w="10160">
            <a:solidFill>
              <a:srgbClr val="C6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portfolio-3-accent"/>
          <p:cNvSpPr/>
          <p:nvPr/>
        </p:nvSpPr>
        <p:spPr>
          <a:xfrm>
            <a:off x="457200" y="3429000"/>
            <a:ext cx="73152" cy="2057400"/>
          </a:xfrm>
          <a:prstGeom prst="rect">
            <a:avLst/>
          </a:prstGeom>
          <a:solidFill>
            <a:srgbClr val="C6E8F9"/>
          </a:solidFill>
          <a:ln w="10160">
            <a:solidFill>
              <a:srgbClr val="C6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portfolio-4-accent"/>
          <p:cNvSpPr/>
          <p:nvPr/>
        </p:nvSpPr>
        <p:spPr>
          <a:xfrm>
            <a:off x="3054096" y="3429000"/>
            <a:ext cx="73152" cy="2057400"/>
          </a:xfrm>
          <a:prstGeom prst="rect">
            <a:avLst/>
          </a:prstGeom>
          <a:solidFill>
            <a:srgbClr val="C6E8F9"/>
          </a:solidFill>
          <a:ln w="10160">
            <a:solidFill>
              <a:srgbClr val="C6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portfolio-5-accent"/>
          <p:cNvSpPr/>
          <p:nvPr/>
        </p:nvSpPr>
        <p:spPr>
          <a:xfrm>
            <a:off x="5650992" y="3429000"/>
            <a:ext cx="73152" cy="2057400"/>
          </a:xfrm>
          <a:prstGeom prst="rect">
            <a:avLst/>
          </a:prstGeom>
          <a:solidFill>
            <a:srgbClr val="C6E8F9"/>
          </a:solidFill>
          <a:ln w="10160">
            <a:solidFill>
              <a:srgbClr val="C6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portfolio-rail-accent"/>
          <p:cNvSpPr/>
          <p:nvPr/>
        </p:nvSpPr>
        <p:spPr>
          <a:xfrm>
            <a:off x="8458200" y="1097280"/>
            <a:ext cx="73152" cy="4892040"/>
          </a:xfrm>
          <a:prstGeom prst="rect">
            <a:avLst/>
          </a:prstGeom>
          <a:solidFill>
            <a:srgbClr val="C6E8F9"/>
          </a:solidFill>
          <a:ln w="10160">
            <a:solidFill>
              <a:srgbClr val="C6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portfolio-micro-0-0"/>
          <p:cNvSpPr/>
          <p:nvPr/>
        </p:nvSpPr>
        <p:spPr>
          <a:xfrm>
            <a:off x="676656" y="2139696"/>
            <a:ext cx="859536" cy="256032"/>
          </a:xfrm>
          <a:prstGeom prst="roundRect">
            <a:avLst/>
          </a:prstGeom>
          <a:solidFill>
            <a:srgbClr val="FCE4F3"/>
          </a:solidFill>
          <a:ln w="10160">
            <a:solidFill>
              <a:srgbClr val="C6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portfolio-micro-0-1"/>
          <p:cNvSpPr/>
          <p:nvPr/>
        </p:nvSpPr>
        <p:spPr>
          <a:xfrm>
            <a:off x="1664208" y="2139696"/>
            <a:ext cx="859536" cy="256032"/>
          </a:xfrm>
          <a:prstGeom prst="roundRect">
            <a:avLst/>
          </a:prstGeom>
          <a:solidFill>
            <a:srgbClr val="FCE4F3"/>
          </a:solidFill>
          <a:ln w="10160">
            <a:solidFill>
              <a:srgbClr val="C6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portfolio-micro-0-2"/>
          <p:cNvSpPr/>
          <p:nvPr/>
        </p:nvSpPr>
        <p:spPr>
          <a:xfrm>
            <a:off x="676656" y="2523744"/>
            <a:ext cx="859536" cy="256032"/>
          </a:xfrm>
          <a:prstGeom prst="roundRect">
            <a:avLst/>
          </a:prstGeom>
          <a:solidFill>
            <a:srgbClr val="FCE4F3"/>
          </a:solidFill>
          <a:ln w="10160">
            <a:solidFill>
              <a:srgbClr val="C6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portfolio-micro-0-3"/>
          <p:cNvSpPr/>
          <p:nvPr/>
        </p:nvSpPr>
        <p:spPr>
          <a:xfrm>
            <a:off x="1664208" y="2523744"/>
            <a:ext cx="859536" cy="256032"/>
          </a:xfrm>
          <a:prstGeom prst="roundRect">
            <a:avLst/>
          </a:prstGeom>
          <a:solidFill>
            <a:srgbClr val="FCE4F3"/>
          </a:solidFill>
          <a:ln w="10160">
            <a:solidFill>
              <a:srgbClr val="C6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portfolio-micro-1-0"/>
          <p:cNvSpPr/>
          <p:nvPr/>
        </p:nvSpPr>
        <p:spPr>
          <a:xfrm>
            <a:off x="3273552" y="2139696"/>
            <a:ext cx="859536" cy="256032"/>
          </a:xfrm>
          <a:prstGeom prst="roundRect">
            <a:avLst/>
          </a:prstGeom>
          <a:solidFill>
            <a:srgbClr val="FCE4F3"/>
          </a:solidFill>
          <a:ln w="10160">
            <a:solidFill>
              <a:srgbClr val="F9C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portfolio-micro-1-1"/>
          <p:cNvSpPr/>
          <p:nvPr/>
        </p:nvSpPr>
        <p:spPr>
          <a:xfrm>
            <a:off x="4261104" y="2139696"/>
            <a:ext cx="859536" cy="256032"/>
          </a:xfrm>
          <a:prstGeom prst="roundRect">
            <a:avLst/>
          </a:prstGeom>
          <a:solidFill>
            <a:srgbClr val="FCE4F3"/>
          </a:solidFill>
          <a:ln w="10160">
            <a:solidFill>
              <a:srgbClr val="F9C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portfolio-micro-1-2"/>
          <p:cNvSpPr/>
          <p:nvPr/>
        </p:nvSpPr>
        <p:spPr>
          <a:xfrm>
            <a:off x="3273552" y="2523744"/>
            <a:ext cx="859536" cy="256032"/>
          </a:xfrm>
          <a:prstGeom prst="roundRect">
            <a:avLst/>
          </a:prstGeom>
          <a:solidFill>
            <a:srgbClr val="FCE4F3"/>
          </a:solidFill>
          <a:ln w="10160">
            <a:solidFill>
              <a:srgbClr val="F9C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portfolio-micro-1-3"/>
          <p:cNvSpPr/>
          <p:nvPr/>
        </p:nvSpPr>
        <p:spPr>
          <a:xfrm>
            <a:off x="4261104" y="2523744"/>
            <a:ext cx="859536" cy="256032"/>
          </a:xfrm>
          <a:prstGeom prst="roundRect">
            <a:avLst/>
          </a:prstGeom>
          <a:solidFill>
            <a:srgbClr val="FCE4F3"/>
          </a:solidFill>
          <a:ln w="10160">
            <a:solidFill>
              <a:srgbClr val="F9C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portfolio-micro-2-0"/>
          <p:cNvSpPr/>
          <p:nvPr/>
        </p:nvSpPr>
        <p:spPr>
          <a:xfrm>
            <a:off x="5870448" y="2139696"/>
            <a:ext cx="859536" cy="256032"/>
          </a:xfrm>
          <a:prstGeom prst="roundRect">
            <a:avLst/>
          </a:prstGeom>
          <a:solidFill>
            <a:srgbClr val="FCE4F3"/>
          </a:solidFill>
          <a:ln w="10160">
            <a:solidFill>
              <a:srgbClr val="F0F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portfolio-micro-2-1"/>
          <p:cNvSpPr/>
          <p:nvPr/>
        </p:nvSpPr>
        <p:spPr>
          <a:xfrm>
            <a:off x="6858000" y="2139696"/>
            <a:ext cx="859536" cy="256032"/>
          </a:xfrm>
          <a:prstGeom prst="roundRect">
            <a:avLst/>
          </a:prstGeom>
          <a:solidFill>
            <a:srgbClr val="FCE4F3"/>
          </a:solidFill>
          <a:ln w="10160">
            <a:solidFill>
              <a:srgbClr val="F0F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portfolio-micro-2-2"/>
          <p:cNvSpPr/>
          <p:nvPr/>
        </p:nvSpPr>
        <p:spPr>
          <a:xfrm>
            <a:off x="5870448" y="2523744"/>
            <a:ext cx="859536" cy="256032"/>
          </a:xfrm>
          <a:prstGeom prst="roundRect">
            <a:avLst/>
          </a:prstGeom>
          <a:solidFill>
            <a:srgbClr val="FCE4F3"/>
          </a:solidFill>
          <a:ln w="10160">
            <a:solidFill>
              <a:srgbClr val="F0F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portfolio-micro-2-3"/>
          <p:cNvSpPr/>
          <p:nvPr/>
        </p:nvSpPr>
        <p:spPr>
          <a:xfrm>
            <a:off x="6858000" y="2523744"/>
            <a:ext cx="859536" cy="256032"/>
          </a:xfrm>
          <a:prstGeom prst="roundRect">
            <a:avLst/>
          </a:prstGeom>
          <a:solidFill>
            <a:srgbClr val="FCE4F3"/>
          </a:solidFill>
          <a:ln w="10160">
            <a:solidFill>
              <a:srgbClr val="F0F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portfolio-micro-3-0"/>
          <p:cNvSpPr/>
          <p:nvPr/>
        </p:nvSpPr>
        <p:spPr>
          <a:xfrm>
            <a:off x="676656" y="4471416"/>
            <a:ext cx="859536" cy="256032"/>
          </a:xfrm>
          <a:prstGeom prst="roundRect">
            <a:avLst/>
          </a:prstGeom>
          <a:solidFill>
            <a:srgbClr val="FCE4F3"/>
          </a:solidFill>
          <a:ln w="1016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portfolio-micro-3-1"/>
          <p:cNvSpPr/>
          <p:nvPr/>
        </p:nvSpPr>
        <p:spPr>
          <a:xfrm>
            <a:off x="1664208" y="4471416"/>
            <a:ext cx="859536" cy="256032"/>
          </a:xfrm>
          <a:prstGeom prst="roundRect">
            <a:avLst/>
          </a:prstGeom>
          <a:solidFill>
            <a:srgbClr val="FCE4F3"/>
          </a:solidFill>
          <a:ln w="1016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portfolio-micro-3-2"/>
          <p:cNvSpPr/>
          <p:nvPr/>
        </p:nvSpPr>
        <p:spPr>
          <a:xfrm>
            <a:off x="676656" y="4855464"/>
            <a:ext cx="859536" cy="256032"/>
          </a:xfrm>
          <a:prstGeom prst="roundRect">
            <a:avLst/>
          </a:prstGeom>
          <a:solidFill>
            <a:srgbClr val="FCE4F3"/>
          </a:solidFill>
          <a:ln w="1016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portfolio-micro-3-3"/>
          <p:cNvSpPr/>
          <p:nvPr/>
        </p:nvSpPr>
        <p:spPr>
          <a:xfrm>
            <a:off x="1664208" y="4855464"/>
            <a:ext cx="859536" cy="256032"/>
          </a:xfrm>
          <a:prstGeom prst="roundRect">
            <a:avLst/>
          </a:prstGeom>
          <a:solidFill>
            <a:srgbClr val="FCE4F3"/>
          </a:solidFill>
          <a:ln w="1016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portfolio-micro-4-0"/>
          <p:cNvSpPr/>
          <p:nvPr/>
        </p:nvSpPr>
        <p:spPr>
          <a:xfrm>
            <a:off x="3273552" y="4471416"/>
            <a:ext cx="859536" cy="256032"/>
          </a:xfrm>
          <a:prstGeom prst="roundRect">
            <a:avLst/>
          </a:prstGeom>
          <a:solidFill>
            <a:srgbClr val="FCE4F3"/>
          </a:solidFill>
          <a:ln w="10160">
            <a:solidFill>
              <a:srgbClr val="D18D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portfolio-micro-4-1"/>
          <p:cNvSpPr/>
          <p:nvPr/>
        </p:nvSpPr>
        <p:spPr>
          <a:xfrm>
            <a:off x="4261104" y="4471416"/>
            <a:ext cx="859536" cy="256032"/>
          </a:xfrm>
          <a:prstGeom prst="roundRect">
            <a:avLst/>
          </a:prstGeom>
          <a:solidFill>
            <a:srgbClr val="FCE4F3"/>
          </a:solidFill>
          <a:ln w="10160">
            <a:solidFill>
              <a:srgbClr val="D18D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portfolio-micro-4-2"/>
          <p:cNvSpPr/>
          <p:nvPr/>
        </p:nvSpPr>
        <p:spPr>
          <a:xfrm>
            <a:off x="3273552" y="4855464"/>
            <a:ext cx="859536" cy="256032"/>
          </a:xfrm>
          <a:prstGeom prst="roundRect">
            <a:avLst/>
          </a:prstGeom>
          <a:solidFill>
            <a:srgbClr val="FCE4F3"/>
          </a:solidFill>
          <a:ln w="10160">
            <a:solidFill>
              <a:srgbClr val="D18D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portfolio-micro-4-3"/>
          <p:cNvSpPr/>
          <p:nvPr/>
        </p:nvSpPr>
        <p:spPr>
          <a:xfrm>
            <a:off x="4261104" y="4855464"/>
            <a:ext cx="859536" cy="256032"/>
          </a:xfrm>
          <a:prstGeom prst="roundRect">
            <a:avLst/>
          </a:prstGeom>
          <a:solidFill>
            <a:srgbClr val="FCE4F3"/>
          </a:solidFill>
          <a:ln w="10160">
            <a:solidFill>
              <a:srgbClr val="D18D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portfolio-micro-5-0"/>
          <p:cNvSpPr/>
          <p:nvPr/>
        </p:nvSpPr>
        <p:spPr>
          <a:xfrm>
            <a:off x="5870448" y="4471416"/>
            <a:ext cx="859536" cy="256032"/>
          </a:xfrm>
          <a:prstGeom prst="roundRect">
            <a:avLst/>
          </a:prstGeom>
          <a:solidFill>
            <a:srgbClr val="FCE4F3"/>
          </a:solidFill>
          <a:ln w="10160">
            <a:solidFill>
              <a:srgbClr val="D95B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portfolio-micro-5-1"/>
          <p:cNvSpPr/>
          <p:nvPr/>
        </p:nvSpPr>
        <p:spPr>
          <a:xfrm>
            <a:off x="6858000" y="4471416"/>
            <a:ext cx="859536" cy="256032"/>
          </a:xfrm>
          <a:prstGeom prst="roundRect">
            <a:avLst/>
          </a:prstGeom>
          <a:solidFill>
            <a:srgbClr val="FCE4F3"/>
          </a:solidFill>
          <a:ln w="10160">
            <a:solidFill>
              <a:srgbClr val="D95B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portfolio-micro-5-2"/>
          <p:cNvSpPr/>
          <p:nvPr/>
        </p:nvSpPr>
        <p:spPr>
          <a:xfrm>
            <a:off x="5870448" y="4855464"/>
            <a:ext cx="859536" cy="256032"/>
          </a:xfrm>
          <a:prstGeom prst="roundRect">
            <a:avLst/>
          </a:prstGeom>
          <a:solidFill>
            <a:srgbClr val="FCE4F3"/>
          </a:solidFill>
          <a:ln w="10160">
            <a:solidFill>
              <a:srgbClr val="D95B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portfolio-micro-5-3"/>
          <p:cNvSpPr/>
          <p:nvPr/>
        </p:nvSpPr>
        <p:spPr>
          <a:xfrm>
            <a:off x="6858000" y="4855464"/>
            <a:ext cx="859536" cy="256032"/>
          </a:xfrm>
          <a:prstGeom prst="roundRect">
            <a:avLst/>
          </a:prstGeom>
          <a:solidFill>
            <a:srgbClr val="FCE4F3"/>
          </a:solidFill>
          <a:ln w="10160">
            <a:solidFill>
              <a:srgbClr val="D95B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lease-cell-0"/>
          <p:cNvSpPr/>
          <p:nvPr/>
        </p:nvSpPr>
        <p:spPr>
          <a:xfrm>
            <a:off x="8723376" y="1737360"/>
            <a:ext cx="2697480" cy="51206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lease-cell-1"/>
          <p:cNvSpPr/>
          <p:nvPr/>
        </p:nvSpPr>
        <p:spPr>
          <a:xfrm>
            <a:off x="8723376" y="2432304"/>
            <a:ext cx="2697480" cy="51206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lease-cell-2"/>
          <p:cNvSpPr/>
          <p:nvPr/>
        </p:nvSpPr>
        <p:spPr>
          <a:xfrm>
            <a:off x="8723376" y="3127248"/>
            <a:ext cx="2697480" cy="51206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lease-cell-3"/>
          <p:cNvSpPr/>
          <p:nvPr/>
        </p:nvSpPr>
        <p:spPr>
          <a:xfrm>
            <a:off x="8723376" y="3822191"/>
            <a:ext cx="2697480" cy="51206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lease-cell-4"/>
          <p:cNvSpPr/>
          <p:nvPr/>
        </p:nvSpPr>
        <p:spPr>
          <a:xfrm>
            <a:off x="8723376" y="4517136"/>
            <a:ext cx="2697480" cy="51206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portfolio-banner"/>
          <p:cNvSpPr/>
          <p:nvPr/>
        </p:nvSpPr>
        <p:spPr>
          <a:xfrm>
            <a:off x="457200" y="5559552"/>
            <a:ext cx="7882127" cy="438912"/>
          </a:xfrm>
          <a:prstGeom prst="roundRect">
            <a:avLst/>
          </a:prstGeom>
          <a:solidFill>
            <a:srgbClr val="C6E8F9"/>
          </a:solidFill>
          <a:ln w="10160">
            <a:solidFill>
              <a:srgbClr val="C6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profile-tag"/>
          <p:cNvSpPr txBox="1"/>
          <p:nvPr/>
        </p:nvSpPr>
        <p:spPr>
          <a:xfrm>
            <a:off x="457200" y="201168"/>
            <a:ext cx="768096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1" lang="en-US">
                <a:solidFill>
                  <a:srgbClr val="C6E8F9"/>
                </a:solidFill>
                <a:latin typeface="Aptos"/>
              </a:rPr>
              <a:t>V3 STRESS SUITE  ·  PASTEL SOFT UI  ·  PORTFOLIO GRID</a:t>
            </a:r>
          </a:p>
        </p:txBody>
      </p:sp>
      <p:sp>
        <p:nvSpPr>
          <p:cNvPr id="52" name="slide-index"/>
          <p:cNvSpPr txBox="1"/>
          <p:nvPr/>
        </p:nvSpPr>
        <p:spPr>
          <a:xfrm>
            <a:off x="10808208" y="201168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00" b="1" lang="en-US">
                <a:solidFill>
                  <a:srgbClr val="64748B"/>
                </a:solidFill>
                <a:latin typeface="Aptos"/>
              </a:rPr>
              <a:t>39/60</a:t>
            </a:r>
          </a:p>
        </p:txBody>
      </p:sp>
      <p:sp>
        <p:nvSpPr>
          <p:cNvPr id="53" name="title"/>
          <p:cNvSpPr txBox="1"/>
          <p:nvPr/>
        </p:nvSpPr>
        <p:spPr>
          <a:xfrm>
            <a:off x="457200" y="484632"/>
            <a:ext cx="11274552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200" b="1" lang="en-US">
                <a:solidFill>
                  <a:srgbClr val="24344D"/>
                </a:solidFill>
                <a:latin typeface="Aptos Display"/>
              </a:rPr>
              <a:t>Portfolio grids compress six validated capability views into one scan</a:t>
            </a:r>
          </a:p>
        </p:txBody>
      </p:sp>
      <p:sp>
        <p:nvSpPr>
          <p:cNvPr id="54" name="footer"/>
          <p:cNvSpPr txBox="1"/>
          <p:nvPr/>
        </p:nvSpPr>
        <p:spPr>
          <a:xfrm>
            <a:off x="457200" y="6473952"/>
            <a:ext cx="1051560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0" lang="en-US">
                <a:solidFill>
                  <a:srgbClr val="64748B"/>
                </a:solidFill>
                <a:latin typeface="Aptos"/>
              </a:rPr>
              <a:t>Native-object stress fixture · soft pink-blue-mint field with frosted white floating cards · editable geometry and recorded style lock</a:t>
            </a:r>
          </a:p>
        </p:txBody>
      </p:sp>
      <p:sp>
        <p:nvSpPr>
          <p:cNvPr id="55" name="portfolio-num-0"/>
          <p:cNvSpPr txBox="1"/>
          <p:nvPr/>
        </p:nvSpPr>
        <p:spPr>
          <a:xfrm>
            <a:off x="676656" y="1298448"/>
            <a:ext cx="566928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1" lang="en-US">
                <a:solidFill>
                  <a:srgbClr val="C6E8F9"/>
                </a:solidFill>
                <a:latin typeface="Aptos Display"/>
              </a:rPr>
              <a:t>01</a:t>
            </a:r>
          </a:p>
        </p:txBody>
      </p:sp>
      <p:sp>
        <p:nvSpPr>
          <p:cNvPr id="56" name="portfolio-name-0"/>
          <p:cNvSpPr txBox="1"/>
          <p:nvPr/>
        </p:nvSpPr>
        <p:spPr>
          <a:xfrm>
            <a:off x="676656" y="1719072"/>
            <a:ext cx="192024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50" b="1" lang="en-US">
                <a:solidFill>
                  <a:srgbClr val="24344D"/>
                </a:solidFill>
                <a:latin typeface="Aptos"/>
              </a:rPr>
              <a:t>Profile lock</a:t>
            </a:r>
          </a:p>
        </p:txBody>
      </p:sp>
      <p:sp>
        <p:nvSpPr>
          <p:cNvPr id="57" name="portfolio-micro-label-0-0"/>
          <p:cNvSpPr txBox="1"/>
          <p:nvPr/>
        </p:nvSpPr>
        <p:spPr>
          <a:xfrm>
            <a:off x="722376" y="2208276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C6E8F9"/>
                </a:solidFill>
                <a:latin typeface="Aptos"/>
              </a:rPr>
              <a:t>spec</a:t>
            </a:r>
          </a:p>
        </p:txBody>
      </p:sp>
      <p:sp>
        <p:nvSpPr>
          <p:cNvPr id="58" name="portfolio-micro-label-0-1"/>
          <p:cNvSpPr txBox="1"/>
          <p:nvPr/>
        </p:nvSpPr>
        <p:spPr>
          <a:xfrm>
            <a:off x="1709928" y="2208276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C6E8F9"/>
                </a:solidFill>
                <a:latin typeface="Aptos"/>
              </a:rPr>
              <a:t>audit</a:t>
            </a:r>
          </a:p>
        </p:txBody>
      </p:sp>
      <p:sp>
        <p:nvSpPr>
          <p:cNvPr id="59" name="portfolio-micro-label-0-2"/>
          <p:cNvSpPr txBox="1"/>
          <p:nvPr/>
        </p:nvSpPr>
        <p:spPr>
          <a:xfrm>
            <a:off x="722376" y="2592324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C6E8F9"/>
                </a:solidFill>
                <a:latin typeface="Aptos"/>
              </a:rPr>
              <a:t>trace</a:t>
            </a:r>
          </a:p>
        </p:txBody>
      </p:sp>
      <p:sp>
        <p:nvSpPr>
          <p:cNvPr id="60" name="portfolio-micro-label-0-3"/>
          <p:cNvSpPr txBox="1"/>
          <p:nvPr/>
        </p:nvSpPr>
        <p:spPr>
          <a:xfrm>
            <a:off x="1709928" y="2592324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C6E8F9"/>
                </a:solidFill>
                <a:latin typeface="Aptos"/>
              </a:rPr>
              <a:t>pass</a:t>
            </a:r>
          </a:p>
        </p:txBody>
      </p:sp>
      <p:sp>
        <p:nvSpPr>
          <p:cNvPr id="61" name="portfolio-num-1"/>
          <p:cNvSpPr txBox="1"/>
          <p:nvPr/>
        </p:nvSpPr>
        <p:spPr>
          <a:xfrm>
            <a:off x="3273552" y="1298448"/>
            <a:ext cx="566928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1" lang="en-US">
                <a:solidFill>
                  <a:srgbClr val="F9C6E8"/>
                </a:solidFill>
                <a:latin typeface="Aptos Display"/>
              </a:rPr>
              <a:t>02</a:t>
            </a:r>
          </a:p>
        </p:txBody>
      </p:sp>
      <p:sp>
        <p:nvSpPr>
          <p:cNvPr id="62" name="portfolio-name-1"/>
          <p:cNvSpPr txBox="1"/>
          <p:nvPr/>
        </p:nvSpPr>
        <p:spPr>
          <a:xfrm>
            <a:off x="3273552" y="1719072"/>
            <a:ext cx="192024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50" b="1" lang="en-US">
                <a:solidFill>
                  <a:srgbClr val="24344D"/>
                </a:solidFill>
                <a:latin typeface="Aptos"/>
              </a:rPr>
              <a:t>Narrative</a:t>
            </a:r>
          </a:p>
        </p:txBody>
      </p:sp>
      <p:sp>
        <p:nvSpPr>
          <p:cNvPr id="63" name="portfolio-micro-label-1-0"/>
          <p:cNvSpPr txBox="1"/>
          <p:nvPr/>
        </p:nvSpPr>
        <p:spPr>
          <a:xfrm>
            <a:off x="3319272" y="2208276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F9C6E8"/>
                </a:solidFill>
                <a:latin typeface="Aptos"/>
              </a:rPr>
              <a:t>spec</a:t>
            </a:r>
          </a:p>
        </p:txBody>
      </p:sp>
      <p:sp>
        <p:nvSpPr>
          <p:cNvPr id="64" name="portfolio-micro-label-1-1"/>
          <p:cNvSpPr txBox="1"/>
          <p:nvPr/>
        </p:nvSpPr>
        <p:spPr>
          <a:xfrm>
            <a:off x="4306824" y="2208276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F9C6E8"/>
                </a:solidFill>
                <a:latin typeface="Aptos"/>
              </a:rPr>
              <a:t>audit</a:t>
            </a:r>
          </a:p>
        </p:txBody>
      </p:sp>
      <p:sp>
        <p:nvSpPr>
          <p:cNvPr id="65" name="portfolio-micro-label-1-2"/>
          <p:cNvSpPr txBox="1"/>
          <p:nvPr/>
        </p:nvSpPr>
        <p:spPr>
          <a:xfrm>
            <a:off x="3319272" y="2592324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F9C6E8"/>
                </a:solidFill>
                <a:latin typeface="Aptos"/>
              </a:rPr>
              <a:t>trace</a:t>
            </a:r>
          </a:p>
        </p:txBody>
      </p:sp>
      <p:sp>
        <p:nvSpPr>
          <p:cNvPr id="66" name="portfolio-micro-label-1-3"/>
          <p:cNvSpPr txBox="1"/>
          <p:nvPr/>
        </p:nvSpPr>
        <p:spPr>
          <a:xfrm>
            <a:off x="4306824" y="2592324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F9C6E8"/>
                </a:solidFill>
                <a:latin typeface="Aptos"/>
              </a:rPr>
              <a:t>pass</a:t>
            </a:r>
          </a:p>
        </p:txBody>
      </p:sp>
      <p:sp>
        <p:nvSpPr>
          <p:cNvPr id="67" name="portfolio-num-2"/>
          <p:cNvSpPr txBox="1"/>
          <p:nvPr/>
        </p:nvSpPr>
        <p:spPr>
          <a:xfrm>
            <a:off x="5870448" y="1298448"/>
            <a:ext cx="566928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1" lang="en-US">
                <a:solidFill>
                  <a:srgbClr val="F0FCE4"/>
                </a:solidFill>
                <a:latin typeface="Aptos Display"/>
              </a:rPr>
              <a:t>03</a:t>
            </a:r>
          </a:p>
        </p:txBody>
      </p:sp>
      <p:sp>
        <p:nvSpPr>
          <p:cNvPr id="68" name="portfolio-name-2"/>
          <p:cNvSpPr txBox="1"/>
          <p:nvPr/>
        </p:nvSpPr>
        <p:spPr>
          <a:xfrm>
            <a:off x="5870448" y="1719072"/>
            <a:ext cx="192024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50" b="1" lang="en-US">
                <a:solidFill>
                  <a:srgbClr val="24344D"/>
                </a:solidFill>
                <a:latin typeface="Aptos"/>
              </a:rPr>
              <a:t>Geometry</a:t>
            </a:r>
          </a:p>
        </p:txBody>
      </p:sp>
      <p:sp>
        <p:nvSpPr>
          <p:cNvPr id="69" name="portfolio-micro-label-2-0"/>
          <p:cNvSpPr txBox="1"/>
          <p:nvPr/>
        </p:nvSpPr>
        <p:spPr>
          <a:xfrm>
            <a:off x="5916168" y="2208276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F0FCE4"/>
                </a:solidFill>
                <a:latin typeface="Aptos"/>
              </a:rPr>
              <a:t>spec</a:t>
            </a:r>
          </a:p>
        </p:txBody>
      </p:sp>
      <p:sp>
        <p:nvSpPr>
          <p:cNvPr id="70" name="portfolio-micro-label-2-1"/>
          <p:cNvSpPr txBox="1"/>
          <p:nvPr/>
        </p:nvSpPr>
        <p:spPr>
          <a:xfrm>
            <a:off x="6903720" y="2208276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F0FCE4"/>
                </a:solidFill>
                <a:latin typeface="Aptos"/>
              </a:rPr>
              <a:t>audit</a:t>
            </a:r>
          </a:p>
        </p:txBody>
      </p:sp>
      <p:sp>
        <p:nvSpPr>
          <p:cNvPr id="71" name="portfolio-micro-label-2-2"/>
          <p:cNvSpPr txBox="1"/>
          <p:nvPr/>
        </p:nvSpPr>
        <p:spPr>
          <a:xfrm>
            <a:off x="5916168" y="2592324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F0FCE4"/>
                </a:solidFill>
                <a:latin typeface="Aptos"/>
              </a:rPr>
              <a:t>trace</a:t>
            </a:r>
          </a:p>
        </p:txBody>
      </p:sp>
      <p:sp>
        <p:nvSpPr>
          <p:cNvPr id="72" name="portfolio-micro-label-2-3"/>
          <p:cNvSpPr txBox="1"/>
          <p:nvPr/>
        </p:nvSpPr>
        <p:spPr>
          <a:xfrm>
            <a:off x="6903720" y="2592324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F0FCE4"/>
                </a:solidFill>
                <a:latin typeface="Aptos"/>
              </a:rPr>
              <a:t>pass</a:t>
            </a:r>
          </a:p>
        </p:txBody>
      </p:sp>
      <p:sp>
        <p:nvSpPr>
          <p:cNvPr id="73" name="portfolio-num-3"/>
          <p:cNvSpPr txBox="1"/>
          <p:nvPr/>
        </p:nvSpPr>
        <p:spPr>
          <a:xfrm>
            <a:off x="676656" y="3630168"/>
            <a:ext cx="566928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1" lang="en-US">
                <a:solidFill>
                  <a:srgbClr val="4ECDC4"/>
                </a:solidFill>
                <a:latin typeface="Aptos Display"/>
              </a:rPr>
              <a:t>04</a:t>
            </a:r>
          </a:p>
        </p:txBody>
      </p:sp>
      <p:sp>
        <p:nvSpPr>
          <p:cNvPr id="74" name="portfolio-name-3"/>
          <p:cNvSpPr txBox="1"/>
          <p:nvPr/>
        </p:nvSpPr>
        <p:spPr>
          <a:xfrm>
            <a:off x="676656" y="4050791"/>
            <a:ext cx="192024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50" b="1" lang="en-US">
                <a:solidFill>
                  <a:srgbClr val="24344D"/>
                </a:solidFill>
                <a:latin typeface="Aptos"/>
              </a:rPr>
              <a:t>Visuals</a:t>
            </a:r>
          </a:p>
        </p:txBody>
      </p:sp>
      <p:sp>
        <p:nvSpPr>
          <p:cNvPr id="75" name="portfolio-micro-label-3-0"/>
          <p:cNvSpPr txBox="1"/>
          <p:nvPr/>
        </p:nvSpPr>
        <p:spPr>
          <a:xfrm>
            <a:off x="722376" y="4539996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4ECDC4"/>
                </a:solidFill>
                <a:latin typeface="Aptos"/>
              </a:rPr>
              <a:t>spec</a:t>
            </a:r>
          </a:p>
        </p:txBody>
      </p:sp>
      <p:sp>
        <p:nvSpPr>
          <p:cNvPr id="76" name="portfolio-micro-label-3-1"/>
          <p:cNvSpPr txBox="1"/>
          <p:nvPr/>
        </p:nvSpPr>
        <p:spPr>
          <a:xfrm>
            <a:off x="1709928" y="4539996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4ECDC4"/>
                </a:solidFill>
                <a:latin typeface="Aptos"/>
              </a:rPr>
              <a:t>audit</a:t>
            </a:r>
          </a:p>
        </p:txBody>
      </p:sp>
      <p:sp>
        <p:nvSpPr>
          <p:cNvPr id="77" name="portfolio-micro-label-3-2"/>
          <p:cNvSpPr txBox="1"/>
          <p:nvPr/>
        </p:nvSpPr>
        <p:spPr>
          <a:xfrm>
            <a:off x="722376" y="4924044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4ECDC4"/>
                </a:solidFill>
                <a:latin typeface="Aptos"/>
              </a:rPr>
              <a:t>trace</a:t>
            </a:r>
          </a:p>
        </p:txBody>
      </p:sp>
      <p:sp>
        <p:nvSpPr>
          <p:cNvPr id="78" name="portfolio-micro-label-3-3"/>
          <p:cNvSpPr txBox="1"/>
          <p:nvPr/>
        </p:nvSpPr>
        <p:spPr>
          <a:xfrm>
            <a:off x="1709928" y="4924044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4ECDC4"/>
                </a:solidFill>
                <a:latin typeface="Aptos"/>
              </a:rPr>
              <a:t>pass</a:t>
            </a:r>
          </a:p>
        </p:txBody>
      </p:sp>
      <p:sp>
        <p:nvSpPr>
          <p:cNvPr id="79" name="portfolio-num-4"/>
          <p:cNvSpPr txBox="1"/>
          <p:nvPr/>
        </p:nvSpPr>
        <p:spPr>
          <a:xfrm>
            <a:off x="3273552" y="3630168"/>
            <a:ext cx="566928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1" lang="en-US">
                <a:solidFill>
                  <a:srgbClr val="D18D1E"/>
                </a:solidFill>
                <a:latin typeface="Aptos Display"/>
              </a:rPr>
              <a:t>05</a:t>
            </a:r>
          </a:p>
        </p:txBody>
      </p:sp>
      <p:sp>
        <p:nvSpPr>
          <p:cNvPr id="80" name="portfolio-name-4"/>
          <p:cNvSpPr txBox="1"/>
          <p:nvPr/>
        </p:nvSpPr>
        <p:spPr>
          <a:xfrm>
            <a:off x="3273552" y="4050791"/>
            <a:ext cx="192024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50" b="1" lang="en-US">
                <a:solidFill>
                  <a:srgbClr val="24344D"/>
                </a:solidFill>
                <a:latin typeface="Aptos"/>
              </a:rPr>
              <a:t>Accessibility</a:t>
            </a:r>
          </a:p>
        </p:txBody>
      </p:sp>
      <p:sp>
        <p:nvSpPr>
          <p:cNvPr id="81" name="portfolio-micro-label-4-0"/>
          <p:cNvSpPr txBox="1"/>
          <p:nvPr/>
        </p:nvSpPr>
        <p:spPr>
          <a:xfrm>
            <a:off x="3319272" y="4539996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D18D1E"/>
                </a:solidFill>
                <a:latin typeface="Aptos"/>
              </a:rPr>
              <a:t>spec</a:t>
            </a:r>
          </a:p>
        </p:txBody>
      </p:sp>
      <p:sp>
        <p:nvSpPr>
          <p:cNvPr id="82" name="portfolio-micro-label-4-1"/>
          <p:cNvSpPr txBox="1"/>
          <p:nvPr/>
        </p:nvSpPr>
        <p:spPr>
          <a:xfrm>
            <a:off x="4306824" y="4539996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D18D1E"/>
                </a:solidFill>
                <a:latin typeface="Aptos"/>
              </a:rPr>
              <a:t>audit</a:t>
            </a:r>
          </a:p>
        </p:txBody>
      </p:sp>
      <p:sp>
        <p:nvSpPr>
          <p:cNvPr id="83" name="portfolio-micro-label-4-2"/>
          <p:cNvSpPr txBox="1"/>
          <p:nvPr/>
        </p:nvSpPr>
        <p:spPr>
          <a:xfrm>
            <a:off x="3319272" y="4924044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D18D1E"/>
                </a:solidFill>
                <a:latin typeface="Aptos"/>
              </a:rPr>
              <a:t>trace</a:t>
            </a:r>
          </a:p>
        </p:txBody>
      </p:sp>
      <p:sp>
        <p:nvSpPr>
          <p:cNvPr id="84" name="portfolio-micro-label-4-3"/>
          <p:cNvSpPr txBox="1"/>
          <p:nvPr/>
        </p:nvSpPr>
        <p:spPr>
          <a:xfrm>
            <a:off x="4306824" y="4924044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D18D1E"/>
                </a:solidFill>
                <a:latin typeface="Aptos"/>
              </a:rPr>
              <a:t>pass</a:t>
            </a:r>
          </a:p>
        </p:txBody>
      </p:sp>
      <p:sp>
        <p:nvSpPr>
          <p:cNvPr id="85" name="portfolio-num-5"/>
          <p:cNvSpPr txBox="1"/>
          <p:nvPr/>
        </p:nvSpPr>
        <p:spPr>
          <a:xfrm>
            <a:off x="5870448" y="3630168"/>
            <a:ext cx="566928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1" lang="en-US">
                <a:solidFill>
                  <a:srgbClr val="D95B7E"/>
                </a:solidFill>
                <a:latin typeface="Aptos Display"/>
              </a:rPr>
              <a:t>06</a:t>
            </a:r>
          </a:p>
        </p:txBody>
      </p:sp>
      <p:sp>
        <p:nvSpPr>
          <p:cNvPr id="86" name="portfolio-name-5"/>
          <p:cNvSpPr txBox="1"/>
          <p:nvPr/>
        </p:nvSpPr>
        <p:spPr>
          <a:xfrm>
            <a:off x="5870448" y="4050791"/>
            <a:ext cx="192024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50" b="1" lang="en-US">
                <a:solidFill>
                  <a:srgbClr val="24344D"/>
                </a:solidFill>
                <a:latin typeface="Aptos"/>
              </a:rPr>
              <a:t>Package</a:t>
            </a:r>
          </a:p>
        </p:txBody>
      </p:sp>
      <p:sp>
        <p:nvSpPr>
          <p:cNvPr id="87" name="portfolio-micro-label-5-0"/>
          <p:cNvSpPr txBox="1"/>
          <p:nvPr/>
        </p:nvSpPr>
        <p:spPr>
          <a:xfrm>
            <a:off x="5916168" y="4539996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D95B7E"/>
                </a:solidFill>
                <a:latin typeface="Aptos"/>
              </a:rPr>
              <a:t>spec</a:t>
            </a:r>
          </a:p>
        </p:txBody>
      </p:sp>
      <p:sp>
        <p:nvSpPr>
          <p:cNvPr id="88" name="portfolio-micro-label-5-1"/>
          <p:cNvSpPr txBox="1"/>
          <p:nvPr/>
        </p:nvSpPr>
        <p:spPr>
          <a:xfrm>
            <a:off x="6903720" y="4539996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D95B7E"/>
                </a:solidFill>
                <a:latin typeface="Aptos"/>
              </a:rPr>
              <a:t>audit</a:t>
            </a:r>
          </a:p>
        </p:txBody>
      </p:sp>
      <p:sp>
        <p:nvSpPr>
          <p:cNvPr id="89" name="portfolio-micro-label-5-2"/>
          <p:cNvSpPr txBox="1"/>
          <p:nvPr/>
        </p:nvSpPr>
        <p:spPr>
          <a:xfrm>
            <a:off x="5916168" y="4924044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D95B7E"/>
                </a:solidFill>
                <a:latin typeface="Aptos"/>
              </a:rPr>
              <a:t>trace</a:t>
            </a:r>
          </a:p>
        </p:txBody>
      </p:sp>
      <p:sp>
        <p:nvSpPr>
          <p:cNvPr id="90" name="portfolio-micro-label-5-3"/>
          <p:cNvSpPr txBox="1"/>
          <p:nvPr/>
        </p:nvSpPr>
        <p:spPr>
          <a:xfrm>
            <a:off x="6903720" y="4924044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D95B7E"/>
                </a:solidFill>
                <a:latin typeface="Aptos"/>
              </a:rPr>
              <a:t>pass</a:t>
            </a:r>
          </a:p>
        </p:txBody>
      </p:sp>
      <p:sp>
        <p:nvSpPr>
          <p:cNvPr id="91" name="portfolio-rail-title"/>
          <p:cNvSpPr txBox="1"/>
          <p:nvPr/>
        </p:nvSpPr>
        <p:spPr>
          <a:xfrm>
            <a:off x="8723376" y="1325880"/>
            <a:ext cx="246888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1" lang="en-US">
                <a:solidFill>
                  <a:srgbClr val="C6E8F9"/>
                </a:solidFill>
                <a:latin typeface="Aptos"/>
              </a:rPr>
              <a:t>RELEASE BOARD</a:t>
            </a:r>
          </a:p>
        </p:txBody>
      </p:sp>
      <p:sp>
        <p:nvSpPr>
          <p:cNvPr id="92" name="release-label-0"/>
          <p:cNvSpPr txBox="1"/>
          <p:nvPr/>
        </p:nvSpPr>
        <p:spPr>
          <a:xfrm>
            <a:off x="8906256" y="1847088"/>
            <a:ext cx="137160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50" b="1" lang="en-US">
                <a:solidFill>
                  <a:srgbClr val="64748B"/>
                </a:solidFill>
                <a:latin typeface="Aptos"/>
              </a:rPr>
              <a:t>Layouts</a:t>
            </a:r>
          </a:p>
        </p:txBody>
      </p:sp>
      <p:sp>
        <p:nvSpPr>
          <p:cNvPr id="93" name="release-value-0"/>
          <p:cNvSpPr txBox="1"/>
          <p:nvPr/>
        </p:nvSpPr>
        <p:spPr>
          <a:xfrm>
            <a:off x="10378440" y="1828800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1100" b="1" lang="en-US">
                <a:solidFill>
                  <a:srgbClr val="C6E8F9"/>
                </a:solidFill>
                <a:latin typeface="Aptos"/>
              </a:rPr>
              <a:t>60</a:t>
            </a:r>
          </a:p>
        </p:txBody>
      </p:sp>
      <p:sp>
        <p:nvSpPr>
          <p:cNvPr id="94" name="release-label-1"/>
          <p:cNvSpPr txBox="1"/>
          <p:nvPr/>
        </p:nvSpPr>
        <p:spPr>
          <a:xfrm>
            <a:off x="8906256" y="2542032"/>
            <a:ext cx="137160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50" b="1" lang="en-US">
                <a:solidFill>
                  <a:srgbClr val="64748B"/>
                </a:solidFill>
                <a:latin typeface="Aptos"/>
              </a:rPr>
              <a:t>Profiles</a:t>
            </a:r>
          </a:p>
        </p:txBody>
      </p:sp>
      <p:sp>
        <p:nvSpPr>
          <p:cNvPr id="95" name="release-value-1"/>
          <p:cNvSpPr txBox="1"/>
          <p:nvPr/>
        </p:nvSpPr>
        <p:spPr>
          <a:xfrm>
            <a:off x="10378440" y="2523744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1100" b="1" lang="en-US">
                <a:solidFill>
                  <a:srgbClr val="F9C6E8"/>
                </a:solidFill>
                <a:latin typeface="Aptos"/>
              </a:rPr>
              <a:t>12</a:t>
            </a:r>
          </a:p>
        </p:txBody>
      </p:sp>
      <p:sp>
        <p:nvSpPr>
          <p:cNvPr id="96" name="release-label-2"/>
          <p:cNvSpPr txBox="1"/>
          <p:nvPr/>
        </p:nvSpPr>
        <p:spPr>
          <a:xfrm>
            <a:off x="8906256" y="3236976"/>
            <a:ext cx="137160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50" b="1" lang="en-US">
                <a:solidFill>
                  <a:srgbClr val="64748B"/>
                </a:solidFill>
                <a:latin typeface="Aptos"/>
              </a:rPr>
              <a:t>Gate checks</a:t>
            </a:r>
          </a:p>
        </p:txBody>
      </p:sp>
      <p:sp>
        <p:nvSpPr>
          <p:cNvPr id="97" name="release-value-2"/>
          <p:cNvSpPr txBox="1"/>
          <p:nvPr/>
        </p:nvSpPr>
        <p:spPr>
          <a:xfrm>
            <a:off x="10378440" y="3218688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1100" b="1" lang="en-US">
                <a:solidFill>
                  <a:srgbClr val="F0FCE4"/>
                </a:solidFill>
                <a:latin typeface="Aptos"/>
              </a:rPr>
              <a:t>11</a:t>
            </a:r>
          </a:p>
        </p:txBody>
      </p:sp>
      <p:sp>
        <p:nvSpPr>
          <p:cNvPr id="98" name="release-label-3"/>
          <p:cNvSpPr txBox="1"/>
          <p:nvPr/>
        </p:nvSpPr>
        <p:spPr>
          <a:xfrm>
            <a:off x="8906256" y="3931920"/>
            <a:ext cx="137160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50" b="1" lang="en-US">
                <a:solidFill>
                  <a:srgbClr val="64748B"/>
                </a:solidFill>
                <a:latin typeface="Aptos"/>
              </a:rPr>
              <a:t>Defects</a:t>
            </a:r>
          </a:p>
        </p:txBody>
      </p:sp>
      <p:sp>
        <p:nvSpPr>
          <p:cNvPr id="99" name="release-value-3"/>
          <p:cNvSpPr txBox="1"/>
          <p:nvPr/>
        </p:nvSpPr>
        <p:spPr>
          <a:xfrm>
            <a:off x="10378440" y="3913632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1100" b="1" lang="en-US">
                <a:solidFill>
                  <a:srgbClr val="4ECDC4"/>
                </a:solidFill>
                <a:latin typeface="Aptos"/>
              </a:rPr>
              <a:t>00</a:t>
            </a:r>
          </a:p>
        </p:txBody>
      </p:sp>
      <p:sp>
        <p:nvSpPr>
          <p:cNvPr id="100" name="release-label-4"/>
          <p:cNvSpPr txBox="1"/>
          <p:nvPr/>
        </p:nvSpPr>
        <p:spPr>
          <a:xfrm>
            <a:off x="8906256" y="4626864"/>
            <a:ext cx="137160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50" b="1" lang="en-US">
                <a:solidFill>
                  <a:srgbClr val="64748B"/>
                </a:solidFill>
                <a:latin typeface="Aptos"/>
              </a:rPr>
              <a:t>Evidence</a:t>
            </a:r>
          </a:p>
        </p:txBody>
      </p:sp>
      <p:sp>
        <p:nvSpPr>
          <p:cNvPr id="101" name="release-value-4"/>
          <p:cNvSpPr txBox="1"/>
          <p:nvPr/>
        </p:nvSpPr>
        <p:spPr>
          <a:xfrm>
            <a:off x="10378440" y="4608576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1100" b="1" lang="en-US">
                <a:solidFill>
                  <a:srgbClr val="D18D1E"/>
                </a:solidFill>
                <a:latin typeface="Aptos"/>
              </a:rPr>
              <a:t>native</a:t>
            </a:r>
          </a:p>
        </p:txBody>
      </p:sp>
      <p:sp>
        <p:nvSpPr>
          <p:cNvPr id="102" name="portfolio-banner-label"/>
          <p:cNvSpPr txBox="1"/>
          <p:nvPr/>
        </p:nvSpPr>
        <p:spPr>
          <a:xfrm>
            <a:off x="713232" y="5687568"/>
            <a:ext cx="740664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50" b="1" lang="en-US">
                <a:solidFill>
                  <a:srgbClr val="111111"/>
                </a:solidFill>
                <a:latin typeface="Aptos"/>
              </a:rPr>
              <a:t>Six dense tiles test nested cards, micro-labels, hierarchy, and high-information scanning.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4FF"/>
          </a:solidFill>
          <a:ln w="10160">
            <a:solidFill>
              <a:srgbClr val="E8F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stel-blob-0"/>
          <p:cNvSpPr/>
          <p:nvPr/>
        </p:nvSpPr>
        <p:spPr>
          <a:xfrm>
            <a:off x="9509760" y="320040"/>
            <a:ext cx="1554480" cy="1554480"/>
          </a:xfrm>
          <a:prstGeom prst="ellipse">
            <a:avLst/>
          </a:prstGeom>
          <a:solidFill>
            <a:srgbClr val="C6E8F9"/>
          </a:solidFill>
          <a:ln w="10160">
            <a:solidFill>
              <a:srgbClr val="C6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stel-blob-1"/>
          <p:cNvSpPr/>
          <p:nvPr/>
        </p:nvSpPr>
        <p:spPr>
          <a:xfrm>
            <a:off x="10287000" y="4389120"/>
            <a:ext cx="1097280" cy="1097280"/>
          </a:xfrm>
          <a:prstGeom prst="ellipse">
            <a:avLst/>
          </a:prstGeom>
          <a:solidFill>
            <a:srgbClr val="F9C6E8"/>
          </a:solidFill>
          <a:ln w="10160">
            <a:solidFill>
              <a:srgbClr val="F9C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stel-blob-2"/>
          <p:cNvSpPr/>
          <p:nvPr/>
        </p:nvSpPr>
        <p:spPr>
          <a:xfrm>
            <a:off x="137160" y="4892040"/>
            <a:ext cx="1234440" cy="1234440"/>
          </a:xfrm>
          <a:prstGeom prst="ellipse">
            <a:avLst/>
          </a:prstGeom>
          <a:solidFill>
            <a:srgbClr val="F0FCE4"/>
          </a:solidFill>
          <a:ln w="10160">
            <a:solidFill>
              <a:srgbClr val="F0F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op-band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6E8F9"/>
          </a:solidFill>
          <a:ln w="10160">
            <a:solidFill>
              <a:srgbClr val="C6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lane-0"/>
          <p:cNvSpPr/>
          <p:nvPr/>
        </p:nvSpPr>
        <p:spPr>
          <a:xfrm>
            <a:off x="457200" y="1097280"/>
            <a:ext cx="8458200" cy="914400"/>
          </a:xfrm>
          <a:prstGeom prst="roundRect">
            <a:avLst/>
          </a:prstGeom>
          <a:solidFill>
            <a:srgbClr val="FCE4F3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lane-1"/>
          <p:cNvSpPr/>
          <p:nvPr/>
        </p:nvSpPr>
        <p:spPr>
          <a:xfrm>
            <a:off x="457200" y="2267712"/>
            <a:ext cx="8458200" cy="914400"/>
          </a:xfrm>
          <a:prstGeom prst="roundRect">
            <a:avLst/>
          </a:prstGeom>
          <a:solidFill>
            <a:srgbClr val="FCE4F3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lane-2"/>
          <p:cNvSpPr/>
          <p:nvPr/>
        </p:nvSpPr>
        <p:spPr>
          <a:xfrm>
            <a:off x="457200" y="3438144"/>
            <a:ext cx="8458200" cy="914400"/>
          </a:xfrm>
          <a:prstGeom prst="roundRect">
            <a:avLst/>
          </a:prstGeom>
          <a:solidFill>
            <a:srgbClr val="FCE4F3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lane-3"/>
          <p:cNvSpPr/>
          <p:nvPr/>
        </p:nvSpPr>
        <p:spPr>
          <a:xfrm>
            <a:off x="457200" y="4608576"/>
            <a:ext cx="8458200" cy="914400"/>
          </a:xfrm>
          <a:prstGeom prst="roundRect">
            <a:avLst/>
          </a:prstGeom>
          <a:solidFill>
            <a:srgbClr val="FCE4F3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workbench-rail-shell"/>
          <p:cNvSpPr/>
          <p:nvPr/>
        </p:nvSpPr>
        <p:spPr>
          <a:xfrm>
            <a:off x="9189720" y="1097280"/>
            <a:ext cx="2542032" cy="48920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lane-label-0"/>
          <p:cNvSpPr/>
          <p:nvPr/>
        </p:nvSpPr>
        <p:spPr>
          <a:xfrm>
            <a:off x="457200" y="1097280"/>
            <a:ext cx="1097280" cy="914400"/>
          </a:xfrm>
          <a:prstGeom prst="rect">
            <a:avLst/>
          </a:prstGeom>
          <a:solidFill>
            <a:srgbClr val="C6E8F9"/>
          </a:solidFill>
          <a:ln w="10160">
            <a:solidFill>
              <a:srgbClr val="C6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lane-label-1"/>
          <p:cNvSpPr/>
          <p:nvPr/>
        </p:nvSpPr>
        <p:spPr>
          <a:xfrm>
            <a:off x="457200" y="2267712"/>
            <a:ext cx="1097280" cy="914400"/>
          </a:xfrm>
          <a:prstGeom prst="rect">
            <a:avLst/>
          </a:prstGeom>
          <a:solidFill>
            <a:srgbClr val="F9C6E8"/>
          </a:solidFill>
          <a:ln w="10160">
            <a:solidFill>
              <a:srgbClr val="F9C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lane-label-2"/>
          <p:cNvSpPr/>
          <p:nvPr/>
        </p:nvSpPr>
        <p:spPr>
          <a:xfrm>
            <a:off x="457200" y="3438144"/>
            <a:ext cx="1097280" cy="914400"/>
          </a:xfrm>
          <a:prstGeom prst="rect">
            <a:avLst/>
          </a:prstGeom>
          <a:solidFill>
            <a:srgbClr val="F0FCE4"/>
          </a:solidFill>
          <a:ln w="10160">
            <a:solidFill>
              <a:srgbClr val="F0F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lane-label-3"/>
          <p:cNvSpPr/>
          <p:nvPr/>
        </p:nvSpPr>
        <p:spPr>
          <a:xfrm>
            <a:off x="457200" y="4608576"/>
            <a:ext cx="1097280" cy="914400"/>
          </a:xfrm>
          <a:prstGeom prst="rect">
            <a:avLst/>
          </a:prstGeom>
          <a:solidFill>
            <a:srgbClr val="4ECDC4"/>
          </a:solidFill>
          <a:ln w="1016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workbench-rail-accent"/>
          <p:cNvSpPr/>
          <p:nvPr/>
        </p:nvSpPr>
        <p:spPr>
          <a:xfrm>
            <a:off x="9189720" y="1097280"/>
            <a:ext cx="73152" cy="4892040"/>
          </a:xfrm>
          <a:prstGeom prst="rect">
            <a:avLst/>
          </a:prstGeom>
          <a:solidFill>
            <a:srgbClr val="C6E8F9"/>
          </a:solidFill>
          <a:ln w="10160">
            <a:solidFill>
              <a:srgbClr val="C6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hart-axis"/>
          <p:cNvCxnSpPr/>
          <p:nvPr/>
        </p:nvCxnSpPr>
        <p:spPr>
          <a:xfrm>
            <a:off x="9400032" y="4718304"/>
            <a:ext cx="2048256" cy="0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ask-0-0"/>
          <p:cNvSpPr/>
          <p:nvPr/>
        </p:nvSpPr>
        <p:spPr>
          <a:xfrm>
            <a:off x="1773936" y="1234440"/>
            <a:ext cx="1161288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6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ask-0-1"/>
          <p:cNvSpPr/>
          <p:nvPr/>
        </p:nvSpPr>
        <p:spPr>
          <a:xfrm>
            <a:off x="3127248" y="1234440"/>
            <a:ext cx="1161288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6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ask-0-2"/>
          <p:cNvSpPr/>
          <p:nvPr/>
        </p:nvSpPr>
        <p:spPr>
          <a:xfrm>
            <a:off x="4480560" y="1234440"/>
            <a:ext cx="1161288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6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ask-0-3"/>
          <p:cNvSpPr/>
          <p:nvPr/>
        </p:nvSpPr>
        <p:spPr>
          <a:xfrm>
            <a:off x="5833872" y="1234440"/>
            <a:ext cx="1161288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6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ask-0-4"/>
          <p:cNvSpPr/>
          <p:nvPr/>
        </p:nvSpPr>
        <p:spPr>
          <a:xfrm>
            <a:off x="7187184" y="1234440"/>
            <a:ext cx="1161288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6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ask-1-0"/>
          <p:cNvSpPr/>
          <p:nvPr/>
        </p:nvSpPr>
        <p:spPr>
          <a:xfrm>
            <a:off x="1773936" y="2404872"/>
            <a:ext cx="1161288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9C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ask-1-1"/>
          <p:cNvSpPr/>
          <p:nvPr/>
        </p:nvSpPr>
        <p:spPr>
          <a:xfrm>
            <a:off x="3127248" y="2404872"/>
            <a:ext cx="1161288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9C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ask-1-2"/>
          <p:cNvSpPr/>
          <p:nvPr/>
        </p:nvSpPr>
        <p:spPr>
          <a:xfrm>
            <a:off x="4480560" y="2404872"/>
            <a:ext cx="1161288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9C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ask-1-3"/>
          <p:cNvSpPr/>
          <p:nvPr/>
        </p:nvSpPr>
        <p:spPr>
          <a:xfrm>
            <a:off x="5833872" y="2404872"/>
            <a:ext cx="1161288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9C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ask-1-4"/>
          <p:cNvSpPr/>
          <p:nvPr/>
        </p:nvSpPr>
        <p:spPr>
          <a:xfrm>
            <a:off x="7187184" y="2404872"/>
            <a:ext cx="1161288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9C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ask-2-0"/>
          <p:cNvSpPr/>
          <p:nvPr/>
        </p:nvSpPr>
        <p:spPr>
          <a:xfrm>
            <a:off x="1773936" y="3575304"/>
            <a:ext cx="1161288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0F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ask-2-1"/>
          <p:cNvSpPr/>
          <p:nvPr/>
        </p:nvSpPr>
        <p:spPr>
          <a:xfrm>
            <a:off x="3127248" y="3575304"/>
            <a:ext cx="1161288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0F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ask-2-2"/>
          <p:cNvSpPr/>
          <p:nvPr/>
        </p:nvSpPr>
        <p:spPr>
          <a:xfrm>
            <a:off x="4480560" y="3575304"/>
            <a:ext cx="1161288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0F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ask-2-3"/>
          <p:cNvSpPr/>
          <p:nvPr/>
        </p:nvSpPr>
        <p:spPr>
          <a:xfrm>
            <a:off x="5833872" y="3575304"/>
            <a:ext cx="1161288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0F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ask-2-4"/>
          <p:cNvSpPr/>
          <p:nvPr/>
        </p:nvSpPr>
        <p:spPr>
          <a:xfrm>
            <a:off x="7187184" y="3575304"/>
            <a:ext cx="1161288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0F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ask-3-0"/>
          <p:cNvSpPr/>
          <p:nvPr/>
        </p:nvSpPr>
        <p:spPr>
          <a:xfrm>
            <a:off x="1773936" y="4745736"/>
            <a:ext cx="1161288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ask-3-1"/>
          <p:cNvSpPr/>
          <p:nvPr/>
        </p:nvSpPr>
        <p:spPr>
          <a:xfrm>
            <a:off x="3127248" y="4745736"/>
            <a:ext cx="1161288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ask-3-2"/>
          <p:cNvSpPr/>
          <p:nvPr/>
        </p:nvSpPr>
        <p:spPr>
          <a:xfrm>
            <a:off x="4480560" y="4745736"/>
            <a:ext cx="1161288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ask-3-3"/>
          <p:cNvSpPr/>
          <p:nvPr/>
        </p:nvSpPr>
        <p:spPr>
          <a:xfrm>
            <a:off x="5833872" y="4745736"/>
            <a:ext cx="1161288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ask-3-4"/>
          <p:cNvSpPr/>
          <p:nvPr/>
        </p:nvSpPr>
        <p:spPr>
          <a:xfrm>
            <a:off x="7187184" y="4745736"/>
            <a:ext cx="1161288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bar-0"/>
          <p:cNvSpPr/>
          <p:nvPr/>
        </p:nvSpPr>
        <p:spPr>
          <a:xfrm>
            <a:off x="9454896" y="3771900"/>
            <a:ext cx="155448" cy="946403"/>
          </a:xfrm>
          <a:prstGeom prst="roundRect">
            <a:avLst/>
          </a:prstGeom>
          <a:solidFill>
            <a:srgbClr val="C6E8F9"/>
          </a:solidFill>
          <a:ln w="10160">
            <a:solidFill>
              <a:srgbClr val="C6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bar-1"/>
          <p:cNvSpPr/>
          <p:nvPr/>
        </p:nvSpPr>
        <p:spPr>
          <a:xfrm>
            <a:off x="9701784" y="3204057"/>
            <a:ext cx="155448" cy="1514246"/>
          </a:xfrm>
          <a:prstGeom prst="roundRect">
            <a:avLst/>
          </a:prstGeom>
          <a:solidFill>
            <a:srgbClr val="F9C6E8"/>
          </a:solidFill>
          <a:ln w="10160">
            <a:solidFill>
              <a:srgbClr val="F9C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bar-2"/>
          <p:cNvSpPr/>
          <p:nvPr/>
        </p:nvSpPr>
        <p:spPr>
          <a:xfrm>
            <a:off x="9948672" y="3498494"/>
            <a:ext cx="155448" cy="1219809"/>
          </a:xfrm>
          <a:prstGeom prst="roundRect">
            <a:avLst/>
          </a:prstGeom>
          <a:solidFill>
            <a:srgbClr val="F0FCE4"/>
          </a:solidFill>
          <a:ln w="10160">
            <a:solidFill>
              <a:srgbClr val="F0F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bar-3"/>
          <p:cNvSpPr/>
          <p:nvPr/>
        </p:nvSpPr>
        <p:spPr>
          <a:xfrm>
            <a:off x="10195560" y="2909620"/>
            <a:ext cx="155448" cy="1808683"/>
          </a:xfrm>
          <a:prstGeom prst="roundRect">
            <a:avLst/>
          </a:prstGeom>
          <a:solidFill>
            <a:srgbClr val="4ECDC4"/>
          </a:solidFill>
          <a:ln w="1016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bar-4"/>
          <p:cNvSpPr/>
          <p:nvPr/>
        </p:nvSpPr>
        <p:spPr>
          <a:xfrm>
            <a:off x="10442448" y="3330244"/>
            <a:ext cx="155448" cy="1388059"/>
          </a:xfrm>
          <a:prstGeom prst="roundRect">
            <a:avLst/>
          </a:prstGeom>
          <a:solidFill>
            <a:srgbClr val="C6E8F9"/>
          </a:solidFill>
          <a:ln w="10160">
            <a:solidFill>
              <a:srgbClr val="C6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bar-5"/>
          <p:cNvSpPr/>
          <p:nvPr/>
        </p:nvSpPr>
        <p:spPr>
          <a:xfrm>
            <a:off x="10689336" y="2783433"/>
            <a:ext cx="155448" cy="1934870"/>
          </a:xfrm>
          <a:prstGeom prst="roundRect">
            <a:avLst/>
          </a:prstGeom>
          <a:solidFill>
            <a:srgbClr val="F9C6E8"/>
          </a:solidFill>
          <a:ln w="10160">
            <a:solidFill>
              <a:srgbClr val="F9C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bar-6"/>
          <p:cNvSpPr/>
          <p:nvPr/>
        </p:nvSpPr>
        <p:spPr>
          <a:xfrm>
            <a:off x="10936224" y="3119932"/>
            <a:ext cx="155448" cy="1598371"/>
          </a:xfrm>
          <a:prstGeom prst="roundRect">
            <a:avLst/>
          </a:prstGeom>
          <a:solidFill>
            <a:srgbClr val="F0FCE4"/>
          </a:solidFill>
          <a:ln w="10160">
            <a:solidFill>
              <a:srgbClr val="F0F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bar-7"/>
          <p:cNvSpPr/>
          <p:nvPr/>
        </p:nvSpPr>
        <p:spPr>
          <a:xfrm>
            <a:off x="11183112" y="3603650"/>
            <a:ext cx="155448" cy="1114653"/>
          </a:xfrm>
          <a:prstGeom prst="roundRect">
            <a:avLst/>
          </a:prstGeom>
          <a:solidFill>
            <a:srgbClr val="4ECDC4"/>
          </a:solidFill>
          <a:ln w="1016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check-dot-0"/>
          <p:cNvSpPr/>
          <p:nvPr/>
        </p:nvSpPr>
        <p:spPr>
          <a:xfrm>
            <a:off x="9436608" y="5321808"/>
            <a:ext cx="91440" cy="91440"/>
          </a:xfrm>
          <a:prstGeom prst="ellipse">
            <a:avLst/>
          </a:prstGeom>
          <a:solidFill>
            <a:srgbClr val="4ECDC4"/>
          </a:solidFill>
          <a:ln w="1016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check-dot-1"/>
          <p:cNvSpPr/>
          <p:nvPr/>
        </p:nvSpPr>
        <p:spPr>
          <a:xfrm>
            <a:off x="9436608" y="5486400"/>
            <a:ext cx="91440" cy="91440"/>
          </a:xfrm>
          <a:prstGeom prst="ellipse">
            <a:avLst/>
          </a:prstGeom>
          <a:solidFill>
            <a:srgbClr val="4ECDC4"/>
          </a:solidFill>
          <a:ln w="1016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check-dot-2"/>
          <p:cNvSpPr/>
          <p:nvPr/>
        </p:nvSpPr>
        <p:spPr>
          <a:xfrm>
            <a:off x="9436608" y="5650992"/>
            <a:ext cx="91440" cy="91440"/>
          </a:xfrm>
          <a:prstGeom prst="ellipse">
            <a:avLst/>
          </a:prstGeom>
          <a:solidFill>
            <a:srgbClr val="4ECDC4"/>
          </a:solidFill>
          <a:ln w="1016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check-dot-3"/>
          <p:cNvSpPr/>
          <p:nvPr/>
        </p:nvSpPr>
        <p:spPr>
          <a:xfrm>
            <a:off x="9436608" y="5815584"/>
            <a:ext cx="91440" cy="91440"/>
          </a:xfrm>
          <a:prstGeom prst="ellipse">
            <a:avLst/>
          </a:prstGeom>
          <a:solidFill>
            <a:srgbClr val="F0FCE4"/>
          </a:solidFill>
          <a:ln w="10160">
            <a:solidFill>
              <a:srgbClr val="F0F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profile-tag"/>
          <p:cNvSpPr txBox="1"/>
          <p:nvPr/>
        </p:nvSpPr>
        <p:spPr>
          <a:xfrm>
            <a:off x="457200" y="201168"/>
            <a:ext cx="768096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1" lang="en-US">
                <a:solidFill>
                  <a:srgbClr val="C6E8F9"/>
                </a:solidFill>
                <a:latin typeface="Aptos"/>
              </a:rPr>
              <a:t>V3 STRESS SUITE  ·  PASTEL SOFT UI  ·  DELIVERY WORKBENCH</a:t>
            </a:r>
          </a:p>
        </p:txBody>
      </p:sp>
      <p:sp>
        <p:nvSpPr>
          <p:cNvPr id="51" name="slide-index"/>
          <p:cNvSpPr txBox="1"/>
          <p:nvPr/>
        </p:nvSpPr>
        <p:spPr>
          <a:xfrm>
            <a:off x="10808208" y="201168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00" b="1" lang="en-US">
                <a:solidFill>
                  <a:srgbClr val="64748B"/>
                </a:solidFill>
                <a:latin typeface="Aptos"/>
              </a:rPr>
              <a:t>40/60</a:t>
            </a:r>
          </a:p>
        </p:txBody>
      </p:sp>
      <p:sp>
        <p:nvSpPr>
          <p:cNvPr id="52" name="title"/>
          <p:cNvSpPr txBox="1"/>
          <p:nvPr/>
        </p:nvSpPr>
        <p:spPr>
          <a:xfrm>
            <a:off x="457200" y="484632"/>
            <a:ext cx="11274552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200" b="1" lang="en-US">
                <a:solidFill>
                  <a:srgbClr val="24344D"/>
                </a:solidFill>
                <a:latin typeface="Aptos Display"/>
              </a:rPr>
              <a:t>Delivery workbenches keep parallel work lanes legible under load</a:t>
            </a:r>
          </a:p>
        </p:txBody>
      </p:sp>
      <p:sp>
        <p:nvSpPr>
          <p:cNvPr id="53" name="footer"/>
          <p:cNvSpPr txBox="1"/>
          <p:nvPr/>
        </p:nvSpPr>
        <p:spPr>
          <a:xfrm>
            <a:off x="457200" y="6473952"/>
            <a:ext cx="1051560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0" lang="en-US">
                <a:solidFill>
                  <a:srgbClr val="64748B"/>
                </a:solidFill>
                <a:latin typeface="Aptos"/>
              </a:rPr>
              <a:t>Native-object stress fixture · soft pink-blue-mint field with frosted white floating cards · editable geometry and recorded style lock</a:t>
            </a:r>
          </a:p>
        </p:txBody>
      </p:sp>
      <p:sp>
        <p:nvSpPr>
          <p:cNvPr id="54" name="lane-name-0"/>
          <p:cNvSpPr txBox="1"/>
          <p:nvPr/>
        </p:nvSpPr>
        <p:spPr>
          <a:xfrm>
            <a:off x="566928" y="1444752"/>
            <a:ext cx="868680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lang="en-US">
                <a:solidFill>
                  <a:srgbClr val="111111"/>
                </a:solidFill>
                <a:latin typeface="Aptos"/>
              </a:rPr>
              <a:t>INTAKE</a:t>
            </a:r>
          </a:p>
        </p:txBody>
      </p:sp>
      <p:sp>
        <p:nvSpPr>
          <p:cNvPr id="55" name="task-title-0-0"/>
          <p:cNvSpPr txBox="1"/>
          <p:nvPr/>
        </p:nvSpPr>
        <p:spPr>
          <a:xfrm>
            <a:off x="1847088" y="1362456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24344D"/>
                </a:solidFill>
                <a:latin typeface="Aptos"/>
              </a:rPr>
              <a:t>Scope</a:t>
            </a:r>
          </a:p>
        </p:txBody>
      </p:sp>
      <p:sp>
        <p:nvSpPr>
          <p:cNvPr id="56" name="task-state-0-0"/>
          <p:cNvSpPr txBox="1"/>
          <p:nvPr/>
        </p:nvSpPr>
        <p:spPr>
          <a:xfrm>
            <a:off x="1847088" y="1545336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C6E8F9"/>
                </a:solidFill>
                <a:latin typeface="Aptos"/>
              </a:rPr>
              <a:t>new</a:t>
            </a:r>
          </a:p>
        </p:txBody>
      </p:sp>
      <p:sp>
        <p:nvSpPr>
          <p:cNvPr id="57" name="task-title-0-1"/>
          <p:cNvSpPr txBox="1"/>
          <p:nvPr/>
        </p:nvSpPr>
        <p:spPr>
          <a:xfrm>
            <a:off x="3200400" y="1362456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24344D"/>
                </a:solidFill>
                <a:latin typeface="Aptos"/>
              </a:rPr>
              <a:t>Profile</a:t>
            </a:r>
          </a:p>
        </p:txBody>
      </p:sp>
      <p:sp>
        <p:nvSpPr>
          <p:cNvPr id="58" name="task-state-0-1"/>
          <p:cNvSpPr txBox="1"/>
          <p:nvPr/>
        </p:nvSpPr>
        <p:spPr>
          <a:xfrm>
            <a:off x="3200400" y="1545336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C6E8F9"/>
                </a:solidFill>
                <a:latin typeface="Aptos"/>
              </a:rPr>
              <a:t>locked</a:t>
            </a:r>
          </a:p>
        </p:txBody>
      </p:sp>
      <p:sp>
        <p:nvSpPr>
          <p:cNvPr id="59" name="task-title-0-2"/>
          <p:cNvSpPr txBox="1"/>
          <p:nvPr/>
        </p:nvSpPr>
        <p:spPr>
          <a:xfrm>
            <a:off x="4553712" y="1362456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24344D"/>
                </a:solidFill>
                <a:latin typeface="Aptos"/>
              </a:rPr>
              <a:t>Spec</a:t>
            </a:r>
          </a:p>
        </p:txBody>
      </p:sp>
      <p:sp>
        <p:nvSpPr>
          <p:cNvPr id="60" name="task-state-0-2"/>
          <p:cNvSpPr txBox="1"/>
          <p:nvPr/>
        </p:nvSpPr>
        <p:spPr>
          <a:xfrm>
            <a:off x="4553712" y="1545336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C6E8F9"/>
                </a:solidFill>
                <a:latin typeface="Aptos"/>
              </a:rPr>
              <a:t>ready</a:t>
            </a:r>
          </a:p>
        </p:txBody>
      </p:sp>
      <p:sp>
        <p:nvSpPr>
          <p:cNvPr id="61" name="task-title-0-3"/>
          <p:cNvSpPr txBox="1"/>
          <p:nvPr/>
        </p:nvSpPr>
        <p:spPr>
          <a:xfrm>
            <a:off x="5907024" y="1362456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24344D"/>
                </a:solidFill>
                <a:latin typeface="Aptos"/>
              </a:rPr>
              <a:t>Audit</a:t>
            </a:r>
          </a:p>
        </p:txBody>
      </p:sp>
      <p:sp>
        <p:nvSpPr>
          <p:cNvPr id="62" name="task-state-0-3"/>
          <p:cNvSpPr txBox="1"/>
          <p:nvPr/>
        </p:nvSpPr>
        <p:spPr>
          <a:xfrm>
            <a:off x="5907024" y="1545336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C6E8F9"/>
                </a:solidFill>
                <a:latin typeface="Aptos"/>
              </a:rPr>
              <a:t>pass</a:t>
            </a:r>
          </a:p>
        </p:txBody>
      </p:sp>
      <p:sp>
        <p:nvSpPr>
          <p:cNvPr id="63" name="task-title-0-4"/>
          <p:cNvSpPr txBox="1"/>
          <p:nvPr/>
        </p:nvSpPr>
        <p:spPr>
          <a:xfrm>
            <a:off x="7260336" y="1362456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24344D"/>
                </a:solidFill>
                <a:latin typeface="Aptos"/>
              </a:rPr>
              <a:t>Owner</a:t>
            </a:r>
          </a:p>
        </p:txBody>
      </p:sp>
      <p:sp>
        <p:nvSpPr>
          <p:cNvPr id="64" name="task-state-0-4"/>
          <p:cNvSpPr txBox="1"/>
          <p:nvPr/>
        </p:nvSpPr>
        <p:spPr>
          <a:xfrm>
            <a:off x="7260336" y="1545336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C6E8F9"/>
                </a:solidFill>
                <a:latin typeface="Aptos"/>
              </a:rPr>
              <a:t>assigned</a:t>
            </a:r>
          </a:p>
        </p:txBody>
      </p:sp>
      <p:sp>
        <p:nvSpPr>
          <p:cNvPr id="65" name="lane-name-1"/>
          <p:cNvSpPr txBox="1"/>
          <p:nvPr/>
        </p:nvSpPr>
        <p:spPr>
          <a:xfrm>
            <a:off x="566928" y="2615184"/>
            <a:ext cx="868680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lang="en-US">
                <a:solidFill>
                  <a:srgbClr val="111111"/>
                </a:solidFill>
                <a:latin typeface="Aptos"/>
              </a:rPr>
              <a:t>AUTHOR</a:t>
            </a:r>
          </a:p>
        </p:txBody>
      </p:sp>
      <p:sp>
        <p:nvSpPr>
          <p:cNvPr id="66" name="task-title-1-0"/>
          <p:cNvSpPr txBox="1"/>
          <p:nvPr/>
        </p:nvSpPr>
        <p:spPr>
          <a:xfrm>
            <a:off x="1847088" y="2532888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24344D"/>
                </a:solidFill>
                <a:latin typeface="Aptos"/>
              </a:rPr>
              <a:t>Scope</a:t>
            </a:r>
          </a:p>
        </p:txBody>
      </p:sp>
      <p:sp>
        <p:nvSpPr>
          <p:cNvPr id="67" name="task-state-1-0"/>
          <p:cNvSpPr txBox="1"/>
          <p:nvPr/>
        </p:nvSpPr>
        <p:spPr>
          <a:xfrm>
            <a:off x="1847088" y="2715768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F9C6E8"/>
                </a:solidFill>
                <a:latin typeface="Aptos"/>
              </a:rPr>
              <a:t>locked</a:t>
            </a:r>
          </a:p>
        </p:txBody>
      </p:sp>
      <p:sp>
        <p:nvSpPr>
          <p:cNvPr id="68" name="task-title-1-1"/>
          <p:cNvSpPr txBox="1"/>
          <p:nvPr/>
        </p:nvSpPr>
        <p:spPr>
          <a:xfrm>
            <a:off x="3200400" y="2532888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24344D"/>
                </a:solidFill>
                <a:latin typeface="Aptos"/>
              </a:rPr>
              <a:t>Profile</a:t>
            </a:r>
          </a:p>
        </p:txBody>
      </p:sp>
      <p:sp>
        <p:nvSpPr>
          <p:cNvPr id="69" name="task-state-1-1"/>
          <p:cNvSpPr txBox="1"/>
          <p:nvPr/>
        </p:nvSpPr>
        <p:spPr>
          <a:xfrm>
            <a:off x="3200400" y="2715768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F9C6E8"/>
                </a:solidFill>
                <a:latin typeface="Aptos"/>
              </a:rPr>
              <a:t>ready</a:t>
            </a:r>
          </a:p>
        </p:txBody>
      </p:sp>
      <p:sp>
        <p:nvSpPr>
          <p:cNvPr id="70" name="task-title-1-2"/>
          <p:cNvSpPr txBox="1"/>
          <p:nvPr/>
        </p:nvSpPr>
        <p:spPr>
          <a:xfrm>
            <a:off x="4553712" y="2532888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24344D"/>
                </a:solidFill>
                <a:latin typeface="Aptos"/>
              </a:rPr>
              <a:t>Spec</a:t>
            </a:r>
          </a:p>
        </p:txBody>
      </p:sp>
      <p:sp>
        <p:nvSpPr>
          <p:cNvPr id="71" name="task-state-1-2"/>
          <p:cNvSpPr txBox="1"/>
          <p:nvPr/>
        </p:nvSpPr>
        <p:spPr>
          <a:xfrm>
            <a:off x="4553712" y="2715768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F9C6E8"/>
                </a:solidFill>
                <a:latin typeface="Aptos"/>
              </a:rPr>
              <a:t>pass</a:t>
            </a:r>
          </a:p>
        </p:txBody>
      </p:sp>
      <p:sp>
        <p:nvSpPr>
          <p:cNvPr id="72" name="task-title-1-3"/>
          <p:cNvSpPr txBox="1"/>
          <p:nvPr/>
        </p:nvSpPr>
        <p:spPr>
          <a:xfrm>
            <a:off x="5907024" y="2532888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24344D"/>
                </a:solidFill>
                <a:latin typeface="Aptos"/>
              </a:rPr>
              <a:t>Audit</a:t>
            </a:r>
          </a:p>
        </p:txBody>
      </p:sp>
      <p:sp>
        <p:nvSpPr>
          <p:cNvPr id="73" name="task-state-1-3"/>
          <p:cNvSpPr txBox="1"/>
          <p:nvPr/>
        </p:nvSpPr>
        <p:spPr>
          <a:xfrm>
            <a:off x="5907024" y="2715768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F9C6E8"/>
                </a:solidFill>
                <a:latin typeface="Aptos"/>
              </a:rPr>
              <a:t>assigned</a:t>
            </a:r>
          </a:p>
        </p:txBody>
      </p:sp>
      <p:sp>
        <p:nvSpPr>
          <p:cNvPr id="74" name="task-title-1-4"/>
          <p:cNvSpPr txBox="1"/>
          <p:nvPr/>
        </p:nvSpPr>
        <p:spPr>
          <a:xfrm>
            <a:off x="7260336" y="2532888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24344D"/>
                </a:solidFill>
                <a:latin typeface="Aptos"/>
              </a:rPr>
              <a:t>Owner</a:t>
            </a:r>
          </a:p>
        </p:txBody>
      </p:sp>
      <p:sp>
        <p:nvSpPr>
          <p:cNvPr id="75" name="task-state-1-4"/>
          <p:cNvSpPr txBox="1"/>
          <p:nvPr/>
        </p:nvSpPr>
        <p:spPr>
          <a:xfrm>
            <a:off x="7260336" y="2715768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F9C6E8"/>
                </a:solidFill>
                <a:latin typeface="Aptos"/>
              </a:rPr>
              <a:t>new</a:t>
            </a:r>
          </a:p>
        </p:txBody>
      </p:sp>
      <p:sp>
        <p:nvSpPr>
          <p:cNvPr id="76" name="lane-name-2"/>
          <p:cNvSpPr txBox="1"/>
          <p:nvPr/>
        </p:nvSpPr>
        <p:spPr>
          <a:xfrm>
            <a:off x="566928" y="3785615"/>
            <a:ext cx="868680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lang="en-US">
                <a:solidFill>
                  <a:srgbClr val="111111"/>
                </a:solidFill>
                <a:latin typeface="Aptos"/>
              </a:rPr>
              <a:t>VERIFY</a:t>
            </a:r>
          </a:p>
        </p:txBody>
      </p:sp>
      <p:sp>
        <p:nvSpPr>
          <p:cNvPr id="77" name="task-title-2-0"/>
          <p:cNvSpPr txBox="1"/>
          <p:nvPr/>
        </p:nvSpPr>
        <p:spPr>
          <a:xfrm>
            <a:off x="1847088" y="3703320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24344D"/>
                </a:solidFill>
                <a:latin typeface="Aptos"/>
              </a:rPr>
              <a:t>Scope</a:t>
            </a:r>
          </a:p>
        </p:txBody>
      </p:sp>
      <p:sp>
        <p:nvSpPr>
          <p:cNvPr id="78" name="task-state-2-0"/>
          <p:cNvSpPr txBox="1"/>
          <p:nvPr/>
        </p:nvSpPr>
        <p:spPr>
          <a:xfrm>
            <a:off x="1847088" y="3886200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F0FCE4"/>
                </a:solidFill>
                <a:latin typeface="Aptos"/>
              </a:rPr>
              <a:t>ready</a:t>
            </a:r>
          </a:p>
        </p:txBody>
      </p:sp>
      <p:sp>
        <p:nvSpPr>
          <p:cNvPr id="79" name="task-title-2-1"/>
          <p:cNvSpPr txBox="1"/>
          <p:nvPr/>
        </p:nvSpPr>
        <p:spPr>
          <a:xfrm>
            <a:off x="3200400" y="3703320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24344D"/>
                </a:solidFill>
                <a:latin typeface="Aptos"/>
              </a:rPr>
              <a:t>Profile</a:t>
            </a:r>
          </a:p>
        </p:txBody>
      </p:sp>
      <p:sp>
        <p:nvSpPr>
          <p:cNvPr id="80" name="task-state-2-1"/>
          <p:cNvSpPr txBox="1"/>
          <p:nvPr/>
        </p:nvSpPr>
        <p:spPr>
          <a:xfrm>
            <a:off x="3200400" y="3886200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F0FCE4"/>
                </a:solidFill>
                <a:latin typeface="Aptos"/>
              </a:rPr>
              <a:t>pass</a:t>
            </a:r>
          </a:p>
        </p:txBody>
      </p:sp>
      <p:sp>
        <p:nvSpPr>
          <p:cNvPr id="81" name="task-title-2-2"/>
          <p:cNvSpPr txBox="1"/>
          <p:nvPr/>
        </p:nvSpPr>
        <p:spPr>
          <a:xfrm>
            <a:off x="4553712" y="3703320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24344D"/>
                </a:solidFill>
                <a:latin typeface="Aptos"/>
              </a:rPr>
              <a:t>Spec</a:t>
            </a:r>
          </a:p>
        </p:txBody>
      </p:sp>
      <p:sp>
        <p:nvSpPr>
          <p:cNvPr id="82" name="task-state-2-2"/>
          <p:cNvSpPr txBox="1"/>
          <p:nvPr/>
        </p:nvSpPr>
        <p:spPr>
          <a:xfrm>
            <a:off x="4553712" y="3886200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F0FCE4"/>
                </a:solidFill>
                <a:latin typeface="Aptos"/>
              </a:rPr>
              <a:t>assigned</a:t>
            </a:r>
          </a:p>
        </p:txBody>
      </p:sp>
      <p:sp>
        <p:nvSpPr>
          <p:cNvPr id="83" name="task-title-2-3"/>
          <p:cNvSpPr txBox="1"/>
          <p:nvPr/>
        </p:nvSpPr>
        <p:spPr>
          <a:xfrm>
            <a:off x="5907024" y="3703320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24344D"/>
                </a:solidFill>
                <a:latin typeface="Aptos"/>
              </a:rPr>
              <a:t>Audit</a:t>
            </a:r>
          </a:p>
        </p:txBody>
      </p:sp>
      <p:sp>
        <p:nvSpPr>
          <p:cNvPr id="84" name="task-state-2-3"/>
          <p:cNvSpPr txBox="1"/>
          <p:nvPr/>
        </p:nvSpPr>
        <p:spPr>
          <a:xfrm>
            <a:off x="5907024" y="3886200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F0FCE4"/>
                </a:solidFill>
                <a:latin typeface="Aptos"/>
              </a:rPr>
              <a:t>new</a:t>
            </a:r>
          </a:p>
        </p:txBody>
      </p:sp>
      <p:sp>
        <p:nvSpPr>
          <p:cNvPr id="85" name="task-title-2-4"/>
          <p:cNvSpPr txBox="1"/>
          <p:nvPr/>
        </p:nvSpPr>
        <p:spPr>
          <a:xfrm>
            <a:off x="7260336" y="3703320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24344D"/>
                </a:solidFill>
                <a:latin typeface="Aptos"/>
              </a:rPr>
              <a:t>Owner</a:t>
            </a:r>
          </a:p>
        </p:txBody>
      </p:sp>
      <p:sp>
        <p:nvSpPr>
          <p:cNvPr id="86" name="task-state-2-4"/>
          <p:cNvSpPr txBox="1"/>
          <p:nvPr/>
        </p:nvSpPr>
        <p:spPr>
          <a:xfrm>
            <a:off x="7260336" y="3886200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F0FCE4"/>
                </a:solidFill>
                <a:latin typeface="Aptos"/>
              </a:rPr>
              <a:t>locked</a:t>
            </a:r>
          </a:p>
        </p:txBody>
      </p:sp>
      <p:sp>
        <p:nvSpPr>
          <p:cNvPr id="87" name="lane-name-3"/>
          <p:cNvSpPr txBox="1"/>
          <p:nvPr/>
        </p:nvSpPr>
        <p:spPr>
          <a:xfrm>
            <a:off x="566928" y="4956048"/>
            <a:ext cx="868680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lang="en-US">
                <a:solidFill>
                  <a:srgbClr val="111111"/>
                </a:solidFill>
                <a:latin typeface="Aptos"/>
              </a:rPr>
              <a:t>SHIP</a:t>
            </a:r>
          </a:p>
        </p:txBody>
      </p:sp>
      <p:sp>
        <p:nvSpPr>
          <p:cNvPr id="88" name="task-title-3-0"/>
          <p:cNvSpPr txBox="1"/>
          <p:nvPr/>
        </p:nvSpPr>
        <p:spPr>
          <a:xfrm>
            <a:off x="1847088" y="4873752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24344D"/>
                </a:solidFill>
                <a:latin typeface="Aptos"/>
              </a:rPr>
              <a:t>Scope</a:t>
            </a:r>
          </a:p>
        </p:txBody>
      </p:sp>
      <p:sp>
        <p:nvSpPr>
          <p:cNvPr id="89" name="task-state-3-0"/>
          <p:cNvSpPr txBox="1"/>
          <p:nvPr/>
        </p:nvSpPr>
        <p:spPr>
          <a:xfrm>
            <a:off x="1847088" y="5056632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4ECDC4"/>
                </a:solidFill>
                <a:latin typeface="Aptos"/>
              </a:rPr>
              <a:t>pass</a:t>
            </a:r>
          </a:p>
        </p:txBody>
      </p:sp>
      <p:sp>
        <p:nvSpPr>
          <p:cNvPr id="90" name="task-title-3-1"/>
          <p:cNvSpPr txBox="1"/>
          <p:nvPr/>
        </p:nvSpPr>
        <p:spPr>
          <a:xfrm>
            <a:off x="3200400" y="4873752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24344D"/>
                </a:solidFill>
                <a:latin typeface="Aptos"/>
              </a:rPr>
              <a:t>Profile</a:t>
            </a:r>
          </a:p>
        </p:txBody>
      </p:sp>
      <p:sp>
        <p:nvSpPr>
          <p:cNvPr id="91" name="task-state-3-1"/>
          <p:cNvSpPr txBox="1"/>
          <p:nvPr/>
        </p:nvSpPr>
        <p:spPr>
          <a:xfrm>
            <a:off x="3200400" y="5056632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4ECDC4"/>
                </a:solidFill>
                <a:latin typeface="Aptos"/>
              </a:rPr>
              <a:t>assigned</a:t>
            </a:r>
          </a:p>
        </p:txBody>
      </p:sp>
      <p:sp>
        <p:nvSpPr>
          <p:cNvPr id="92" name="task-title-3-2"/>
          <p:cNvSpPr txBox="1"/>
          <p:nvPr/>
        </p:nvSpPr>
        <p:spPr>
          <a:xfrm>
            <a:off x="4553712" y="4873752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24344D"/>
                </a:solidFill>
                <a:latin typeface="Aptos"/>
              </a:rPr>
              <a:t>Spec</a:t>
            </a:r>
          </a:p>
        </p:txBody>
      </p:sp>
      <p:sp>
        <p:nvSpPr>
          <p:cNvPr id="93" name="task-state-3-2"/>
          <p:cNvSpPr txBox="1"/>
          <p:nvPr/>
        </p:nvSpPr>
        <p:spPr>
          <a:xfrm>
            <a:off x="4553712" y="5056632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4ECDC4"/>
                </a:solidFill>
                <a:latin typeface="Aptos"/>
              </a:rPr>
              <a:t>new</a:t>
            </a:r>
          </a:p>
        </p:txBody>
      </p:sp>
      <p:sp>
        <p:nvSpPr>
          <p:cNvPr id="94" name="task-title-3-3"/>
          <p:cNvSpPr txBox="1"/>
          <p:nvPr/>
        </p:nvSpPr>
        <p:spPr>
          <a:xfrm>
            <a:off x="5907024" y="4873752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24344D"/>
                </a:solidFill>
                <a:latin typeface="Aptos"/>
              </a:rPr>
              <a:t>Audit</a:t>
            </a:r>
          </a:p>
        </p:txBody>
      </p:sp>
      <p:sp>
        <p:nvSpPr>
          <p:cNvPr id="95" name="task-state-3-3"/>
          <p:cNvSpPr txBox="1"/>
          <p:nvPr/>
        </p:nvSpPr>
        <p:spPr>
          <a:xfrm>
            <a:off x="5907024" y="5056632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4ECDC4"/>
                </a:solidFill>
                <a:latin typeface="Aptos"/>
              </a:rPr>
              <a:t>locked</a:t>
            </a:r>
          </a:p>
        </p:txBody>
      </p:sp>
      <p:sp>
        <p:nvSpPr>
          <p:cNvPr id="96" name="task-title-3-4"/>
          <p:cNvSpPr txBox="1"/>
          <p:nvPr/>
        </p:nvSpPr>
        <p:spPr>
          <a:xfrm>
            <a:off x="7260336" y="4873752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24344D"/>
                </a:solidFill>
                <a:latin typeface="Aptos"/>
              </a:rPr>
              <a:t>Owner</a:t>
            </a:r>
          </a:p>
        </p:txBody>
      </p:sp>
      <p:sp>
        <p:nvSpPr>
          <p:cNvPr id="97" name="task-state-3-4"/>
          <p:cNvSpPr txBox="1"/>
          <p:nvPr/>
        </p:nvSpPr>
        <p:spPr>
          <a:xfrm>
            <a:off x="7260336" y="5056632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4ECDC4"/>
                </a:solidFill>
                <a:latin typeface="Aptos"/>
              </a:rPr>
              <a:t>ready</a:t>
            </a:r>
          </a:p>
        </p:txBody>
      </p:sp>
      <p:sp>
        <p:nvSpPr>
          <p:cNvPr id="98" name="workbench-rail-title"/>
          <p:cNvSpPr txBox="1"/>
          <p:nvPr/>
        </p:nvSpPr>
        <p:spPr>
          <a:xfrm>
            <a:off x="9436608" y="1325880"/>
            <a:ext cx="196596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1" lang="en-US">
                <a:solidFill>
                  <a:srgbClr val="C6E8F9"/>
                </a:solidFill>
                <a:latin typeface="Aptos"/>
              </a:rPr>
              <a:t>BUILD SIGNALS</a:t>
            </a:r>
          </a:p>
        </p:txBody>
      </p:sp>
      <p:sp>
        <p:nvSpPr>
          <p:cNvPr id="99" name="chart-label"/>
          <p:cNvSpPr txBox="1"/>
          <p:nvPr/>
        </p:nvSpPr>
        <p:spPr>
          <a:xfrm>
            <a:off x="9436608" y="4956048"/>
            <a:ext cx="192024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0" lang="en-US">
                <a:solidFill>
                  <a:srgbClr val="64748B"/>
                </a:solidFill>
                <a:latin typeface="Aptos"/>
              </a:rPr>
              <a:t>completion by work lane</a:t>
            </a:r>
          </a:p>
        </p:txBody>
      </p:sp>
      <p:sp>
        <p:nvSpPr>
          <p:cNvPr id="100" name="check-label-0"/>
          <p:cNvSpPr txBox="1"/>
          <p:nvPr/>
        </p:nvSpPr>
        <p:spPr>
          <a:xfrm>
            <a:off x="9619488" y="5303520"/>
            <a:ext cx="141732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1" lang="en-US">
                <a:solidFill>
                  <a:srgbClr val="24344D"/>
                </a:solidFill>
                <a:latin typeface="Aptos"/>
              </a:rPr>
              <a:t>bounds</a:t>
            </a:r>
          </a:p>
        </p:txBody>
      </p:sp>
      <p:sp>
        <p:nvSpPr>
          <p:cNvPr id="101" name="check-label-1"/>
          <p:cNvSpPr txBox="1"/>
          <p:nvPr/>
        </p:nvSpPr>
        <p:spPr>
          <a:xfrm>
            <a:off x="9619488" y="5468112"/>
            <a:ext cx="141732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1" lang="en-US">
                <a:solidFill>
                  <a:srgbClr val="24344D"/>
                </a:solidFill>
                <a:latin typeface="Aptos"/>
              </a:rPr>
              <a:t>content</a:t>
            </a:r>
          </a:p>
        </p:txBody>
      </p:sp>
      <p:sp>
        <p:nvSpPr>
          <p:cNvPr id="102" name="check-label-2"/>
          <p:cNvSpPr txBox="1"/>
          <p:nvPr/>
        </p:nvSpPr>
        <p:spPr>
          <a:xfrm>
            <a:off x="9619488" y="5632704"/>
            <a:ext cx="141732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1" lang="en-US">
                <a:solidFill>
                  <a:srgbClr val="24344D"/>
                </a:solidFill>
                <a:latin typeface="Aptos"/>
              </a:rPr>
              <a:t>tables</a:t>
            </a:r>
          </a:p>
        </p:txBody>
      </p:sp>
      <p:sp>
        <p:nvSpPr>
          <p:cNvPr id="103" name="check-label-3"/>
          <p:cNvSpPr txBox="1"/>
          <p:nvPr/>
        </p:nvSpPr>
        <p:spPr>
          <a:xfrm>
            <a:off x="9619488" y="5797296"/>
            <a:ext cx="141732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1" lang="en-US">
                <a:solidFill>
                  <a:srgbClr val="24344D"/>
                </a:solidFill>
                <a:latin typeface="Aptos"/>
              </a:rPr>
              <a:t>order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2E"/>
          </a:solidFill>
          <a:ln w="10160">
            <a:solidFill>
              <a:srgbClr val="1E1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-top"/>
          <p:cNvSpPr/>
          <p:nvPr/>
        </p:nvSpPr>
        <p:spPr>
          <a:xfrm>
            <a:off x="8732520" y="4297680"/>
            <a:ext cx="1371600" cy="640080"/>
          </a:xfrm>
          <a:prstGeom prst="rect">
            <a:avLst/>
          </a:prstGeom>
          <a:solidFill>
            <a:srgbClr val="A594FF"/>
          </a:solidFill>
          <a:ln w="10160">
            <a:solidFill>
              <a:srgbClr val="A59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-left"/>
          <p:cNvSpPr/>
          <p:nvPr/>
        </p:nvSpPr>
        <p:spPr>
          <a:xfrm>
            <a:off x="8732520" y="4937760"/>
            <a:ext cx="685800" cy="502920"/>
          </a:xfrm>
          <a:prstGeom prst="rect">
            <a:avLst/>
          </a:prstGeom>
          <a:solidFill>
            <a:srgbClr val="4A3FCC"/>
          </a:solidFill>
          <a:ln w="10160">
            <a:solidFill>
              <a:srgbClr val="4A3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so-right"/>
          <p:cNvSpPr/>
          <p:nvPr/>
        </p:nvSpPr>
        <p:spPr>
          <a:xfrm>
            <a:off x="9418320" y="4937760"/>
            <a:ext cx="685800" cy="502920"/>
          </a:xfrm>
          <a:prstGeom prst="rect">
            <a:avLst/>
          </a:prstGeom>
          <a:solidFill>
            <a:srgbClr val="7C6FFF"/>
          </a:solidFill>
          <a:ln w="10160">
            <a:solidFill>
              <a:srgbClr val="7C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op-band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7C6FFF"/>
          </a:solidFill>
          <a:ln w="10160">
            <a:solidFill>
              <a:srgbClr val="7C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nav-shell"/>
          <p:cNvSpPr/>
          <p:nvPr/>
        </p:nvSpPr>
        <p:spPr>
          <a:xfrm>
            <a:off x="457200" y="1078992"/>
            <a:ext cx="1572768" cy="5102352"/>
          </a:xfrm>
          <a:prstGeom prst="rect">
            <a:avLst/>
          </a:prstGeom>
          <a:solidFill>
            <a:srgbClr val="363453"/>
          </a:solidFill>
          <a:ln w="10160">
            <a:solidFill>
              <a:srgbClr val="4A3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metric-0-shell"/>
          <p:cNvSpPr/>
          <p:nvPr/>
        </p:nvSpPr>
        <p:spPr>
          <a:xfrm>
            <a:off x="2249424" y="1078992"/>
            <a:ext cx="1161288" cy="768096"/>
          </a:xfrm>
          <a:prstGeom prst="rect">
            <a:avLst/>
          </a:prstGeom>
          <a:solidFill>
            <a:srgbClr val="2A2940"/>
          </a:solidFill>
          <a:ln w="10160">
            <a:solidFill>
              <a:srgbClr val="4A3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metric-1-shell"/>
          <p:cNvSpPr/>
          <p:nvPr/>
        </p:nvSpPr>
        <p:spPr>
          <a:xfrm>
            <a:off x="3557016" y="1078992"/>
            <a:ext cx="1161288" cy="768096"/>
          </a:xfrm>
          <a:prstGeom prst="rect">
            <a:avLst/>
          </a:prstGeom>
          <a:solidFill>
            <a:srgbClr val="2A2940"/>
          </a:solidFill>
          <a:ln w="10160">
            <a:solidFill>
              <a:srgbClr val="4A3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metric-2-shell"/>
          <p:cNvSpPr/>
          <p:nvPr/>
        </p:nvSpPr>
        <p:spPr>
          <a:xfrm>
            <a:off x="4864608" y="1078992"/>
            <a:ext cx="1161288" cy="768096"/>
          </a:xfrm>
          <a:prstGeom prst="rect">
            <a:avLst/>
          </a:prstGeom>
          <a:solidFill>
            <a:srgbClr val="2A2940"/>
          </a:solidFill>
          <a:ln w="10160">
            <a:solidFill>
              <a:srgbClr val="4A3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metric-3-shell"/>
          <p:cNvSpPr/>
          <p:nvPr/>
        </p:nvSpPr>
        <p:spPr>
          <a:xfrm>
            <a:off x="6172200" y="1078992"/>
            <a:ext cx="1161288" cy="768096"/>
          </a:xfrm>
          <a:prstGeom prst="rect">
            <a:avLst/>
          </a:prstGeom>
          <a:solidFill>
            <a:srgbClr val="2A2940"/>
          </a:solidFill>
          <a:ln w="10160">
            <a:solidFill>
              <a:srgbClr val="4A3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metric-4-shell"/>
          <p:cNvSpPr/>
          <p:nvPr/>
        </p:nvSpPr>
        <p:spPr>
          <a:xfrm>
            <a:off x="7479792" y="1078992"/>
            <a:ext cx="1161288" cy="768096"/>
          </a:xfrm>
          <a:prstGeom prst="rect">
            <a:avLst/>
          </a:prstGeom>
          <a:solidFill>
            <a:srgbClr val="2A2940"/>
          </a:solidFill>
          <a:ln w="10160">
            <a:solidFill>
              <a:srgbClr val="4A3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isk-rail-shell"/>
          <p:cNvSpPr/>
          <p:nvPr/>
        </p:nvSpPr>
        <p:spPr>
          <a:xfrm>
            <a:off x="9052560" y="1078992"/>
            <a:ext cx="2679192" cy="4389120"/>
          </a:xfrm>
          <a:prstGeom prst="rect">
            <a:avLst/>
          </a:prstGeom>
          <a:solidFill>
            <a:srgbClr val="363453"/>
          </a:solidFill>
          <a:ln w="10160">
            <a:solidFill>
              <a:srgbClr val="4A3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nav-accent"/>
          <p:cNvSpPr/>
          <p:nvPr/>
        </p:nvSpPr>
        <p:spPr>
          <a:xfrm>
            <a:off x="457200" y="1078992"/>
            <a:ext cx="73152" cy="5102352"/>
          </a:xfrm>
          <a:prstGeom prst="rect">
            <a:avLst/>
          </a:prstGeom>
          <a:solidFill>
            <a:srgbClr val="7C6FFF"/>
          </a:solidFill>
          <a:ln w="10160">
            <a:solidFill>
              <a:srgbClr val="7C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nav-0"/>
          <p:cNvSpPr/>
          <p:nvPr/>
        </p:nvSpPr>
        <p:spPr>
          <a:xfrm>
            <a:off x="658368" y="1874519"/>
            <a:ext cx="1143000" cy="329184"/>
          </a:xfrm>
          <a:prstGeom prst="roundRect">
            <a:avLst/>
          </a:prstGeom>
          <a:solidFill>
            <a:srgbClr val="7C6FFF"/>
          </a:solidFill>
          <a:ln w="10160">
            <a:solidFill>
              <a:srgbClr val="4A3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nav-1"/>
          <p:cNvSpPr/>
          <p:nvPr/>
        </p:nvSpPr>
        <p:spPr>
          <a:xfrm>
            <a:off x="658368" y="2386584"/>
            <a:ext cx="1143000" cy="329184"/>
          </a:xfrm>
          <a:prstGeom prst="roundRect">
            <a:avLst/>
          </a:prstGeom>
          <a:solidFill>
            <a:srgbClr val="2A2940"/>
          </a:solidFill>
          <a:ln w="10160">
            <a:solidFill>
              <a:srgbClr val="4A3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nav-2"/>
          <p:cNvSpPr/>
          <p:nvPr/>
        </p:nvSpPr>
        <p:spPr>
          <a:xfrm>
            <a:off x="658368" y="2898648"/>
            <a:ext cx="1143000" cy="329184"/>
          </a:xfrm>
          <a:prstGeom prst="roundRect">
            <a:avLst/>
          </a:prstGeom>
          <a:solidFill>
            <a:srgbClr val="2A2940"/>
          </a:solidFill>
          <a:ln w="10160">
            <a:solidFill>
              <a:srgbClr val="4A3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nav-3"/>
          <p:cNvSpPr/>
          <p:nvPr/>
        </p:nvSpPr>
        <p:spPr>
          <a:xfrm>
            <a:off x="658368" y="3410712"/>
            <a:ext cx="1143000" cy="329184"/>
          </a:xfrm>
          <a:prstGeom prst="roundRect">
            <a:avLst/>
          </a:prstGeom>
          <a:solidFill>
            <a:srgbClr val="2A2940"/>
          </a:solidFill>
          <a:ln w="10160">
            <a:solidFill>
              <a:srgbClr val="4A3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nav-4"/>
          <p:cNvSpPr/>
          <p:nvPr/>
        </p:nvSpPr>
        <p:spPr>
          <a:xfrm>
            <a:off x="658368" y="3922776"/>
            <a:ext cx="1143000" cy="329184"/>
          </a:xfrm>
          <a:prstGeom prst="roundRect">
            <a:avLst/>
          </a:prstGeom>
          <a:solidFill>
            <a:srgbClr val="2A2940"/>
          </a:solidFill>
          <a:ln w="10160">
            <a:solidFill>
              <a:srgbClr val="4A3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nav-5"/>
          <p:cNvSpPr/>
          <p:nvPr/>
        </p:nvSpPr>
        <p:spPr>
          <a:xfrm>
            <a:off x="658368" y="4434840"/>
            <a:ext cx="1143000" cy="329184"/>
          </a:xfrm>
          <a:prstGeom prst="roundRect">
            <a:avLst/>
          </a:prstGeom>
          <a:solidFill>
            <a:srgbClr val="2A2940"/>
          </a:solidFill>
          <a:ln w="10160">
            <a:solidFill>
              <a:srgbClr val="4A3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nav-6"/>
          <p:cNvSpPr/>
          <p:nvPr/>
        </p:nvSpPr>
        <p:spPr>
          <a:xfrm>
            <a:off x="658368" y="4946904"/>
            <a:ext cx="1143000" cy="329184"/>
          </a:xfrm>
          <a:prstGeom prst="roundRect">
            <a:avLst/>
          </a:prstGeom>
          <a:solidFill>
            <a:srgbClr val="2A2940"/>
          </a:solidFill>
          <a:ln w="10160">
            <a:solidFill>
              <a:srgbClr val="4A3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metric-0-accent"/>
          <p:cNvSpPr/>
          <p:nvPr/>
        </p:nvSpPr>
        <p:spPr>
          <a:xfrm>
            <a:off x="2249424" y="1078992"/>
            <a:ext cx="73152" cy="768096"/>
          </a:xfrm>
          <a:prstGeom prst="rect">
            <a:avLst/>
          </a:prstGeom>
          <a:solidFill>
            <a:srgbClr val="7C6FFF"/>
          </a:solidFill>
          <a:ln w="10160">
            <a:solidFill>
              <a:srgbClr val="7C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metric-1-accent"/>
          <p:cNvSpPr/>
          <p:nvPr/>
        </p:nvSpPr>
        <p:spPr>
          <a:xfrm>
            <a:off x="3557016" y="1078992"/>
            <a:ext cx="73152" cy="768096"/>
          </a:xfrm>
          <a:prstGeom prst="rect">
            <a:avLst/>
          </a:prstGeom>
          <a:solidFill>
            <a:srgbClr val="A594FF"/>
          </a:solidFill>
          <a:ln w="10160">
            <a:solidFill>
              <a:srgbClr val="A59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metric-2-accent"/>
          <p:cNvSpPr/>
          <p:nvPr/>
        </p:nvSpPr>
        <p:spPr>
          <a:xfrm>
            <a:off x="4864608" y="1078992"/>
            <a:ext cx="73152" cy="768096"/>
          </a:xfrm>
          <a:prstGeom prst="rect">
            <a:avLst/>
          </a:prstGeom>
          <a:solidFill>
            <a:srgbClr val="6254E8"/>
          </a:solidFill>
          <a:ln w="10160">
            <a:solidFill>
              <a:srgbClr val="625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metric-3-accent"/>
          <p:cNvSpPr/>
          <p:nvPr/>
        </p:nvSpPr>
        <p:spPr>
          <a:xfrm>
            <a:off x="6172200" y="1078992"/>
            <a:ext cx="73152" cy="768096"/>
          </a:xfrm>
          <a:prstGeom prst="rect">
            <a:avLst/>
          </a:prstGeom>
          <a:solidFill>
            <a:srgbClr val="F5C542"/>
          </a:solidFill>
          <a:ln w="10160">
            <a:solidFill>
              <a:srgbClr val="F5C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metric-4-accent"/>
          <p:cNvSpPr/>
          <p:nvPr/>
        </p:nvSpPr>
        <p:spPr>
          <a:xfrm>
            <a:off x="7479792" y="1078992"/>
            <a:ext cx="73152" cy="768096"/>
          </a:xfrm>
          <a:prstGeom prst="rect">
            <a:avLst/>
          </a:prstGeom>
          <a:solidFill>
            <a:srgbClr val="A594FF"/>
          </a:solidFill>
          <a:ln w="10160">
            <a:solidFill>
              <a:srgbClr val="A59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isk-rail-accent"/>
          <p:cNvSpPr/>
          <p:nvPr/>
        </p:nvSpPr>
        <p:spPr>
          <a:xfrm>
            <a:off x="9052560" y="1078992"/>
            <a:ext cx="73152" cy="4389120"/>
          </a:xfrm>
          <a:prstGeom prst="rect">
            <a:avLst/>
          </a:prstGeom>
          <a:solidFill>
            <a:srgbClr val="7C6FFF"/>
          </a:solidFill>
          <a:ln w="10160">
            <a:solidFill>
              <a:srgbClr val="7C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progress-track"/>
          <p:cNvSpPr/>
          <p:nvPr/>
        </p:nvSpPr>
        <p:spPr>
          <a:xfrm>
            <a:off x="2249424" y="5687568"/>
            <a:ext cx="9482328" cy="384048"/>
          </a:xfrm>
          <a:prstGeom prst="roundRect">
            <a:avLst/>
          </a:prstGeom>
          <a:solidFill>
            <a:srgbClr val="363453"/>
          </a:solidFill>
          <a:ln w="10160">
            <a:solidFill>
              <a:srgbClr val="4A3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29" name="signal-table"/>
          <p:cNvGraphicFramePr>
            <a:graphicFrameLocks noGrp="1"/>
          </p:cNvGraphicFramePr>
          <p:nvPr/>
        </p:nvGraphicFramePr>
        <p:xfrm>
          <a:off x="2249424" y="2066543"/>
          <a:ext cx="6537960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7592"/>
                <a:gridCol w="1307592"/>
                <a:gridCol w="1307592"/>
                <a:gridCol w="1307592"/>
                <a:gridCol w="1307592"/>
              </a:tblGrid>
              <a:tr h="425196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1E1E2E"/>
                          </a:solidFill>
                          <a:latin typeface="Consolas"/>
                        </a:rPr>
                        <a:t>Signal</a:t>
                      </a:r>
                    </a:p>
                  </a:txBody>
                  <a:tcPr marL="54864" marR="54864" marT="18288" marB="18288">
                    <a:solidFill>
                      <a:srgbClr val="7C6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1E1E2E"/>
                          </a:solidFill>
                          <a:latin typeface="Consolas"/>
                        </a:rPr>
                        <a:t>Owner</a:t>
                      </a:r>
                    </a:p>
                  </a:txBody>
                  <a:tcPr marL="54864" marR="54864" marT="18288" marB="18288">
                    <a:solidFill>
                      <a:srgbClr val="7C6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1E1E2E"/>
                          </a:solidFill>
                          <a:latin typeface="Consolas"/>
                        </a:rPr>
                        <a:t>State</a:t>
                      </a:r>
                    </a:p>
                  </a:txBody>
                  <a:tcPr marL="54864" marR="54864" marT="18288" marB="18288">
                    <a:solidFill>
                      <a:srgbClr val="7C6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1E1E2E"/>
                          </a:solidFill>
                          <a:latin typeface="Consolas"/>
                        </a:rPr>
                        <a:t>Gate</a:t>
                      </a:r>
                    </a:p>
                  </a:txBody>
                  <a:tcPr marL="54864" marR="54864" marT="18288" marB="18288">
                    <a:solidFill>
                      <a:srgbClr val="7C6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1E1E2E"/>
                          </a:solidFill>
                          <a:latin typeface="Consolas"/>
                        </a:rPr>
                        <a:t>Next</a:t>
                      </a:r>
                    </a:p>
                  </a:txBody>
                  <a:tcPr marL="54864" marR="54864" marT="18288" marB="18288">
                    <a:solidFill>
                      <a:srgbClr val="7C6FFF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FFFFFF"/>
                          </a:solidFill>
                          <a:latin typeface="Consolas"/>
                        </a:rPr>
                        <a:t>S-01</a:t>
                      </a:r>
                    </a:p>
                  </a:txBody>
                  <a:tcPr marL="54864" marR="54864" marT="18288" marB="18288">
                    <a:solidFill>
                      <a:srgbClr val="2A29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Consolas"/>
                        </a:rPr>
                        <a:t>Reviewer</a:t>
                      </a:r>
                    </a:p>
                  </a:txBody>
                  <a:tcPr marL="54864" marR="54864" marT="18288" marB="18288">
                    <a:solidFill>
                      <a:srgbClr val="2A29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Consolas"/>
                        </a:rPr>
                        <a:t>Watch</a:t>
                      </a:r>
                    </a:p>
                  </a:txBody>
                  <a:tcPr marL="54864" marR="54864" marT="18288" marB="18288">
                    <a:solidFill>
                      <a:srgbClr val="2A29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Consolas"/>
                        </a:rPr>
                        <a:t>Review</a:t>
                      </a:r>
                    </a:p>
                  </a:txBody>
                  <a:tcPr marL="54864" marR="54864" marT="18288" marB="18288">
                    <a:solidFill>
                      <a:srgbClr val="2A29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Consolas"/>
                        </a:rPr>
                        <a:t>Check</a:t>
                      </a:r>
                    </a:p>
                  </a:txBody>
                  <a:tcPr marL="54864" marR="54864" marT="18288" marB="18288">
                    <a:solidFill>
                      <a:srgbClr val="2A2940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FFFFFF"/>
                          </a:solidFill>
                          <a:latin typeface="Consolas"/>
                        </a:rPr>
                        <a:t>S-02</a:t>
                      </a:r>
                    </a:p>
                  </a:txBody>
                  <a:tcPr marL="54864" marR="54864" marT="18288" marB="18288">
                    <a:solidFill>
                      <a:srgbClr val="36345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Consolas"/>
                        </a:rPr>
                        <a:t>Auditor</a:t>
                      </a:r>
                    </a:p>
                  </a:txBody>
                  <a:tcPr marL="54864" marR="54864" marT="18288" marB="18288">
                    <a:solidFill>
                      <a:srgbClr val="36345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Consolas"/>
                        </a:rPr>
                        <a:t>Hold</a:t>
                      </a:r>
                    </a:p>
                  </a:txBody>
                  <a:tcPr marL="54864" marR="54864" marT="18288" marB="18288">
                    <a:solidFill>
                      <a:srgbClr val="36345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Consolas"/>
                        </a:rPr>
                        <a:t>Repair</a:t>
                      </a:r>
                    </a:p>
                  </a:txBody>
                  <a:tcPr marL="54864" marR="54864" marT="18288" marB="18288">
                    <a:solidFill>
                      <a:srgbClr val="36345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Consolas"/>
                        </a:rPr>
                        <a:t>Fix</a:t>
                      </a:r>
                    </a:p>
                  </a:txBody>
                  <a:tcPr marL="54864" marR="54864" marT="18288" marB="18288">
                    <a:solidFill>
                      <a:srgbClr val="363453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FFFFFF"/>
                          </a:solidFill>
                          <a:latin typeface="Consolas"/>
                        </a:rPr>
                        <a:t>S-03</a:t>
                      </a:r>
                    </a:p>
                  </a:txBody>
                  <a:tcPr marL="54864" marR="54864" marT="18288" marB="18288">
                    <a:solidFill>
                      <a:srgbClr val="2A29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Consolas"/>
                        </a:rPr>
                        <a:t>Author</a:t>
                      </a:r>
                    </a:p>
                  </a:txBody>
                  <a:tcPr marL="54864" marR="54864" marT="18288" marB="18288">
                    <a:solidFill>
                      <a:srgbClr val="2A29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Consolas"/>
                        </a:rPr>
                        <a:t>Ready</a:t>
                      </a:r>
                    </a:p>
                  </a:txBody>
                  <a:tcPr marL="54864" marR="54864" marT="18288" marB="18288">
                    <a:solidFill>
                      <a:srgbClr val="2A29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Consolas"/>
                        </a:rPr>
                        <a:t>Pass</a:t>
                      </a:r>
                    </a:p>
                  </a:txBody>
                  <a:tcPr marL="54864" marR="54864" marT="18288" marB="18288">
                    <a:solidFill>
                      <a:srgbClr val="2A29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Consolas"/>
                        </a:rPr>
                        <a:t>Ship</a:t>
                      </a:r>
                    </a:p>
                  </a:txBody>
                  <a:tcPr marL="54864" marR="54864" marT="18288" marB="18288">
                    <a:solidFill>
                      <a:srgbClr val="2A2940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FFFFFF"/>
                          </a:solidFill>
                          <a:latin typeface="Consolas"/>
                        </a:rPr>
                        <a:t>S-04</a:t>
                      </a:r>
                    </a:p>
                  </a:txBody>
                  <a:tcPr marL="54864" marR="54864" marT="18288" marB="18288">
                    <a:solidFill>
                      <a:srgbClr val="36345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Consolas"/>
                        </a:rPr>
                        <a:t>Reviewer</a:t>
                      </a:r>
                    </a:p>
                  </a:txBody>
                  <a:tcPr marL="54864" marR="54864" marT="18288" marB="18288">
                    <a:solidFill>
                      <a:srgbClr val="36345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Consolas"/>
                        </a:rPr>
                        <a:t>Watch</a:t>
                      </a:r>
                    </a:p>
                  </a:txBody>
                  <a:tcPr marL="54864" marR="54864" marT="18288" marB="18288">
                    <a:solidFill>
                      <a:srgbClr val="36345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Consolas"/>
                        </a:rPr>
                        <a:t>Review</a:t>
                      </a:r>
                    </a:p>
                  </a:txBody>
                  <a:tcPr marL="54864" marR="54864" marT="18288" marB="18288">
                    <a:solidFill>
                      <a:srgbClr val="36345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Consolas"/>
                        </a:rPr>
                        <a:t>Check</a:t>
                      </a:r>
                    </a:p>
                  </a:txBody>
                  <a:tcPr marL="54864" marR="54864" marT="18288" marB="18288">
                    <a:solidFill>
                      <a:srgbClr val="363453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FFFFFF"/>
                          </a:solidFill>
                          <a:latin typeface="Consolas"/>
                        </a:rPr>
                        <a:t>S-05</a:t>
                      </a:r>
                    </a:p>
                  </a:txBody>
                  <a:tcPr marL="54864" marR="54864" marT="18288" marB="18288">
                    <a:solidFill>
                      <a:srgbClr val="2A29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Consolas"/>
                        </a:rPr>
                        <a:t>Auditor</a:t>
                      </a:r>
                    </a:p>
                  </a:txBody>
                  <a:tcPr marL="54864" marR="54864" marT="18288" marB="18288">
                    <a:solidFill>
                      <a:srgbClr val="2A29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Consolas"/>
                        </a:rPr>
                        <a:t>Hold</a:t>
                      </a:r>
                    </a:p>
                  </a:txBody>
                  <a:tcPr marL="54864" marR="54864" marT="18288" marB="18288">
                    <a:solidFill>
                      <a:srgbClr val="2A29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Consolas"/>
                        </a:rPr>
                        <a:t>Repair</a:t>
                      </a:r>
                    </a:p>
                  </a:txBody>
                  <a:tcPr marL="54864" marR="54864" marT="18288" marB="18288">
                    <a:solidFill>
                      <a:srgbClr val="2A29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Consolas"/>
                        </a:rPr>
                        <a:t>Fix</a:t>
                      </a:r>
                    </a:p>
                  </a:txBody>
                  <a:tcPr marL="54864" marR="54864" marT="18288" marB="18288">
                    <a:solidFill>
                      <a:srgbClr val="2A2940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FFFFFF"/>
                          </a:solidFill>
                          <a:latin typeface="Consolas"/>
                        </a:rPr>
                        <a:t>S-06</a:t>
                      </a:r>
                    </a:p>
                  </a:txBody>
                  <a:tcPr marL="54864" marR="54864" marT="18288" marB="18288">
                    <a:solidFill>
                      <a:srgbClr val="36345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Consolas"/>
                        </a:rPr>
                        <a:t>Author</a:t>
                      </a:r>
                    </a:p>
                  </a:txBody>
                  <a:tcPr marL="54864" marR="54864" marT="18288" marB="18288">
                    <a:solidFill>
                      <a:srgbClr val="36345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Consolas"/>
                        </a:rPr>
                        <a:t>Ready</a:t>
                      </a:r>
                    </a:p>
                  </a:txBody>
                  <a:tcPr marL="54864" marR="54864" marT="18288" marB="18288">
                    <a:solidFill>
                      <a:srgbClr val="36345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Consolas"/>
                        </a:rPr>
                        <a:t>Pass</a:t>
                      </a:r>
                    </a:p>
                  </a:txBody>
                  <a:tcPr marL="54864" marR="54864" marT="18288" marB="18288">
                    <a:solidFill>
                      <a:srgbClr val="36345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Consolas"/>
                        </a:rPr>
                        <a:t>Ship</a:t>
                      </a:r>
                    </a:p>
                  </a:txBody>
                  <a:tcPr marL="54864" marR="54864" marT="18288" marB="18288">
                    <a:solidFill>
                      <a:srgbClr val="363453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FFFFFF"/>
                          </a:solidFill>
                          <a:latin typeface="Consolas"/>
                        </a:rPr>
                        <a:t>S-07</a:t>
                      </a:r>
                    </a:p>
                  </a:txBody>
                  <a:tcPr marL="54864" marR="54864" marT="18288" marB="18288">
                    <a:solidFill>
                      <a:srgbClr val="2A29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Consolas"/>
                        </a:rPr>
                        <a:t>Reviewer</a:t>
                      </a:r>
                    </a:p>
                  </a:txBody>
                  <a:tcPr marL="54864" marR="54864" marT="18288" marB="18288">
                    <a:solidFill>
                      <a:srgbClr val="2A29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Consolas"/>
                        </a:rPr>
                        <a:t>Watch</a:t>
                      </a:r>
                    </a:p>
                  </a:txBody>
                  <a:tcPr marL="54864" marR="54864" marT="18288" marB="18288">
                    <a:solidFill>
                      <a:srgbClr val="2A29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Consolas"/>
                        </a:rPr>
                        <a:t>Review</a:t>
                      </a:r>
                    </a:p>
                  </a:txBody>
                  <a:tcPr marL="54864" marR="54864" marT="18288" marB="18288">
                    <a:solidFill>
                      <a:srgbClr val="2A29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Consolas"/>
                        </a:rPr>
                        <a:t>Check</a:t>
                      </a:r>
                    </a:p>
                  </a:txBody>
                  <a:tcPr marL="54864" marR="54864" marT="18288" marB="18288">
                    <a:solidFill>
                      <a:srgbClr val="2A2940"/>
                    </a:solidFill>
                  </a:tcPr>
                </a:tc>
              </a:tr>
            </a:tbl>
          </a:graphicData>
        </a:graphic>
      </p:graphicFrame>
      <p:sp>
        <p:nvSpPr>
          <p:cNvPr id="30" name="risk-dot-0"/>
          <p:cNvSpPr/>
          <p:nvPr/>
        </p:nvSpPr>
        <p:spPr>
          <a:xfrm>
            <a:off x="9308592" y="1746504"/>
            <a:ext cx="164592" cy="164592"/>
          </a:xfrm>
          <a:prstGeom prst="ellipse">
            <a:avLst/>
          </a:prstGeom>
          <a:solidFill>
            <a:srgbClr val="A594FF"/>
          </a:solidFill>
          <a:ln w="10160">
            <a:solidFill>
              <a:srgbClr val="A59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isk-dot-1"/>
          <p:cNvSpPr/>
          <p:nvPr/>
        </p:nvSpPr>
        <p:spPr>
          <a:xfrm>
            <a:off x="9308592" y="2276856"/>
            <a:ext cx="164592" cy="164592"/>
          </a:xfrm>
          <a:prstGeom prst="ellipse">
            <a:avLst/>
          </a:prstGeom>
          <a:solidFill>
            <a:srgbClr val="A594FF"/>
          </a:solidFill>
          <a:ln w="10160">
            <a:solidFill>
              <a:srgbClr val="A59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isk-dot-2"/>
          <p:cNvSpPr/>
          <p:nvPr/>
        </p:nvSpPr>
        <p:spPr>
          <a:xfrm>
            <a:off x="9308592" y="2807208"/>
            <a:ext cx="164592" cy="164592"/>
          </a:xfrm>
          <a:prstGeom prst="ellipse">
            <a:avLst/>
          </a:prstGeom>
          <a:solidFill>
            <a:srgbClr val="F5C542"/>
          </a:solidFill>
          <a:ln w="10160">
            <a:solidFill>
              <a:srgbClr val="F5C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isk-dot-3"/>
          <p:cNvSpPr/>
          <p:nvPr/>
        </p:nvSpPr>
        <p:spPr>
          <a:xfrm>
            <a:off x="9308592" y="3337560"/>
            <a:ext cx="164592" cy="164592"/>
          </a:xfrm>
          <a:prstGeom prst="ellipse">
            <a:avLst/>
          </a:prstGeom>
          <a:solidFill>
            <a:srgbClr val="A594FF"/>
          </a:solidFill>
          <a:ln w="10160">
            <a:solidFill>
              <a:srgbClr val="A59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isk-dot-4"/>
          <p:cNvSpPr/>
          <p:nvPr/>
        </p:nvSpPr>
        <p:spPr>
          <a:xfrm>
            <a:off x="9308592" y="3867912"/>
            <a:ext cx="164592" cy="164592"/>
          </a:xfrm>
          <a:prstGeom prst="ellipse">
            <a:avLst/>
          </a:prstGeom>
          <a:solidFill>
            <a:srgbClr val="6254E8"/>
          </a:solidFill>
          <a:ln w="10160">
            <a:solidFill>
              <a:srgbClr val="625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isk-dot-5"/>
          <p:cNvSpPr/>
          <p:nvPr/>
        </p:nvSpPr>
        <p:spPr>
          <a:xfrm>
            <a:off x="9308592" y="4398264"/>
            <a:ext cx="164592" cy="164592"/>
          </a:xfrm>
          <a:prstGeom prst="ellipse">
            <a:avLst/>
          </a:prstGeom>
          <a:solidFill>
            <a:srgbClr val="A594FF"/>
          </a:solidFill>
          <a:ln w="10160">
            <a:solidFill>
              <a:srgbClr val="A59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progress-fill"/>
          <p:cNvSpPr/>
          <p:nvPr/>
        </p:nvSpPr>
        <p:spPr>
          <a:xfrm>
            <a:off x="2249424" y="5687568"/>
            <a:ext cx="7406640" cy="384048"/>
          </a:xfrm>
          <a:prstGeom prst="roundRect">
            <a:avLst/>
          </a:prstGeom>
          <a:solidFill>
            <a:srgbClr val="7C6FFF"/>
          </a:solidFill>
          <a:ln w="10160">
            <a:solidFill>
              <a:srgbClr val="7C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profile-tag"/>
          <p:cNvSpPr txBox="1"/>
          <p:nvPr/>
        </p:nvSpPr>
        <p:spPr>
          <a:xfrm>
            <a:off x="457200" y="201168"/>
            <a:ext cx="768096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1" lang="en-US">
                <a:solidFill>
                  <a:srgbClr val="7C6FFF"/>
                </a:solidFill>
                <a:latin typeface="Consolas"/>
              </a:rPr>
              <a:t>V3 STRESS SUITE  ·  ISOMETRIC 3D FLAT  ·  CONTROL ROOM</a:t>
            </a:r>
          </a:p>
        </p:txBody>
      </p:sp>
      <p:sp>
        <p:nvSpPr>
          <p:cNvPr id="38" name="slide-index"/>
          <p:cNvSpPr txBox="1"/>
          <p:nvPr/>
        </p:nvSpPr>
        <p:spPr>
          <a:xfrm>
            <a:off x="10808208" y="201168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00" b="1" lang="en-US">
                <a:solidFill>
                  <a:srgbClr val="D7D4F0"/>
                </a:solidFill>
                <a:latin typeface="Consolas"/>
              </a:rPr>
              <a:t>41/60</a:t>
            </a:r>
          </a:p>
        </p:txBody>
      </p:sp>
      <p:sp>
        <p:nvSpPr>
          <p:cNvPr id="39" name="title"/>
          <p:cNvSpPr txBox="1"/>
          <p:nvPr/>
        </p:nvSpPr>
        <p:spPr>
          <a:xfrm>
            <a:off x="457200" y="484632"/>
            <a:ext cx="11274552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200" b="1" lang="en-US">
                <a:solidFill>
                  <a:srgbClr val="FFFFFF"/>
                </a:solidFill>
                <a:latin typeface="Arial"/>
              </a:rPr>
              <a:t>Control room layouts keep dense delivery signals governable</a:t>
            </a:r>
          </a:p>
        </p:txBody>
      </p:sp>
      <p:sp>
        <p:nvSpPr>
          <p:cNvPr id="40" name="footer"/>
          <p:cNvSpPr txBox="1"/>
          <p:nvPr/>
        </p:nvSpPr>
        <p:spPr>
          <a:xfrm>
            <a:off x="457200" y="6473952"/>
            <a:ext cx="1051560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0" lang="en-US">
                <a:solidFill>
                  <a:srgbClr val="D7D4F0"/>
                </a:solidFill>
                <a:latin typeface="Consolas"/>
              </a:rPr>
              <a:t>Native-object stress fixture · violet three-face isometric blocks and thin technical connectors · editable geometry and recorded style lock</a:t>
            </a:r>
          </a:p>
        </p:txBody>
      </p:sp>
      <p:sp>
        <p:nvSpPr>
          <p:cNvPr id="41" name="nav-title"/>
          <p:cNvSpPr txBox="1"/>
          <p:nvPr/>
        </p:nvSpPr>
        <p:spPr>
          <a:xfrm>
            <a:off x="667512" y="1298448"/>
            <a:ext cx="1078992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1" lang="en-US">
                <a:solidFill>
                  <a:srgbClr val="7C6FFF"/>
                </a:solidFill>
                <a:latin typeface="Consolas"/>
              </a:rPr>
              <a:t>CONTROL
PLANES</a:t>
            </a:r>
          </a:p>
        </p:txBody>
      </p:sp>
      <p:sp>
        <p:nvSpPr>
          <p:cNvPr id="42" name="nav-label-0"/>
          <p:cNvSpPr txBox="1"/>
          <p:nvPr/>
        </p:nvSpPr>
        <p:spPr>
          <a:xfrm>
            <a:off x="749808" y="1965960"/>
            <a:ext cx="932688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1" lang="en-US">
                <a:solidFill>
                  <a:srgbClr val="111111"/>
                </a:solidFill>
                <a:latin typeface="Consolas"/>
              </a:rPr>
              <a:t>INBOX</a:t>
            </a:r>
          </a:p>
        </p:txBody>
      </p:sp>
      <p:sp>
        <p:nvSpPr>
          <p:cNvPr id="43" name="nav-label-1"/>
          <p:cNvSpPr txBox="1"/>
          <p:nvPr/>
        </p:nvSpPr>
        <p:spPr>
          <a:xfrm>
            <a:off x="749808" y="2478024"/>
            <a:ext cx="932688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0" lang="en-US">
                <a:solidFill>
                  <a:srgbClr val="FFFFFF"/>
                </a:solidFill>
                <a:latin typeface="Consolas"/>
              </a:rPr>
              <a:t>SIGNALS</a:t>
            </a:r>
          </a:p>
        </p:txBody>
      </p:sp>
      <p:sp>
        <p:nvSpPr>
          <p:cNvPr id="44" name="nav-label-2"/>
          <p:cNvSpPr txBox="1"/>
          <p:nvPr/>
        </p:nvSpPr>
        <p:spPr>
          <a:xfrm>
            <a:off x="749808" y="2990088"/>
            <a:ext cx="932688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0" lang="en-US">
                <a:solidFill>
                  <a:srgbClr val="FFFFFF"/>
                </a:solidFill>
                <a:latin typeface="Consolas"/>
              </a:rPr>
              <a:t>EVIDENCE</a:t>
            </a:r>
          </a:p>
        </p:txBody>
      </p:sp>
      <p:sp>
        <p:nvSpPr>
          <p:cNvPr id="45" name="nav-label-3"/>
          <p:cNvSpPr txBox="1"/>
          <p:nvPr/>
        </p:nvSpPr>
        <p:spPr>
          <a:xfrm>
            <a:off x="749808" y="3502152"/>
            <a:ext cx="932688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0" lang="en-US">
                <a:solidFill>
                  <a:srgbClr val="FFFFFF"/>
                </a:solidFill>
                <a:latin typeface="Consolas"/>
              </a:rPr>
              <a:t>POLICY</a:t>
            </a:r>
          </a:p>
        </p:txBody>
      </p:sp>
      <p:sp>
        <p:nvSpPr>
          <p:cNvPr id="46" name="nav-label-4"/>
          <p:cNvSpPr txBox="1"/>
          <p:nvPr/>
        </p:nvSpPr>
        <p:spPr>
          <a:xfrm>
            <a:off x="749808" y="4014215"/>
            <a:ext cx="932688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0" lang="en-US">
                <a:solidFill>
                  <a:srgbClr val="FFFFFF"/>
                </a:solidFill>
                <a:latin typeface="Consolas"/>
              </a:rPr>
              <a:t>REPAIR</a:t>
            </a:r>
          </a:p>
        </p:txBody>
      </p:sp>
      <p:sp>
        <p:nvSpPr>
          <p:cNvPr id="47" name="nav-label-5"/>
          <p:cNvSpPr txBox="1"/>
          <p:nvPr/>
        </p:nvSpPr>
        <p:spPr>
          <a:xfrm>
            <a:off x="749808" y="4526280"/>
            <a:ext cx="932688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0" lang="en-US">
                <a:solidFill>
                  <a:srgbClr val="FFFFFF"/>
                </a:solidFill>
                <a:latin typeface="Consolas"/>
              </a:rPr>
              <a:t>RELEASE</a:t>
            </a:r>
          </a:p>
        </p:txBody>
      </p:sp>
      <p:sp>
        <p:nvSpPr>
          <p:cNvPr id="48" name="nav-label-6"/>
          <p:cNvSpPr txBox="1"/>
          <p:nvPr/>
        </p:nvSpPr>
        <p:spPr>
          <a:xfrm>
            <a:off x="749808" y="5038344"/>
            <a:ext cx="932688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0" lang="en-US">
                <a:solidFill>
                  <a:srgbClr val="FFFFFF"/>
                </a:solidFill>
                <a:latin typeface="Consolas"/>
              </a:rPr>
              <a:t>ARCHIVE</a:t>
            </a:r>
          </a:p>
        </p:txBody>
      </p:sp>
      <p:sp>
        <p:nvSpPr>
          <p:cNvPr id="49" name="metric-v-0"/>
          <p:cNvSpPr txBox="1"/>
          <p:nvPr/>
        </p:nvSpPr>
        <p:spPr>
          <a:xfrm>
            <a:off x="2432304" y="1234440"/>
            <a:ext cx="80467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lang="en-US">
                <a:solidFill>
                  <a:srgbClr val="FFFFFF"/>
                </a:solidFill>
                <a:latin typeface="Arial"/>
              </a:rPr>
              <a:t>48</a:t>
            </a:r>
          </a:p>
        </p:txBody>
      </p:sp>
      <p:sp>
        <p:nvSpPr>
          <p:cNvPr id="50" name="metric-l-0"/>
          <p:cNvSpPr txBox="1"/>
          <p:nvPr/>
        </p:nvSpPr>
        <p:spPr>
          <a:xfrm>
            <a:off x="2359152" y="1581912"/>
            <a:ext cx="932688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D7D4F0"/>
                </a:solidFill>
                <a:latin typeface="Consolas"/>
              </a:rPr>
              <a:t>WORK</a:t>
            </a:r>
          </a:p>
        </p:txBody>
      </p:sp>
      <p:sp>
        <p:nvSpPr>
          <p:cNvPr id="51" name="metric-v-1"/>
          <p:cNvSpPr txBox="1"/>
          <p:nvPr/>
        </p:nvSpPr>
        <p:spPr>
          <a:xfrm>
            <a:off x="3739896" y="1234440"/>
            <a:ext cx="80467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lang="en-US">
                <a:solidFill>
                  <a:srgbClr val="FFFFFF"/>
                </a:solidFill>
                <a:latin typeface="Arial"/>
              </a:rPr>
              <a:t>06</a:t>
            </a:r>
          </a:p>
        </p:txBody>
      </p:sp>
      <p:sp>
        <p:nvSpPr>
          <p:cNvPr id="52" name="metric-l-1"/>
          <p:cNvSpPr txBox="1"/>
          <p:nvPr/>
        </p:nvSpPr>
        <p:spPr>
          <a:xfrm>
            <a:off x="3666744" y="1581912"/>
            <a:ext cx="932688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D7D4F0"/>
                </a:solidFill>
                <a:latin typeface="Consolas"/>
              </a:rPr>
              <a:t>FLAGS</a:t>
            </a:r>
          </a:p>
        </p:txBody>
      </p:sp>
      <p:sp>
        <p:nvSpPr>
          <p:cNvPr id="53" name="metric-v-2"/>
          <p:cNvSpPr txBox="1"/>
          <p:nvPr/>
        </p:nvSpPr>
        <p:spPr>
          <a:xfrm>
            <a:off x="5047488" y="1234440"/>
            <a:ext cx="80467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lang="en-US">
                <a:solidFill>
                  <a:srgbClr val="FFFFFF"/>
                </a:solidFill>
                <a:latin typeface="Arial"/>
              </a:rPr>
              <a:t>31</a:t>
            </a:r>
          </a:p>
        </p:txBody>
      </p:sp>
      <p:sp>
        <p:nvSpPr>
          <p:cNvPr id="54" name="metric-l-2"/>
          <p:cNvSpPr txBox="1"/>
          <p:nvPr/>
        </p:nvSpPr>
        <p:spPr>
          <a:xfrm>
            <a:off x="4974336" y="1581912"/>
            <a:ext cx="932688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D7D4F0"/>
                </a:solidFill>
                <a:latin typeface="Consolas"/>
              </a:rPr>
              <a:t>READY</a:t>
            </a:r>
          </a:p>
        </p:txBody>
      </p:sp>
      <p:sp>
        <p:nvSpPr>
          <p:cNvPr id="55" name="metric-v-3"/>
          <p:cNvSpPr txBox="1"/>
          <p:nvPr/>
        </p:nvSpPr>
        <p:spPr>
          <a:xfrm>
            <a:off x="6355080" y="1234440"/>
            <a:ext cx="80467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lang="en-US">
                <a:solidFill>
                  <a:srgbClr val="FFFFFF"/>
                </a:solidFill>
                <a:latin typeface="Arial"/>
              </a:rPr>
              <a:t>04</a:t>
            </a:r>
          </a:p>
        </p:txBody>
      </p:sp>
      <p:sp>
        <p:nvSpPr>
          <p:cNvPr id="56" name="metric-l-3"/>
          <p:cNvSpPr txBox="1"/>
          <p:nvPr/>
        </p:nvSpPr>
        <p:spPr>
          <a:xfrm>
            <a:off x="6281928" y="1581912"/>
            <a:ext cx="932688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D7D4F0"/>
                </a:solidFill>
                <a:latin typeface="Consolas"/>
              </a:rPr>
              <a:t>HOLD</a:t>
            </a:r>
          </a:p>
        </p:txBody>
      </p:sp>
      <p:sp>
        <p:nvSpPr>
          <p:cNvPr id="57" name="metric-v-4"/>
          <p:cNvSpPr txBox="1"/>
          <p:nvPr/>
        </p:nvSpPr>
        <p:spPr>
          <a:xfrm>
            <a:off x="7662672" y="1234440"/>
            <a:ext cx="80467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lang="en-US">
                <a:solidFill>
                  <a:srgbClr val="FFFFFF"/>
                </a:solidFill>
                <a:latin typeface="Arial"/>
              </a:rPr>
              <a:t>12</a:t>
            </a:r>
          </a:p>
        </p:txBody>
      </p:sp>
      <p:sp>
        <p:nvSpPr>
          <p:cNvPr id="58" name="metric-l-4"/>
          <p:cNvSpPr txBox="1"/>
          <p:nvPr/>
        </p:nvSpPr>
        <p:spPr>
          <a:xfrm>
            <a:off x="7589520" y="1581912"/>
            <a:ext cx="932688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D7D4F0"/>
                </a:solidFill>
                <a:latin typeface="Consolas"/>
              </a:rPr>
              <a:t>STYLE</a:t>
            </a:r>
          </a:p>
        </p:txBody>
      </p:sp>
      <p:sp>
        <p:nvSpPr>
          <p:cNvPr id="59" name="risk-title"/>
          <p:cNvSpPr txBox="1"/>
          <p:nvPr/>
        </p:nvSpPr>
        <p:spPr>
          <a:xfrm>
            <a:off x="9308592" y="1298448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1" lang="en-US">
                <a:solidFill>
                  <a:srgbClr val="7C6FFF"/>
                </a:solidFill>
                <a:latin typeface="Consolas"/>
              </a:rPr>
              <a:t>LIVE REVIEW QUEUE</a:t>
            </a:r>
          </a:p>
        </p:txBody>
      </p:sp>
      <p:sp>
        <p:nvSpPr>
          <p:cNvPr id="60" name="risk-label-0"/>
          <p:cNvSpPr txBox="1"/>
          <p:nvPr/>
        </p:nvSpPr>
        <p:spPr>
          <a:xfrm>
            <a:off x="9619488" y="1691640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50" b="1" lang="en-US">
                <a:solidFill>
                  <a:srgbClr val="FFFFFF"/>
                </a:solidFill>
                <a:latin typeface="Consolas"/>
              </a:rPr>
              <a:t>Scope stable</a:t>
            </a:r>
          </a:p>
        </p:txBody>
      </p:sp>
      <p:sp>
        <p:nvSpPr>
          <p:cNvPr id="61" name="risk-state-0"/>
          <p:cNvSpPr txBox="1"/>
          <p:nvPr/>
        </p:nvSpPr>
        <p:spPr>
          <a:xfrm>
            <a:off x="10972800" y="169164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00" b="1" lang="en-US">
                <a:solidFill>
                  <a:srgbClr val="A594FF"/>
                </a:solidFill>
                <a:latin typeface="Consolas"/>
              </a:rPr>
              <a:t>PASS</a:t>
            </a:r>
          </a:p>
        </p:txBody>
      </p:sp>
      <p:sp>
        <p:nvSpPr>
          <p:cNvPr id="62" name="risk-label-1"/>
          <p:cNvSpPr txBox="1"/>
          <p:nvPr/>
        </p:nvSpPr>
        <p:spPr>
          <a:xfrm>
            <a:off x="9619488" y="2221992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50" b="1" lang="en-US">
                <a:solidFill>
                  <a:srgbClr val="FFFFFF"/>
                </a:solidFill>
                <a:latin typeface="Consolas"/>
              </a:rPr>
              <a:t>Text capacity</a:t>
            </a:r>
          </a:p>
        </p:txBody>
      </p:sp>
      <p:sp>
        <p:nvSpPr>
          <p:cNvPr id="63" name="risk-state-1"/>
          <p:cNvSpPr txBox="1"/>
          <p:nvPr/>
        </p:nvSpPr>
        <p:spPr>
          <a:xfrm>
            <a:off x="10972800" y="2221992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00" b="1" lang="en-US">
                <a:solidFill>
                  <a:srgbClr val="A594FF"/>
                </a:solidFill>
                <a:latin typeface="Consolas"/>
              </a:rPr>
              <a:t>PASS</a:t>
            </a:r>
          </a:p>
        </p:txBody>
      </p:sp>
      <p:sp>
        <p:nvSpPr>
          <p:cNvPr id="64" name="risk-label-2"/>
          <p:cNvSpPr txBox="1"/>
          <p:nvPr/>
        </p:nvSpPr>
        <p:spPr>
          <a:xfrm>
            <a:off x="9619488" y="2752344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50" b="1" lang="en-US">
                <a:solidFill>
                  <a:srgbClr val="FFFFFF"/>
                </a:solidFill>
                <a:latin typeface="Consolas"/>
              </a:rPr>
              <a:t>Contrast check</a:t>
            </a:r>
          </a:p>
        </p:txBody>
      </p:sp>
      <p:sp>
        <p:nvSpPr>
          <p:cNvPr id="65" name="risk-state-2"/>
          <p:cNvSpPr txBox="1"/>
          <p:nvPr/>
        </p:nvSpPr>
        <p:spPr>
          <a:xfrm>
            <a:off x="10972800" y="275234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00" b="1" lang="en-US">
                <a:solidFill>
                  <a:srgbClr val="F5C542"/>
                </a:solidFill>
                <a:latin typeface="Consolas"/>
              </a:rPr>
              <a:t>WATCH</a:t>
            </a:r>
          </a:p>
        </p:txBody>
      </p:sp>
      <p:sp>
        <p:nvSpPr>
          <p:cNvPr id="66" name="risk-label-3"/>
          <p:cNvSpPr txBox="1"/>
          <p:nvPr/>
        </p:nvSpPr>
        <p:spPr>
          <a:xfrm>
            <a:off x="9619488" y="3282696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50" b="1" lang="en-US">
                <a:solidFill>
                  <a:srgbClr val="FFFFFF"/>
                </a:solidFill>
                <a:latin typeface="Consolas"/>
              </a:rPr>
              <a:t>Table fit</a:t>
            </a:r>
          </a:p>
        </p:txBody>
      </p:sp>
      <p:sp>
        <p:nvSpPr>
          <p:cNvPr id="67" name="risk-state-3"/>
          <p:cNvSpPr txBox="1"/>
          <p:nvPr/>
        </p:nvSpPr>
        <p:spPr>
          <a:xfrm>
            <a:off x="10972800" y="3282696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00" b="1" lang="en-US">
                <a:solidFill>
                  <a:srgbClr val="A594FF"/>
                </a:solidFill>
                <a:latin typeface="Consolas"/>
              </a:rPr>
              <a:t>PASS</a:t>
            </a:r>
          </a:p>
        </p:txBody>
      </p:sp>
      <p:sp>
        <p:nvSpPr>
          <p:cNvPr id="68" name="risk-label-4"/>
          <p:cNvSpPr txBox="1"/>
          <p:nvPr/>
        </p:nvSpPr>
        <p:spPr>
          <a:xfrm>
            <a:off x="9619488" y="3813048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50" b="1" lang="en-US">
                <a:solidFill>
                  <a:srgbClr val="FFFFFF"/>
                </a:solidFill>
                <a:latin typeface="Consolas"/>
              </a:rPr>
              <a:t>Read order</a:t>
            </a:r>
          </a:p>
        </p:txBody>
      </p:sp>
      <p:sp>
        <p:nvSpPr>
          <p:cNvPr id="69" name="risk-state-4"/>
          <p:cNvSpPr txBox="1"/>
          <p:nvPr/>
        </p:nvSpPr>
        <p:spPr>
          <a:xfrm>
            <a:off x="10972800" y="3813048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00" b="1" lang="en-US">
                <a:solidFill>
                  <a:srgbClr val="6254E8"/>
                </a:solidFill>
                <a:latin typeface="Consolas"/>
              </a:rPr>
              <a:t>PASS</a:t>
            </a:r>
          </a:p>
        </p:txBody>
      </p:sp>
      <p:sp>
        <p:nvSpPr>
          <p:cNvPr id="70" name="risk-label-5"/>
          <p:cNvSpPr txBox="1"/>
          <p:nvPr/>
        </p:nvSpPr>
        <p:spPr>
          <a:xfrm>
            <a:off x="9619488" y="4343400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50" b="1" lang="en-US">
                <a:solidFill>
                  <a:srgbClr val="FFFFFF"/>
                </a:solidFill>
                <a:latin typeface="Consolas"/>
              </a:rPr>
              <a:t>Package</a:t>
            </a:r>
          </a:p>
        </p:txBody>
      </p:sp>
      <p:sp>
        <p:nvSpPr>
          <p:cNvPr id="71" name="risk-state-5"/>
          <p:cNvSpPr txBox="1"/>
          <p:nvPr/>
        </p:nvSpPr>
        <p:spPr>
          <a:xfrm>
            <a:off x="10972800" y="434340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00" b="1" lang="en-US">
                <a:solidFill>
                  <a:srgbClr val="A594FF"/>
                </a:solidFill>
                <a:latin typeface="Consolas"/>
              </a:rPr>
              <a:t>PASS</a:t>
            </a:r>
          </a:p>
        </p:txBody>
      </p:sp>
      <p:sp>
        <p:nvSpPr>
          <p:cNvPr id="72" name="progress-label"/>
          <p:cNvSpPr txBox="1"/>
          <p:nvPr/>
        </p:nvSpPr>
        <p:spPr>
          <a:xfrm>
            <a:off x="2468880" y="5788152"/>
            <a:ext cx="886968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50" b="1" lang="en-US">
                <a:solidFill>
                  <a:srgbClr val="111111"/>
                </a:solidFill>
                <a:latin typeface="Consolas"/>
              </a:rPr>
              <a:t>Stress workload: 78% complete · 12 profiles locked · 0 geometry regressions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2E"/>
          </a:solidFill>
          <a:ln w="10160">
            <a:solidFill>
              <a:srgbClr val="1E1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-top"/>
          <p:cNvSpPr/>
          <p:nvPr/>
        </p:nvSpPr>
        <p:spPr>
          <a:xfrm>
            <a:off x="8732520" y="4297680"/>
            <a:ext cx="1371600" cy="640080"/>
          </a:xfrm>
          <a:prstGeom prst="rect">
            <a:avLst/>
          </a:prstGeom>
          <a:solidFill>
            <a:srgbClr val="A594FF"/>
          </a:solidFill>
          <a:ln w="10160">
            <a:solidFill>
              <a:srgbClr val="A59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-left"/>
          <p:cNvSpPr/>
          <p:nvPr/>
        </p:nvSpPr>
        <p:spPr>
          <a:xfrm>
            <a:off x="8732520" y="4937760"/>
            <a:ext cx="685800" cy="502920"/>
          </a:xfrm>
          <a:prstGeom prst="rect">
            <a:avLst/>
          </a:prstGeom>
          <a:solidFill>
            <a:srgbClr val="4A3FCC"/>
          </a:solidFill>
          <a:ln w="10160">
            <a:solidFill>
              <a:srgbClr val="4A3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so-right"/>
          <p:cNvSpPr/>
          <p:nvPr/>
        </p:nvSpPr>
        <p:spPr>
          <a:xfrm>
            <a:off x="9418320" y="4937760"/>
            <a:ext cx="685800" cy="502920"/>
          </a:xfrm>
          <a:prstGeom prst="rect">
            <a:avLst/>
          </a:prstGeom>
          <a:solidFill>
            <a:srgbClr val="7C6FFF"/>
          </a:solidFill>
          <a:ln w="10160">
            <a:solidFill>
              <a:srgbClr val="7C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op-band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7C6FFF"/>
          </a:solidFill>
          <a:ln w="10160">
            <a:solidFill>
              <a:srgbClr val="7C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mesh-shell"/>
          <p:cNvSpPr/>
          <p:nvPr/>
        </p:nvSpPr>
        <p:spPr>
          <a:xfrm>
            <a:off x="457200" y="1078992"/>
            <a:ext cx="7360920" cy="5029200"/>
          </a:xfrm>
          <a:prstGeom prst="rect">
            <a:avLst/>
          </a:prstGeom>
          <a:solidFill>
            <a:srgbClr val="363453"/>
          </a:solidFill>
          <a:ln w="10160">
            <a:solidFill>
              <a:srgbClr val="4A3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mesh-rail-shell"/>
          <p:cNvSpPr/>
          <p:nvPr/>
        </p:nvSpPr>
        <p:spPr>
          <a:xfrm>
            <a:off x="8092440" y="1078992"/>
            <a:ext cx="3639312" cy="5029200"/>
          </a:xfrm>
          <a:prstGeom prst="rect">
            <a:avLst/>
          </a:prstGeom>
          <a:solidFill>
            <a:srgbClr val="2A2940"/>
          </a:solidFill>
          <a:ln w="10160">
            <a:solidFill>
              <a:srgbClr val="4A3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mesh-accent"/>
          <p:cNvSpPr/>
          <p:nvPr/>
        </p:nvSpPr>
        <p:spPr>
          <a:xfrm>
            <a:off x="457200" y="1078992"/>
            <a:ext cx="73152" cy="5029200"/>
          </a:xfrm>
          <a:prstGeom prst="rect">
            <a:avLst/>
          </a:prstGeom>
          <a:solidFill>
            <a:srgbClr val="7C6FFF"/>
          </a:solidFill>
          <a:ln w="10160">
            <a:solidFill>
              <a:srgbClr val="7C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mesh-edge-0"/>
          <p:cNvCxnSpPr/>
          <p:nvPr/>
        </p:nvCxnSpPr>
        <p:spPr>
          <a:xfrm flipV="1">
            <a:off x="1618488" y="1920240"/>
            <a:ext cx="1828800" cy="320040"/>
          </a:xfrm>
          <a:prstGeom prst="line">
            <a:avLst/>
          </a:prstGeom>
          <a:ln w="13970">
            <a:solidFill>
              <a:srgbClr val="4A3F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mesh-edge-1"/>
          <p:cNvCxnSpPr/>
          <p:nvPr/>
        </p:nvCxnSpPr>
        <p:spPr>
          <a:xfrm>
            <a:off x="3447288" y="1920240"/>
            <a:ext cx="1920240" cy="320040"/>
          </a:xfrm>
          <a:prstGeom prst="line">
            <a:avLst/>
          </a:prstGeom>
          <a:ln w="13970">
            <a:solidFill>
              <a:srgbClr val="4A3F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mesh-edge-2"/>
          <p:cNvCxnSpPr/>
          <p:nvPr/>
        </p:nvCxnSpPr>
        <p:spPr>
          <a:xfrm>
            <a:off x="1618488" y="2240280"/>
            <a:ext cx="868680" cy="1325880"/>
          </a:xfrm>
          <a:prstGeom prst="line">
            <a:avLst/>
          </a:prstGeom>
          <a:ln w="13970">
            <a:solidFill>
              <a:srgbClr val="4A3F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mesh-edge-3"/>
          <p:cNvCxnSpPr/>
          <p:nvPr/>
        </p:nvCxnSpPr>
        <p:spPr>
          <a:xfrm flipH="1">
            <a:off x="2487168" y="1920240"/>
            <a:ext cx="960120" cy="1645920"/>
          </a:xfrm>
          <a:prstGeom prst="line">
            <a:avLst/>
          </a:prstGeom>
          <a:ln w="13970">
            <a:solidFill>
              <a:srgbClr val="4A3F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mesh-edge-4"/>
          <p:cNvCxnSpPr/>
          <p:nvPr/>
        </p:nvCxnSpPr>
        <p:spPr>
          <a:xfrm>
            <a:off x="3447288" y="1920240"/>
            <a:ext cx="1005840" cy="1307592"/>
          </a:xfrm>
          <a:prstGeom prst="line">
            <a:avLst/>
          </a:prstGeom>
          <a:ln w="13970">
            <a:solidFill>
              <a:srgbClr val="4A3F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mesh-edge-5"/>
          <p:cNvCxnSpPr/>
          <p:nvPr/>
        </p:nvCxnSpPr>
        <p:spPr>
          <a:xfrm flipH="1">
            <a:off x="4453128" y="2240280"/>
            <a:ext cx="914400" cy="987552"/>
          </a:xfrm>
          <a:prstGeom prst="line">
            <a:avLst/>
          </a:prstGeom>
          <a:ln w="13970">
            <a:solidFill>
              <a:srgbClr val="4A3F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mesh-edge-6"/>
          <p:cNvCxnSpPr/>
          <p:nvPr/>
        </p:nvCxnSpPr>
        <p:spPr>
          <a:xfrm>
            <a:off x="5367528" y="2240280"/>
            <a:ext cx="1005840" cy="1325880"/>
          </a:xfrm>
          <a:prstGeom prst="line">
            <a:avLst/>
          </a:prstGeom>
          <a:ln w="13970">
            <a:solidFill>
              <a:srgbClr val="4A3F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mesh-edge-7"/>
          <p:cNvCxnSpPr/>
          <p:nvPr/>
        </p:nvCxnSpPr>
        <p:spPr>
          <a:xfrm flipV="1">
            <a:off x="2487168" y="3227832"/>
            <a:ext cx="1965960" cy="338328"/>
          </a:xfrm>
          <a:prstGeom prst="line">
            <a:avLst/>
          </a:prstGeom>
          <a:ln w="13970">
            <a:solidFill>
              <a:srgbClr val="4A3F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mesh-edge-8"/>
          <p:cNvCxnSpPr/>
          <p:nvPr/>
        </p:nvCxnSpPr>
        <p:spPr>
          <a:xfrm>
            <a:off x="4453128" y="3227832"/>
            <a:ext cx="1920240" cy="338328"/>
          </a:xfrm>
          <a:prstGeom prst="line">
            <a:avLst/>
          </a:prstGeom>
          <a:ln w="13970">
            <a:solidFill>
              <a:srgbClr val="4A3F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mesh-edge-9"/>
          <p:cNvCxnSpPr/>
          <p:nvPr/>
        </p:nvCxnSpPr>
        <p:spPr>
          <a:xfrm>
            <a:off x="2487168" y="3566160"/>
            <a:ext cx="960120" cy="1325880"/>
          </a:xfrm>
          <a:prstGeom prst="line">
            <a:avLst/>
          </a:prstGeom>
          <a:ln w="13970">
            <a:solidFill>
              <a:srgbClr val="4A3F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mesh-edge-10"/>
          <p:cNvCxnSpPr/>
          <p:nvPr/>
        </p:nvCxnSpPr>
        <p:spPr>
          <a:xfrm flipH="1">
            <a:off x="3447288" y="3227832"/>
            <a:ext cx="1005840" cy="1664208"/>
          </a:xfrm>
          <a:prstGeom prst="line">
            <a:avLst/>
          </a:prstGeom>
          <a:ln w="13970">
            <a:solidFill>
              <a:srgbClr val="4A3F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mesh-edge-11"/>
          <p:cNvCxnSpPr/>
          <p:nvPr/>
        </p:nvCxnSpPr>
        <p:spPr>
          <a:xfrm>
            <a:off x="4453128" y="3227832"/>
            <a:ext cx="914400" cy="1664208"/>
          </a:xfrm>
          <a:prstGeom prst="line">
            <a:avLst/>
          </a:prstGeom>
          <a:ln w="13970">
            <a:solidFill>
              <a:srgbClr val="4A3F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mesh-edge-12"/>
          <p:cNvCxnSpPr/>
          <p:nvPr/>
        </p:nvCxnSpPr>
        <p:spPr>
          <a:xfrm flipH="1">
            <a:off x="5367528" y="3566160"/>
            <a:ext cx="1005840" cy="1325880"/>
          </a:xfrm>
          <a:prstGeom prst="line">
            <a:avLst/>
          </a:prstGeom>
          <a:ln w="13970">
            <a:solidFill>
              <a:srgbClr val="4A3F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mesh-edge-13"/>
          <p:cNvCxnSpPr/>
          <p:nvPr/>
        </p:nvCxnSpPr>
        <p:spPr>
          <a:xfrm>
            <a:off x="3447288" y="4892040"/>
            <a:ext cx="1920240" cy="0"/>
          </a:xfrm>
          <a:prstGeom prst="line">
            <a:avLst/>
          </a:prstGeom>
          <a:ln w="13970">
            <a:solidFill>
              <a:srgbClr val="4A3F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mesh-rail-accent"/>
          <p:cNvSpPr/>
          <p:nvPr/>
        </p:nvSpPr>
        <p:spPr>
          <a:xfrm>
            <a:off x="8092440" y="1078992"/>
            <a:ext cx="73152" cy="5029200"/>
          </a:xfrm>
          <a:prstGeom prst="rect">
            <a:avLst/>
          </a:prstGeom>
          <a:solidFill>
            <a:srgbClr val="7C6FFF"/>
          </a:solidFill>
          <a:ln w="10160">
            <a:solidFill>
              <a:srgbClr val="7C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trace-line-0"/>
          <p:cNvCxnSpPr/>
          <p:nvPr/>
        </p:nvCxnSpPr>
        <p:spPr>
          <a:xfrm>
            <a:off x="8577072" y="2029968"/>
            <a:ext cx="0" cy="164592"/>
          </a:xfrm>
          <a:prstGeom prst="line">
            <a:avLst/>
          </a:prstGeom>
          <a:ln w="13970">
            <a:solidFill>
              <a:srgbClr val="7C6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trace-line-1"/>
          <p:cNvCxnSpPr/>
          <p:nvPr/>
        </p:nvCxnSpPr>
        <p:spPr>
          <a:xfrm>
            <a:off x="8577072" y="2596896"/>
            <a:ext cx="0" cy="164592"/>
          </a:xfrm>
          <a:prstGeom prst="line">
            <a:avLst/>
          </a:prstGeom>
          <a:ln w="13970">
            <a:solidFill>
              <a:srgbClr val="A59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trace-line-2"/>
          <p:cNvCxnSpPr/>
          <p:nvPr/>
        </p:nvCxnSpPr>
        <p:spPr>
          <a:xfrm>
            <a:off x="8577072" y="3163824"/>
            <a:ext cx="0" cy="164592"/>
          </a:xfrm>
          <a:prstGeom prst="line">
            <a:avLst/>
          </a:prstGeom>
          <a:ln w="13970">
            <a:solidFill>
              <a:srgbClr val="625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trace-line-3"/>
          <p:cNvCxnSpPr/>
          <p:nvPr/>
        </p:nvCxnSpPr>
        <p:spPr>
          <a:xfrm>
            <a:off x="8577072" y="3730752"/>
            <a:ext cx="0" cy="164592"/>
          </a:xfrm>
          <a:prstGeom prst="line">
            <a:avLst/>
          </a:prstGeom>
          <a:ln w="13970">
            <a:solidFill>
              <a:srgbClr val="F5C5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trace-line-4"/>
          <p:cNvCxnSpPr/>
          <p:nvPr/>
        </p:nvCxnSpPr>
        <p:spPr>
          <a:xfrm>
            <a:off x="8577072" y="4297680"/>
            <a:ext cx="0" cy="164592"/>
          </a:xfrm>
          <a:prstGeom prst="line">
            <a:avLst/>
          </a:prstGeom>
          <a:ln w="13970">
            <a:solidFill>
              <a:srgbClr val="A59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trace-line-5"/>
          <p:cNvCxnSpPr/>
          <p:nvPr/>
        </p:nvCxnSpPr>
        <p:spPr>
          <a:xfrm>
            <a:off x="8577072" y="4864608"/>
            <a:ext cx="0" cy="164592"/>
          </a:xfrm>
          <a:prstGeom prst="line">
            <a:avLst/>
          </a:prstGeom>
          <a:ln w="13970">
            <a:solidFill>
              <a:srgbClr val="FF6B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mesh-node-0"/>
          <p:cNvSpPr/>
          <p:nvPr/>
        </p:nvSpPr>
        <p:spPr>
          <a:xfrm>
            <a:off x="1051560" y="1920240"/>
            <a:ext cx="1143000" cy="640080"/>
          </a:xfrm>
          <a:prstGeom prst="roundRect">
            <a:avLst/>
          </a:prstGeom>
          <a:solidFill>
            <a:srgbClr val="7C6FFF"/>
          </a:solidFill>
          <a:ln w="10160">
            <a:solidFill>
              <a:srgbClr val="7C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mesh-node-1"/>
          <p:cNvSpPr/>
          <p:nvPr/>
        </p:nvSpPr>
        <p:spPr>
          <a:xfrm>
            <a:off x="2880360" y="1600200"/>
            <a:ext cx="1143000" cy="640080"/>
          </a:xfrm>
          <a:prstGeom prst="roundRect">
            <a:avLst/>
          </a:prstGeom>
          <a:solidFill>
            <a:srgbClr val="A594FF"/>
          </a:solidFill>
          <a:ln w="10160">
            <a:solidFill>
              <a:srgbClr val="A59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mesh-node-2"/>
          <p:cNvSpPr/>
          <p:nvPr/>
        </p:nvSpPr>
        <p:spPr>
          <a:xfrm>
            <a:off x="4800600" y="1920240"/>
            <a:ext cx="1143000" cy="640080"/>
          </a:xfrm>
          <a:prstGeom prst="roundRect">
            <a:avLst/>
          </a:prstGeom>
          <a:solidFill>
            <a:srgbClr val="6254E8"/>
          </a:solidFill>
          <a:ln w="10160">
            <a:solidFill>
              <a:srgbClr val="625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mesh-node-3"/>
          <p:cNvSpPr/>
          <p:nvPr/>
        </p:nvSpPr>
        <p:spPr>
          <a:xfrm>
            <a:off x="1920240" y="3246120"/>
            <a:ext cx="1143000" cy="640080"/>
          </a:xfrm>
          <a:prstGeom prst="roundRect">
            <a:avLst/>
          </a:prstGeom>
          <a:solidFill>
            <a:srgbClr val="A594FF"/>
          </a:solidFill>
          <a:ln w="10160">
            <a:solidFill>
              <a:srgbClr val="A59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mesh-node-4"/>
          <p:cNvSpPr/>
          <p:nvPr/>
        </p:nvSpPr>
        <p:spPr>
          <a:xfrm>
            <a:off x="3886200" y="2907792"/>
            <a:ext cx="1143000" cy="640080"/>
          </a:xfrm>
          <a:prstGeom prst="roundRect">
            <a:avLst/>
          </a:prstGeom>
          <a:solidFill>
            <a:srgbClr val="F5C542"/>
          </a:solidFill>
          <a:ln w="10160">
            <a:solidFill>
              <a:srgbClr val="F5C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mesh-node-5"/>
          <p:cNvSpPr/>
          <p:nvPr/>
        </p:nvSpPr>
        <p:spPr>
          <a:xfrm>
            <a:off x="5806440" y="3246120"/>
            <a:ext cx="1143000" cy="640080"/>
          </a:xfrm>
          <a:prstGeom prst="roundRect">
            <a:avLst/>
          </a:prstGeom>
          <a:solidFill>
            <a:srgbClr val="7C6FFF"/>
          </a:solidFill>
          <a:ln w="10160">
            <a:solidFill>
              <a:srgbClr val="7C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mesh-node-6"/>
          <p:cNvSpPr/>
          <p:nvPr/>
        </p:nvSpPr>
        <p:spPr>
          <a:xfrm>
            <a:off x="2880360" y="4572000"/>
            <a:ext cx="1143000" cy="640080"/>
          </a:xfrm>
          <a:prstGeom prst="roundRect">
            <a:avLst/>
          </a:prstGeom>
          <a:solidFill>
            <a:srgbClr val="FF6B8A"/>
          </a:solidFill>
          <a:ln w="10160">
            <a:solidFill>
              <a:srgbClr val="FF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mesh-node-7"/>
          <p:cNvSpPr/>
          <p:nvPr/>
        </p:nvSpPr>
        <p:spPr>
          <a:xfrm>
            <a:off x="4800600" y="4572000"/>
            <a:ext cx="1143000" cy="640080"/>
          </a:xfrm>
          <a:prstGeom prst="roundRect">
            <a:avLst/>
          </a:prstGeom>
          <a:solidFill>
            <a:srgbClr val="A594FF"/>
          </a:solidFill>
          <a:ln w="10160">
            <a:solidFill>
              <a:srgbClr val="A59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race-badge-0"/>
          <p:cNvSpPr/>
          <p:nvPr/>
        </p:nvSpPr>
        <p:spPr>
          <a:xfrm>
            <a:off x="8357616" y="1682496"/>
            <a:ext cx="438912" cy="347472"/>
          </a:xfrm>
          <a:prstGeom prst="roundRect">
            <a:avLst/>
          </a:prstGeom>
          <a:solidFill>
            <a:srgbClr val="7C6FFF"/>
          </a:solidFill>
          <a:ln w="10160">
            <a:solidFill>
              <a:srgbClr val="7C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race-badge-1"/>
          <p:cNvSpPr/>
          <p:nvPr/>
        </p:nvSpPr>
        <p:spPr>
          <a:xfrm>
            <a:off x="8357616" y="2249424"/>
            <a:ext cx="438912" cy="347472"/>
          </a:xfrm>
          <a:prstGeom prst="roundRect">
            <a:avLst/>
          </a:prstGeom>
          <a:solidFill>
            <a:srgbClr val="A594FF"/>
          </a:solidFill>
          <a:ln w="10160">
            <a:solidFill>
              <a:srgbClr val="A59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race-badge-2"/>
          <p:cNvSpPr/>
          <p:nvPr/>
        </p:nvSpPr>
        <p:spPr>
          <a:xfrm>
            <a:off x="8357616" y="2816352"/>
            <a:ext cx="438912" cy="347472"/>
          </a:xfrm>
          <a:prstGeom prst="roundRect">
            <a:avLst/>
          </a:prstGeom>
          <a:solidFill>
            <a:srgbClr val="6254E8"/>
          </a:solidFill>
          <a:ln w="10160">
            <a:solidFill>
              <a:srgbClr val="625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race-badge-3"/>
          <p:cNvSpPr/>
          <p:nvPr/>
        </p:nvSpPr>
        <p:spPr>
          <a:xfrm>
            <a:off x="8357616" y="3383280"/>
            <a:ext cx="438912" cy="347472"/>
          </a:xfrm>
          <a:prstGeom prst="roundRect">
            <a:avLst/>
          </a:prstGeom>
          <a:solidFill>
            <a:srgbClr val="F5C542"/>
          </a:solidFill>
          <a:ln w="10160">
            <a:solidFill>
              <a:srgbClr val="F5C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race-badge-4"/>
          <p:cNvSpPr/>
          <p:nvPr/>
        </p:nvSpPr>
        <p:spPr>
          <a:xfrm>
            <a:off x="8357616" y="3950208"/>
            <a:ext cx="438912" cy="347472"/>
          </a:xfrm>
          <a:prstGeom prst="roundRect">
            <a:avLst/>
          </a:prstGeom>
          <a:solidFill>
            <a:srgbClr val="A594FF"/>
          </a:solidFill>
          <a:ln w="10160">
            <a:solidFill>
              <a:srgbClr val="A59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race-badge-5"/>
          <p:cNvSpPr/>
          <p:nvPr/>
        </p:nvSpPr>
        <p:spPr>
          <a:xfrm>
            <a:off x="8357616" y="4517136"/>
            <a:ext cx="438912" cy="347472"/>
          </a:xfrm>
          <a:prstGeom prst="roundRect">
            <a:avLst/>
          </a:prstGeom>
          <a:solidFill>
            <a:srgbClr val="FF6B8A"/>
          </a:solidFill>
          <a:ln w="10160">
            <a:solidFill>
              <a:srgbClr val="FF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profile-tag"/>
          <p:cNvSpPr txBox="1"/>
          <p:nvPr/>
        </p:nvSpPr>
        <p:spPr>
          <a:xfrm>
            <a:off x="457200" y="201168"/>
            <a:ext cx="768096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1" lang="en-US">
                <a:solidFill>
                  <a:srgbClr val="7C6FFF"/>
                </a:solidFill>
                <a:latin typeface="Consolas"/>
              </a:rPr>
              <a:t>V3 STRESS SUITE  ·  ISOMETRIC 3D FLAT  ·  EVIDENCE MESH</a:t>
            </a:r>
          </a:p>
        </p:txBody>
      </p:sp>
      <p:sp>
        <p:nvSpPr>
          <p:cNvPr id="46" name="slide-index"/>
          <p:cNvSpPr txBox="1"/>
          <p:nvPr/>
        </p:nvSpPr>
        <p:spPr>
          <a:xfrm>
            <a:off x="10808208" y="201168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00" b="1" lang="en-US">
                <a:solidFill>
                  <a:srgbClr val="D7D4F0"/>
                </a:solidFill>
                <a:latin typeface="Consolas"/>
              </a:rPr>
              <a:t>42/60</a:t>
            </a:r>
          </a:p>
        </p:txBody>
      </p:sp>
      <p:sp>
        <p:nvSpPr>
          <p:cNvPr id="47" name="title"/>
          <p:cNvSpPr txBox="1"/>
          <p:nvPr/>
        </p:nvSpPr>
        <p:spPr>
          <a:xfrm>
            <a:off x="457200" y="484632"/>
            <a:ext cx="11274552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200" b="1" lang="en-US">
                <a:solidFill>
                  <a:srgbClr val="FFFFFF"/>
                </a:solidFill>
                <a:latin typeface="Arial"/>
              </a:rPr>
              <a:t>Evidence meshes preserve traceability across a dense editable graph</a:t>
            </a:r>
          </a:p>
        </p:txBody>
      </p:sp>
      <p:sp>
        <p:nvSpPr>
          <p:cNvPr id="48" name="footer"/>
          <p:cNvSpPr txBox="1"/>
          <p:nvPr/>
        </p:nvSpPr>
        <p:spPr>
          <a:xfrm>
            <a:off x="457200" y="6473952"/>
            <a:ext cx="1051560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0" lang="en-US">
                <a:solidFill>
                  <a:srgbClr val="D7D4F0"/>
                </a:solidFill>
                <a:latin typeface="Consolas"/>
              </a:rPr>
              <a:t>Native-object stress fixture · violet three-face isometric blocks and thin technical connectors · editable geometry and recorded style lock</a:t>
            </a:r>
          </a:p>
        </p:txBody>
      </p:sp>
      <p:sp>
        <p:nvSpPr>
          <p:cNvPr id="49" name="mesh-title"/>
          <p:cNvSpPr txBox="1"/>
          <p:nvPr/>
        </p:nvSpPr>
        <p:spPr>
          <a:xfrm>
            <a:off x="713232" y="1298448"/>
            <a:ext cx="320040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1" lang="en-US">
                <a:solidFill>
                  <a:srgbClr val="7C6FFF"/>
                </a:solidFill>
                <a:latin typeface="Consolas"/>
              </a:rPr>
              <a:t>EVIDENCE ROUTING MESH</a:t>
            </a:r>
          </a:p>
        </p:txBody>
      </p:sp>
      <p:sp>
        <p:nvSpPr>
          <p:cNvPr id="50" name="mesh-label-0"/>
          <p:cNvSpPr txBox="1"/>
          <p:nvPr/>
        </p:nvSpPr>
        <p:spPr>
          <a:xfrm>
            <a:off x="1143000" y="2139696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lang="en-US">
                <a:solidFill>
                  <a:srgbClr val="111111"/>
                </a:solidFill>
                <a:latin typeface="Consolas"/>
              </a:rPr>
              <a:t>Request</a:t>
            </a:r>
          </a:p>
        </p:txBody>
      </p:sp>
      <p:sp>
        <p:nvSpPr>
          <p:cNvPr id="51" name="mesh-label-1"/>
          <p:cNvSpPr txBox="1"/>
          <p:nvPr/>
        </p:nvSpPr>
        <p:spPr>
          <a:xfrm>
            <a:off x="2971800" y="1819656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lang="en-US">
                <a:solidFill>
                  <a:srgbClr val="111111"/>
                </a:solidFill>
                <a:latin typeface="Consolas"/>
              </a:rPr>
              <a:t>Profile</a:t>
            </a:r>
          </a:p>
        </p:txBody>
      </p:sp>
      <p:sp>
        <p:nvSpPr>
          <p:cNvPr id="52" name="mesh-label-2"/>
          <p:cNvSpPr txBox="1"/>
          <p:nvPr/>
        </p:nvSpPr>
        <p:spPr>
          <a:xfrm>
            <a:off x="4892040" y="2139696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lang="en-US">
                <a:solidFill>
                  <a:srgbClr val="FFFFFF"/>
                </a:solidFill>
                <a:latin typeface="Consolas"/>
              </a:rPr>
              <a:t>Source</a:t>
            </a:r>
          </a:p>
        </p:txBody>
      </p:sp>
      <p:sp>
        <p:nvSpPr>
          <p:cNvPr id="53" name="mesh-label-3"/>
          <p:cNvSpPr txBox="1"/>
          <p:nvPr/>
        </p:nvSpPr>
        <p:spPr>
          <a:xfrm>
            <a:off x="2011680" y="3465576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lang="en-US">
                <a:solidFill>
                  <a:srgbClr val="111111"/>
                </a:solidFill>
                <a:latin typeface="Consolas"/>
              </a:rPr>
              <a:t>Spec</a:t>
            </a:r>
          </a:p>
        </p:txBody>
      </p:sp>
      <p:sp>
        <p:nvSpPr>
          <p:cNvPr id="54" name="mesh-label-4"/>
          <p:cNvSpPr txBox="1"/>
          <p:nvPr/>
        </p:nvSpPr>
        <p:spPr>
          <a:xfrm>
            <a:off x="3977639" y="3127248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lang="en-US">
                <a:solidFill>
                  <a:srgbClr val="111111"/>
                </a:solidFill>
                <a:latin typeface="Consolas"/>
              </a:rPr>
              <a:t>Audit</a:t>
            </a:r>
          </a:p>
        </p:txBody>
      </p:sp>
      <p:sp>
        <p:nvSpPr>
          <p:cNvPr id="55" name="mesh-label-5"/>
          <p:cNvSpPr txBox="1"/>
          <p:nvPr/>
        </p:nvSpPr>
        <p:spPr>
          <a:xfrm>
            <a:off x="5897880" y="3465576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lang="en-US">
                <a:solidFill>
                  <a:srgbClr val="111111"/>
                </a:solidFill>
                <a:latin typeface="Consolas"/>
              </a:rPr>
              <a:t>Render</a:t>
            </a:r>
          </a:p>
        </p:txBody>
      </p:sp>
      <p:sp>
        <p:nvSpPr>
          <p:cNvPr id="56" name="mesh-label-6"/>
          <p:cNvSpPr txBox="1"/>
          <p:nvPr/>
        </p:nvSpPr>
        <p:spPr>
          <a:xfrm>
            <a:off x="2971800" y="4791456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lang="en-US">
                <a:solidFill>
                  <a:srgbClr val="111111"/>
                </a:solidFill>
                <a:latin typeface="Consolas"/>
              </a:rPr>
              <a:t>Repair</a:t>
            </a:r>
          </a:p>
        </p:txBody>
      </p:sp>
      <p:sp>
        <p:nvSpPr>
          <p:cNvPr id="57" name="mesh-label-7"/>
          <p:cNvSpPr txBox="1"/>
          <p:nvPr/>
        </p:nvSpPr>
        <p:spPr>
          <a:xfrm>
            <a:off x="4892040" y="4791456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lang="en-US">
                <a:solidFill>
                  <a:srgbClr val="111111"/>
                </a:solidFill>
                <a:latin typeface="Consolas"/>
              </a:rPr>
              <a:t>Ship</a:t>
            </a:r>
          </a:p>
        </p:txBody>
      </p:sp>
      <p:sp>
        <p:nvSpPr>
          <p:cNvPr id="58" name="mesh-rail-title"/>
          <p:cNvSpPr txBox="1"/>
          <p:nvPr/>
        </p:nvSpPr>
        <p:spPr>
          <a:xfrm>
            <a:off x="8357616" y="1298448"/>
            <a:ext cx="265176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1" lang="en-US">
                <a:solidFill>
                  <a:srgbClr val="7C6FFF"/>
                </a:solidFill>
                <a:latin typeface="Consolas"/>
              </a:rPr>
              <a:t>TRACEABILITY</a:t>
            </a:r>
          </a:p>
        </p:txBody>
      </p:sp>
      <p:sp>
        <p:nvSpPr>
          <p:cNvPr id="59" name="trace-number-0"/>
          <p:cNvSpPr txBox="1"/>
          <p:nvPr/>
        </p:nvSpPr>
        <p:spPr>
          <a:xfrm>
            <a:off x="8375904" y="1783080"/>
            <a:ext cx="402336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111111"/>
                </a:solidFill>
                <a:latin typeface="Consolas"/>
              </a:rPr>
              <a:t>01</a:t>
            </a:r>
          </a:p>
        </p:txBody>
      </p:sp>
      <p:sp>
        <p:nvSpPr>
          <p:cNvPr id="60" name="trace-label-0"/>
          <p:cNvSpPr txBox="1"/>
          <p:nvPr/>
        </p:nvSpPr>
        <p:spPr>
          <a:xfrm>
            <a:off x="8979408" y="173736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1" lang="en-US">
                <a:solidFill>
                  <a:srgbClr val="FFFFFF"/>
                </a:solidFill>
                <a:latin typeface="Consolas"/>
              </a:rPr>
              <a:t>Intent</a:t>
            </a:r>
          </a:p>
        </p:txBody>
      </p:sp>
      <p:sp>
        <p:nvSpPr>
          <p:cNvPr id="61" name="trace-number-1"/>
          <p:cNvSpPr txBox="1"/>
          <p:nvPr/>
        </p:nvSpPr>
        <p:spPr>
          <a:xfrm>
            <a:off x="8375904" y="2350008"/>
            <a:ext cx="402336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111111"/>
                </a:solidFill>
                <a:latin typeface="Consolas"/>
              </a:rPr>
              <a:t>02</a:t>
            </a:r>
          </a:p>
        </p:txBody>
      </p:sp>
      <p:sp>
        <p:nvSpPr>
          <p:cNvPr id="62" name="trace-label-1"/>
          <p:cNvSpPr txBox="1"/>
          <p:nvPr/>
        </p:nvSpPr>
        <p:spPr>
          <a:xfrm>
            <a:off x="8979408" y="2304288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1" lang="en-US">
                <a:solidFill>
                  <a:srgbClr val="FFFFFF"/>
                </a:solidFill>
                <a:latin typeface="Consolas"/>
              </a:rPr>
              <a:t>Profile lock</a:t>
            </a:r>
          </a:p>
        </p:txBody>
      </p:sp>
      <p:sp>
        <p:nvSpPr>
          <p:cNvPr id="63" name="trace-number-2"/>
          <p:cNvSpPr txBox="1"/>
          <p:nvPr/>
        </p:nvSpPr>
        <p:spPr>
          <a:xfrm>
            <a:off x="8375904" y="2916936"/>
            <a:ext cx="402336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FFFFFF"/>
                </a:solidFill>
                <a:latin typeface="Consolas"/>
              </a:rPr>
              <a:t>03</a:t>
            </a:r>
          </a:p>
        </p:txBody>
      </p:sp>
      <p:sp>
        <p:nvSpPr>
          <p:cNvPr id="64" name="trace-label-2"/>
          <p:cNvSpPr txBox="1"/>
          <p:nvPr/>
        </p:nvSpPr>
        <p:spPr>
          <a:xfrm>
            <a:off x="8979408" y="2871216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1" lang="en-US">
                <a:solidFill>
                  <a:srgbClr val="FFFFFF"/>
                </a:solidFill>
                <a:latin typeface="Consolas"/>
              </a:rPr>
              <a:t>Object spec</a:t>
            </a:r>
          </a:p>
        </p:txBody>
      </p:sp>
      <p:sp>
        <p:nvSpPr>
          <p:cNvPr id="65" name="trace-number-3"/>
          <p:cNvSpPr txBox="1"/>
          <p:nvPr/>
        </p:nvSpPr>
        <p:spPr>
          <a:xfrm>
            <a:off x="8375904" y="3483864"/>
            <a:ext cx="402336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111111"/>
                </a:solidFill>
                <a:latin typeface="Consolas"/>
              </a:rPr>
              <a:t>04</a:t>
            </a:r>
          </a:p>
        </p:txBody>
      </p:sp>
      <p:sp>
        <p:nvSpPr>
          <p:cNvPr id="66" name="trace-label-3"/>
          <p:cNvSpPr txBox="1"/>
          <p:nvPr/>
        </p:nvSpPr>
        <p:spPr>
          <a:xfrm>
            <a:off x="8979408" y="3438144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1" lang="en-US">
                <a:solidFill>
                  <a:srgbClr val="FFFFFF"/>
                </a:solidFill>
                <a:latin typeface="Consolas"/>
              </a:rPr>
              <a:t>Quality gate</a:t>
            </a:r>
          </a:p>
        </p:txBody>
      </p:sp>
      <p:sp>
        <p:nvSpPr>
          <p:cNvPr id="67" name="trace-number-4"/>
          <p:cNvSpPr txBox="1"/>
          <p:nvPr/>
        </p:nvSpPr>
        <p:spPr>
          <a:xfrm>
            <a:off x="8375904" y="4050791"/>
            <a:ext cx="402336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111111"/>
                </a:solidFill>
                <a:latin typeface="Consolas"/>
              </a:rPr>
              <a:t>05</a:t>
            </a:r>
          </a:p>
        </p:txBody>
      </p:sp>
      <p:sp>
        <p:nvSpPr>
          <p:cNvPr id="68" name="trace-label-4"/>
          <p:cNvSpPr txBox="1"/>
          <p:nvPr/>
        </p:nvSpPr>
        <p:spPr>
          <a:xfrm>
            <a:off x="8979408" y="400507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1" lang="en-US">
                <a:solidFill>
                  <a:srgbClr val="FFFFFF"/>
                </a:solidFill>
                <a:latin typeface="Consolas"/>
              </a:rPr>
              <a:t>Repair trace</a:t>
            </a:r>
          </a:p>
        </p:txBody>
      </p:sp>
      <p:sp>
        <p:nvSpPr>
          <p:cNvPr id="69" name="trace-number-5"/>
          <p:cNvSpPr txBox="1"/>
          <p:nvPr/>
        </p:nvSpPr>
        <p:spPr>
          <a:xfrm>
            <a:off x="8375904" y="4617720"/>
            <a:ext cx="402336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111111"/>
                </a:solidFill>
                <a:latin typeface="Consolas"/>
              </a:rPr>
              <a:t>06</a:t>
            </a:r>
          </a:p>
        </p:txBody>
      </p:sp>
      <p:sp>
        <p:nvSpPr>
          <p:cNvPr id="70" name="trace-label-5"/>
          <p:cNvSpPr txBox="1"/>
          <p:nvPr/>
        </p:nvSpPr>
        <p:spPr>
          <a:xfrm>
            <a:off x="8979408" y="457200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1" lang="en-US">
                <a:solidFill>
                  <a:srgbClr val="FFFFFF"/>
                </a:solidFill>
                <a:latin typeface="Consolas"/>
              </a:rPr>
              <a:t>Artifact</a:t>
            </a:r>
          </a:p>
        </p:txBody>
      </p:sp>
      <p:sp>
        <p:nvSpPr>
          <p:cNvPr id="71" name="mesh-note"/>
          <p:cNvSpPr txBox="1"/>
          <p:nvPr/>
        </p:nvSpPr>
        <p:spPr>
          <a:xfrm>
            <a:off x="8357616" y="5321808"/>
            <a:ext cx="2834640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00" b="0" lang="en-US">
                <a:solidFill>
                  <a:srgbClr val="D7D4F0"/>
                </a:solidFill>
                <a:latin typeface="Consolas"/>
              </a:rPr>
              <a:t>Fourteen editable links prove dense graph routing and layering.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2E"/>
          </a:solidFill>
          <a:ln w="10160">
            <a:solidFill>
              <a:srgbClr val="1E1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-top"/>
          <p:cNvSpPr/>
          <p:nvPr/>
        </p:nvSpPr>
        <p:spPr>
          <a:xfrm>
            <a:off x="8732520" y="4297680"/>
            <a:ext cx="1371600" cy="640080"/>
          </a:xfrm>
          <a:prstGeom prst="rect">
            <a:avLst/>
          </a:prstGeom>
          <a:solidFill>
            <a:srgbClr val="A594FF"/>
          </a:solidFill>
          <a:ln w="10160">
            <a:solidFill>
              <a:srgbClr val="A59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-left"/>
          <p:cNvSpPr/>
          <p:nvPr/>
        </p:nvSpPr>
        <p:spPr>
          <a:xfrm>
            <a:off x="8732520" y="4937760"/>
            <a:ext cx="685800" cy="502920"/>
          </a:xfrm>
          <a:prstGeom prst="rect">
            <a:avLst/>
          </a:prstGeom>
          <a:solidFill>
            <a:srgbClr val="4A3FCC"/>
          </a:solidFill>
          <a:ln w="10160">
            <a:solidFill>
              <a:srgbClr val="4A3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so-right"/>
          <p:cNvSpPr/>
          <p:nvPr/>
        </p:nvSpPr>
        <p:spPr>
          <a:xfrm>
            <a:off x="9418320" y="4937760"/>
            <a:ext cx="685800" cy="502920"/>
          </a:xfrm>
          <a:prstGeom prst="rect">
            <a:avLst/>
          </a:prstGeom>
          <a:solidFill>
            <a:srgbClr val="7C6FFF"/>
          </a:solidFill>
          <a:ln w="10160">
            <a:solidFill>
              <a:srgbClr val="7C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op-band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7C6FFF"/>
          </a:solidFill>
          <a:ln w="10160">
            <a:solidFill>
              <a:srgbClr val="7C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matrix-rail-shell"/>
          <p:cNvSpPr/>
          <p:nvPr/>
        </p:nvSpPr>
        <p:spPr>
          <a:xfrm>
            <a:off x="8823960" y="1143000"/>
            <a:ext cx="2907792" cy="4443984"/>
          </a:xfrm>
          <a:prstGeom prst="rect">
            <a:avLst/>
          </a:prstGeom>
          <a:solidFill>
            <a:srgbClr val="363453"/>
          </a:solidFill>
          <a:ln w="10160">
            <a:solidFill>
              <a:srgbClr val="4A3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matrix-rail-accent"/>
          <p:cNvSpPr/>
          <p:nvPr/>
        </p:nvSpPr>
        <p:spPr>
          <a:xfrm>
            <a:off x="8823960" y="1143000"/>
            <a:ext cx="73152" cy="4443984"/>
          </a:xfrm>
          <a:prstGeom prst="rect">
            <a:avLst/>
          </a:prstGeom>
          <a:solidFill>
            <a:srgbClr val="7C6FFF"/>
          </a:solidFill>
          <a:ln w="10160">
            <a:solidFill>
              <a:srgbClr val="7C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adar-ring-0.45"/>
          <p:cNvSpPr/>
          <p:nvPr/>
        </p:nvSpPr>
        <p:spPr>
          <a:xfrm>
            <a:off x="9866376" y="2834640"/>
            <a:ext cx="822960" cy="822960"/>
          </a:xfrm>
          <a:prstGeom prst="ellipse">
            <a:avLst/>
          </a:prstGeom>
          <a:solidFill>
            <a:srgbClr val="363453"/>
          </a:solidFill>
          <a:ln w="10160">
            <a:solidFill>
              <a:srgbClr val="4A3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adar-ring-0.85"/>
          <p:cNvSpPr/>
          <p:nvPr/>
        </p:nvSpPr>
        <p:spPr>
          <a:xfrm>
            <a:off x="9500616" y="2468880"/>
            <a:ext cx="1554480" cy="1554480"/>
          </a:xfrm>
          <a:prstGeom prst="ellipse">
            <a:avLst/>
          </a:prstGeom>
          <a:solidFill>
            <a:srgbClr val="363453"/>
          </a:solidFill>
          <a:ln w="10160">
            <a:solidFill>
              <a:srgbClr val="4A3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adar-ring-1.25"/>
          <p:cNvSpPr/>
          <p:nvPr/>
        </p:nvSpPr>
        <p:spPr>
          <a:xfrm>
            <a:off x="9134856" y="2103120"/>
            <a:ext cx="2286000" cy="2286000"/>
          </a:xfrm>
          <a:prstGeom prst="ellipse">
            <a:avLst/>
          </a:prstGeom>
          <a:solidFill>
            <a:srgbClr val="363453"/>
          </a:solidFill>
          <a:ln w="10160">
            <a:solidFill>
              <a:srgbClr val="4A3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radar-axis-0"/>
          <p:cNvCxnSpPr/>
          <p:nvPr/>
        </p:nvCxnSpPr>
        <p:spPr>
          <a:xfrm flipV="1">
            <a:off x="10277856" y="1828799"/>
            <a:ext cx="0" cy="1417321"/>
          </a:xfrm>
          <a:prstGeom prst="line">
            <a:avLst/>
          </a:prstGeom>
          <a:ln w="13970">
            <a:solidFill>
              <a:srgbClr val="4A3F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radar-axis-1"/>
          <p:cNvCxnSpPr/>
          <p:nvPr/>
        </p:nvCxnSpPr>
        <p:spPr>
          <a:xfrm flipV="1">
            <a:off x="10277856" y="2537460"/>
            <a:ext cx="1227435" cy="708660"/>
          </a:xfrm>
          <a:prstGeom prst="line">
            <a:avLst/>
          </a:prstGeom>
          <a:ln w="13970">
            <a:solidFill>
              <a:srgbClr val="4A3F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radar-axis-2"/>
          <p:cNvCxnSpPr/>
          <p:nvPr/>
        </p:nvCxnSpPr>
        <p:spPr>
          <a:xfrm>
            <a:off x="10277856" y="3246120"/>
            <a:ext cx="1227435" cy="708659"/>
          </a:xfrm>
          <a:prstGeom prst="line">
            <a:avLst/>
          </a:prstGeom>
          <a:ln w="13970">
            <a:solidFill>
              <a:srgbClr val="4A3F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radar-axis-3"/>
          <p:cNvCxnSpPr/>
          <p:nvPr/>
        </p:nvCxnSpPr>
        <p:spPr>
          <a:xfrm>
            <a:off x="10277856" y="3246120"/>
            <a:ext cx="0" cy="1417320"/>
          </a:xfrm>
          <a:prstGeom prst="line">
            <a:avLst/>
          </a:prstGeom>
          <a:ln w="13970">
            <a:solidFill>
              <a:srgbClr val="4A3F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radar-axis-4"/>
          <p:cNvCxnSpPr/>
          <p:nvPr/>
        </p:nvCxnSpPr>
        <p:spPr>
          <a:xfrm flipH="1">
            <a:off x="9050420" y="3246120"/>
            <a:ext cx="1227436" cy="708659"/>
          </a:xfrm>
          <a:prstGeom prst="line">
            <a:avLst/>
          </a:prstGeom>
          <a:ln w="13970">
            <a:solidFill>
              <a:srgbClr val="4A3F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radar-axis-5"/>
          <p:cNvCxnSpPr/>
          <p:nvPr/>
        </p:nvCxnSpPr>
        <p:spPr>
          <a:xfrm flipH="1" flipV="1">
            <a:off x="9050420" y="2537459"/>
            <a:ext cx="1227436" cy="708661"/>
          </a:xfrm>
          <a:prstGeom prst="line">
            <a:avLst/>
          </a:prstGeom>
          <a:ln w="13970">
            <a:solidFill>
              <a:srgbClr val="4A3F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flow-link-0"/>
          <p:cNvCxnSpPr/>
          <p:nvPr/>
        </p:nvCxnSpPr>
        <p:spPr>
          <a:xfrm>
            <a:off x="2066543" y="5934456"/>
            <a:ext cx="265177" cy="0"/>
          </a:xfrm>
          <a:prstGeom prst="line">
            <a:avLst/>
          </a:prstGeom>
          <a:ln w="13970">
            <a:solidFill>
              <a:srgbClr val="7C6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flow-link-1"/>
          <p:cNvCxnSpPr/>
          <p:nvPr/>
        </p:nvCxnSpPr>
        <p:spPr>
          <a:xfrm>
            <a:off x="3959352" y="5934456"/>
            <a:ext cx="265175" cy="0"/>
          </a:xfrm>
          <a:prstGeom prst="line">
            <a:avLst/>
          </a:prstGeom>
          <a:ln w="13970">
            <a:solidFill>
              <a:srgbClr val="A59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flow-link-2"/>
          <p:cNvCxnSpPr/>
          <p:nvPr/>
        </p:nvCxnSpPr>
        <p:spPr>
          <a:xfrm>
            <a:off x="5852159" y="5934456"/>
            <a:ext cx="265177" cy="0"/>
          </a:xfrm>
          <a:prstGeom prst="line">
            <a:avLst/>
          </a:prstGeom>
          <a:ln w="13970">
            <a:solidFill>
              <a:srgbClr val="625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flow-link-3"/>
          <p:cNvCxnSpPr/>
          <p:nvPr/>
        </p:nvCxnSpPr>
        <p:spPr>
          <a:xfrm>
            <a:off x="7744967" y="5934456"/>
            <a:ext cx="265176" cy="0"/>
          </a:xfrm>
          <a:prstGeom prst="line">
            <a:avLst/>
          </a:prstGeom>
          <a:ln w="13970">
            <a:solidFill>
              <a:srgbClr val="F5C5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flow-link-4"/>
          <p:cNvCxnSpPr/>
          <p:nvPr/>
        </p:nvCxnSpPr>
        <p:spPr>
          <a:xfrm>
            <a:off x="9637776" y="5934456"/>
            <a:ext cx="265175" cy="0"/>
          </a:xfrm>
          <a:prstGeom prst="line">
            <a:avLst/>
          </a:prstGeom>
          <a:ln w="13970">
            <a:solidFill>
              <a:srgbClr val="A59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operating-table"/>
          <p:cNvGraphicFramePr>
            <a:graphicFrameLocks noGrp="1"/>
          </p:cNvGraphicFramePr>
          <p:nvPr/>
        </p:nvGraphicFramePr>
        <p:xfrm>
          <a:off x="457200" y="1143000"/>
          <a:ext cx="8092440" cy="44439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8740"/>
                <a:gridCol w="1348740"/>
                <a:gridCol w="1348740"/>
                <a:gridCol w="1348740"/>
                <a:gridCol w="1348740"/>
                <a:gridCol w="1348740"/>
              </a:tblGrid>
              <a:tr h="444398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1E1E2E"/>
                          </a:solidFill>
                          <a:latin typeface="Consolas"/>
                        </a:rPr>
                        <a:t>Workstream</a:t>
                      </a:r>
                    </a:p>
                  </a:txBody>
                  <a:tcPr marL="54864" marR="54864" marT="18288" marB="18288">
                    <a:solidFill>
                      <a:srgbClr val="7C6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1E1E2E"/>
                          </a:solidFill>
                          <a:latin typeface="Consolas"/>
                        </a:rPr>
                        <a:t>Profile</a:t>
                      </a:r>
                    </a:p>
                  </a:txBody>
                  <a:tcPr marL="54864" marR="54864" marT="18288" marB="18288">
                    <a:solidFill>
                      <a:srgbClr val="7C6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1E1E2E"/>
                          </a:solidFill>
                          <a:latin typeface="Consolas"/>
                        </a:rPr>
                        <a:t>Structure</a:t>
                      </a:r>
                    </a:p>
                  </a:txBody>
                  <a:tcPr marL="54864" marR="54864" marT="18288" marB="18288">
                    <a:solidFill>
                      <a:srgbClr val="7C6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1E1E2E"/>
                          </a:solidFill>
                          <a:latin typeface="Consolas"/>
                        </a:rPr>
                        <a:t>Density</a:t>
                      </a:r>
                    </a:p>
                  </a:txBody>
                  <a:tcPr marL="54864" marR="54864" marT="18288" marB="18288">
                    <a:solidFill>
                      <a:srgbClr val="7C6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1E1E2E"/>
                          </a:solidFill>
                          <a:latin typeface="Consolas"/>
                        </a:rPr>
                        <a:t>Gate</a:t>
                      </a:r>
                    </a:p>
                  </a:txBody>
                  <a:tcPr marL="54864" marR="54864" marT="18288" marB="18288">
                    <a:solidFill>
                      <a:srgbClr val="7C6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1E1E2E"/>
                          </a:solidFill>
                          <a:latin typeface="Consolas"/>
                        </a:rPr>
                        <a:t>Owner</a:t>
                      </a:r>
                    </a:p>
                  </a:txBody>
                  <a:tcPr marL="54864" marR="54864" marT="18288" marB="18288">
                    <a:solidFill>
                      <a:srgbClr val="7C6FFF"/>
                    </a:solidFill>
                  </a:tcPr>
                </a:tc>
              </a:tr>
              <a:tr h="444398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FFFFFF"/>
                          </a:solidFill>
                          <a:latin typeface="Consolas"/>
                        </a:rPr>
                        <a:t>W-01</a:t>
                      </a:r>
                    </a:p>
                  </a:txBody>
                  <a:tcPr marL="54864" marR="54864" marT="18288" marB="18288">
                    <a:solidFill>
                      <a:srgbClr val="2A29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Consolas"/>
                        </a:rPr>
                        <a:t>Ember</a:t>
                      </a:r>
                    </a:p>
                  </a:txBody>
                  <a:tcPr marL="54864" marR="54864" marT="18288" marB="18288">
                    <a:solidFill>
                      <a:srgbClr val="2A29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Consolas"/>
                        </a:rPr>
                        <a:t>Mesh</a:t>
                      </a:r>
                    </a:p>
                  </a:txBody>
                  <a:tcPr marL="54864" marR="54864" marT="18288" marB="18288">
                    <a:solidFill>
                      <a:srgbClr val="2A29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Consolas"/>
                        </a:rPr>
                        <a:t>Dense</a:t>
                      </a:r>
                    </a:p>
                  </a:txBody>
                  <a:tcPr marL="54864" marR="54864" marT="18288" marB="18288">
                    <a:solidFill>
                      <a:srgbClr val="2A29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Consolas"/>
                        </a:rPr>
                        <a:t>Watch</a:t>
                      </a:r>
                    </a:p>
                  </a:txBody>
                  <a:tcPr marL="54864" marR="54864" marT="18288" marB="18288">
                    <a:solidFill>
                      <a:srgbClr val="2A29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Consolas"/>
                        </a:rPr>
                        <a:t>R</a:t>
                      </a:r>
                    </a:p>
                  </a:txBody>
                  <a:tcPr marL="54864" marR="54864" marT="18288" marB="18288">
                    <a:solidFill>
                      <a:srgbClr val="2A2940"/>
                    </a:solidFill>
                  </a:tcPr>
                </a:tc>
              </a:tr>
              <a:tr h="444398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FFFFFF"/>
                          </a:solidFill>
                          <a:latin typeface="Consolas"/>
                        </a:rPr>
                        <a:t>W-02</a:t>
                      </a:r>
                    </a:p>
                  </a:txBody>
                  <a:tcPr marL="54864" marR="54864" marT="18288" marB="18288">
                    <a:solidFill>
                      <a:srgbClr val="36345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Consolas"/>
                        </a:rPr>
                        <a:t>Signal</a:t>
                      </a:r>
                    </a:p>
                  </a:txBody>
                  <a:tcPr marL="54864" marR="54864" marT="18288" marB="18288">
                    <a:solidFill>
                      <a:srgbClr val="36345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Consolas"/>
                        </a:rPr>
                        <a:t>Matrix</a:t>
                      </a:r>
                    </a:p>
                  </a:txBody>
                  <a:tcPr marL="54864" marR="54864" marT="18288" marB="18288">
                    <a:solidFill>
                      <a:srgbClr val="36345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Consolas"/>
                        </a:rPr>
                        <a:t>Layered</a:t>
                      </a:r>
                    </a:p>
                  </a:txBody>
                  <a:tcPr marL="54864" marR="54864" marT="18288" marB="18288">
                    <a:solidFill>
                      <a:srgbClr val="36345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Consolas"/>
                        </a:rPr>
                        <a:t>Repair</a:t>
                      </a:r>
                    </a:p>
                  </a:txBody>
                  <a:tcPr marL="54864" marR="54864" marT="18288" marB="18288">
                    <a:solidFill>
                      <a:srgbClr val="36345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Consolas"/>
                        </a:rPr>
                        <a:t>C</a:t>
                      </a:r>
                    </a:p>
                  </a:txBody>
                  <a:tcPr marL="54864" marR="54864" marT="18288" marB="18288">
                    <a:solidFill>
                      <a:srgbClr val="363453"/>
                    </a:solidFill>
                  </a:tcPr>
                </a:tc>
              </a:tr>
              <a:tr h="444398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FFFFFF"/>
                          </a:solidFill>
                          <a:latin typeface="Consolas"/>
                        </a:rPr>
                        <a:t>W-03</a:t>
                      </a:r>
                    </a:p>
                  </a:txBody>
                  <a:tcPr marL="54864" marR="54864" marT="18288" marB="18288">
                    <a:solidFill>
                      <a:srgbClr val="2A29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Consolas"/>
                        </a:rPr>
                        <a:t>Grove</a:t>
                      </a:r>
                    </a:p>
                  </a:txBody>
                  <a:tcPr marL="54864" marR="54864" marT="18288" marB="18288">
                    <a:solidFill>
                      <a:srgbClr val="2A29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Consolas"/>
                        </a:rPr>
                        <a:t>Board</a:t>
                      </a:r>
                    </a:p>
                  </a:txBody>
                  <a:tcPr marL="54864" marR="54864" marT="18288" marB="18288">
                    <a:solidFill>
                      <a:srgbClr val="2A29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Consolas"/>
                        </a:rPr>
                        <a:t>Packed</a:t>
                      </a:r>
                    </a:p>
                  </a:txBody>
                  <a:tcPr marL="54864" marR="54864" marT="18288" marB="18288">
                    <a:solidFill>
                      <a:srgbClr val="2A29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Consolas"/>
                        </a:rPr>
                        <a:t>Pass</a:t>
                      </a:r>
                    </a:p>
                  </a:txBody>
                  <a:tcPr marL="54864" marR="54864" marT="18288" marB="18288">
                    <a:solidFill>
                      <a:srgbClr val="2A29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Consolas"/>
                        </a:rPr>
                        <a:t>I</a:t>
                      </a:r>
                    </a:p>
                  </a:txBody>
                  <a:tcPr marL="54864" marR="54864" marT="18288" marB="18288">
                    <a:solidFill>
                      <a:srgbClr val="2A2940"/>
                    </a:solidFill>
                  </a:tcPr>
                </a:tc>
              </a:tr>
              <a:tr h="444398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FFFFFF"/>
                          </a:solidFill>
                          <a:latin typeface="Consolas"/>
                        </a:rPr>
                        <a:t>W-04</a:t>
                      </a:r>
                    </a:p>
                  </a:txBody>
                  <a:tcPr marL="54864" marR="54864" marT="18288" marB="18288">
                    <a:solidFill>
                      <a:srgbClr val="36345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Consolas"/>
                        </a:rPr>
                        <a:t>Atlas</a:t>
                      </a:r>
                    </a:p>
                  </a:txBody>
                  <a:tcPr marL="54864" marR="54864" marT="18288" marB="18288">
                    <a:solidFill>
                      <a:srgbClr val="36345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Consolas"/>
                        </a:rPr>
                        <a:t>Cards</a:t>
                      </a:r>
                    </a:p>
                  </a:txBody>
                  <a:tcPr marL="54864" marR="54864" marT="18288" marB="18288">
                    <a:solidFill>
                      <a:srgbClr val="36345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Consolas"/>
                        </a:rPr>
                        <a:t>High</a:t>
                      </a:r>
                    </a:p>
                  </a:txBody>
                  <a:tcPr marL="54864" marR="54864" marT="18288" marB="18288">
                    <a:solidFill>
                      <a:srgbClr val="36345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Consolas"/>
                        </a:rPr>
                        <a:t>Pass</a:t>
                      </a:r>
                    </a:p>
                  </a:txBody>
                  <a:tcPr marL="54864" marR="54864" marT="18288" marB="18288">
                    <a:solidFill>
                      <a:srgbClr val="36345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Consolas"/>
                        </a:rPr>
                        <a:t>A</a:t>
                      </a:r>
                    </a:p>
                  </a:txBody>
                  <a:tcPr marL="54864" marR="54864" marT="18288" marB="18288">
                    <a:solidFill>
                      <a:srgbClr val="363453"/>
                    </a:solidFill>
                  </a:tcPr>
                </a:tc>
              </a:tr>
              <a:tr h="444398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FFFFFF"/>
                          </a:solidFill>
                          <a:latin typeface="Consolas"/>
                        </a:rPr>
                        <a:t>W-05</a:t>
                      </a:r>
                    </a:p>
                  </a:txBody>
                  <a:tcPr marL="54864" marR="54864" marT="18288" marB="18288">
                    <a:solidFill>
                      <a:srgbClr val="2A29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Consolas"/>
                        </a:rPr>
                        <a:t>Ember</a:t>
                      </a:r>
                    </a:p>
                  </a:txBody>
                  <a:tcPr marL="54864" marR="54864" marT="18288" marB="18288">
                    <a:solidFill>
                      <a:srgbClr val="2A29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Consolas"/>
                        </a:rPr>
                        <a:t>Mesh</a:t>
                      </a:r>
                    </a:p>
                  </a:txBody>
                  <a:tcPr marL="54864" marR="54864" marT="18288" marB="18288">
                    <a:solidFill>
                      <a:srgbClr val="2A29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Consolas"/>
                        </a:rPr>
                        <a:t>Dense</a:t>
                      </a:r>
                    </a:p>
                  </a:txBody>
                  <a:tcPr marL="54864" marR="54864" marT="18288" marB="18288">
                    <a:solidFill>
                      <a:srgbClr val="2A29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Consolas"/>
                        </a:rPr>
                        <a:t>Watch</a:t>
                      </a:r>
                    </a:p>
                  </a:txBody>
                  <a:tcPr marL="54864" marR="54864" marT="18288" marB="18288">
                    <a:solidFill>
                      <a:srgbClr val="2A29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Consolas"/>
                        </a:rPr>
                        <a:t>R</a:t>
                      </a:r>
                    </a:p>
                  </a:txBody>
                  <a:tcPr marL="54864" marR="54864" marT="18288" marB="18288">
                    <a:solidFill>
                      <a:srgbClr val="2A2940"/>
                    </a:solidFill>
                  </a:tcPr>
                </a:tc>
              </a:tr>
              <a:tr h="444398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FFFFFF"/>
                          </a:solidFill>
                          <a:latin typeface="Consolas"/>
                        </a:rPr>
                        <a:t>W-06</a:t>
                      </a:r>
                    </a:p>
                  </a:txBody>
                  <a:tcPr marL="54864" marR="54864" marT="18288" marB="18288">
                    <a:solidFill>
                      <a:srgbClr val="36345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Consolas"/>
                        </a:rPr>
                        <a:t>Signal</a:t>
                      </a:r>
                    </a:p>
                  </a:txBody>
                  <a:tcPr marL="54864" marR="54864" marT="18288" marB="18288">
                    <a:solidFill>
                      <a:srgbClr val="36345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Consolas"/>
                        </a:rPr>
                        <a:t>Matrix</a:t>
                      </a:r>
                    </a:p>
                  </a:txBody>
                  <a:tcPr marL="54864" marR="54864" marT="18288" marB="18288">
                    <a:solidFill>
                      <a:srgbClr val="36345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Consolas"/>
                        </a:rPr>
                        <a:t>Layered</a:t>
                      </a:r>
                    </a:p>
                  </a:txBody>
                  <a:tcPr marL="54864" marR="54864" marT="18288" marB="18288">
                    <a:solidFill>
                      <a:srgbClr val="36345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Consolas"/>
                        </a:rPr>
                        <a:t>Repair</a:t>
                      </a:r>
                    </a:p>
                  </a:txBody>
                  <a:tcPr marL="54864" marR="54864" marT="18288" marB="18288">
                    <a:solidFill>
                      <a:srgbClr val="36345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Consolas"/>
                        </a:rPr>
                        <a:t>C</a:t>
                      </a:r>
                    </a:p>
                  </a:txBody>
                  <a:tcPr marL="54864" marR="54864" marT="18288" marB="18288">
                    <a:solidFill>
                      <a:srgbClr val="363453"/>
                    </a:solidFill>
                  </a:tcPr>
                </a:tc>
              </a:tr>
              <a:tr h="444398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FFFFFF"/>
                          </a:solidFill>
                          <a:latin typeface="Consolas"/>
                        </a:rPr>
                        <a:t>W-07</a:t>
                      </a:r>
                    </a:p>
                  </a:txBody>
                  <a:tcPr marL="54864" marR="54864" marT="18288" marB="18288">
                    <a:solidFill>
                      <a:srgbClr val="2A29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Consolas"/>
                        </a:rPr>
                        <a:t>Grove</a:t>
                      </a:r>
                    </a:p>
                  </a:txBody>
                  <a:tcPr marL="54864" marR="54864" marT="18288" marB="18288">
                    <a:solidFill>
                      <a:srgbClr val="2A29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Consolas"/>
                        </a:rPr>
                        <a:t>Board</a:t>
                      </a:r>
                    </a:p>
                  </a:txBody>
                  <a:tcPr marL="54864" marR="54864" marT="18288" marB="18288">
                    <a:solidFill>
                      <a:srgbClr val="2A29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Consolas"/>
                        </a:rPr>
                        <a:t>Packed</a:t>
                      </a:r>
                    </a:p>
                  </a:txBody>
                  <a:tcPr marL="54864" marR="54864" marT="18288" marB="18288">
                    <a:solidFill>
                      <a:srgbClr val="2A29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Consolas"/>
                        </a:rPr>
                        <a:t>Pass</a:t>
                      </a:r>
                    </a:p>
                  </a:txBody>
                  <a:tcPr marL="54864" marR="54864" marT="18288" marB="18288">
                    <a:solidFill>
                      <a:srgbClr val="2A29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Consolas"/>
                        </a:rPr>
                        <a:t>I</a:t>
                      </a:r>
                    </a:p>
                  </a:txBody>
                  <a:tcPr marL="54864" marR="54864" marT="18288" marB="18288">
                    <a:solidFill>
                      <a:srgbClr val="2A2940"/>
                    </a:solidFill>
                  </a:tcPr>
                </a:tc>
              </a:tr>
              <a:tr h="444398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FFFFFF"/>
                          </a:solidFill>
                          <a:latin typeface="Consolas"/>
                        </a:rPr>
                        <a:t>W-08</a:t>
                      </a:r>
                    </a:p>
                  </a:txBody>
                  <a:tcPr marL="54864" marR="54864" marT="18288" marB="18288">
                    <a:solidFill>
                      <a:srgbClr val="36345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Consolas"/>
                        </a:rPr>
                        <a:t>Atlas</a:t>
                      </a:r>
                    </a:p>
                  </a:txBody>
                  <a:tcPr marL="54864" marR="54864" marT="18288" marB="18288">
                    <a:solidFill>
                      <a:srgbClr val="36345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Consolas"/>
                        </a:rPr>
                        <a:t>Cards</a:t>
                      </a:r>
                    </a:p>
                  </a:txBody>
                  <a:tcPr marL="54864" marR="54864" marT="18288" marB="18288">
                    <a:solidFill>
                      <a:srgbClr val="36345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Consolas"/>
                        </a:rPr>
                        <a:t>High</a:t>
                      </a:r>
                    </a:p>
                  </a:txBody>
                  <a:tcPr marL="54864" marR="54864" marT="18288" marB="18288">
                    <a:solidFill>
                      <a:srgbClr val="36345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Consolas"/>
                        </a:rPr>
                        <a:t>Pass</a:t>
                      </a:r>
                    </a:p>
                  </a:txBody>
                  <a:tcPr marL="54864" marR="54864" marT="18288" marB="18288">
                    <a:solidFill>
                      <a:srgbClr val="36345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Consolas"/>
                        </a:rPr>
                        <a:t>A</a:t>
                      </a:r>
                    </a:p>
                  </a:txBody>
                  <a:tcPr marL="54864" marR="54864" marT="18288" marB="18288">
                    <a:solidFill>
                      <a:srgbClr val="363453"/>
                    </a:solidFill>
                  </a:tcPr>
                </a:tc>
              </a:tr>
              <a:tr h="444402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FFFFFF"/>
                          </a:solidFill>
                          <a:latin typeface="Consolas"/>
                        </a:rPr>
                        <a:t>W-09</a:t>
                      </a:r>
                    </a:p>
                  </a:txBody>
                  <a:tcPr marL="54864" marR="54864" marT="18288" marB="18288">
                    <a:solidFill>
                      <a:srgbClr val="2A29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Consolas"/>
                        </a:rPr>
                        <a:t>Ember</a:t>
                      </a:r>
                    </a:p>
                  </a:txBody>
                  <a:tcPr marL="54864" marR="54864" marT="18288" marB="18288">
                    <a:solidFill>
                      <a:srgbClr val="2A29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Consolas"/>
                        </a:rPr>
                        <a:t>Mesh</a:t>
                      </a:r>
                    </a:p>
                  </a:txBody>
                  <a:tcPr marL="54864" marR="54864" marT="18288" marB="18288">
                    <a:solidFill>
                      <a:srgbClr val="2A29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Consolas"/>
                        </a:rPr>
                        <a:t>Dense</a:t>
                      </a:r>
                    </a:p>
                  </a:txBody>
                  <a:tcPr marL="54864" marR="54864" marT="18288" marB="18288">
                    <a:solidFill>
                      <a:srgbClr val="2A29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Consolas"/>
                        </a:rPr>
                        <a:t>Watch</a:t>
                      </a:r>
                    </a:p>
                  </a:txBody>
                  <a:tcPr marL="54864" marR="54864" marT="18288" marB="18288">
                    <a:solidFill>
                      <a:srgbClr val="2A29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FFFFFF"/>
                          </a:solidFill>
                          <a:latin typeface="Consolas"/>
                        </a:rPr>
                        <a:t>R</a:t>
                      </a:r>
                    </a:p>
                  </a:txBody>
                  <a:tcPr marL="54864" marR="54864" marT="18288" marB="18288">
                    <a:solidFill>
                      <a:srgbClr val="2A2940"/>
                    </a:solidFill>
                  </a:tcPr>
                </a:tc>
              </a:tr>
            </a:tbl>
          </a:graphicData>
        </a:graphic>
      </p:graphicFrame>
      <p:sp>
        <p:nvSpPr>
          <p:cNvPr id="24" name="flow-0"/>
          <p:cNvSpPr/>
          <p:nvPr/>
        </p:nvSpPr>
        <p:spPr>
          <a:xfrm>
            <a:off x="457200" y="5742432"/>
            <a:ext cx="1600200" cy="384048"/>
          </a:xfrm>
          <a:prstGeom prst="roundRect">
            <a:avLst/>
          </a:prstGeom>
          <a:solidFill>
            <a:srgbClr val="2A2940"/>
          </a:solidFill>
          <a:ln w="10160">
            <a:solidFill>
              <a:srgbClr val="7C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low-1"/>
          <p:cNvSpPr/>
          <p:nvPr/>
        </p:nvSpPr>
        <p:spPr>
          <a:xfrm>
            <a:off x="2350008" y="5742432"/>
            <a:ext cx="1600200" cy="384048"/>
          </a:xfrm>
          <a:prstGeom prst="roundRect">
            <a:avLst/>
          </a:prstGeom>
          <a:solidFill>
            <a:srgbClr val="2A2940"/>
          </a:solidFill>
          <a:ln w="10160">
            <a:solidFill>
              <a:srgbClr val="A59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low-2"/>
          <p:cNvSpPr/>
          <p:nvPr/>
        </p:nvSpPr>
        <p:spPr>
          <a:xfrm>
            <a:off x="4242816" y="5742432"/>
            <a:ext cx="1600200" cy="384048"/>
          </a:xfrm>
          <a:prstGeom prst="roundRect">
            <a:avLst/>
          </a:prstGeom>
          <a:solidFill>
            <a:srgbClr val="2A2940"/>
          </a:solidFill>
          <a:ln w="10160">
            <a:solidFill>
              <a:srgbClr val="625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low-3"/>
          <p:cNvSpPr/>
          <p:nvPr/>
        </p:nvSpPr>
        <p:spPr>
          <a:xfrm>
            <a:off x="6135624" y="5742432"/>
            <a:ext cx="1600200" cy="384048"/>
          </a:xfrm>
          <a:prstGeom prst="roundRect">
            <a:avLst/>
          </a:prstGeom>
          <a:solidFill>
            <a:srgbClr val="2A2940"/>
          </a:solidFill>
          <a:ln w="10160">
            <a:solidFill>
              <a:srgbClr val="F5C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low-4"/>
          <p:cNvSpPr/>
          <p:nvPr/>
        </p:nvSpPr>
        <p:spPr>
          <a:xfrm>
            <a:off x="8028431" y="5742432"/>
            <a:ext cx="1600200" cy="384048"/>
          </a:xfrm>
          <a:prstGeom prst="roundRect">
            <a:avLst/>
          </a:prstGeom>
          <a:solidFill>
            <a:srgbClr val="2A2940"/>
          </a:solidFill>
          <a:ln w="10160">
            <a:solidFill>
              <a:srgbClr val="A59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low-5"/>
          <p:cNvSpPr/>
          <p:nvPr/>
        </p:nvSpPr>
        <p:spPr>
          <a:xfrm>
            <a:off x="9921240" y="5742432"/>
            <a:ext cx="1600200" cy="384048"/>
          </a:xfrm>
          <a:prstGeom prst="roundRect">
            <a:avLst/>
          </a:prstGeom>
          <a:solidFill>
            <a:srgbClr val="2A2940"/>
          </a:solidFill>
          <a:ln w="10160">
            <a:solidFill>
              <a:srgbClr val="7C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profile-tag"/>
          <p:cNvSpPr txBox="1"/>
          <p:nvPr/>
        </p:nvSpPr>
        <p:spPr>
          <a:xfrm>
            <a:off x="457200" y="201168"/>
            <a:ext cx="768096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1" lang="en-US">
                <a:solidFill>
                  <a:srgbClr val="7C6FFF"/>
                </a:solidFill>
                <a:latin typeface="Consolas"/>
              </a:rPr>
              <a:t>V3 STRESS SUITE  ·  ISOMETRIC 3D FLAT  ·  OPERATING MATRIX</a:t>
            </a:r>
          </a:p>
        </p:txBody>
      </p:sp>
      <p:sp>
        <p:nvSpPr>
          <p:cNvPr id="31" name="slide-index"/>
          <p:cNvSpPr txBox="1"/>
          <p:nvPr/>
        </p:nvSpPr>
        <p:spPr>
          <a:xfrm>
            <a:off x="10808208" y="201168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00" b="1" lang="en-US">
                <a:solidFill>
                  <a:srgbClr val="D7D4F0"/>
                </a:solidFill>
                <a:latin typeface="Consolas"/>
              </a:rPr>
              <a:t>43/60</a:t>
            </a:r>
          </a:p>
        </p:txBody>
      </p:sp>
      <p:sp>
        <p:nvSpPr>
          <p:cNvPr id="32" name="title"/>
          <p:cNvSpPr txBox="1"/>
          <p:nvPr/>
        </p:nvSpPr>
        <p:spPr>
          <a:xfrm>
            <a:off x="457200" y="484632"/>
            <a:ext cx="11274552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200" b="1" lang="en-US">
                <a:solidFill>
                  <a:srgbClr val="FFFFFF"/>
                </a:solidFill>
                <a:latin typeface="Arial"/>
              </a:rPr>
              <a:t>Operating matrices make quality ownership visible at a glance</a:t>
            </a:r>
          </a:p>
        </p:txBody>
      </p:sp>
      <p:sp>
        <p:nvSpPr>
          <p:cNvPr id="33" name="footer"/>
          <p:cNvSpPr txBox="1"/>
          <p:nvPr/>
        </p:nvSpPr>
        <p:spPr>
          <a:xfrm>
            <a:off x="457200" y="6473952"/>
            <a:ext cx="1051560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0" lang="en-US">
                <a:solidFill>
                  <a:srgbClr val="D7D4F0"/>
                </a:solidFill>
                <a:latin typeface="Consolas"/>
              </a:rPr>
              <a:t>Native-object stress fixture · violet three-face isometric blocks and thin technical connectors · editable geometry and recorded style lock</a:t>
            </a:r>
          </a:p>
        </p:txBody>
      </p:sp>
      <p:sp>
        <p:nvSpPr>
          <p:cNvPr id="34" name="matrix-rail-title"/>
          <p:cNvSpPr txBox="1"/>
          <p:nvPr/>
        </p:nvSpPr>
        <p:spPr>
          <a:xfrm>
            <a:off x="9089136" y="1371600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1" lang="en-US">
                <a:solidFill>
                  <a:srgbClr val="7C6FFF"/>
                </a:solidFill>
                <a:latin typeface="Consolas"/>
              </a:rPr>
              <a:t>QUALITY RADAR</a:t>
            </a:r>
          </a:p>
        </p:txBody>
      </p:sp>
      <p:sp>
        <p:nvSpPr>
          <p:cNvPr id="35" name="radar-label-0"/>
          <p:cNvSpPr txBox="1"/>
          <p:nvPr/>
        </p:nvSpPr>
        <p:spPr>
          <a:xfrm>
            <a:off x="9893808" y="1737360"/>
            <a:ext cx="768096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D7D4F0"/>
                </a:solidFill>
                <a:latin typeface="Consolas"/>
              </a:rPr>
              <a:t>Bounds</a:t>
            </a:r>
          </a:p>
        </p:txBody>
      </p:sp>
      <p:sp>
        <p:nvSpPr>
          <p:cNvPr id="36" name="radar-label-1"/>
          <p:cNvSpPr txBox="1"/>
          <p:nvPr/>
        </p:nvSpPr>
        <p:spPr>
          <a:xfrm>
            <a:off x="11120932" y="2446020"/>
            <a:ext cx="768096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D7D4F0"/>
                </a:solidFill>
                <a:latin typeface="Consolas"/>
              </a:rPr>
              <a:t>Fonts</a:t>
            </a:r>
          </a:p>
        </p:txBody>
      </p:sp>
      <p:sp>
        <p:nvSpPr>
          <p:cNvPr id="37" name="radar-label-2"/>
          <p:cNvSpPr txBox="1"/>
          <p:nvPr/>
        </p:nvSpPr>
        <p:spPr>
          <a:xfrm>
            <a:off x="11120932" y="3863339"/>
            <a:ext cx="768096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D7D4F0"/>
                </a:solidFill>
                <a:latin typeface="Consolas"/>
              </a:rPr>
              <a:t>Tables</a:t>
            </a:r>
          </a:p>
        </p:txBody>
      </p:sp>
      <p:sp>
        <p:nvSpPr>
          <p:cNvPr id="38" name="radar-label-3"/>
          <p:cNvSpPr txBox="1"/>
          <p:nvPr/>
        </p:nvSpPr>
        <p:spPr>
          <a:xfrm>
            <a:off x="9893808" y="4572000"/>
            <a:ext cx="768096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D7D4F0"/>
                </a:solidFill>
                <a:latin typeface="Consolas"/>
              </a:rPr>
              <a:t>Contrast</a:t>
            </a:r>
          </a:p>
        </p:txBody>
      </p:sp>
      <p:sp>
        <p:nvSpPr>
          <p:cNvPr id="39" name="radar-label-4"/>
          <p:cNvSpPr txBox="1"/>
          <p:nvPr/>
        </p:nvSpPr>
        <p:spPr>
          <a:xfrm>
            <a:off x="8666683" y="3863339"/>
            <a:ext cx="768096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D7D4F0"/>
                </a:solidFill>
                <a:latin typeface="Consolas"/>
              </a:rPr>
              <a:t>Order</a:t>
            </a:r>
          </a:p>
        </p:txBody>
      </p:sp>
      <p:sp>
        <p:nvSpPr>
          <p:cNvPr id="40" name="radar-label-5"/>
          <p:cNvSpPr txBox="1"/>
          <p:nvPr/>
        </p:nvSpPr>
        <p:spPr>
          <a:xfrm>
            <a:off x="8666683" y="2446020"/>
            <a:ext cx="768096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D7D4F0"/>
                </a:solidFill>
                <a:latin typeface="Consolas"/>
              </a:rPr>
              <a:t>Style</a:t>
            </a:r>
          </a:p>
        </p:txBody>
      </p:sp>
      <p:sp>
        <p:nvSpPr>
          <p:cNvPr id="41" name="radar-point-0"/>
          <p:cNvSpPr/>
          <p:nvPr/>
        </p:nvSpPr>
        <p:spPr>
          <a:xfrm>
            <a:off x="10204704" y="2258568"/>
            <a:ext cx="146304" cy="146304"/>
          </a:xfrm>
          <a:prstGeom prst="ellipse">
            <a:avLst/>
          </a:prstGeom>
          <a:solidFill>
            <a:srgbClr val="6254E8"/>
          </a:solidFill>
          <a:ln w="10160">
            <a:solidFill>
              <a:srgbClr val="625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adar-point-1"/>
          <p:cNvSpPr/>
          <p:nvPr/>
        </p:nvSpPr>
        <p:spPr>
          <a:xfrm>
            <a:off x="10806379" y="2825496"/>
            <a:ext cx="146304" cy="146304"/>
          </a:xfrm>
          <a:prstGeom prst="ellipse">
            <a:avLst/>
          </a:prstGeom>
          <a:solidFill>
            <a:srgbClr val="6254E8"/>
          </a:solidFill>
          <a:ln w="10160">
            <a:solidFill>
              <a:srgbClr val="625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adar-point-2"/>
          <p:cNvSpPr/>
          <p:nvPr/>
        </p:nvSpPr>
        <p:spPr>
          <a:xfrm>
            <a:off x="11139220" y="3712463"/>
            <a:ext cx="146304" cy="146304"/>
          </a:xfrm>
          <a:prstGeom prst="ellipse">
            <a:avLst/>
          </a:prstGeom>
          <a:solidFill>
            <a:srgbClr val="6254E8"/>
          </a:solidFill>
          <a:ln w="10160">
            <a:solidFill>
              <a:srgbClr val="625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adar-point-3"/>
          <p:cNvSpPr/>
          <p:nvPr/>
        </p:nvSpPr>
        <p:spPr>
          <a:xfrm>
            <a:off x="10204704" y="3995928"/>
            <a:ext cx="146304" cy="146304"/>
          </a:xfrm>
          <a:prstGeom prst="ellipse">
            <a:avLst/>
          </a:prstGeom>
          <a:solidFill>
            <a:srgbClr val="6254E8"/>
          </a:solidFill>
          <a:ln w="10160">
            <a:solidFill>
              <a:srgbClr val="625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adar-point-4"/>
          <p:cNvSpPr/>
          <p:nvPr/>
        </p:nvSpPr>
        <p:spPr>
          <a:xfrm>
            <a:off x="9317736" y="3685032"/>
            <a:ext cx="146304" cy="146304"/>
          </a:xfrm>
          <a:prstGeom prst="ellipse">
            <a:avLst/>
          </a:prstGeom>
          <a:solidFill>
            <a:srgbClr val="6254E8"/>
          </a:solidFill>
          <a:ln w="10160">
            <a:solidFill>
              <a:srgbClr val="625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adar-point-5"/>
          <p:cNvSpPr/>
          <p:nvPr/>
        </p:nvSpPr>
        <p:spPr>
          <a:xfrm>
            <a:off x="9650577" y="2852928"/>
            <a:ext cx="146304" cy="146304"/>
          </a:xfrm>
          <a:prstGeom prst="ellipse">
            <a:avLst/>
          </a:prstGeom>
          <a:solidFill>
            <a:srgbClr val="6254E8"/>
          </a:solidFill>
          <a:ln w="10160">
            <a:solidFill>
              <a:srgbClr val="625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matrix-note"/>
          <p:cNvSpPr txBox="1"/>
          <p:nvPr/>
        </p:nvSpPr>
        <p:spPr>
          <a:xfrm>
            <a:off x="9089136" y="4800600"/>
            <a:ext cx="2267712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00" b="0" lang="en-US">
                <a:solidFill>
                  <a:srgbClr val="D7D4F0"/>
                </a:solidFill>
                <a:latin typeface="Consolas"/>
              </a:rPr>
              <a:t>Editable table and quality geometry share one governed frame.</a:t>
            </a:r>
          </a:p>
        </p:txBody>
      </p:sp>
      <p:sp>
        <p:nvSpPr>
          <p:cNvPr id="48" name="flow-label-0"/>
          <p:cNvSpPr txBox="1"/>
          <p:nvPr/>
        </p:nvSpPr>
        <p:spPr>
          <a:xfrm>
            <a:off x="566928" y="5852160"/>
            <a:ext cx="137160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50" b="1" lang="en-US">
                <a:solidFill>
                  <a:srgbClr val="7C6FFF"/>
                </a:solidFill>
                <a:latin typeface="Consolas"/>
              </a:rPr>
              <a:t>Lock</a:t>
            </a:r>
          </a:p>
        </p:txBody>
      </p:sp>
      <p:sp>
        <p:nvSpPr>
          <p:cNvPr id="49" name="flow-label-1"/>
          <p:cNvSpPr txBox="1"/>
          <p:nvPr/>
        </p:nvSpPr>
        <p:spPr>
          <a:xfrm>
            <a:off x="2459736" y="5852160"/>
            <a:ext cx="137160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50" b="1" lang="en-US">
                <a:solidFill>
                  <a:srgbClr val="A594FF"/>
                </a:solidFill>
                <a:latin typeface="Consolas"/>
              </a:rPr>
              <a:t>Compose</a:t>
            </a:r>
          </a:p>
        </p:txBody>
      </p:sp>
      <p:sp>
        <p:nvSpPr>
          <p:cNvPr id="50" name="flow-label-2"/>
          <p:cNvSpPr txBox="1"/>
          <p:nvPr/>
        </p:nvSpPr>
        <p:spPr>
          <a:xfrm>
            <a:off x="4352544" y="5852160"/>
            <a:ext cx="137160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50" b="1" lang="en-US">
                <a:solidFill>
                  <a:srgbClr val="6254E8"/>
                </a:solidFill>
                <a:latin typeface="Consolas"/>
              </a:rPr>
              <a:t>Validate</a:t>
            </a:r>
          </a:p>
        </p:txBody>
      </p:sp>
      <p:sp>
        <p:nvSpPr>
          <p:cNvPr id="51" name="flow-label-3"/>
          <p:cNvSpPr txBox="1"/>
          <p:nvPr/>
        </p:nvSpPr>
        <p:spPr>
          <a:xfrm>
            <a:off x="6245352" y="5852160"/>
            <a:ext cx="137160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50" b="1" lang="en-US">
                <a:solidFill>
                  <a:srgbClr val="F5C542"/>
                </a:solidFill>
                <a:latin typeface="Consolas"/>
              </a:rPr>
              <a:t>Render</a:t>
            </a:r>
          </a:p>
        </p:txBody>
      </p:sp>
      <p:sp>
        <p:nvSpPr>
          <p:cNvPr id="52" name="flow-label-4"/>
          <p:cNvSpPr txBox="1"/>
          <p:nvPr/>
        </p:nvSpPr>
        <p:spPr>
          <a:xfrm>
            <a:off x="8138160" y="5852160"/>
            <a:ext cx="137160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50" b="1" lang="en-US">
                <a:solidFill>
                  <a:srgbClr val="A594FF"/>
                </a:solidFill>
                <a:latin typeface="Consolas"/>
              </a:rPr>
              <a:t>Inspect</a:t>
            </a:r>
          </a:p>
        </p:txBody>
      </p:sp>
      <p:sp>
        <p:nvSpPr>
          <p:cNvPr id="53" name="flow-label-5"/>
          <p:cNvSpPr txBox="1"/>
          <p:nvPr/>
        </p:nvSpPr>
        <p:spPr>
          <a:xfrm>
            <a:off x="10030968" y="5852160"/>
            <a:ext cx="137160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50" b="1" lang="en-US">
                <a:solidFill>
                  <a:srgbClr val="7C6FFF"/>
                </a:solidFill>
                <a:latin typeface="Consolas"/>
              </a:rPr>
              <a:t>Publish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2E"/>
          </a:solidFill>
          <a:ln w="10160">
            <a:solidFill>
              <a:srgbClr val="1E1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-top"/>
          <p:cNvSpPr/>
          <p:nvPr/>
        </p:nvSpPr>
        <p:spPr>
          <a:xfrm>
            <a:off x="8732520" y="4297680"/>
            <a:ext cx="1371600" cy="640080"/>
          </a:xfrm>
          <a:prstGeom prst="rect">
            <a:avLst/>
          </a:prstGeom>
          <a:solidFill>
            <a:srgbClr val="A594FF"/>
          </a:solidFill>
          <a:ln w="10160">
            <a:solidFill>
              <a:srgbClr val="A59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-left"/>
          <p:cNvSpPr/>
          <p:nvPr/>
        </p:nvSpPr>
        <p:spPr>
          <a:xfrm>
            <a:off x="8732520" y="4937760"/>
            <a:ext cx="685800" cy="502920"/>
          </a:xfrm>
          <a:prstGeom prst="rect">
            <a:avLst/>
          </a:prstGeom>
          <a:solidFill>
            <a:srgbClr val="4A3FCC"/>
          </a:solidFill>
          <a:ln w="10160">
            <a:solidFill>
              <a:srgbClr val="4A3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so-right"/>
          <p:cNvSpPr/>
          <p:nvPr/>
        </p:nvSpPr>
        <p:spPr>
          <a:xfrm>
            <a:off x="9418320" y="4937760"/>
            <a:ext cx="685800" cy="502920"/>
          </a:xfrm>
          <a:prstGeom prst="rect">
            <a:avLst/>
          </a:prstGeom>
          <a:solidFill>
            <a:srgbClr val="7C6FFF"/>
          </a:solidFill>
          <a:ln w="10160">
            <a:solidFill>
              <a:srgbClr val="7C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op-band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7C6FFF"/>
          </a:solidFill>
          <a:ln w="10160">
            <a:solidFill>
              <a:srgbClr val="7C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ortfolio-0-shell"/>
          <p:cNvSpPr/>
          <p:nvPr/>
        </p:nvSpPr>
        <p:spPr>
          <a:xfrm>
            <a:off x="457200" y="1097280"/>
            <a:ext cx="2395728" cy="2057400"/>
          </a:xfrm>
          <a:prstGeom prst="rect">
            <a:avLst/>
          </a:prstGeom>
          <a:solidFill>
            <a:srgbClr val="2A2940"/>
          </a:solidFill>
          <a:ln w="10160">
            <a:solidFill>
              <a:srgbClr val="4A3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ortfolio-1-shell"/>
          <p:cNvSpPr/>
          <p:nvPr/>
        </p:nvSpPr>
        <p:spPr>
          <a:xfrm>
            <a:off x="3054096" y="1097280"/>
            <a:ext cx="2395728" cy="2057400"/>
          </a:xfrm>
          <a:prstGeom prst="rect">
            <a:avLst/>
          </a:prstGeom>
          <a:solidFill>
            <a:srgbClr val="2A2940"/>
          </a:solidFill>
          <a:ln w="10160">
            <a:solidFill>
              <a:srgbClr val="4A3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ortfolio-2-shell"/>
          <p:cNvSpPr/>
          <p:nvPr/>
        </p:nvSpPr>
        <p:spPr>
          <a:xfrm>
            <a:off x="5650992" y="1097280"/>
            <a:ext cx="2395728" cy="2057400"/>
          </a:xfrm>
          <a:prstGeom prst="rect">
            <a:avLst/>
          </a:prstGeom>
          <a:solidFill>
            <a:srgbClr val="2A2940"/>
          </a:solidFill>
          <a:ln w="10160">
            <a:solidFill>
              <a:srgbClr val="4A3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ortfolio-3-shell"/>
          <p:cNvSpPr/>
          <p:nvPr/>
        </p:nvSpPr>
        <p:spPr>
          <a:xfrm>
            <a:off x="457200" y="3429000"/>
            <a:ext cx="2395728" cy="2057400"/>
          </a:xfrm>
          <a:prstGeom prst="rect">
            <a:avLst/>
          </a:prstGeom>
          <a:solidFill>
            <a:srgbClr val="2A2940"/>
          </a:solidFill>
          <a:ln w="10160">
            <a:solidFill>
              <a:srgbClr val="4A3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portfolio-4-shell"/>
          <p:cNvSpPr/>
          <p:nvPr/>
        </p:nvSpPr>
        <p:spPr>
          <a:xfrm>
            <a:off x="3054096" y="3429000"/>
            <a:ext cx="2395728" cy="2057400"/>
          </a:xfrm>
          <a:prstGeom prst="rect">
            <a:avLst/>
          </a:prstGeom>
          <a:solidFill>
            <a:srgbClr val="2A2940"/>
          </a:solidFill>
          <a:ln w="10160">
            <a:solidFill>
              <a:srgbClr val="4A3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portfolio-5-shell"/>
          <p:cNvSpPr/>
          <p:nvPr/>
        </p:nvSpPr>
        <p:spPr>
          <a:xfrm>
            <a:off x="5650992" y="3429000"/>
            <a:ext cx="2395728" cy="2057400"/>
          </a:xfrm>
          <a:prstGeom prst="rect">
            <a:avLst/>
          </a:prstGeom>
          <a:solidFill>
            <a:srgbClr val="2A2940"/>
          </a:solidFill>
          <a:ln w="10160">
            <a:solidFill>
              <a:srgbClr val="4A3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ortfolio-rail-shell"/>
          <p:cNvSpPr/>
          <p:nvPr/>
        </p:nvSpPr>
        <p:spPr>
          <a:xfrm>
            <a:off x="8458200" y="1097280"/>
            <a:ext cx="3273552" cy="4892040"/>
          </a:xfrm>
          <a:prstGeom prst="rect">
            <a:avLst/>
          </a:prstGeom>
          <a:solidFill>
            <a:srgbClr val="363453"/>
          </a:solidFill>
          <a:ln w="10160">
            <a:solidFill>
              <a:srgbClr val="4A3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ortfolio-0-accent"/>
          <p:cNvSpPr/>
          <p:nvPr/>
        </p:nvSpPr>
        <p:spPr>
          <a:xfrm>
            <a:off x="457200" y="1097280"/>
            <a:ext cx="73152" cy="2057400"/>
          </a:xfrm>
          <a:prstGeom prst="rect">
            <a:avLst/>
          </a:prstGeom>
          <a:solidFill>
            <a:srgbClr val="7C6FFF"/>
          </a:solidFill>
          <a:ln w="10160">
            <a:solidFill>
              <a:srgbClr val="7C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portfolio-1-accent"/>
          <p:cNvSpPr/>
          <p:nvPr/>
        </p:nvSpPr>
        <p:spPr>
          <a:xfrm>
            <a:off x="3054096" y="1097280"/>
            <a:ext cx="73152" cy="2057400"/>
          </a:xfrm>
          <a:prstGeom prst="rect">
            <a:avLst/>
          </a:prstGeom>
          <a:solidFill>
            <a:srgbClr val="7C6FFF"/>
          </a:solidFill>
          <a:ln w="10160">
            <a:solidFill>
              <a:srgbClr val="7C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portfolio-2-accent"/>
          <p:cNvSpPr/>
          <p:nvPr/>
        </p:nvSpPr>
        <p:spPr>
          <a:xfrm>
            <a:off x="5650992" y="1097280"/>
            <a:ext cx="73152" cy="2057400"/>
          </a:xfrm>
          <a:prstGeom prst="rect">
            <a:avLst/>
          </a:prstGeom>
          <a:solidFill>
            <a:srgbClr val="7C6FFF"/>
          </a:solidFill>
          <a:ln w="10160">
            <a:solidFill>
              <a:srgbClr val="7C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portfolio-3-accent"/>
          <p:cNvSpPr/>
          <p:nvPr/>
        </p:nvSpPr>
        <p:spPr>
          <a:xfrm>
            <a:off x="457200" y="3429000"/>
            <a:ext cx="73152" cy="2057400"/>
          </a:xfrm>
          <a:prstGeom prst="rect">
            <a:avLst/>
          </a:prstGeom>
          <a:solidFill>
            <a:srgbClr val="7C6FFF"/>
          </a:solidFill>
          <a:ln w="10160">
            <a:solidFill>
              <a:srgbClr val="7C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portfolio-4-accent"/>
          <p:cNvSpPr/>
          <p:nvPr/>
        </p:nvSpPr>
        <p:spPr>
          <a:xfrm>
            <a:off x="3054096" y="3429000"/>
            <a:ext cx="73152" cy="2057400"/>
          </a:xfrm>
          <a:prstGeom prst="rect">
            <a:avLst/>
          </a:prstGeom>
          <a:solidFill>
            <a:srgbClr val="7C6FFF"/>
          </a:solidFill>
          <a:ln w="10160">
            <a:solidFill>
              <a:srgbClr val="7C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portfolio-5-accent"/>
          <p:cNvSpPr/>
          <p:nvPr/>
        </p:nvSpPr>
        <p:spPr>
          <a:xfrm>
            <a:off x="5650992" y="3429000"/>
            <a:ext cx="73152" cy="2057400"/>
          </a:xfrm>
          <a:prstGeom prst="rect">
            <a:avLst/>
          </a:prstGeom>
          <a:solidFill>
            <a:srgbClr val="7C6FFF"/>
          </a:solidFill>
          <a:ln w="10160">
            <a:solidFill>
              <a:srgbClr val="7C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portfolio-rail-accent"/>
          <p:cNvSpPr/>
          <p:nvPr/>
        </p:nvSpPr>
        <p:spPr>
          <a:xfrm>
            <a:off x="8458200" y="1097280"/>
            <a:ext cx="73152" cy="4892040"/>
          </a:xfrm>
          <a:prstGeom prst="rect">
            <a:avLst/>
          </a:prstGeom>
          <a:solidFill>
            <a:srgbClr val="7C6FFF"/>
          </a:solidFill>
          <a:ln w="10160">
            <a:solidFill>
              <a:srgbClr val="7C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portfolio-micro-0-0"/>
          <p:cNvSpPr/>
          <p:nvPr/>
        </p:nvSpPr>
        <p:spPr>
          <a:xfrm>
            <a:off x="676656" y="2139696"/>
            <a:ext cx="859536" cy="256032"/>
          </a:xfrm>
          <a:prstGeom prst="roundRect">
            <a:avLst/>
          </a:prstGeom>
          <a:solidFill>
            <a:srgbClr val="363453"/>
          </a:solidFill>
          <a:ln w="10160">
            <a:solidFill>
              <a:srgbClr val="7C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portfolio-micro-0-1"/>
          <p:cNvSpPr/>
          <p:nvPr/>
        </p:nvSpPr>
        <p:spPr>
          <a:xfrm>
            <a:off x="1664208" y="2139696"/>
            <a:ext cx="859536" cy="256032"/>
          </a:xfrm>
          <a:prstGeom prst="roundRect">
            <a:avLst/>
          </a:prstGeom>
          <a:solidFill>
            <a:srgbClr val="363453"/>
          </a:solidFill>
          <a:ln w="10160">
            <a:solidFill>
              <a:srgbClr val="7C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portfolio-micro-0-2"/>
          <p:cNvSpPr/>
          <p:nvPr/>
        </p:nvSpPr>
        <p:spPr>
          <a:xfrm>
            <a:off x="676656" y="2523744"/>
            <a:ext cx="859536" cy="256032"/>
          </a:xfrm>
          <a:prstGeom prst="roundRect">
            <a:avLst/>
          </a:prstGeom>
          <a:solidFill>
            <a:srgbClr val="363453"/>
          </a:solidFill>
          <a:ln w="10160">
            <a:solidFill>
              <a:srgbClr val="7C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portfolio-micro-0-3"/>
          <p:cNvSpPr/>
          <p:nvPr/>
        </p:nvSpPr>
        <p:spPr>
          <a:xfrm>
            <a:off x="1664208" y="2523744"/>
            <a:ext cx="859536" cy="256032"/>
          </a:xfrm>
          <a:prstGeom prst="roundRect">
            <a:avLst/>
          </a:prstGeom>
          <a:solidFill>
            <a:srgbClr val="363453"/>
          </a:solidFill>
          <a:ln w="10160">
            <a:solidFill>
              <a:srgbClr val="7C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portfolio-micro-1-0"/>
          <p:cNvSpPr/>
          <p:nvPr/>
        </p:nvSpPr>
        <p:spPr>
          <a:xfrm>
            <a:off x="3273552" y="2139696"/>
            <a:ext cx="859536" cy="256032"/>
          </a:xfrm>
          <a:prstGeom prst="roundRect">
            <a:avLst/>
          </a:prstGeom>
          <a:solidFill>
            <a:srgbClr val="363453"/>
          </a:solidFill>
          <a:ln w="10160">
            <a:solidFill>
              <a:srgbClr val="A59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portfolio-micro-1-1"/>
          <p:cNvSpPr/>
          <p:nvPr/>
        </p:nvSpPr>
        <p:spPr>
          <a:xfrm>
            <a:off x="4261104" y="2139696"/>
            <a:ext cx="859536" cy="256032"/>
          </a:xfrm>
          <a:prstGeom prst="roundRect">
            <a:avLst/>
          </a:prstGeom>
          <a:solidFill>
            <a:srgbClr val="363453"/>
          </a:solidFill>
          <a:ln w="10160">
            <a:solidFill>
              <a:srgbClr val="A59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portfolio-micro-1-2"/>
          <p:cNvSpPr/>
          <p:nvPr/>
        </p:nvSpPr>
        <p:spPr>
          <a:xfrm>
            <a:off x="3273552" y="2523744"/>
            <a:ext cx="859536" cy="256032"/>
          </a:xfrm>
          <a:prstGeom prst="roundRect">
            <a:avLst/>
          </a:prstGeom>
          <a:solidFill>
            <a:srgbClr val="363453"/>
          </a:solidFill>
          <a:ln w="10160">
            <a:solidFill>
              <a:srgbClr val="A59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portfolio-micro-1-3"/>
          <p:cNvSpPr/>
          <p:nvPr/>
        </p:nvSpPr>
        <p:spPr>
          <a:xfrm>
            <a:off x="4261104" y="2523744"/>
            <a:ext cx="859536" cy="256032"/>
          </a:xfrm>
          <a:prstGeom prst="roundRect">
            <a:avLst/>
          </a:prstGeom>
          <a:solidFill>
            <a:srgbClr val="363453"/>
          </a:solidFill>
          <a:ln w="10160">
            <a:solidFill>
              <a:srgbClr val="A59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portfolio-micro-2-0"/>
          <p:cNvSpPr/>
          <p:nvPr/>
        </p:nvSpPr>
        <p:spPr>
          <a:xfrm>
            <a:off x="5870448" y="2139696"/>
            <a:ext cx="859536" cy="256032"/>
          </a:xfrm>
          <a:prstGeom prst="roundRect">
            <a:avLst/>
          </a:prstGeom>
          <a:solidFill>
            <a:srgbClr val="363453"/>
          </a:solidFill>
          <a:ln w="10160">
            <a:solidFill>
              <a:srgbClr val="625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portfolio-micro-2-1"/>
          <p:cNvSpPr/>
          <p:nvPr/>
        </p:nvSpPr>
        <p:spPr>
          <a:xfrm>
            <a:off x="6858000" y="2139696"/>
            <a:ext cx="859536" cy="256032"/>
          </a:xfrm>
          <a:prstGeom prst="roundRect">
            <a:avLst/>
          </a:prstGeom>
          <a:solidFill>
            <a:srgbClr val="363453"/>
          </a:solidFill>
          <a:ln w="10160">
            <a:solidFill>
              <a:srgbClr val="625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portfolio-micro-2-2"/>
          <p:cNvSpPr/>
          <p:nvPr/>
        </p:nvSpPr>
        <p:spPr>
          <a:xfrm>
            <a:off x="5870448" y="2523744"/>
            <a:ext cx="859536" cy="256032"/>
          </a:xfrm>
          <a:prstGeom prst="roundRect">
            <a:avLst/>
          </a:prstGeom>
          <a:solidFill>
            <a:srgbClr val="363453"/>
          </a:solidFill>
          <a:ln w="10160">
            <a:solidFill>
              <a:srgbClr val="625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portfolio-micro-2-3"/>
          <p:cNvSpPr/>
          <p:nvPr/>
        </p:nvSpPr>
        <p:spPr>
          <a:xfrm>
            <a:off x="6858000" y="2523744"/>
            <a:ext cx="859536" cy="256032"/>
          </a:xfrm>
          <a:prstGeom prst="roundRect">
            <a:avLst/>
          </a:prstGeom>
          <a:solidFill>
            <a:srgbClr val="363453"/>
          </a:solidFill>
          <a:ln w="10160">
            <a:solidFill>
              <a:srgbClr val="625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portfolio-micro-3-0"/>
          <p:cNvSpPr/>
          <p:nvPr/>
        </p:nvSpPr>
        <p:spPr>
          <a:xfrm>
            <a:off x="676656" y="4471416"/>
            <a:ext cx="859536" cy="256032"/>
          </a:xfrm>
          <a:prstGeom prst="roundRect">
            <a:avLst/>
          </a:prstGeom>
          <a:solidFill>
            <a:srgbClr val="363453"/>
          </a:solidFill>
          <a:ln w="10160">
            <a:solidFill>
              <a:srgbClr val="A59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portfolio-micro-3-1"/>
          <p:cNvSpPr/>
          <p:nvPr/>
        </p:nvSpPr>
        <p:spPr>
          <a:xfrm>
            <a:off x="1664208" y="4471416"/>
            <a:ext cx="859536" cy="256032"/>
          </a:xfrm>
          <a:prstGeom prst="roundRect">
            <a:avLst/>
          </a:prstGeom>
          <a:solidFill>
            <a:srgbClr val="363453"/>
          </a:solidFill>
          <a:ln w="10160">
            <a:solidFill>
              <a:srgbClr val="A59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portfolio-micro-3-2"/>
          <p:cNvSpPr/>
          <p:nvPr/>
        </p:nvSpPr>
        <p:spPr>
          <a:xfrm>
            <a:off x="676656" y="4855464"/>
            <a:ext cx="859536" cy="256032"/>
          </a:xfrm>
          <a:prstGeom prst="roundRect">
            <a:avLst/>
          </a:prstGeom>
          <a:solidFill>
            <a:srgbClr val="363453"/>
          </a:solidFill>
          <a:ln w="10160">
            <a:solidFill>
              <a:srgbClr val="A59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portfolio-micro-3-3"/>
          <p:cNvSpPr/>
          <p:nvPr/>
        </p:nvSpPr>
        <p:spPr>
          <a:xfrm>
            <a:off x="1664208" y="4855464"/>
            <a:ext cx="859536" cy="256032"/>
          </a:xfrm>
          <a:prstGeom prst="roundRect">
            <a:avLst/>
          </a:prstGeom>
          <a:solidFill>
            <a:srgbClr val="363453"/>
          </a:solidFill>
          <a:ln w="10160">
            <a:solidFill>
              <a:srgbClr val="A59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portfolio-micro-4-0"/>
          <p:cNvSpPr/>
          <p:nvPr/>
        </p:nvSpPr>
        <p:spPr>
          <a:xfrm>
            <a:off x="3273552" y="4471416"/>
            <a:ext cx="859536" cy="256032"/>
          </a:xfrm>
          <a:prstGeom prst="roundRect">
            <a:avLst/>
          </a:prstGeom>
          <a:solidFill>
            <a:srgbClr val="363453"/>
          </a:solidFill>
          <a:ln w="10160">
            <a:solidFill>
              <a:srgbClr val="F5C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portfolio-micro-4-1"/>
          <p:cNvSpPr/>
          <p:nvPr/>
        </p:nvSpPr>
        <p:spPr>
          <a:xfrm>
            <a:off x="4261104" y="4471416"/>
            <a:ext cx="859536" cy="256032"/>
          </a:xfrm>
          <a:prstGeom prst="roundRect">
            <a:avLst/>
          </a:prstGeom>
          <a:solidFill>
            <a:srgbClr val="363453"/>
          </a:solidFill>
          <a:ln w="10160">
            <a:solidFill>
              <a:srgbClr val="F5C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portfolio-micro-4-2"/>
          <p:cNvSpPr/>
          <p:nvPr/>
        </p:nvSpPr>
        <p:spPr>
          <a:xfrm>
            <a:off x="3273552" y="4855464"/>
            <a:ext cx="859536" cy="256032"/>
          </a:xfrm>
          <a:prstGeom prst="roundRect">
            <a:avLst/>
          </a:prstGeom>
          <a:solidFill>
            <a:srgbClr val="363453"/>
          </a:solidFill>
          <a:ln w="10160">
            <a:solidFill>
              <a:srgbClr val="F5C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portfolio-micro-4-3"/>
          <p:cNvSpPr/>
          <p:nvPr/>
        </p:nvSpPr>
        <p:spPr>
          <a:xfrm>
            <a:off x="4261104" y="4855464"/>
            <a:ext cx="859536" cy="256032"/>
          </a:xfrm>
          <a:prstGeom prst="roundRect">
            <a:avLst/>
          </a:prstGeom>
          <a:solidFill>
            <a:srgbClr val="363453"/>
          </a:solidFill>
          <a:ln w="10160">
            <a:solidFill>
              <a:srgbClr val="F5C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portfolio-micro-5-0"/>
          <p:cNvSpPr/>
          <p:nvPr/>
        </p:nvSpPr>
        <p:spPr>
          <a:xfrm>
            <a:off x="5870448" y="4471416"/>
            <a:ext cx="859536" cy="256032"/>
          </a:xfrm>
          <a:prstGeom prst="roundRect">
            <a:avLst/>
          </a:prstGeom>
          <a:solidFill>
            <a:srgbClr val="363453"/>
          </a:solidFill>
          <a:ln w="10160">
            <a:solidFill>
              <a:srgbClr val="FF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portfolio-micro-5-1"/>
          <p:cNvSpPr/>
          <p:nvPr/>
        </p:nvSpPr>
        <p:spPr>
          <a:xfrm>
            <a:off x="6858000" y="4471416"/>
            <a:ext cx="859536" cy="256032"/>
          </a:xfrm>
          <a:prstGeom prst="roundRect">
            <a:avLst/>
          </a:prstGeom>
          <a:solidFill>
            <a:srgbClr val="363453"/>
          </a:solidFill>
          <a:ln w="10160">
            <a:solidFill>
              <a:srgbClr val="FF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portfolio-micro-5-2"/>
          <p:cNvSpPr/>
          <p:nvPr/>
        </p:nvSpPr>
        <p:spPr>
          <a:xfrm>
            <a:off x="5870448" y="4855464"/>
            <a:ext cx="859536" cy="256032"/>
          </a:xfrm>
          <a:prstGeom prst="roundRect">
            <a:avLst/>
          </a:prstGeom>
          <a:solidFill>
            <a:srgbClr val="363453"/>
          </a:solidFill>
          <a:ln w="10160">
            <a:solidFill>
              <a:srgbClr val="FF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portfolio-micro-5-3"/>
          <p:cNvSpPr/>
          <p:nvPr/>
        </p:nvSpPr>
        <p:spPr>
          <a:xfrm>
            <a:off x="6858000" y="4855464"/>
            <a:ext cx="859536" cy="256032"/>
          </a:xfrm>
          <a:prstGeom prst="roundRect">
            <a:avLst/>
          </a:prstGeom>
          <a:solidFill>
            <a:srgbClr val="363453"/>
          </a:solidFill>
          <a:ln w="10160">
            <a:solidFill>
              <a:srgbClr val="FF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lease-cell-0"/>
          <p:cNvSpPr/>
          <p:nvPr/>
        </p:nvSpPr>
        <p:spPr>
          <a:xfrm>
            <a:off x="8723376" y="1737360"/>
            <a:ext cx="2697480" cy="512064"/>
          </a:xfrm>
          <a:prstGeom prst="roundRect">
            <a:avLst/>
          </a:prstGeom>
          <a:solidFill>
            <a:srgbClr val="2A2940"/>
          </a:solidFill>
          <a:ln w="10160">
            <a:solidFill>
              <a:srgbClr val="4A3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lease-cell-1"/>
          <p:cNvSpPr/>
          <p:nvPr/>
        </p:nvSpPr>
        <p:spPr>
          <a:xfrm>
            <a:off x="8723376" y="2432304"/>
            <a:ext cx="2697480" cy="512064"/>
          </a:xfrm>
          <a:prstGeom prst="roundRect">
            <a:avLst/>
          </a:prstGeom>
          <a:solidFill>
            <a:srgbClr val="2A2940"/>
          </a:solidFill>
          <a:ln w="10160">
            <a:solidFill>
              <a:srgbClr val="4A3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lease-cell-2"/>
          <p:cNvSpPr/>
          <p:nvPr/>
        </p:nvSpPr>
        <p:spPr>
          <a:xfrm>
            <a:off x="8723376" y="3127248"/>
            <a:ext cx="2697480" cy="512064"/>
          </a:xfrm>
          <a:prstGeom prst="roundRect">
            <a:avLst/>
          </a:prstGeom>
          <a:solidFill>
            <a:srgbClr val="2A2940"/>
          </a:solidFill>
          <a:ln w="10160">
            <a:solidFill>
              <a:srgbClr val="4A3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lease-cell-3"/>
          <p:cNvSpPr/>
          <p:nvPr/>
        </p:nvSpPr>
        <p:spPr>
          <a:xfrm>
            <a:off x="8723376" y="3822191"/>
            <a:ext cx="2697480" cy="512064"/>
          </a:xfrm>
          <a:prstGeom prst="roundRect">
            <a:avLst/>
          </a:prstGeom>
          <a:solidFill>
            <a:srgbClr val="2A2940"/>
          </a:solidFill>
          <a:ln w="10160">
            <a:solidFill>
              <a:srgbClr val="4A3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lease-cell-4"/>
          <p:cNvSpPr/>
          <p:nvPr/>
        </p:nvSpPr>
        <p:spPr>
          <a:xfrm>
            <a:off x="8723376" y="4517136"/>
            <a:ext cx="2697480" cy="512064"/>
          </a:xfrm>
          <a:prstGeom prst="roundRect">
            <a:avLst/>
          </a:prstGeom>
          <a:solidFill>
            <a:srgbClr val="2A2940"/>
          </a:solidFill>
          <a:ln w="10160">
            <a:solidFill>
              <a:srgbClr val="4A3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portfolio-banner"/>
          <p:cNvSpPr/>
          <p:nvPr/>
        </p:nvSpPr>
        <p:spPr>
          <a:xfrm>
            <a:off x="457200" y="5559552"/>
            <a:ext cx="7882127" cy="438912"/>
          </a:xfrm>
          <a:prstGeom prst="roundRect">
            <a:avLst/>
          </a:prstGeom>
          <a:solidFill>
            <a:srgbClr val="7C6FFF"/>
          </a:solidFill>
          <a:ln w="10160">
            <a:solidFill>
              <a:srgbClr val="7C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profile-tag"/>
          <p:cNvSpPr txBox="1"/>
          <p:nvPr/>
        </p:nvSpPr>
        <p:spPr>
          <a:xfrm>
            <a:off x="457200" y="201168"/>
            <a:ext cx="768096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1" lang="en-US">
                <a:solidFill>
                  <a:srgbClr val="7C6FFF"/>
                </a:solidFill>
                <a:latin typeface="Consolas"/>
              </a:rPr>
              <a:t>V3 STRESS SUITE  ·  ISOMETRIC 3D FLAT  ·  PORTFOLIO GRID</a:t>
            </a:r>
          </a:p>
        </p:txBody>
      </p:sp>
      <p:sp>
        <p:nvSpPr>
          <p:cNvPr id="52" name="slide-index"/>
          <p:cNvSpPr txBox="1"/>
          <p:nvPr/>
        </p:nvSpPr>
        <p:spPr>
          <a:xfrm>
            <a:off x="10808208" y="201168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00" b="1" lang="en-US">
                <a:solidFill>
                  <a:srgbClr val="D7D4F0"/>
                </a:solidFill>
                <a:latin typeface="Consolas"/>
              </a:rPr>
              <a:t>44/60</a:t>
            </a:r>
          </a:p>
        </p:txBody>
      </p:sp>
      <p:sp>
        <p:nvSpPr>
          <p:cNvPr id="53" name="title"/>
          <p:cNvSpPr txBox="1"/>
          <p:nvPr/>
        </p:nvSpPr>
        <p:spPr>
          <a:xfrm>
            <a:off x="457200" y="484632"/>
            <a:ext cx="11274552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200" b="1" lang="en-US">
                <a:solidFill>
                  <a:srgbClr val="FFFFFF"/>
                </a:solidFill>
                <a:latin typeface="Arial"/>
              </a:rPr>
              <a:t>Portfolio grids compress six validated capability views into one scan</a:t>
            </a:r>
          </a:p>
        </p:txBody>
      </p:sp>
      <p:sp>
        <p:nvSpPr>
          <p:cNvPr id="54" name="footer"/>
          <p:cNvSpPr txBox="1"/>
          <p:nvPr/>
        </p:nvSpPr>
        <p:spPr>
          <a:xfrm>
            <a:off x="457200" y="6473952"/>
            <a:ext cx="1051560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0" lang="en-US">
                <a:solidFill>
                  <a:srgbClr val="D7D4F0"/>
                </a:solidFill>
                <a:latin typeface="Consolas"/>
              </a:rPr>
              <a:t>Native-object stress fixture · violet three-face isometric blocks and thin technical connectors · editable geometry and recorded style lock</a:t>
            </a:r>
          </a:p>
        </p:txBody>
      </p:sp>
      <p:sp>
        <p:nvSpPr>
          <p:cNvPr id="55" name="portfolio-num-0"/>
          <p:cNvSpPr txBox="1"/>
          <p:nvPr/>
        </p:nvSpPr>
        <p:spPr>
          <a:xfrm>
            <a:off x="676656" y="1298448"/>
            <a:ext cx="566928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1" lang="en-US">
                <a:solidFill>
                  <a:srgbClr val="7C6FFF"/>
                </a:solidFill>
                <a:latin typeface="Arial"/>
              </a:rPr>
              <a:t>01</a:t>
            </a:r>
          </a:p>
        </p:txBody>
      </p:sp>
      <p:sp>
        <p:nvSpPr>
          <p:cNvPr id="56" name="portfolio-name-0"/>
          <p:cNvSpPr txBox="1"/>
          <p:nvPr/>
        </p:nvSpPr>
        <p:spPr>
          <a:xfrm>
            <a:off x="676656" y="1719072"/>
            <a:ext cx="192024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50" b="1" lang="en-US">
                <a:solidFill>
                  <a:srgbClr val="FFFFFF"/>
                </a:solidFill>
                <a:latin typeface="Consolas"/>
              </a:rPr>
              <a:t>Profile lock</a:t>
            </a:r>
          </a:p>
        </p:txBody>
      </p:sp>
      <p:sp>
        <p:nvSpPr>
          <p:cNvPr id="57" name="portfolio-micro-label-0-0"/>
          <p:cNvSpPr txBox="1"/>
          <p:nvPr/>
        </p:nvSpPr>
        <p:spPr>
          <a:xfrm>
            <a:off x="722376" y="2208276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7C6FFF"/>
                </a:solidFill>
                <a:latin typeface="Consolas"/>
              </a:rPr>
              <a:t>spec</a:t>
            </a:r>
          </a:p>
        </p:txBody>
      </p:sp>
      <p:sp>
        <p:nvSpPr>
          <p:cNvPr id="58" name="portfolio-micro-label-0-1"/>
          <p:cNvSpPr txBox="1"/>
          <p:nvPr/>
        </p:nvSpPr>
        <p:spPr>
          <a:xfrm>
            <a:off x="1709928" y="2208276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7C6FFF"/>
                </a:solidFill>
                <a:latin typeface="Consolas"/>
              </a:rPr>
              <a:t>audit</a:t>
            </a:r>
          </a:p>
        </p:txBody>
      </p:sp>
      <p:sp>
        <p:nvSpPr>
          <p:cNvPr id="59" name="portfolio-micro-label-0-2"/>
          <p:cNvSpPr txBox="1"/>
          <p:nvPr/>
        </p:nvSpPr>
        <p:spPr>
          <a:xfrm>
            <a:off x="722376" y="2592324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7C6FFF"/>
                </a:solidFill>
                <a:latin typeface="Consolas"/>
              </a:rPr>
              <a:t>trace</a:t>
            </a:r>
          </a:p>
        </p:txBody>
      </p:sp>
      <p:sp>
        <p:nvSpPr>
          <p:cNvPr id="60" name="portfolio-micro-label-0-3"/>
          <p:cNvSpPr txBox="1"/>
          <p:nvPr/>
        </p:nvSpPr>
        <p:spPr>
          <a:xfrm>
            <a:off x="1709928" y="2592324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7C6FFF"/>
                </a:solidFill>
                <a:latin typeface="Consolas"/>
              </a:rPr>
              <a:t>pass</a:t>
            </a:r>
          </a:p>
        </p:txBody>
      </p:sp>
      <p:sp>
        <p:nvSpPr>
          <p:cNvPr id="61" name="portfolio-num-1"/>
          <p:cNvSpPr txBox="1"/>
          <p:nvPr/>
        </p:nvSpPr>
        <p:spPr>
          <a:xfrm>
            <a:off x="3273552" y="1298448"/>
            <a:ext cx="566928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1" lang="en-US">
                <a:solidFill>
                  <a:srgbClr val="A594FF"/>
                </a:solidFill>
                <a:latin typeface="Arial"/>
              </a:rPr>
              <a:t>02</a:t>
            </a:r>
          </a:p>
        </p:txBody>
      </p:sp>
      <p:sp>
        <p:nvSpPr>
          <p:cNvPr id="62" name="portfolio-name-1"/>
          <p:cNvSpPr txBox="1"/>
          <p:nvPr/>
        </p:nvSpPr>
        <p:spPr>
          <a:xfrm>
            <a:off x="3273552" y="1719072"/>
            <a:ext cx="192024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50" b="1" lang="en-US">
                <a:solidFill>
                  <a:srgbClr val="FFFFFF"/>
                </a:solidFill>
                <a:latin typeface="Consolas"/>
              </a:rPr>
              <a:t>Narrative</a:t>
            </a:r>
          </a:p>
        </p:txBody>
      </p:sp>
      <p:sp>
        <p:nvSpPr>
          <p:cNvPr id="63" name="portfolio-micro-label-1-0"/>
          <p:cNvSpPr txBox="1"/>
          <p:nvPr/>
        </p:nvSpPr>
        <p:spPr>
          <a:xfrm>
            <a:off x="3319272" y="2208276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A594FF"/>
                </a:solidFill>
                <a:latin typeface="Consolas"/>
              </a:rPr>
              <a:t>spec</a:t>
            </a:r>
          </a:p>
        </p:txBody>
      </p:sp>
      <p:sp>
        <p:nvSpPr>
          <p:cNvPr id="64" name="portfolio-micro-label-1-1"/>
          <p:cNvSpPr txBox="1"/>
          <p:nvPr/>
        </p:nvSpPr>
        <p:spPr>
          <a:xfrm>
            <a:off x="4306824" y="2208276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A594FF"/>
                </a:solidFill>
                <a:latin typeface="Consolas"/>
              </a:rPr>
              <a:t>audit</a:t>
            </a:r>
          </a:p>
        </p:txBody>
      </p:sp>
      <p:sp>
        <p:nvSpPr>
          <p:cNvPr id="65" name="portfolio-micro-label-1-2"/>
          <p:cNvSpPr txBox="1"/>
          <p:nvPr/>
        </p:nvSpPr>
        <p:spPr>
          <a:xfrm>
            <a:off x="3319272" y="2592324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A594FF"/>
                </a:solidFill>
                <a:latin typeface="Consolas"/>
              </a:rPr>
              <a:t>trace</a:t>
            </a:r>
          </a:p>
        </p:txBody>
      </p:sp>
      <p:sp>
        <p:nvSpPr>
          <p:cNvPr id="66" name="portfolio-micro-label-1-3"/>
          <p:cNvSpPr txBox="1"/>
          <p:nvPr/>
        </p:nvSpPr>
        <p:spPr>
          <a:xfrm>
            <a:off x="4306824" y="2592324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A594FF"/>
                </a:solidFill>
                <a:latin typeface="Consolas"/>
              </a:rPr>
              <a:t>pass</a:t>
            </a:r>
          </a:p>
        </p:txBody>
      </p:sp>
      <p:sp>
        <p:nvSpPr>
          <p:cNvPr id="67" name="portfolio-num-2"/>
          <p:cNvSpPr txBox="1"/>
          <p:nvPr/>
        </p:nvSpPr>
        <p:spPr>
          <a:xfrm>
            <a:off x="5870448" y="1298448"/>
            <a:ext cx="566928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1" lang="en-US">
                <a:solidFill>
                  <a:srgbClr val="6254E8"/>
                </a:solidFill>
                <a:latin typeface="Arial"/>
              </a:rPr>
              <a:t>03</a:t>
            </a:r>
          </a:p>
        </p:txBody>
      </p:sp>
      <p:sp>
        <p:nvSpPr>
          <p:cNvPr id="68" name="portfolio-name-2"/>
          <p:cNvSpPr txBox="1"/>
          <p:nvPr/>
        </p:nvSpPr>
        <p:spPr>
          <a:xfrm>
            <a:off x="5870448" y="1719072"/>
            <a:ext cx="192024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50" b="1" lang="en-US">
                <a:solidFill>
                  <a:srgbClr val="FFFFFF"/>
                </a:solidFill>
                <a:latin typeface="Consolas"/>
              </a:rPr>
              <a:t>Geometry</a:t>
            </a:r>
          </a:p>
        </p:txBody>
      </p:sp>
      <p:sp>
        <p:nvSpPr>
          <p:cNvPr id="69" name="portfolio-micro-label-2-0"/>
          <p:cNvSpPr txBox="1"/>
          <p:nvPr/>
        </p:nvSpPr>
        <p:spPr>
          <a:xfrm>
            <a:off x="5916168" y="2208276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6254E8"/>
                </a:solidFill>
                <a:latin typeface="Consolas"/>
              </a:rPr>
              <a:t>spec</a:t>
            </a:r>
          </a:p>
        </p:txBody>
      </p:sp>
      <p:sp>
        <p:nvSpPr>
          <p:cNvPr id="70" name="portfolio-micro-label-2-1"/>
          <p:cNvSpPr txBox="1"/>
          <p:nvPr/>
        </p:nvSpPr>
        <p:spPr>
          <a:xfrm>
            <a:off x="6903720" y="2208276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6254E8"/>
                </a:solidFill>
                <a:latin typeface="Consolas"/>
              </a:rPr>
              <a:t>audit</a:t>
            </a:r>
          </a:p>
        </p:txBody>
      </p:sp>
      <p:sp>
        <p:nvSpPr>
          <p:cNvPr id="71" name="portfolio-micro-label-2-2"/>
          <p:cNvSpPr txBox="1"/>
          <p:nvPr/>
        </p:nvSpPr>
        <p:spPr>
          <a:xfrm>
            <a:off x="5916168" y="2592324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6254E8"/>
                </a:solidFill>
                <a:latin typeface="Consolas"/>
              </a:rPr>
              <a:t>trace</a:t>
            </a:r>
          </a:p>
        </p:txBody>
      </p:sp>
      <p:sp>
        <p:nvSpPr>
          <p:cNvPr id="72" name="portfolio-micro-label-2-3"/>
          <p:cNvSpPr txBox="1"/>
          <p:nvPr/>
        </p:nvSpPr>
        <p:spPr>
          <a:xfrm>
            <a:off x="6903720" y="2592324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6254E8"/>
                </a:solidFill>
                <a:latin typeface="Consolas"/>
              </a:rPr>
              <a:t>pass</a:t>
            </a:r>
          </a:p>
        </p:txBody>
      </p:sp>
      <p:sp>
        <p:nvSpPr>
          <p:cNvPr id="73" name="portfolio-num-3"/>
          <p:cNvSpPr txBox="1"/>
          <p:nvPr/>
        </p:nvSpPr>
        <p:spPr>
          <a:xfrm>
            <a:off x="676656" y="3630168"/>
            <a:ext cx="566928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1" lang="en-US">
                <a:solidFill>
                  <a:srgbClr val="A594FF"/>
                </a:solidFill>
                <a:latin typeface="Arial"/>
              </a:rPr>
              <a:t>04</a:t>
            </a:r>
          </a:p>
        </p:txBody>
      </p:sp>
      <p:sp>
        <p:nvSpPr>
          <p:cNvPr id="74" name="portfolio-name-3"/>
          <p:cNvSpPr txBox="1"/>
          <p:nvPr/>
        </p:nvSpPr>
        <p:spPr>
          <a:xfrm>
            <a:off x="676656" y="4050791"/>
            <a:ext cx="192024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50" b="1" lang="en-US">
                <a:solidFill>
                  <a:srgbClr val="FFFFFF"/>
                </a:solidFill>
                <a:latin typeface="Consolas"/>
              </a:rPr>
              <a:t>Visuals</a:t>
            </a:r>
          </a:p>
        </p:txBody>
      </p:sp>
      <p:sp>
        <p:nvSpPr>
          <p:cNvPr id="75" name="portfolio-micro-label-3-0"/>
          <p:cNvSpPr txBox="1"/>
          <p:nvPr/>
        </p:nvSpPr>
        <p:spPr>
          <a:xfrm>
            <a:off x="722376" y="4539996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A594FF"/>
                </a:solidFill>
                <a:latin typeface="Consolas"/>
              </a:rPr>
              <a:t>spec</a:t>
            </a:r>
          </a:p>
        </p:txBody>
      </p:sp>
      <p:sp>
        <p:nvSpPr>
          <p:cNvPr id="76" name="portfolio-micro-label-3-1"/>
          <p:cNvSpPr txBox="1"/>
          <p:nvPr/>
        </p:nvSpPr>
        <p:spPr>
          <a:xfrm>
            <a:off x="1709928" y="4539996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A594FF"/>
                </a:solidFill>
                <a:latin typeface="Consolas"/>
              </a:rPr>
              <a:t>audit</a:t>
            </a:r>
          </a:p>
        </p:txBody>
      </p:sp>
      <p:sp>
        <p:nvSpPr>
          <p:cNvPr id="77" name="portfolio-micro-label-3-2"/>
          <p:cNvSpPr txBox="1"/>
          <p:nvPr/>
        </p:nvSpPr>
        <p:spPr>
          <a:xfrm>
            <a:off x="722376" y="4924044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A594FF"/>
                </a:solidFill>
                <a:latin typeface="Consolas"/>
              </a:rPr>
              <a:t>trace</a:t>
            </a:r>
          </a:p>
        </p:txBody>
      </p:sp>
      <p:sp>
        <p:nvSpPr>
          <p:cNvPr id="78" name="portfolio-micro-label-3-3"/>
          <p:cNvSpPr txBox="1"/>
          <p:nvPr/>
        </p:nvSpPr>
        <p:spPr>
          <a:xfrm>
            <a:off x="1709928" y="4924044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A594FF"/>
                </a:solidFill>
                <a:latin typeface="Consolas"/>
              </a:rPr>
              <a:t>pass</a:t>
            </a:r>
          </a:p>
        </p:txBody>
      </p:sp>
      <p:sp>
        <p:nvSpPr>
          <p:cNvPr id="79" name="portfolio-num-4"/>
          <p:cNvSpPr txBox="1"/>
          <p:nvPr/>
        </p:nvSpPr>
        <p:spPr>
          <a:xfrm>
            <a:off x="3273552" y="3630168"/>
            <a:ext cx="566928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1" lang="en-US">
                <a:solidFill>
                  <a:srgbClr val="F5C542"/>
                </a:solidFill>
                <a:latin typeface="Arial"/>
              </a:rPr>
              <a:t>05</a:t>
            </a:r>
          </a:p>
        </p:txBody>
      </p:sp>
      <p:sp>
        <p:nvSpPr>
          <p:cNvPr id="80" name="portfolio-name-4"/>
          <p:cNvSpPr txBox="1"/>
          <p:nvPr/>
        </p:nvSpPr>
        <p:spPr>
          <a:xfrm>
            <a:off x="3273552" y="4050791"/>
            <a:ext cx="192024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50" b="1" lang="en-US">
                <a:solidFill>
                  <a:srgbClr val="FFFFFF"/>
                </a:solidFill>
                <a:latin typeface="Consolas"/>
              </a:rPr>
              <a:t>Accessibility</a:t>
            </a:r>
          </a:p>
        </p:txBody>
      </p:sp>
      <p:sp>
        <p:nvSpPr>
          <p:cNvPr id="81" name="portfolio-micro-label-4-0"/>
          <p:cNvSpPr txBox="1"/>
          <p:nvPr/>
        </p:nvSpPr>
        <p:spPr>
          <a:xfrm>
            <a:off x="3319272" y="4539996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F5C542"/>
                </a:solidFill>
                <a:latin typeface="Consolas"/>
              </a:rPr>
              <a:t>spec</a:t>
            </a:r>
          </a:p>
        </p:txBody>
      </p:sp>
      <p:sp>
        <p:nvSpPr>
          <p:cNvPr id="82" name="portfolio-micro-label-4-1"/>
          <p:cNvSpPr txBox="1"/>
          <p:nvPr/>
        </p:nvSpPr>
        <p:spPr>
          <a:xfrm>
            <a:off x="4306824" y="4539996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F5C542"/>
                </a:solidFill>
                <a:latin typeface="Consolas"/>
              </a:rPr>
              <a:t>audit</a:t>
            </a:r>
          </a:p>
        </p:txBody>
      </p:sp>
      <p:sp>
        <p:nvSpPr>
          <p:cNvPr id="83" name="portfolio-micro-label-4-2"/>
          <p:cNvSpPr txBox="1"/>
          <p:nvPr/>
        </p:nvSpPr>
        <p:spPr>
          <a:xfrm>
            <a:off x="3319272" y="4924044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F5C542"/>
                </a:solidFill>
                <a:latin typeface="Consolas"/>
              </a:rPr>
              <a:t>trace</a:t>
            </a:r>
          </a:p>
        </p:txBody>
      </p:sp>
      <p:sp>
        <p:nvSpPr>
          <p:cNvPr id="84" name="portfolio-micro-label-4-3"/>
          <p:cNvSpPr txBox="1"/>
          <p:nvPr/>
        </p:nvSpPr>
        <p:spPr>
          <a:xfrm>
            <a:off x="4306824" y="4924044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F5C542"/>
                </a:solidFill>
                <a:latin typeface="Consolas"/>
              </a:rPr>
              <a:t>pass</a:t>
            </a:r>
          </a:p>
        </p:txBody>
      </p:sp>
      <p:sp>
        <p:nvSpPr>
          <p:cNvPr id="85" name="portfolio-num-5"/>
          <p:cNvSpPr txBox="1"/>
          <p:nvPr/>
        </p:nvSpPr>
        <p:spPr>
          <a:xfrm>
            <a:off x="5870448" y="3630168"/>
            <a:ext cx="566928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1" lang="en-US">
                <a:solidFill>
                  <a:srgbClr val="FF6B8A"/>
                </a:solidFill>
                <a:latin typeface="Arial"/>
              </a:rPr>
              <a:t>06</a:t>
            </a:r>
          </a:p>
        </p:txBody>
      </p:sp>
      <p:sp>
        <p:nvSpPr>
          <p:cNvPr id="86" name="portfolio-name-5"/>
          <p:cNvSpPr txBox="1"/>
          <p:nvPr/>
        </p:nvSpPr>
        <p:spPr>
          <a:xfrm>
            <a:off x="5870448" y="4050791"/>
            <a:ext cx="192024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50" b="1" lang="en-US">
                <a:solidFill>
                  <a:srgbClr val="FFFFFF"/>
                </a:solidFill>
                <a:latin typeface="Consolas"/>
              </a:rPr>
              <a:t>Package</a:t>
            </a:r>
          </a:p>
        </p:txBody>
      </p:sp>
      <p:sp>
        <p:nvSpPr>
          <p:cNvPr id="87" name="portfolio-micro-label-5-0"/>
          <p:cNvSpPr txBox="1"/>
          <p:nvPr/>
        </p:nvSpPr>
        <p:spPr>
          <a:xfrm>
            <a:off x="5916168" y="4539996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FF6B8A"/>
                </a:solidFill>
                <a:latin typeface="Consolas"/>
              </a:rPr>
              <a:t>spec</a:t>
            </a:r>
          </a:p>
        </p:txBody>
      </p:sp>
      <p:sp>
        <p:nvSpPr>
          <p:cNvPr id="88" name="portfolio-micro-label-5-1"/>
          <p:cNvSpPr txBox="1"/>
          <p:nvPr/>
        </p:nvSpPr>
        <p:spPr>
          <a:xfrm>
            <a:off x="6903720" y="4539996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FF6B8A"/>
                </a:solidFill>
                <a:latin typeface="Consolas"/>
              </a:rPr>
              <a:t>audit</a:t>
            </a:r>
          </a:p>
        </p:txBody>
      </p:sp>
      <p:sp>
        <p:nvSpPr>
          <p:cNvPr id="89" name="portfolio-micro-label-5-2"/>
          <p:cNvSpPr txBox="1"/>
          <p:nvPr/>
        </p:nvSpPr>
        <p:spPr>
          <a:xfrm>
            <a:off x="5916168" y="4924044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FF6B8A"/>
                </a:solidFill>
                <a:latin typeface="Consolas"/>
              </a:rPr>
              <a:t>trace</a:t>
            </a:r>
          </a:p>
        </p:txBody>
      </p:sp>
      <p:sp>
        <p:nvSpPr>
          <p:cNvPr id="90" name="portfolio-micro-label-5-3"/>
          <p:cNvSpPr txBox="1"/>
          <p:nvPr/>
        </p:nvSpPr>
        <p:spPr>
          <a:xfrm>
            <a:off x="6903720" y="4924044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FF6B8A"/>
                </a:solidFill>
                <a:latin typeface="Consolas"/>
              </a:rPr>
              <a:t>pass</a:t>
            </a:r>
          </a:p>
        </p:txBody>
      </p:sp>
      <p:sp>
        <p:nvSpPr>
          <p:cNvPr id="91" name="portfolio-rail-title"/>
          <p:cNvSpPr txBox="1"/>
          <p:nvPr/>
        </p:nvSpPr>
        <p:spPr>
          <a:xfrm>
            <a:off x="8723376" y="1325880"/>
            <a:ext cx="246888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1" lang="en-US">
                <a:solidFill>
                  <a:srgbClr val="7C6FFF"/>
                </a:solidFill>
                <a:latin typeface="Consolas"/>
              </a:rPr>
              <a:t>RELEASE BOARD</a:t>
            </a:r>
          </a:p>
        </p:txBody>
      </p:sp>
      <p:sp>
        <p:nvSpPr>
          <p:cNvPr id="92" name="release-label-0"/>
          <p:cNvSpPr txBox="1"/>
          <p:nvPr/>
        </p:nvSpPr>
        <p:spPr>
          <a:xfrm>
            <a:off x="8906256" y="1847088"/>
            <a:ext cx="137160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50" b="1" lang="en-US">
                <a:solidFill>
                  <a:srgbClr val="D7D4F0"/>
                </a:solidFill>
                <a:latin typeface="Consolas"/>
              </a:rPr>
              <a:t>Layouts</a:t>
            </a:r>
          </a:p>
        </p:txBody>
      </p:sp>
      <p:sp>
        <p:nvSpPr>
          <p:cNvPr id="93" name="release-value-0"/>
          <p:cNvSpPr txBox="1"/>
          <p:nvPr/>
        </p:nvSpPr>
        <p:spPr>
          <a:xfrm>
            <a:off x="10378440" y="1828800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1100" b="1" lang="en-US">
                <a:solidFill>
                  <a:srgbClr val="7C6FFF"/>
                </a:solidFill>
                <a:latin typeface="Consolas"/>
              </a:rPr>
              <a:t>60</a:t>
            </a:r>
          </a:p>
        </p:txBody>
      </p:sp>
      <p:sp>
        <p:nvSpPr>
          <p:cNvPr id="94" name="release-label-1"/>
          <p:cNvSpPr txBox="1"/>
          <p:nvPr/>
        </p:nvSpPr>
        <p:spPr>
          <a:xfrm>
            <a:off x="8906256" y="2542032"/>
            <a:ext cx="137160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50" b="1" lang="en-US">
                <a:solidFill>
                  <a:srgbClr val="D7D4F0"/>
                </a:solidFill>
                <a:latin typeface="Consolas"/>
              </a:rPr>
              <a:t>Profiles</a:t>
            </a:r>
          </a:p>
        </p:txBody>
      </p:sp>
      <p:sp>
        <p:nvSpPr>
          <p:cNvPr id="95" name="release-value-1"/>
          <p:cNvSpPr txBox="1"/>
          <p:nvPr/>
        </p:nvSpPr>
        <p:spPr>
          <a:xfrm>
            <a:off x="10378440" y="2523744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1100" b="1" lang="en-US">
                <a:solidFill>
                  <a:srgbClr val="A594FF"/>
                </a:solidFill>
                <a:latin typeface="Consolas"/>
              </a:rPr>
              <a:t>12</a:t>
            </a:r>
          </a:p>
        </p:txBody>
      </p:sp>
      <p:sp>
        <p:nvSpPr>
          <p:cNvPr id="96" name="release-label-2"/>
          <p:cNvSpPr txBox="1"/>
          <p:nvPr/>
        </p:nvSpPr>
        <p:spPr>
          <a:xfrm>
            <a:off x="8906256" y="3236976"/>
            <a:ext cx="137160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50" b="1" lang="en-US">
                <a:solidFill>
                  <a:srgbClr val="D7D4F0"/>
                </a:solidFill>
                <a:latin typeface="Consolas"/>
              </a:rPr>
              <a:t>Gate checks</a:t>
            </a:r>
          </a:p>
        </p:txBody>
      </p:sp>
      <p:sp>
        <p:nvSpPr>
          <p:cNvPr id="97" name="release-value-2"/>
          <p:cNvSpPr txBox="1"/>
          <p:nvPr/>
        </p:nvSpPr>
        <p:spPr>
          <a:xfrm>
            <a:off x="10378440" y="3218688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1100" b="1" lang="en-US">
                <a:solidFill>
                  <a:srgbClr val="6254E8"/>
                </a:solidFill>
                <a:latin typeface="Consolas"/>
              </a:rPr>
              <a:t>11</a:t>
            </a:r>
          </a:p>
        </p:txBody>
      </p:sp>
      <p:sp>
        <p:nvSpPr>
          <p:cNvPr id="98" name="release-label-3"/>
          <p:cNvSpPr txBox="1"/>
          <p:nvPr/>
        </p:nvSpPr>
        <p:spPr>
          <a:xfrm>
            <a:off x="8906256" y="3931920"/>
            <a:ext cx="137160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50" b="1" lang="en-US">
                <a:solidFill>
                  <a:srgbClr val="D7D4F0"/>
                </a:solidFill>
                <a:latin typeface="Consolas"/>
              </a:rPr>
              <a:t>Defects</a:t>
            </a:r>
          </a:p>
        </p:txBody>
      </p:sp>
      <p:sp>
        <p:nvSpPr>
          <p:cNvPr id="99" name="release-value-3"/>
          <p:cNvSpPr txBox="1"/>
          <p:nvPr/>
        </p:nvSpPr>
        <p:spPr>
          <a:xfrm>
            <a:off x="10378440" y="3913632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1100" b="1" lang="en-US">
                <a:solidFill>
                  <a:srgbClr val="A594FF"/>
                </a:solidFill>
                <a:latin typeface="Consolas"/>
              </a:rPr>
              <a:t>00</a:t>
            </a:r>
          </a:p>
        </p:txBody>
      </p:sp>
      <p:sp>
        <p:nvSpPr>
          <p:cNvPr id="100" name="release-label-4"/>
          <p:cNvSpPr txBox="1"/>
          <p:nvPr/>
        </p:nvSpPr>
        <p:spPr>
          <a:xfrm>
            <a:off x="8906256" y="4626864"/>
            <a:ext cx="137160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50" b="1" lang="en-US">
                <a:solidFill>
                  <a:srgbClr val="D7D4F0"/>
                </a:solidFill>
                <a:latin typeface="Consolas"/>
              </a:rPr>
              <a:t>Evidence</a:t>
            </a:r>
          </a:p>
        </p:txBody>
      </p:sp>
      <p:sp>
        <p:nvSpPr>
          <p:cNvPr id="101" name="release-value-4"/>
          <p:cNvSpPr txBox="1"/>
          <p:nvPr/>
        </p:nvSpPr>
        <p:spPr>
          <a:xfrm>
            <a:off x="10378440" y="4608576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1100" b="1" lang="en-US">
                <a:solidFill>
                  <a:srgbClr val="F5C542"/>
                </a:solidFill>
                <a:latin typeface="Consolas"/>
              </a:rPr>
              <a:t>native</a:t>
            </a:r>
          </a:p>
        </p:txBody>
      </p:sp>
      <p:sp>
        <p:nvSpPr>
          <p:cNvPr id="102" name="portfolio-banner-label"/>
          <p:cNvSpPr txBox="1"/>
          <p:nvPr/>
        </p:nvSpPr>
        <p:spPr>
          <a:xfrm>
            <a:off x="713232" y="5687568"/>
            <a:ext cx="740664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50" b="1" lang="en-US">
                <a:solidFill>
                  <a:srgbClr val="111111"/>
                </a:solidFill>
                <a:latin typeface="Consolas"/>
              </a:rPr>
              <a:t>Six dense tiles test nested cards, micro-labels, hierarchy, and high-information scanning.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2E"/>
          </a:solidFill>
          <a:ln w="10160">
            <a:solidFill>
              <a:srgbClr val="1E1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-top"/>
          <p:cNvSpPr/>
          <p:nvPr/>
        </p:nvSpPr>
        <p:spPr>
          <a:xfrm>
            <a:off x="8732520" y="4297680"/>
            <a:ext cx="1371600" cy="640080"/>
          </a:xfrm>
          <a:prstGeom prst="rect">
            <a:avLst/>
          </a:prstGeom>
          <a:solidFill>
            <a:srgbClr val="A594FF"/>
          </a:solidFill>
          <a:ln w="10160">
            <a:solidFill>
              <a:srgbClr val="A59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-left"/>
          <p:cNvSpPr/>
          <p:nvPr/>
        </p:nvSpPr>
        <p:spPr>
          <a:xfrm>
            <a:off x="8732520" y="4937760"/>
            <a:ext cx="685800" cy="502920"/>
          </a:xfrm>
          <a:prstGeom prst="rect">
            <a:avLst/>
          </a:prstGeom>
          <a:solidFill>
            <a:srgbClr val="4A3FCC"/>
          </a:solidFill>
          <a:ln w="10160">
            <a:solidFill>
              <a:srgbClr val="4A3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so-right"/>
          <p:cNvSpPr/>
          <p:nvPr/>
        </p:nvSpPr>
        <p:spPr>
          <a:xfrm>
            <a:off x="9418320" y="4937760"/>
            <a:ext cx="685800" cy="502920"/>
          </a:xfrm>
          <a:prstGeom prst="rect">
            <a:avLst/>
          </a:prstGeom>
          <a:solidFill>
            <a:srgbClr val="7C6FFF"/>
          </a:solidFill>
          <a:ln w="10160">
            <a:solidFill>
              <a:srgbClr val="7C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op-band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7C6FFF"/>
          </a:solidFill>
          <a:ln w="10160">
            <a:solidFill>
              <a:srgbClr val="7C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lane-0"/>
          <p:cNvSpPr/>
          <p:nvPr/>
        </p:nvSpPr>
        <p:spPr>
          <a:xfrm>
            <a:off x="457200" y="1097280"/>
            <a:ext cx="8458200" cy="914400"/>
          </a:xfrm>
          <a:prstGeom prst="roundRect">
            <a:avLst/>
          </a:prstGeom>
          <a:solidFill>
            <a:srgbClr val="363453"/>
          </a:solidFill>
          <a:ln w="10160">
            <a:solidFill>
              <a:srgbClr val="4A3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lane-1"/>
          <p:cNvSpPr/>
          <p:nvPr/>
        </p:nvSpPr>
        <p:spPr>
          <a:xfrm>
            <a:off x="457200" y="2267712"/>
            <a:ext cx="8458200" cy="914400"/>
          </a:xfrm>
          <a:prstGeom prst="roundRect">
            <a:avLst/>
          </a:prstGeom>
          <a:solidFill>
            <a:srgbClr val="363453"/>
          </a:solidFill>
          <a:ln w="10160">
            <a:solidFill>
              <a:srgbClr val="4A3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lane-2"/>
          <p:cNvSpPr/>
          <p:nvPr/>
        </p:nvSpPr>
        <p:spPr>
          <a:xfrm>
            <a:off x="457200" y="3438144"/>
            <a:ext cx="8458200" cy="914400"/>
          </a:xfrm>
          <a:prstGeom prst="roundRect">
            <a:avLst/>
          </a:prstGeom>
          <a:solidFill>
            <a:srgbClr val="363453"/>
          </a:solidFill>
          <a:ln w="10160">
            <a:solidFill>
              <a:srgbClr val="4A3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lane-3"/>
          <p:cNvSpPr/>
          <p:nvPr/>
        </p:nvSpPr>
        <p:spPr>
          <a:xfrm>
            <a:off x="457200" y="4608576"/>
            <a:ext cx="8458200" cy="914400"/>
          </a:xfrm>
          <a:prstGeom prst="roundRect">
            <a:avLst/>
          </a:prstGeom>
          <a:solidFill>
            <a:srgbClr val="363453"/>
          </a:solidFill>
          <a:ln w="10160">
            <a:solidFill>
              <a:srgbClr val="4A3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workbench-rail-shell"/>
          <p:cNvSpPr/>
          <p:nvPr/>
        </p:nvSpPr>
        <p:spPr>
          <a:xfrm>
            <a:off x="9189720" y="1097280"/>
            <a:ext cx="2542032" cy="4892040"/>
          </a:xfrm>
          <a:prstGeom prst="rect">
            <a:avLst/>
          </a:prstGeom>
          <a:solidFill>
            <a:srgbClr val="2A2940"/>
          </a:solidFill>
          <a:ln w="10160">
            <a:solidFill>
              <a:srgbClr val="4A3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lane-label-0"/>
          <p:cNvSpPr/>
          <p:nvPr/>
        </p:nvSpPr>
        <p:spPr>
          <a:xfrm>
            <a:off x="457200" y="1097280"/>
            <a:ext cx="1097280" cy="914400"/>
          </a:xfrm>
          <a:prstGeom prst="rect">
            <a:avLst/>
          </a:prstGeom>
          <a:solidFill>
            <a:srgbClr val="7C6FFF"/>
          </a:solidFill>
          <a:ln w="10160">
            <a:solidFill>
              <a:srgbClr val="7C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lane-label-1"/>
          <p:cNvSpPr/>
          <p:nvPr/>
        </p:nvSpPr>
        <p:spPr>
          <a:xfrm>
            <a:off x="457200" y="2267712"/>
            <a:ext cx="1097280" cy="914400"/>
          </a:xfrm>
          <a:prstGeom prst="rect">
            <a:avLst/>
          </a:prstGeom>
          <a:solidFill>
            <a:srgbClr val="A594FF"/>
          </a:solidFill>
          <a:ln w="10160">
            <a:solidFill>
              <a:srgbClr val="A59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lane-label-2"/>
          <p:cNvSpPr/>
          <p:nvPr/>
        </p:nvSpPr>
        <p:spPr>
          <a:xfrm>
            <a:off x="457200" y="3438144"/>
            <a:ext cx="1097280" cy="914400"/>
          </a:xfrm>
          <a:prstGeom prst="rect">
            <a:avLst/>
          </a:prstGeom>
          <a:solidFill>
            <a:srgbClr val="6254E8"/>
          </a:solidFill>
          <a:ln w="10160">
            <a:solidFill>
              <a:srgbClr val="625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lane-label-3"/>
          <p:cNvSpPr/>
          <p:nvPr/>
        </p:nvSpPr>
        <p:spPr>
          <a:xfrm>
            <a:off x="457200" y="4608576"/>
            <a:ext cx="1097280" cy="914400"/>
          </a:xfrm>
          <a:prstGeom prst="rect">
            <a:avLst/>
          </a:prstGeom>
          <a:solidFill>
            <a:srgbClr val="A594FF"/>
          </a:solidFill>
          <a:ln w="10160">
            <a:solidFill>
              <a:srgbClr val="A59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workbench-rail-accent"/>
          <p:cNvSpPr/>
          <p:nvPr/>
        </p:nvSpPr>
        <p:spPr>
          <a:xfrm>
            <a:off x="9189720" y="1097280"/>
            <a:ext cx="73152" cy="4892040"/>
          </a:xfrm>
          <a:prstGeom prst="rect">
            <a:avLst/>
          </a:prstGeom>
          <a:solidFill>
            <a:srgbClr val="7C6FFF"/>
          </a:solidFill>
          <a:ln w="10160">
            <a:solidFill>
              <a:srgbClr val="7C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hart-axis"/>
          <p:cNvCxnSpPr/>
          <p:nvPr/>
        </p:nvCxnSpPr>
        <p:spPr>
          <a:xfrm>
            <a:off x="9400032" y="4718304"/>
            <a:ext cx="2048256" cy="0"/>
          </a:xfrm>
          <a:prstGeom prst="line">
            <a:avLst/>
          </a:prstGeom>
          <a:ln w="13970">
            <a:solidFill>
              <a:srgbClr val="4A3F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ask-0-0"/>
          <p:cNvSpPr/>
          <p:nvPr/>
        </p:nvSpPr>
        <p:spPr>
          <a:xfrm>
            <a:off x="1773936" y="1234440"/>
            <a:ext cx="1161288" cy="621792"/>
          </a:xfrm>
          <a:prstGeom prst="roundRect">
            <a:avLst/>
          </a:prstGeom>
          <a:solidFill>
            <a:srgbClr val="2A2940"/>
          </a:solidFill>
          <a:ln w="10160">
            <a:solidFill>
              <a:srgbClr val="7C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ask-0-1"/>
          <p:cNvSpPr/>
          <p:nvPr/>
        </p:nvSpPr>
        <p:spPr>
          <a:xfrm>
            <a:off x="3127248" y="1234440"/>
            <a:ext cx="1161288" cy="621792"/>
          </a:xfrm>
          <a:prstGeom prst="roundRect">
            <a:avLst/>
          </a:prstGeom>
          <a:solidFill>
            <a:srgbClr val="2A2940"/>
          </a:solidFill>
          <a:ln w="10160">
            <a:solidFill>
              <a:srgbClr val="7C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ask-0-2"/>
          <p:cNvSpPr/>
          <p:nvPr/>
        </p:nvSpPr>
        <p:spPr>
          <a:xfrm>
            <a:off x="4480560" y="1234440"/>
            <a:ext cx="1161288" cy="621792"/>
          </a:xfrm>
          <a:prstGeom prst="roundRect">
            <a:avLst/>
          </a:prstGeom>
          <a:solidFill>
            <a:srgbClr val="2A2940"/>
          </a:solidFill>
          <a:ln w="10160">
            <a:solidFill>
              <a:srgbClr val="7C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ask-0-3"/>
          <p:cNvSpPr/>
          <p:nvPr/>
        </p:nvSpPr>
        <p:spPr>
          <a:xfrm>
            <a:off x="5833872" y="1234440"/>
            <a:ext cx="1161288" cy="621792"/>
          </a:xfrm>
          <a:prstGeom prst="roundRect">
            <a:avLst/>
          </a:prstGeom>
          <a:solidFill>
            <a:srgbClr val="2A2940"/>
          </a:solidFill>
          <a:ln w="10160">
            <a:solidFill>
              <a:srgbClr val="7C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ask-0-4"/>
          <p:cNvSpPr/>
          <p:nvPr/>
        </p:nvSpPr>
        <p:spPr>
          <a:xfrm>
            <a:off x="7187184" y="1234440"/>
            <a:ext cx="1161288" cy="621792"/>
          </a:xfrm>
          <a:prstGeom prst="roundRect">
            <a:avLst/>
          </a:prstGeom>
          <a:solidFill>
            <a:srgbClr val="2A2940"/>
          </a:solidFill>
          <a:ln w="10160">
            <a:solidFill>
              <a:srgbClr val="7C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ask-1-0"/>
          <p:cNvSpPr/>
          <p:nvPr/>
        </p:nvSpPr>
        <p:spPr>
          <a:xfrm>
            <a:off x="1773936" y="2404872"/>
            <a:ext cx="1161288" cy="621792"/>
          </a:xfrm>
          <a:prstGeom prst="roundRect">
            <a:avLst/>
          </a:prstGeom>
          <a:solidFill>
            <a:srgbClr val="2A2940"/>
          </a:solidFill>
          <a:ln w="10160">
            <a:solidFill>
              <a:srgbClr val="A59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ask-1-1"/>
          <p:cNvSpPr/>
          <p:nvPr/>
        </p:nvSpPr>
        <p:spPr>
          <a:xfrm>
            <a:off x="3127248" y="2404872"/>
            <a:ext cx="1161288" cy="621792"/>
          </a:xfrm>
          <a:prstGeom prst="roundRect">
            <a:avLst/>
          </a:prstGeom>
          <a:solidFill>
            <a:srgbClr val="2A2940"/>
          </a:solidFill>
          <a:ln w="10160">
            <a:solidFill>
              <a:srgbClr val="A59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ask-1-2"/>
          <p:cNvSpPr/>
          <p:nvPr/>
        </p:nvSpPr>
        <p:spPr>
          <a:xfrm>
            <a:off x="4480560" y="2404872"/>
            <a:ext cx="1161288" cy="621792"/>
          </a:xfrm>
          <a:prstGeom prst="roundRect">
            <a:avLst/>
          </a:prstGeom>
          <a:solidFill>
            <a:srgbClr val="2A2940"/>
          </a:solidFill>
          <a:ln w="10160">
            <a:solidFill>
              <a:srgbClr val="A59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ask-1-3"/>
          <p:cNvSpPr/>
          <p:nvPr/>
        </p:nvSpPr>
        <p:spPr>
          <a:xfrm>
            <a:off x="5833872" y="2404872"/>
            <a:ext cx="1161288" cy="621792"/>
          </a:xfrm>
          <a:prstGeom prst="roundRect">
            <a:avLst/>
          </a:prstGeom>
          <a:solidFill>
            <a:srgbClr val="2A2940"/>
          </a:solidFill>
          <a:ln w="10160">
            <a:solidFill>
              <a:srgbClr val="A59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ask-1-4"/>
          <p:cNvSpPr/>
          <p:nvPr/>
        </p:nvSpPr>
        <p:spPr>
          <a:xfrm>
            <a:off x="7187184" y="2404872"/>
            <a:ext cx="1161288" cy="621792"/>
          </a:xfrm>
          <a:prstGeom prst="roundRect">
            <a:avLst/>
          </a:prstGeom>
          <a:solidFill>
            <a:srgbClr val="2A2940"/>
          </a:solidFill>
          <a:ln w="10160">
            <a:solidFill>
              <a:srgbClr val="A59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ask-2-0"/>
          <p:cNvSpPr/>
          <p:nvPr/>
        </p:nvSpPr>
        <p:spPr>
          <a:xfrm>
            <a:off x="1773936" y="3575304"/>
            <a:ext cx="1161288" cy="621792"/>
          </a:xfrm>
          <a:prstGeom prst="roundRect">
            <a:avLst/>
          </a:prstGeom>
          <a:solidFill>
            <a:srgbClr val="2A2940"/>
          </a:solidFill>
          <a:ln w="10160">
            <a:solidFill>
              <a:srgbClr val="625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ask-2-1"/>
          <p:cNvSpPr/>
          <p:nvPr/>
        </p:nvSpPr>
        <p:spPr>
          <a:xfrm>
            <a:off x="3127248" y="3575304"/>
            <a:ext cx="1161288" cy="621792"/>
          </a:xfrm>
          <a:prstGeom prst="roundRect">
            <a:avLst/>
          </a:prstGeom>
          <a:solidFill>
            <a:srgbClr val="2A2940"/>
          </a:solidFill>
          <a:ln w="10160">
            <a:solidFill>
              <a:srgbClr val="625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ask-2-2"/>
          <p:cNvSpPr/>
          <p:nvPr/>
        </p:nvSpPr>
        <p:spPr>
          <a:xfrm>
            <a:off x="4480560" y="3575304"/>
            <a:ext cx="1161288" cy="621792"/>
          </a:xfrm>
          <a:prstGeom prst="roundRect">
            <a:avLst/>
          </a:prstGeom>
          <a:solidFill>
            <a:srgbClr val="2A2940"/>
          </a:solidFill>
          <a:ln w="10160">
            <a:solidFill>
              <a:srgbClr val="625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ask-2-3"/>
          <p:cNvSpPr/>
          <p:nvPr/>
        </p:nvSpPr>
        <p:spPr>
          <a:xfrm>
            <a:off x="5833872" y="3575304"/>
            <a:ext cx="1161288" cy="621792"/>
          </a:xfrm>
          <a:prstGeom prst="roundRect">
            <a:avLst/>
          </a:prstGeom>
          <a:solidFill>
            <a:srgbClr val="2A2940"/>
          </a:solidFill>
          <a:ln w="10160">
            <a:solidFill>
              <a:srgbClr val="625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ask-2-4"/>
          <p:cNvSpPr/>
          <p:nvPr/>
        </p:nvSpPr>
        <p:spPr>
          <a:xfrm>
            <a:off x="7187184" y="3575304"/>
            <a:ext cx="1161288" cy="621792"/>
          </a:xfrm>
          <a:prstGeom prst="roundRect">
            <a:avLst/>
          </a:prstGeom>
          <a:solidFill>
            <a:srgbClr val="2A2940"/>
          </a:solidFill>
          <a:ln w="10160">
            <a:solidFill>
              <a:srgbClr val="625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ask-3-0"/>
          <p:cNvSpPr/>
          <p:nvPr/>
        </p:nvSpPr>
        <p:spPr>
          <a:xfrm>
            <a:off x="1773936" y="4745736"/>
            <a:ext cx="1161288" cy="621792"/>
          </a:xfrm>
          <a:prstGeom prst="roundRect">
            <a:avLst/>
          </a:prstGeom>
          <a:solidFill>
            <a:srgbClr val="2A2940"/>
          </a:solidFill>
          <a:ln w="10160">
            <a:solidFill>
              <a:srgbClr val="A59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ask-3-1"/>
          <p:cNvSpPr/>
          <p:nvPr/>
        </p:nvSpPr>
        <p:spPr>
          <a:xfrm>
            <a:off x="3127248" y="4745736"/>
            <a:ext cx="1161288" cy="621792"/>
          </a:xfrm>
          <a:prstGeom prst="roundRect">
            <a:avLst/>
          </a:prstGeom>
          <a:solidFill>
            <a:srgbClr val="2A2940"/>
          </a:solidFill>
          <a:ln w="10160">
            <a:solidFill>
              <a:srgbClr val="A59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ask-3-2"/>
          <p:cNvSpPr/>
          <p:nvPr/>
        </p:nvSpPr>
        <p:spPr>
          <a:xfrm>
            <a:off x="4480560" y="4745736"/>
            <a:ext cx="1161288" cy="621792"/>
          </a:xfrm>
          <a:prstGeom prst="roundRect">
            <a:avLst/>
          </a:prstGeom>
          <a:solidFill>
            <a:srgbClr val="2A2940"/>
          </a:solidFill>
          <a:ln w="10160">
            <a:solidFill>
              <a:srgbClr val="A59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ask-3-3"/>
          <p:cNvSpPr/>
          <p:nvPr/>
        </p:nvSpPr>
        <p:spPr>
          <a:xfrm>
            <a:off x="5833872" y="4745736"/>
            <a:ext cx="1161288" cy="621792"/>
          </a:xfrm>
          <a:prstGeom prst="roundRect">
            <a:avLst/>
          </a:prstGeom>
          <a:solidFill>
            <a:srgbClr val="2A2940"/>
          </a:solidFill>
          <a:ln w="10160">
            <a:solidFill>
              <a:srgbClr val="A59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ask-3-4"/>
          <p:cNvSpPr/>
          <p:nvPr/>
        </p:nvSpPr>
        <p:spPr>
          <a:xfrm>
            <a:off x="7187184" y="4745736"/>
            <a:ext cx="1161288" cy="621792"/>
          </a:xfrm>
          <a:prstGeom prst="roundRect">
            <a:avLst/>
          </a:prstGeom>
          <a:solidFill>
            <a:srgbClr val="2A2940"/>
          </a:solidFill>
          <a:ln w="10160">
            <a:solidFill>
              <a:srgbClr val="A59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bar-0"/>
          <p:cNvSpPr/>
          <p:nvPr/>
        </p:nvSpPr>
        <p:spPr>
          <a:xfrm>
            <a:off x="9454896" y="3771900"/>
            <a:ext cx="155448" cy="946403"/>
          </a:xfrm>
          <a:prstGeom prst="roundRect">
            <a:avLst/>
          </a:prstGeom>
          <a:solidFill>
            <a:srgbClr val="7C6FFF"/>
          </a:solidFill>
          <a:ln w="10160">
            <a:solidFill>
              <a:srgbClr val="7C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bar-1"/>
          <p:cNvSpPr/>
          <p:nvPr/>
        </p:nvSpPr>
        <p:spPr>
          <a:xfrm>
            <a:off x="9701784" y="3204057"/>
            <a:ext cx="155448" cy="1514246"/>
          </a:xfrm>
          <a:prstGeom prst="roundRect">
            <a:avLst/>
          </a:prstGeom>
          <a:solidFill>
            <a:srgbClr val="A594FF"/>
          </a:solidFill>
          <a:ln w="10160">
            <a:solidFill>
              <a:srgbClr val="A59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bar-2"/>
          <p:cNvSpPr/>
          <p:nvPr/>
        </p:nvSpPr>
        <p:spPr>
          <a:xfrm>
            <a:off x="9948672" y="3498494"/>
            <a:ext cx="155448" cy="1219809"/>
          </a:xfrm>
          <a:prstGeom prst="roundRect">
            <a:avLst/>
          </a:prstGeom>
          <a:solidFill>
            <a:srgbClr val="6254E8"/>
          </a:solidFill>
          <a:ln w="10160">
            <a:solidFill>
              <a:srgbClr val="625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bar-3"/>
          <p:cNvSpPr/>
          <p:nvPr/>
        </p:nvSpPr>
        <p:spPr>
          <a:xfrm>
            <a:off x="10195560" y="2909620"/>
            <a:ext cx="155448" cy="1808683"/>
          </a:xfrm>
          <a:prstGeom prst="roundRect">
            <a:avLst/>
          </a:prstGeom>
          <a:solidFill>
            <a:srgbClr val="A594FF"/>
          </a:solidFill>
          <a:ln w="10160">
            <a:solidFill>
              <a:srgbClr val="A59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bar-4"/>
          <p:cNvSpPr/>
          <p:nvPr/>
        </p:nvSpPr>
        <p:spPr>
          <a:xfrm>
            <a:off x="10442448" y="3330244"/>
            <a:ext cx="155448" cy="1388059"/>
          </a:xfrm>
          <a:prstGeom prst="roundRect">
            <a:avLst/>
          </a:prstGeom>
          <a:solidFill>
            <a:srgbClr val="7C6FFF"/>
          </a:solidFill>
          <a:ln w="10160">
            <a:solidFill>
              <a:srgbClr val="7C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bar-5"/>
          <p:cNvSpPr/>
          <p:nvPr/>
        </p:nvSpPr>
        <p:spPr>
          <a:xfrm>
            <a:off x="10689336" y="2783433"/>
            <a:ext cx="155448" cy="1934870"/>
          </a:xfrm>
          <a:prstGeom prst="roundRect">
            <a:avLst/>
          </a:prstGeom>
          <a:solidFill>
            <a:srgbClr val="A594FF"/>
          </a:solidFill>
          <a:ln w="10160">
            <a:solidFill>
              <a:srgbClr val="A59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bar-6"/>
          <p:cNvSpPr/>
          <p:nvPr/>
        </p:nvSpPr>
        <p:spPr>
          <a:xfrm>
            <a:off x="10936224" y="3119932"/>
            <a:ext cx="155448" cy="1598371"/>
          </a:xfrm>
          <a:prstGeom prst="roundRect">
            <a:avLst/>
          </a:prstGeom>
          <a:solidFill>
            <a:srgbClr val="6254E8"/>
          </a:solidFill>
          <a:ln w="10160">
            <a:solidFill>
              <a:srgbClr val="625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bar-7"/>
          <p:cNvSpPr/>
          <p:nvPr/>
        </p:nvSpPr>
        <p:spPr>
          <a:xfrm>
            <a:off x="11183112" y="3603650"/>
            <a:ext cx="155448" cy="1114653"/>
          </a:xfrm>
          <a:prstGeom prst="roundRect">
            <a:avLst/>
          </a:prstGeom>
          <a:solidFill>
            <a:srgbClr val="A594FF"/>
          </a:solidFill>
          <a:ln w="10160">
            <a:solidFill>
              <a:srgbClr val="A59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check-dot-0"/>
          <p:cNvSpPr/>
          <p:nvPr/>
        </p:nvSpPr>
        <p:spPr>
          <a:xfrm>
            <a:off x="9436608" y="5321808"/>
            <a:ext cx="91440" cy="91440"/>
          </a:xfrm>
          <a:prstGeom prst="ellipse">
            <a:avLst/>
          </a:prstGeom>
          <a:solidFill>
            <a:srgbClr val="A594FF"/>
          </a:solidFill>
          <a:ln w="10160">
            <a:solidFill>
              <a:srgbClr val="A59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check-dot-1"/>
          <p:cNvSpPr/>
          <p:nvPr/>
        </p:nvSpPr>
        <p:spPr>
          <a:xfrm>
            <a:off x="9436608" y="5486400"/>
            <a:ext cx="91440" cy="91440"/>
          </a:xfrm>
          <a:prstGeom prst="ellipse">
            <a:avLst/>
          </a:prstGeom>
          <a:solidFill>
            <a:srgbClr val="A594FF"/>
          </a:solidFill>
          <a:ln w="10160">
            <a:solidFill>
              <a:srgbClr val="A59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check-dot-2"/>
          <p:cNvSpPr/>
          <p:nvPr/>
        </p:nvSpPr>
        <p:spPr>
          <a:xfrm>
            <a:off x="9436608" y="5650992"/>
            <a:ext cx="91440" cy="91440"/>
          </a:xfrm>
          <a:prstGeom prst="ellipse">
            <a:avLst/>
          </a:prstGeom>
          <a:solidFill>
            <a:srgbClr val="A594FF"/>
          </a:solidFill>
          <a:ln w="10160">
            <a:solidFill>
              <a:srgbClr val="A59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check-dot-3"/>
          <p:cNvSpPr/>
          <p:nvPr/>
        </p:nvSpPr>
        <p:spPr>
          <a:xfrm>
            <a:off x="9436608" y="5815584"/>
            <a:ext cx="91440" cy="91440"/>
          </a:xfrm>
          <a:prstGeom prst="ellipse">
            <a:avLst/>
          </a:prstGeom>
          <a:solidFill>
            <a:srgbClr val="6254E8"/>
          </a:solidFill>
          <a:ln w="10160">
            <a:solidFill>
              <a:srgbClr val="625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profile-tag"/>
          <p:cNvSpPr txBox="1"/>
          <p:nvPr/>
        </p:nvSpPr>
        <p:spPr>
          <a:xfrm>
            <a:off x="457200" y="201168"/>
            <a:ext cx="768096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1" lang="en-US">
                <a:solidFill>
                  <a:srgbClr val="7C6FFF"/>
                </a:solidFill>
                <a:latin typeface="Consolas"/>
              </a:rPr>
              <a:t>V3 STRESS SUITE  ·  ISOMETRIC 3D FLAT  ·  DELIVERY WORKBENCH</a:t>
            </a:r>
          </a:p>
        </p:txBody>
      </p:sp>
      <p:sp>
        <p:nvSpPr>
          <p:cNvPr id="51" name="slide-index"/>
          <p:cNvSpPr txBox="1"/>
          <p:nvPr/>
        </p:nvSpPr>
        <p:spPr>
          <a:xfrm>
            <a:off x="10808208" y="201168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00" b="1" lang="en-US">
                <a:solidFill>
                  <a:srgbClr val="D7D4F0"/>
                </a:solidFill>
                <a:latin typeface="Consolas"/>
              </a:rPr>
              <a:t>45/60</a:t>
            </a:r>
          </a:p>
        </p:txBody>
      </p:sp>
      <p:sp>
        <p:nvSpPr>
          <p:cNvPr id="52" name="title"/>
          <p:cNvSpPr txBox="1"/>
          <p:nvPr/>
        </p:nvSpPr>
        <p:spPr>
          <a:xfrm>
            <a:off x="457200" y="484632"/>
            <a:ext cx="11274552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200" b="1" lang="en-US">
                <a:solidFill>
                  <a:srgbClr val="FFFFFF"/>
                </a:solidFill>
                <a:latin typeface="Arial"/>
              </a:rPr>
              <a:t>Delivery workbenches keep parallel work lanes legible under load</a:t>
            </a:r>
          </a:p>
        </p:txBody>
      </p:sp>
      <p:sp>
        <p:nvSpPr>
          <p:cNvPr id="53" name="footer"/>
          <p:cNvSpPr txBox="1"/>
          <p:nvPr/>
        </p:nvSpPr>
        <p:spPr>
          <a:xfrm>
            <a:off x="457200" y="6473952"/>
            <a:ext cx="1051560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0" lang="en-US">
                <a:solidFill>
                  <a:srgbClr val="D7D4F0"/>
                </a:solidFill>
                <a:latin typeface="Consolas"/>
              </a:rPr>
              <a:t>Native-object stress fixture · violet three-face isometric blocks and thin technical connectors · editable geometry and recorded style lock</a:t>
            </a:r>
          </a:p>
        </p:txBody>
      </p:sp>
      <p:sp>
        <p:nvSpPr>
          <p:cNvPr id="54" name="lane-name-0"/>
          <p:cNvSpPr txBox="1"/>
          <p:nvPr/>
        </p:nvSpPr>
        <p:spPr>
          <a:xfrm>
            <a:off x="566928" y="1444752"/>
            <a:ext cx="868680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lang="en-US">
                <a:solidFill>
                  <a:srgbClr val="111111"/>
                </a:solidFill>
                <a:latin typeface="Consolas"/>
              </a:rPr>
              <a:t>INTAKE</a:t>
            </a:r>
          </a:p>
        </p:txBody>
      </p:sp>
      <p:sp>
        <p:nvSpPr>
          <p:cNvPr id="55" name="task-title-0-0"/>
          <p:cNvSpPr txBox="1"/>
          <p:nvPr/>
        </p:nvSpPr>
        <p:spPr>
          <a:xfrm>
            <a:off x="1847088" y="1362456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FFFFFF"/>
                </a:solidFill>
                <a:latin typeface="Consolas"/>
              </a:rPr>
              <a:t>Scope</a:t>
            </a:r>
          </a:p>
        </p:txBody>
      </p:sp>
      <p:sp>
        <p:nvSpPr>
          <p:cNvPr id="56" name="task-state-0-0"/>
          <p:cNvSpPr txBox="1"/>
          <p:nvPr/>
        </p:nvSpPr>
        <p:spPr>
          <a:xfrm>
            <a:off x="1847088" y="1545336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7C6FFF"/>
                </a:solidFill>
                <a:latin typeface="Consolas"/>
              </a:rPr>
              <a:t>new</a:t>
            </a:r>
          </a:p>
        </p:txBody>
      </p:sp>
      <p:sp>
        <p:nvSpPr>
          <p:cNvPr id="57" name="task-title-0-1"/>
          <p:cNvSpPr txBox="1"/>
          <p:nvPr/>
        </p:nvSpPr>
        <p:spPr>
          <a:xfrm>
            <a:off x="3200400" y="1362456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FFFFFF"/>
                </a:solidFill>
                <a:latin typeface="Consolas"/>
              </a:rPr>
              <a:t>Profile</a:t>
            </a:r>
          </a:p>
        </p:txBody>
      </p:sp>
      <p:sp>
        <p:nvSpPr>
          <p:cNvPr id="58" name="task-state-0-1"/>
          <p:cNvSpPr txBox="1"/>
          <p:nvPr/>
        </p:nvSpPr>
        <p:spPr>
          <a:xfrm>
            <a:off x="3200400" y="1545336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7C6FFF"/>
                </a:solidFill>
                <a:latin typeface="Consolas"/>
              </a:rPr>
              <a:t>locked</a:t>
            </a:r>
          </a:p>
        </p:txBody>
      </p:sp>
      <p:sp>
        <p:nvSpPr>
          <p:cNvPr id="59" name="task-title-0-2"/>
          <p:cNvSpPr txBox="1"/>
          <p:nvPr/>
        </p:nvSpPr>
        <p:spPr>
          <a:xfrm>
            <a:off x="4553712" y="1362456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FFFFFF"/>
                </a:solidFill>
                <a:latin typeface="Consolas"/>
              </a:rPr>
              <a:t>Spec</a:t>
            </a:r>
          </a:p>
        </p:txBody>
      </p:sp>
      <p:sp>
        <p:nvSpPr>
          <p:cNvPr id="60" name="task-state-0-2"/>
          <p:cNvSpPr txBox="1"/>
          <p:nvPr/>
        </p:nvSpPr>
        <p:spPr>
          <a:xfrm>
            <a:off x="4553712" y="1545336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7C6FFF"/>
                </a:solidFill>
                <a:latin typeface="Consolas"/>
              </a:rPr>
              <a:t>ready</a:t>
            </a:r>
          </a:p>
        </p:txBody>
      </p:sp>
      <p:sp>
        <p:nvSpPr>
          <p:cNvPr id="61" name="task-title-0-3"/>
          <p:cNvSpPr txBox="1"/>
          <p:nvPr/>
        </p:nvSpPr>
        <p:spPr>
          <a:xfrm>
            <a:off x="5907024" y="1362456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FFFFFF"/>
                </a:solidFill>
                <a:latin typeface="Consolas"/>
              </a:rPr>
              <a:t>Audit</a:t>
            </a:r>
          </a:p>
        </p:txBody>
      </p:sp>
      <p:sp>
        <p:nvSpPr>
          <p:cNvPr id="62" name="task-state-0-3"/>
          <p:cNvSpPr txBox="1"/>
          <p:nvPr/>
        </p:nvSpPr>
        <p:spPr>
          <a:xfrm>
            <a:off x="5907024" y="1545336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7C6FFF"/>
                </a:solidFill>
                <a:latin typeface="Consolas"/>
              </a:rPr>
              <a:t>pass</a:t>
            </a:r>
          </a:p>
        </p:txBody>
      </p:sp>
      <p:sp>
        <p:nvSpPr>
          <p:cNvPr id="63" name="task-title-0-4"/>
          <p:cNvSpPr txBox="1"/>
          <p:nvPr/>
        </p:nvSpPr>
        <p:spPr>
          <a:xfrm>
            <a:off x="7260336" y="1362456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FFFFFF"/>
                </a:solidFill>
                <a:latin typeface="Consolas"/>
              </a:rPr>
              <a:t>Owner</a:t>
            </a:r>
          </a:p>
        </p:txBody>
      </p:sp>
      <p:sp>
        <p:nvSpPr>
          <p:cNvPr id="64" name="task-state-0-4"/>
          <p:cNvSpPr txBox="1"/>
          <p:nvPr/>
        </p:nvSpPr>
        <p:spPr>
          <a:xfrm>
            <a:off x="7260336" y="1545336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7C6FFF"/>
                </a:solidFill>
                <a:latin typeface="Consolas"/>
              </a:rPr>
              <a:t>assigned</a:t>
            </a:r>
          </a:p>
        </p:txBody>
      </p:sp>
      <p:sp>
        <p:nvSpPr>
          <p:cNvPr id="65" name="lane-name-1"/>
          <p:cNvSpPr txBox="1"/>
          <p:nvPr/>
        </p:nvSpPr>
        <p:spPr>
          <a:xfrm>
            <a:off x="566928" y="2615184"/>
            <a:ext cx="868680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lang="en-US">
                <a:solidFill>
                  <a:srgbClr val="111111"/>
                </a:solidFill>
                <a:latin typeface="Consolas"/>
              </a:rPr>
              <a:t>AUTHOR</a:t>
            </a:r>
          </a:p>
        </p:txBody>
      </p:sp>
      <p:sp>
        <p:nvSpPr>
          <p:cNvPr id="66" name="task-title-1-0"/>
          <p:cNvSpPr txBox="1"/>
          <p:nvPr/>
        </p:nvSpPr>
        <p:spPr>
          <a:xfrm>
            <a:off x="1847088" y="2532888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FFFFFF"/>
                </a:solidFill>
                <a:latin typeface="Consolas"/>
              </a:rPr>
              <a:t>Scope</a:t>
            </a:r>
          </a:p>
        </p:txBody>
      </p:sp>
      <p:sp>
        <p:nvSpPr>
          <p:cNvPr id="67" name="task-state-1-0"/>
          <p:cNvSpPr txBox="1"/>
          <p:nvPr/>
        </p:nvSpPr>
        <p:spPr>
          <a:xfrm>
            <a:off x="1847088" y="2715768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A594FF"/>
                </a:solidFill>
                <a:latin typeface="Consolas"/>
              </a:rPr>
              <a:t>locked</a:t>
            </a:r>
          </a:p>
        </p:txBody>
      </p:sp>
      <p:sp>
        <p:nvSpPr>
          <p:cNvPr id="68" name="task-title-1-1"/>
          <p:cNvSpPr txBox="1"/>
          <p:nvPr/>
        </p:nvSpPr>
        <p:spPr>
          <a:xfrm>
            <a:off x="3200400" y="2532888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FFFFFF"/>
                </a:solidFill>
                <a:latin typeface="Consolas"/>
              </a:rPr>
              <a:t>Profile</a:t>
            </a:r>
          </a:p>
        </p:txBody>
      </p:sp>
      <p:sp>
        <p:nvSpPr>
          <p:cNvPr id="69" name="task-state-1-1"/>
          <p:cNvSpPr txBox="1"/>
          <p:nvPr/>
        </p:nvSpPr>
        <p:spPr>
          <a:xfrm>
            <a:off x="3200400" y="2715768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A594FF"/>
                </a:solidFill>
                <a:latin typeface="Consolas"/>
              </a:rPr>
              <a:t>ready</a:t>
            </a:r>
          </a:p>
        </p:txBody>
      </p:sp>
      <p:sp>
        <p:nvSpPr>
          <p:cNvPr id="70" name="task-title-1-2"/>
          <p:cNvSpPr txBox="1"/>
          <p:nvPr/>
        </p:nvSpPr>
        <p:spPr>
          <a:xfrm>
            <a:off x="4553712" y="2532888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FFFFFF"/>
                </a:solidFill>
                <a:latin typeface="Consolas"/>
              </a:rPr>
              <a:t>Spec</a:t>
            </a:r>
          </a:p>
        </p:txBody>
      </p:sp>
      <p:sp>
        <p:nvSpPr>
          <p:cNvPr id="71" name="task-state-1-2"/>
          <p:cNvSpPr txBox="1"/>
          <p:nvPr/>
        </p:nvSpPr>
        <p:spPr>
          <a:xfrm>
            <a:off x="4553712" y="2715768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A594FF"/>
                </a:solidFill>
                <a:latin typeface="Consolas"/>
              </a:rPr>
              <a:t>pass</a:t>
            </a:r>
          </a:p>
        </p:txBody>
      </p:sp>
      <p:sp>
        <p:nvSpPr>
          <p:cNvPr id="72" name="task-title-1-3"/>
          <p:cNvSpPr txBox="1"/>
          <p:nvPr/>
        </p:nvSpPr>
        <p:spPr>
          <a:xfrm>
            <a:off x="5907024" y="2532888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FFFFFF"/>
                </a:solidFill>
                <a:latin typeface="Consolas"/>
              </a:rPr>
              <a:t>Audit</a:t>
            </a:r>
          </a:p>
        </p:txBody>
      </p:sp>
      <p:sp>
        <p:nvSpPr>
          <p:cNvPr id="73" name="task-state-1-3"/>
          <p:cNvSpPr txBox="1"/>
          <p:nvPr/>
        </p:nvSpPr>
        <p:spPr>
          <a:xfrm>
            <a:off x="5907024" y="2715768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A594FF"/>
                </a:solidFill>
                <a:latin typeface="Consolas"/>
              </a:rPr>
              <a:t>assigned</a:t>
            </a:r>
          </a:p>
        </p:txBody>
      </p:sp>
      <p:sp>
        <p:nvSpPr>
          <p:cNvPr id="74" name="task-title-1-4"/>
          <p:cNvSpPr txBox="1"/>
          <p:nvPr/>
        </p:nvSpPr>
        <p:spPr>
          <a:xfrm>
            <a:off x="7260336" y="2532888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FFFFFF"/>
                </a:solidFill>
                <a:latin typeface="Consolas"/>
              </a:rPr>
              <a:t>Owner</a:t>
            </a:r>
          </a:p>
        </p:txBody>
      </p:sp>
      <p:sp>
        <p:nvSpPr>
          <p:cNvPr id="75" name="task-state-1-4"/>
          <p:cNvSpPr txBox="1"/>
          <p:nvPr/>
        </p:nvSpPr>
        <p:spPr>
          <a:xfrm>
            <a:off x="7260336" y="2715768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A594FF"/>
                </a:solidFill>
                <a:latin typeface="Consolas"/>
              </a:rPr>
              <a:t>new</a:t>
            </a:r>
          </a:p>
        </p:txBody>
      </p:sp>
      <p:sp>
        <p:nvSpPr>
          <p:cNvPr id="76" name="lane-name-2"/>
          <p:cNvSpPr txBox="1"/>
          <p:nvPr/>
        </p:nvSpPr>
        <p:spPr>
          <a:xfrm>
            <a:off x="566928" y="3785615"/>
            <a:ext cx="868680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lang="en-US">
                <a:solidFill>
                  <a:srgbClr val="FFFFFF"/>
                </a:solidFill>
                <a:latin typeface="Consolas"/>
              </a:rPr>
              <a:t>VERIFY</a:t>
            </a:r>
          </a:p>
        </p:txBody>
      </p:sp>
      <p:sp>
        <p:nvSpPr>
          <p:cNvPr id="77" name="task-title-2-0"/>
          <p:cNvSpPr txBox="1"/>
          <p:nvPr/>
        </p:nvSpPr>
        <p:spPr>
          <a:xfrm>
            <a:off x="1847088" y="3703320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FFFFFF"/>
                </a:solidFill>
                <a:latin typeface="Consolas"/>
              </a:rPr>
              <a:t>Scope</a:t>
            </a:r>
          </a:p>
        </p:txBody>
      </p:sp>
      <p:sp>
        <p:nvSpPr>
          <p:cNvPr id="78" name="task-state-2-0"/>
          <p:cNvSpPr txBox="1"/>
          <p:nvPr/>
        </p:nvSpPr>
        <p:spPr>
          <a:xfrm>
            <a:off x="1847088" y="3886200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6254E8"/>
                </a:solidFill>
                <a:latin typeface="Consolas"/>
              </a:rPr>
              <a:t>ready</a:t>
            </a:r>
          </a:p>
        </p:txBody>
      </p:sp>
      <p:sp>
        <p:nvSpPr>
          <p:cNvPr id="79" name="task-title-2-1"/>
          <p:cNvSpPr txBox="1"/>
          <p:nvPr/>
        </p:nvSpPr>
        <p:spPr>
          <a:xfrm>
            <a:off x="3200400" y="3703320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FFFFFF"/>
                </a:solidFill>
                <a:latin typeface="Consolas"/>
              </a:rPr>
              <a:t>Profile</a:t>
            </a:r>
          </a:p>
        </p:txBody>
      </p:sp>
      <p:sp>
        <p:nvSpPr>
          <p:cNvPr id="80" name="task-state-2-1"/>
          <p:cNvSpPr txBox="1"/>
          <p:nvPr/>
        </p:nvSpPr>
        <p:spPr>
          <a:xfrm>
            <a:off x="3200400" y="3886200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6254E8"/>
                </a:solidFill>
                <a:latin typeface="Consolas"/>
              </a:rPr>
              <a:t>pass</a:t>
            </a:r>
          </a:p>
        </p:txBody>
      </p:sp>
      <p:sp>
        <p:nvSpPr>
          <p:cNvPr id="81" name="task-title-2-2"/>
          <p:cNvSpPr txBox="1"/>
          <p:nvPr/>
        </p:nvSpPr>
        <p:spPr>
          <a:xfrm>
            <a:off x="4553712" y="3703320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FFFFFF"/>
                </a:solidFill>
                <a:latin typeface="Consolas"/>
              </a:rPr>
              <a:t>Spec</a:t>
            </a:r>
          </a:p>
        </p:txBody>
      </p:sp>
      <p:sp>
        <p:nvSpPr>
          <p:cNvPr id="82" name="task-state-2-2"/>
          <p:cNvSpPr txBox="1"/>
          <p:nvPr/>
        </p:nvSpPr>
        <p:spPr>
          <a:xfrm>
            <a:off x="4553712" y="3886200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6254E8"/>
                </a:solidFill>
                <a:latin typeface="Consolas"/>
              </a:rPr>
              <a:t>assigned</a:t>
            </a:r>
          </a:p>
        </p:txBody>
      </p:sp>
      <p:sp>
        <p:nvSpPr>
          <p:cNvPr id="83" name="task-title-2-3"/>
          <p:cNvSpPr txBox="1"/>
          <p:nvPr/>
        </p:nvSpPr>
        <p:spPr>
          <a:xfrm>
            <a:off x="5907024" y="3703320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FFFFFF"/>
                </a:solidFill>
                <a:latin typeface="Consolas"/>
              </a:rPr>
              <a:t>Audit</a:t>
            </a:r>
          </a:p>
        </p:txBody>
      </p:sp>
      <p:sp>
        <p:nvSpPr>
          <p:cNvPr id="84" name="task-state-2-3"/>
          <p:cNvSpPr txBox="1"/>
          <p:nvPr/>
        </p:nvSpPr>
        <p:spPr>
          <a:xfrm>
            <a:off x="5907024" y="3886200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6254E8"/>
                </a:solidFill>
                <a:latin typeface="Consolas"/>
              </a:rPr>
              <a:t>new</a:t>
            </a:r>
          </a:p>
        </p:txBody>
      </p:sp>
      <p:sp>
        <p:nvSpPr>
          <p:cNvPr id="85" name="task-title-2-4"/>
          <p:cNvSpPr txBox="1"/>
          <p:nvPr/>
        </p:nvSpPr>
        <p:spPr>
          <a:xfrm>
            <a:off x="7260336" y="3703320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FFFFFF"/>
                </a:solidFill>
                <a:latin typeface="Consolas"/>
              </a:rPr>
              <a:t>Owner</a:t>
            </a:r>
          </a:p>
        </p:txBody>
      </p:sp>
      <p:sp>
        <p:nvSpPr>
          <p:cNvPr id="86" name="task-state-2-4"/>
          <p:cNvSpPr txBox="1"/>
          <p:nvPr/>
        </p:nvSpPr>
        <p:spPr>
          <a:xfrm>
            <a:off x="7260336" y="3886200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6254E8"/>
                </a:solidFill>
                <a:latin typeface="Consolas"/>
              </a:rPr>
              <a:t>locked</a:t>
            </a:r>
          </a:p>
        </p:txBody>
      </p:sp>
      <p:sp>
        <p:nvSpPr>
          <p:cNvPr id="87" name="lane-name-3"/>
          <p:cNvSpPr txBox="1"/>
          <p:nvPr/>
        </p:nvSpPr>
        <p:spPr>
          <a:xfrm>
            <a:off x="566928" y="4956048"/>
            <a:ext cx="868680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lang="en-US">
                <a:solidFill>
                  <a:srgbClr val="111111"/>
                </a:solidFill>
                <a:latin typeface="Consolas"/>
              </a:rPr>
              <a:t>SHIP</a:t>
            </a:r>
          </a:p>
        </p:txBody>
      </p:sp>
      <p:sp>
        <p:nvSpPr>
          <p:cNvPr id="88" name="task-title-3-0"/>
          <p:cNvSpPr txBox="1"/>
          <p:nvPr/>
        </p:nvSpPr>
        <p:spPr>
          <a:xfrm>
            <a:off x="1847088" y="4873752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FFFFFF"/>
                </a:solidFill>
                <a:latin typeface="Consolas"/>
              </a:rPr>
              <a:t>Scope</a:t>
            </a:r>
          </a:p>
        </p:txBody>
      </p:sp>
      <p:sp>
        <p:nvSpPr>
          <p:cNvPr id="89" name="task-state-3-0"/>
          <p:cNvSpPr txBox="1"/>
          <p:nvPr/>
        </p:nvSpPr>
        <p:spPr>
          <a:xfrm>
            <a:off x="1847088" y="5056632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A594FF"/>
                </a:solidFill>
                <a:latin typeface="Consolas"/>
              </a:rPr>
              <a:t>pass</a:t>
            </a:r>
          </a:p>
        </p:txBody>
      </p:sp>
      <p:sp>
        <p:nvSpPr>
          <p:cNvPr id="90" name="task-title-3-1"/>
          <p:cNvSpPr txBox="1"/>
          <p:nvPr/>
        </p:nvSpPr>
        <p:spPr>
          <a:xfrm>
            <a:off x="3200400" y="4873752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FFFFFF"/>
                </a:solidFill>
                <a:latin typeface="Consolas"/>
              </a:rPr>
              <a:t>Profile</a:t>
            </a:r>
          </a:p>
        </p:txBody>
      </p:sp>
      <p:sp>
        <p:nvSpPr>
          <p:cNvPr id="91" name="task-state-3-1"/>
          <p:cNvSpPr txBox="1"/>
          <p:nvPr/>
        </p:nvSpPr>
        <p:spPr>
          <a:xfrm>
            <a:off x="3200400" y="5056632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A594FF"/>
                </a:solidFill>
                <a:latin typeface="Consolas"/>
              </a:rPr>
              <a:t>assigned</a:t>
            </a:r>
          </a:p>
        </p:txBody>
      </p:sp>
      <p:sp>
        <p:nvSpPr>
          <p:cNvPr id="92" name="task-title-3-2"/>
          <p:cNvSpPr txBox="1"/>
          <p:nvPr/>
        </p:nvSpPr>
        <p:spPr>
          <a:xfrm>
            <a:off x="4553712" y="4873752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FFFFFF"/>
                </a:solidFill>
                <a:latin typeface="Consolas"/>
              </a:rPr>
              <a:t>Spec</a:t>
            </a:r>
          </a:p>
        </p:txBody>
      </p:sp>
      <p:sp>
        <p:nvSpPr>
          <p:cNvPr id="93" name="task-state-3-2"/>
          <p:cNvSpPr txBox="1"/>
          <p:nvPr/>
        </p:nvSpPr>
        <p:spPr>
          <a:xfrm>
            <a:off x="4553712" y="5056632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A594FF"/>
                </a:solidFill>
                <a:latin typeface="Consolas"/>
              </a:rPr>
              <a:t>new</a:t>
            </a:r>
          </a:p>
        </p:txBody>
      </p:sp>
      <p:sp>
        <p:nvSpPr>
          <p:cNvPr id="94" name="task-title-3-3"/>
          <p:cNvSpPr txBox="1"/>
          <p:nvPr/>
        </p:nvSpPr>
        <p:spPr>
          <a:xfrm>
            <a:off x="5907024" y="4873752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FFFFFF"/>
                </a:solidFill>
                <a:latin typeface="Consolas"/>
              </a:rPr>
              <a:t>Audit</a:t>
            </a:r>
          </a:p>
        </p:txBody>
      </p:sp>
      <p:sp>
        <p:nvSpPr>
          <p:cNvPr id="95" name="task-state-3-3"/>
          <p:cNvSpPr txBox="1"/>
          <p:nvPr/>
        </p:nvSpPr>
        <p:spPr>
          <a:xfrm>
            <a:off x="5907024" y="5056632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A594FF"/>
                </a:solidFill>
                <a:latin typeface="Consolas"/>
              </a:rPr>
              <a:t>locked</a:t>
            </a:r>
          </a:p>
        </p:txBody>
      </p:sp>
      <p:sp>
        <p:nvSpPr>
          <p:cNvPr id="96" name="task-title-3-4"/>
          <p:cNvSpPr txBox="1"/>
          <p:nvPr/>
        </p:nvSpPr>
        <p:spPr>
          <a:xfrm>
            <a:off x="7260336" y="4873752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FFFFFF"/>
                </a:solidFill>
                <a:latin typeface="Consolas"/>
              </a:rPr>
              <a:t>Owner</a:t>
            </a:r>
          </a:p>
        </p:txBody>
      </p:sp>
      <p:sp>
        <p:nvSpPr>
          <p:cNvPr id="97" name="task-state-3-4"/>
          <p:cNvSpPr txBox="1"/>
          <p:nvPr/>
        </p:nvSpPr>
        <p:spPr>
          <a:xfrm>
            <a:off x="7260336" y="5056632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A594FF"/>
                </a:solidFill>
                <a:latin typeface="Consolas"/>
              </a:rPr>
              <a:t>ready</a:t>
            </a:r>
          </a:p>
        </p:txBody>
      </p:sp>
      <p:sp>
        <p:nvSpPr>
          <p:cNvPr id="98" name="workbench-rail-title"/>
          <p:cNvSpPr txBox="1"/>
          <p:nvPr/>
        </p:nvSpPr>
        <p:spPr>
          <a:xfrm>
            <a:off x="9436608" y="1325880"/>
            <a:ext cx="196596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1" lang="en-US">
                <a:solidFill>
                  <a:srgbClr val="7C6FFF"/>
                </a:solidFill>
                <a:latin typeface="Consolas"/>
              </a:rPr>
              <a:t>BUILD SIGNALS</a:t>
            </a:r>
          </a:p>
        </p:txBody>
      </p:sp>
      <p:sp>
        <p:nvSpPr>
          <p:cNvPr id="99" name="chart-label"/>
          <p:cNvSpPr txBox="1"/>
          <p:nvPr/>
        </p:nvSpPr>
        <p:spPr>
          <a:xfrm>
            <a:off x="9436608" y="4956048"/>
            <a:ext cx="192024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0" lang="en-US">
                <a:solidFill>
                  <a:srgbClr val="D7D4F0"/>
                </a:solidFill>
                <a:latin typeface="Consolas"/>
              </a:rPr>
              <a:t>completion by work lane</a:t>
            </a:r>
          </a:p>
        </p:txBody>
      </p:sp>
      <p:sp>
        <p:nvSpPr>
          <p:cNvPr id="100" name="check-label-0"/>
          <p:cNvSpPr txBox="1"/>
          <p:nvPr/>
        </p:nvSpPr>
        <p:spPr>
          <a:xfrm>
            <a:off x="9619488" y="5303520"/>
            <a:ext cx="141732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1" lang="en-US">
                <a:solidFill>
                  <a:srgbClr val="FFFFFF"/>
                </a:solidFill>
                <a:latin typeface="Consolas"/>
              </a:rPr>
              <a:t>bounds</a:t>
            </a:r>
          </a:p>
        </p:txBody>
      </p:sp>
      <p:sp>
        <p:nvSpPr>
          <p:cNvPr id="101" name="check-label-1"/>
          <p:cNvSpPr txBox="1"/>
          <p:nvPr/>
        </p:nvSpPr>
        <p:spPr>
          <a:xfrm>
            <a:off x="9619488" y="5468112"/>
            <a:ext cx="141732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1" lang="en-US">
                <a:solidFill>
                  <a:srgbClr val="FFFFFF"/>
                </a:solidFill>
                <a:latin typeface="Consolas"/>
              </a:rPr>
              <a:t>content</a:t>
            </a:r>
          </a:p>
        </p:txBody>
      </p:sp>
      <p:sp>
        <p:nvSpPr>
          <p:cNvPr id="102" name="check-label-2"/>
          <p:cNvSpPr txBox="1"/>
          <p:nvPr/>
        </p:nvSpPr>
        <p:spPr>
          <a:xfrm>
            <a:off x="9619488" y="5632704"/>
            <a:ext cx="141732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1" lang="en-US">
                <a:solidFill>
                  <a:srgbClr val="FFFFFF"/>
                </a:solidFill>
                <a:latin typeface="Consolas"/>
              </a:rPr>
              <a:t>tables</a:t>
            </a:r>
          </a:p>
        </p:txBody>
      </p:sp>
      <p:sp>
        <p:nvSpPr>
          <p:cNvPr id="103" name="check-label-3"/>
          <p:cNvSpPr txBox="1"/>
          <p:nvPr/>
        </p:nvSpPr>
        <p:spPr>
          <a:xfrm>
            <a:off x="9619488" y="5797296"/>
            <a:ext cx="141732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1" lang="en-US">
                <a:solidFill>
                  <a:srgbClr val="FFFFFF"/>
                </a:solidFill>
                <a:latin typeface="Consolas"/>
              </a:rPr>
              <a:t>order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240"/>
          </a:solidFill>
          <a:ln w="10160">
            <a:solidFill>
              <a:srgbClr val="0D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lueprint-v-1"/>
          <p:cNvSpPr/>
          <p:nvPr/>
        </p:nvSpPr>
        <p:spPr>
          <a:xfrm>
            <a:off x="914400" y="0"/>
            <a:ext cx="10972" cy="6858000"/>
          </a:xfrm>
          <a:prstGeom prst="rect">
            <a:avLst/>
          </a:prstGeom>
          <a:solidFill>
            <a:srgbClr val="2E5E8F"/>
          </a:solidFill>
          <a:ln w="10160">
            <a:solidFill>
              <a:srgbClr val="2E5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lueprint-v-2"/>
          <p:cNvSpPr/>
          <p:nvPr/>
        </p:nvSpPr>
        <p:spPr>
          <a:xfrm>
            <a:off x="1828800" y="0"/>
            <a:ext cx="10972" cy="6858000"/>
          </a:xfrm>
          <a:prstGeom prst="rect">
            <a:avLst/>
          </a:prstGeom>
          <a:solidFill>
            <a:srgbClr val="2E5E8F"/>
          </a:solidFill>
          <a:ln w="10160">
            <a:solidFill>
              <a:srgbClr val="2E5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blueprint-v-3"/>
          <p:cNvSpPr/>
          <p:nvPr/>
        </p:nvSpPr>
        <p:spPr>
          <a:xfrm>
            <a:off x="2743200" y="0"/>
            <a:ext cx="10972" cy="6858000"/>
          </a:xfrm>
          <a:prstGeom prst="rect">
            <a:avLst/>
          </a:prstGeom>
          <a:solidFill>
            <a:srgbClr val="2E5E8F"/>
          </a:solidFill>
          <a:ln w="10160">
            <a:solidFill>
              <a:srgbClr val="2E5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lueprint-v-4"/>
          <p:cNvSpPr/>
          <p:nvPr/>
        </p:nvSpPr>
        <p:spPr>
          <a:xfrm>
            <a:off x="3657600" y="0"/>
            <a:ext cx="10972" cy="6858000"/>
          </a:xfrm>
          <a:prstGeom prst="rect">
            <a:avLst/>
          </a:prstGeom>
          <a:solidFill>
            <a:srgbClr val="2E5E8F"/>
          </a:solidFill>
          <a:ln w="10160">
            <a:solidFill>
              <a:srgbClr val="2E5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blueprint-v-5"/>
          <p:cNvSpPr/>
          <p:nvPr/>
        </p:nvSpPr>
        <p:spPr>
          <a:xfrm>
            <a:off x="4572000" y="0"/>
            <a:ext cx="10972" cy="6858000"/>
          </a:xfrm>
          <a:prstGeom prst="rect">
            <a:avLst/>
          </a:prstGeom>
          <a:solidFill>
            <a:srgbClr val="2E5E8F"/>
          </a:solidFill>
          <a:ln w="10160">
            <a:solidFill>
              <a:srgbClr val="2E5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lueprint-v-6"/>
          <p:cNvSpPr/>
          <p:nvPr/>
        </p:nvSpPr>
        <p:spPr>
          <a:xfrm>
            <a:off x="5486400" y="0"/>
            <a:ext cx="10972" cy="6858000"/>
          </a:xfrm>
          <a:prstGeom prst="rect">
            <a:avLst/>
          </a:prstGeom>
          <a:solidFill>
            <a:srgbClr val="2E5E8F"/>
          </a:solidFill>
          <a:ln w="10160">
            <a:solidFill>
              <a:srgbClr val="2E5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blueprint-v-7"/>
          <p:cNvSpPr/>
          <p:nvPr/>
        </p:nvSpPr>
        <p:spPr>
          <a:xfrm>
            <a:off x="6400800" y="0"/>
            <a:ext cx="10972" cy="6858000"/>
          </a:xfrm>
          <a:prstGeom prst="rect">
            <a:avLst/>
          </a:prstGeom>
          <a:solidFill>
            <a:srgbClr val="2E5E8F"/>
          </a:solidFill>
          <a:ln w="10160">
            <a:solidFill>
              <a:srgbClr val="2E5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blueprint-v-8"/>
          <p:cNvSpPr/>
          <p:nvPr/>
        </p:nvSpPr>
        <p:spPr>
          <a:xfrm>
            <a:off x="7315200" y="0"/>
            <a:ext cx="10972" cy="6858000"/>
          </a:xfrm>
          <a:prstGeom prst="rect">
            <a:avLst/>
          </a:prstGeom>
          <a:solidFill>
            <a:srgbClr val="2E5E8F"/>
          </a:solidFill>
          <a:ln w="10160">
            <a:solidFill>
              <a:srgbClr val="2E5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blueprint-v-9"/>
          <p:cNvSpPr/>
          <p:nvPr/>
        </p:nvSpPr>
        <p:spPr>
          <a:xfrm>
            <a:off x="8229600" y="0"/>
            <a:ext cx="10972" cy="6858000"/>
          </a:xfrm>
          <a:prstGeom prst="rect">
            <a:avLst/>
          </a:prstGeom>
          <a:solidFill>
            <a:srgbClr val="2E5E8F"/>
          </a:solidFill>
          <a:ln w="10160">
            <a:solidFill>
              <a:srgbClr val="2E5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blueprint-v-10"/>
          <p:cNvSpPr/>
          <p:nvPr/>
        </p:nvSpPr>
        <p:spPr>
          <a:xfrm>
            <a:off x="9144000" y="0"/>
            <a:ext cx="10972" cy="6858000"/>
          </a:xfrm>
          <a:prstGeom prst="rect">
            <a:avLst/>
          </a:prstGeom>
          <a:solidFill>
            <a:srgbClr val="2E5E8F"/>
          </a:solidFill>
          <a:ln w="10160">
            <a:solidFill>
              <a:srgbClr val="2E5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blueprint-v-11"/>
          <p:cNvSpPr/>
          <p:nvPr/>
        </p:nvSpPr>
        <p:spPr>
          <a:xfrm>
            <a:off x="10058400" y="0"/>
            <a:ext cx="10972" cy="6858000"/>
          </a:xfrm>
          <a:prstGeom prst="rect">
            <a:avLst/>
          </a:prstGeom>
          <a:solidFill>
            <a:srgbClr val="2E5E8F"/>
          </a:solidFill>
          <a:ln w="10160">
            <a:solidFill>
              <a:srgbClr val="2E5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blueprint-v-12"/>
          <p:cNvSpPr/>
          <p:nvPr/>
        </p:nvSpPr>
        <p:spPr>
          <a:xfrm>
            <a:off x="10972800" y="0"/>
            <a:ext cx="10972" cy="6858000"/>
          </a:xfrm>
          <a:prstGeom prst="rect">
            <a:avLst/>
          </a:prstGeom>
          <a:solidFill>
            <a:srgbClr val="2E5E8F"/>
          </a:solidFill>
          <a:ln w="10160">
            <a:solidFill>
              <a:srgbClr val="2E5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blueprint-h-1"/>
          <p:cNvSpPr/>
          <p:nvPr/>
        </p:nvSpPr>
        <p:spPr>
          <a:xfrm>
            <a:off x="0" y="914400"/>
            <a:ext cx="12191695" cy="10972"/>
          </a:xfrm>
          <a:prstGeom prst="rect">
            <a:avLst/>
          </a:prstGeom>
          <a:solidFill>
            <a:srgbClr val="2E5E8F"/>
          </a:solidFill>
          <a:ln w="10160">
            <a:solidFill>
              <a:srgbClr val="2E5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blueprint-h-2"/>
          <p:cNvSpPr/>
          <p:nvPr/>
        </p:nvSpPr>
        <p:spPr>
          <a:xfrm>
            <a:off x="0" y="1828800"/>
            <a:ext cx="12191695" cy="10972"/>
          </a:xfrm>
          <a:prstGeom prst="rect">
            <a:avLst/>
          </a:prstGeom>
          <a:solidFill>
            <a:srgbClr val="2E5E8F"/>
          </a:solidFill>
          <a:ln w="10160">
            <a:solidFill>
              <a:srgbClr val="2E5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blueprint-h-3"/>
          <p:cNvSpPr/>
          <p:nvPr/>
        </p:nvSpPr>
        <p:spPr>
          <a:xfrm>
            <a:off x="0" y="2743200"/>
            <a:ext cx="12191695" cy="10972"/>
          </a:xfrm>
          <a:prstGeom prst="rect">
            <a:avLst/>
          </a:prstGeom>
          <a:solidFill>
            <a:srgbClr val="2E5E8F"/>
          </a:solidFill>
          <a:ln w="10160">
            <a:solidFill>
              <a:srgbClr val="2E5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lueprint-h-4"/>
          <p:cNvSpPr/>
          <p:nvPr/>
        </p:nvSpPr>
        <p:spPr>
          <a:xfrm>
            <a:off x="0" y="3657600"/>
            <a:ext cx="12191695" cy="10972"/>
          </a:xfrm>
          <a:prstGeom prst="rect">
            <a:avLst/>
          </a:prstGeom>
          <a:solidFill>
            <a:srgbClr val="2E5E8F"/>
          </a:solidFill>
          <a:ln w="10160">
            <a:solidFill>
              <a:srgbClr val="2E5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blueprint-h-5"/>
          <p:cNvSpPr/>
          <p:nvPr/>
        </p:nvSpPr>
        <p:spPr>
          <a:xfrm>
            <a:off x="0" y="4572000"/>
            <a:ext cx="12191695" cy="10972"/>
          </a:xfrm>
          <a:prstGeom prst="rect">
            <a:avLst/>
          </a:prstGeom>
          <a:solidFill>
            <a:srgbClr val="2E5E8F"/>
          </a:solidFill>
          <a:ln w="10160">
            <a:solidFill>
              <a:srgbClr val="2E5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blueprint-h-6"/>
          <p:cNvSpPr/>
          <p:nvPr/>
        </p:nvSpPr>
        <p:spPr>
          <a:xfrm>
            <a:off x="0" y="5486400"/>
            <a:ext cx="12191695" cy="10972"/>
          </a:xfrm>
          <a:prstGeom prst="rect">
            <a:avLst/>
          </a:prstGeom>
          <a:solidFill>
            <a:srgbClr val="2E5E8F"/>
          </a:solidFill>
          <a:ln w="10160">
            <a:solidFill>
              <a:srgbClr val="2E5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blueprint-h-7"/>
          <p:cNvSpPr/>
          <p:nvPr/>
        </p:nvSpPr>
        <p:spPr>
          <a:xfrm>
            <a:off x="0" y="6400800"/>
            <a:ext cx="12191695" cy="10972"/>
          </a:xfrm>
          <a:prstGeom prst="rect">
            <a:avLst/>
          </a:prstGeom>
          <a:solidFill>
            <a:srgbClr val="2E5E8F"/>
          </a:solidFill>
          <a:ln w="10160">
            <a:solidFill>
              <a:srgbClr val="2E5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op-band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64C8FF"/>
          </a:solidFill>
          <a:ln w="10160">
            <a:solidFill>
              <a:srgbClr val="64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nav-shell"/>
          <p:cNvSpPr/>
          <p:nvPr/>
        </p:nvSpPr>
        <p:spPr>
          <a:xfrm>
            <a:off x="457200" y="1078992"/>
            <a:ext cx="1572768" cy="5102352"/>
          </a:xfrm>
          <a:prstGeom prst="rect">
            <a:avLst/>
          </a:prstGeom>
          <a:solidFill>
            <a:srgbClr val="14325C"/>
          </a:solidFill>
          <a:ln w="10160">
            <a:solidFill>
              <a:srgbClr val="2E5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metric-0-shell"/>
          <p:cNvSpPr/>
          <p:nvPr/>
        </p:nvSpPr>
        <p:spPr>
          <a:xfrm>
            <a:off x="2249424" y="1078992"/>
            <a:ext cx="1161288" cy="768096"/>
          </a:xfrm>
          <a:prstGeom prst="rect">
            <a:avLst/>
          </a:prstGeom>
          <a:solidFill>
            <a:srgbClr val="102B50"/>
          </a:solidFill>
          <a:ln w="10160">
            <a:solidFill>
              <a:srgbClr val="2E5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metric-1-shell"/>
          <p:cNvSpPr/>
          <p:nvPr/>
        </p:nvSpPr>
        <p:spPr>
          <a:xfrm>
            <a:off x="3557016" y="1078992"/>
            <a:ext cx="1161288" cy="768096"/>
          </a:xfrm>
          <a:prstGeom prst="rect">
            <a:avLst/>
          </a:prstGeom>
          <a:solidFill>
            <a:srgbClr val="102B50"/>
          </a:solidFill>
          <a:ln w="10160">
            <a:solidFill>
              <a:srgbClr val="2E5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metric-2-shell"/>
          <p:cNvSpPr/>
          <p:nvPr/>
        </p:nvSpPr>
        <p:spPr>
          <a:xfrm>
            <a:off x="4864608" y="1078992"/>
            <a:ext cx="1161288" cy="768096"/>
          </a:xfrm>
          <a:prstGeom prst="rect">
            <a:avLst/>
          </a:prstGeom>
          <a:solidFill>
            <a:srgbClr val="102B50"/>
          </a:solidFill>
          <a:ln w="10160">
            <a:solidFill>
              <a:srgbClr val="2E5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metric-3-shell"/>
          <p:cNvSpPr/>
          <p:nvPr/>
        </p:nvSpPr>
        <p:spPr>
          <a:xfrm>
            <a:off x="6172200" y="1078992"/>
            <a:ext cx="1161288" cy="768096"/>
          </a:xfrm>
          <a:prstGeom prst="rect">
            <a:avLst/>
          </a:prstGeom>
          <a:solidFill>
            <a:srgbClr val="102B50"/>
          </a:solidFill>
          <a:ln w="10160">
            <a:solidFill>
              <a:srgbClr val="2E5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metric-4-shell"/>
          <p:cNvSpPr/>
          <p:nvPr/>
        </p:nvSpPr>
        <p:spPr>
          <a:xfrm>
            <a:off x="7479792" y="1078992"/>
            <a:ext cx="1161288" cy="768096"/>
          </a:xfrm>
          <a:prstGeom prst="rect">
            <a:avLst/>
          </a:prstGeom>
          <a:solidFill>
            <a:srgbClr val="102B50"/>
          </a:solidFill>
          <a:ln w="10160">
            <a:solidFill>
              <a:srgbClr val="2E5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isk-rail-shell"/>
          <p:cNvSpPr/>
          <p:nvPr/>
        </p:nvSpPr>
        <p:spPr>
          <a:xfrm>
            <a:off x="9052560" y="1078992"/>
            <a:ext cx="2679192" cy="4389120"/>
          </a:xfrm>
          <a:prstGeom prst="rect">
            <a:avLst/>
          </a:prstGeom>
          <a:solidFill>
            <a:srgbClr val="14325C"/>
          </a:solidFill>
          <a:ln w="10160">
            <a:solidFill>
              <a:srgbClr val="2E5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nav-accent"/>
          <p:cNvSpPr/>
          <p:nvPr/>
        </p:nvSpPr>
        <p:spPr>
          <a:xfrm>
            <a:off x="457200" y="1078992"/>
            <a:ext cx="73152" cy="5102352"/>
          </a:xfrm>
          <a:prstGeom prst="rect">
            <a:avLst/>
          </a:prstGeom>
          <a:solidFill>
            <a:srgbClr val="64C8FF"/>
          </a:solidFill>
          <a:ln w="10160">
            <a:solidFill>
              <a:srgbClr val="64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nav-0"/>
          <p:cNvSpPr/>
          <p:nvPr/>
        </p:nvSpPr>
        <p:spPr>
          <a:xfrm>
            <a:off x="658368" y="1874519"/>
            <a:ext cx="1143000" cy="329184"/>
          </a:xfrm>
          <a:prstGeom prst="roundRect">
            <a:avLst/>
          </a:prstGeom>
          <a:solidFill>
            <a:srgbClr val="64C8FF"/>
          </a:solidFill>
          <a:ln w="10160">
            <a:solidFill>
              <a:srgbClr val="2E5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nav-1"/>
          <p:cNvSpPr/>
          <p:nvPr/>
        </p:nvSpPr>
        <p:spPr>
          <a:xfrm>
            <a:off x="658368" y="2386584"/>
            <a:ext cx="1143000" cy="329184"/>
          </a:xfrm>
          <a:prstGeom prst="roundRect">
            <a:avLst/>
          </a:prstGeom>
          <a:solidFill>
            <a:srgbClr val="102B50"/>
          </a:solidFill>
          <a:ln w="10160">
            <a:solidFill>
              <a:srgbClr val="2E5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nav-2"/>
          <p:cNvSpPr/>
          <p:nvPr/>
        </p:nvSpPr>
        <p:spPr>
          <a:xfrm>
            <a:off x="658368" y="2898648"/>
            <a:ext cx="1143000" cy="329184"/>
          </a:xfrm>
          <a:prstGeom prst="roundRect">
            <a:avLst/>
          </a:prstGeom>
          <a:solidFill>
            <a:srgbClr val="102B50"/>
          </a:solidFill>
          <a:ln w="10160">
            <a:solidFill>
              <a:srgbClr val="2E5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nav-3"/>
          <p:cNvSpPr/>
          <p:nvPr/>
        </p:nvSpPr>
        <p:spPr>
          <a:xfrm>
            <a:off x="658368" y="3410712"/>
            <a:ext cx="1143000" cy="329184"/>
          </a:xfrm>
          <a:prstGeom prst="roundRect">
            <a:avLst/>
          </a:prstGeom>
          <a:solidFill>
            <a:srgbClr val="102B50"/>
          </a:solidFill>
          <a:ln w="10160">
            <a:solidFill>
              <a:srgbClr val="2E5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nav-4"/>
          <p:cNvSpPr/>
          <p:nvPr/>
        </p:nvSpPr>
        <p:spPr>
          <a:xfrm>
            <a:off x="658368" y="3922776"/>
            <a:ext cx="1143000" cy="329184"/>
          </a:xfrm>
          <a:prstGeom prst="roundRect">
            <a:avLst/>
          </a:prstGeom>
          <a:solidFill>
            <a:srgbClr val="102B50"/>
          </a:solidFill>
          <a:ln w="10160">
            <a:solidFill>
              <a:srgbClr val="2E5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nav-5"/>
          <p:cNvSpPr/>
          <p:nvPr/>
        </p:nvSpPr>
        <p:spPr>
          <a:xfrm>
            <a:off x="658368" y="4434840"/>
            <a:ext cx="1143000" cy="329184"/>
          </a:xfrm>
          <a:prstGeom prst="roundRect">
            <a:avLst/>
          </a:prstGeom>
          <a:solidFill>
            <a:srgbClr val="102B50"/>
          </a:solidFill>
          <a:ln w="10160">
            <a:solidFill>
              <a:srgbClr val="2E5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nav-6"/>
          <p:cNvSpPr/>
          <p:nvPr/>
        </p:nvSpPr>
        <p:spPr>
          <a:xfrm>
            <a:off x="658368" y="4946904"/>
            <a:ext cx="1143000" cy="329184"/>
          </a:xfrm>
          <a:prstGeom prst="roundRect">
            <a:avLst/>
          </a:prstGeom>
          <a:solidFill>
            <a:srgbClr val="102B50"/>
          </a:solidFill>
          <a:ln w="10160">
            <a:solidFill>
              <a:srgbClr val="2E5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metric-0-accent"/>
          <p:cNvSpPr/>
          <p:nvPr/>
        </p:nvSpPr>
        <p:spPr>
          <a:xfrm>
            <a:off x="2249424" y="1078992"/>
            <a:ext cx="73152" cy="768096"/>
          </a:xfrm>
          <a:prstGeom prst="rect">
            <a:avLst/>
          </a:prstGeom>
          <a:solidFill>
            <a:srgbClr val="64C8FF"/>
          </a:solidFill>
          <a:ln w="10160">
            <a:solidFill>
              <a:srgbClr val="64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metric-1-accent"/>
          <p:cNvSpPr/>
          <p:nvPr/>
        </p:nvSpPr>
        <p:spPr>
          <a:xfrm>
            <a:off x="3557016" y="1078992"/>
            <a:ext cx="73152" cy="768096"/>
          </a:xfrm>
          <a:prstGeom prst="rect">
            <a:avLst/>
          </a:prstGeom>
          <a:solidFill>
            <a:srgbClr val="96DCFF"/>
          </a:solidFill>
          <a:ln w="10160">
            <a:solidFill>
              <a:srgbClr val="96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metric-2-accent"/>
          <p:cNvSpPr/>
          <p:nvPr/>
        </p:nvSpPr>
        <p:spPr>
          <a:xfrm>
            <a:off x="4864608" y="1078992"/>
            <a:ext cx="73152" cy="768096"/>
          </a:xfrm>
          <a:prstGeom prst="rect">
            <a:avLst/>
          </a:prstGeom>
          <a:solidFill>
            <a:srgbClr val="64B4FF"/>
          </a:solidFill>
          <a:ln w="1016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metric-3-accent"/>
          <p:cNvSpPr/>
          <p:nvPr/>
        </p:nvSpPr>
        <p:spPr>
          <a:xfrm>
            <a:off x="6172200" y="1078992"/>
            <a:ext cx="73152" cy="768096"/>
          </a:xfrm>
          <a:prstGeom prst="rect">
            <a:avLst/>
          </a:prstGeom>
          <a:solidFill>
            <a:srgbClr val="FFD166"/>
          </a:solidFill>
          <a:ln w="1016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metric-4-accent"/>
          <p:cNvSpPr/>
          <p:nvPr/>
        </p:nvSpPr>
        <p:spPr>
          <a:xfrm>
            <a:off x="7479792" y="1078992"/>
            <a:ext cx="73152" cy="768096"/>
          </a:xfrm>
          <a:prstGeom prst="rect">
            <a:avLst/>
          </a:prstGeom>
          <a:solidFill>
            <a:srgbClr val="64C8FF"/>
          </a:solidFill>
          <a:ln w="10160">
            <a:solidFill>
              <a:srgbClr val="64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isk-rail-accent"/>
          <p:cNvSpPr/>
          <p:nvPr/>
        </p:nvSpPr>
        <p:spPr>
          <a:xfrm>
            <a:off x="9052560" y="1078992"/>
            <a:ext cx="73152" cy="4389120"/>
          </a:xfrm>
          <a:prstGeom prst="rect">
            <a:avLst/>
          </a:prstGeom>
          <a:solidFill>
            <a:srgbClr val="64C8FF"/>
          </a:solidFill>
          <a:ln w="10160">
            <a:solidFill>
              <a:srgbClr val="64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progress-track"/>
          <p:cNvSpPr/>
          <p:nvPr/>
        </p:nvSpPr>
        <p:spPr>
          <a:xfrm>
            <a:off x="2249424" y="5687568"/>
            <a:ext cx="9482328" cy="384048"/>
          </a:xfrm>
          <a:prstGeom prst="roundRect">
            <a:avLst/>
          </a:prstGeom>
          <a:solidFill>
            <a:srgbClr val="14325C"/>
          </a:solidFill>
          <a:ln w="10160">
            <a:solidFill>
              <a:srgbClr val="2E5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5" name="signal-table"/>
          <p:cNvGraphicFramePr>
            <a:graphicFrameLocks noGrp="1"/>
          </p:cNvGraphicFramePr>
          <p:nvPr/>
        </p:nvGraphicFramePr>
        <p:xfrm>
          <a:off x="2249424" y="2066543"/>
          <a:ext cx="6537960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7592"/>
                <a:gridCol w="1307592"/>
                <a:gridCol w="1307592"/>
                <a:gridCol w="1307592"/>
                <a:gridCol w="1307592"/>
              </a:tblGrid>
              <a:tr h="425196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0D2240"/>
                          </a:solidFill>
                          <a:latin typeface="Consolas"/>
                        </a:rPr>
                        <a:t>Signal</a:t>
                      </a:r>
                    </a:p>
                  </a:txBody>
                  <a:tcPr marL="54864" marR="54864" marT="18288" marB="18288">
                    <a:solidFill>
                      <a:srgbClr val="64C8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0D2240"/>
                          </a:solidFill>
                          <a:latin typeface="Consolas"/>
                        </a:rPr>
                        <a:t>Owner</a:t>
                      </a:r>
                    </a:p>
                  </a:txBody>
                  <a:tcPr marL="54864" marR="54864" marT="18288" marB="18288">
                    <a:solidFill>
                      <a:srgbClr val="64C8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0D2240"/>
                          </a:solidFill>
                          <a:latin typeface="Consolas"/>
                        </a:rPr>
                        <a:t>State</a:t>
                      </a:r>
                    </a:p>
                  </a:txBody>
                  <a:tcPr marL="54864" marR="54864" marT="18288" marB="18288">
                    <a:solidFill>
                      <a:srgbClr val="64C8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0D2240"/>
                          </a:solidFill>
                          <a:latin typeface="Consolas"/>
                        </a:rPr>
                        <a:t>Gate</a:t>
                      </a:r>
                    </a:p>
                  </a:txBody>
                  <a:tcPr marL="54864" marR="54864" marT="18288" marB="18288">
                    <a:solidFill>
                      <a:srgbClr val="64C8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0D2240"/>
                          </a:solidFill>
                          <a:latin typeface="Consolas"/>
                        </a:rPr>
                        <a:t>Next</a:t>
                      </a:r>
                    </a:p>
                  </a:txBody>
                  <a:tcPr marL="54864" marR="54864" marT="18288" marB="18288">
                    <a:solidFill>
                      <a:srgbClr val="64C8FF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96DCFF"/>
                          </a:solidFill>
                          <a:latin typeface="Consolas"/>
                        </a:rPr>
                        <a:t>S-01</a:t>
                      </a:r>
                    </a:p>
                  </a:txBody>
                  <a:tcPr marL="54864" marR="54864" marT="18288" marB="18288">
                    <a:solidFill>
                      <a:srgbClr val="102B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96DCFF"/>
                          </a:solidFill>
                          <a:latin typeface="Consolas"/>
                        </a:rPr>
                        <a:t>Reviewer</a:t>
                      </a:r>
                    </a:p>
                  </a:txBody>
                  <a:tcPr marL="54864" marR="54864" marT="18288" marB="18288">
                    <a:solidFill>
                      <a:srgbClr val="102B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96DCFF"/>
                          </a:solidFill>
                          <a:latin typeface="Consolas"/>
                        </a:rPr>
                        <a:t>Watch</a:t>
                      </a:r>
                    </a:p>
                  </a:txBody>
                  <a:tcPr marL="54864" marR="54864" marT="18288" marB="18288">
                    <a:solidFill>
                      <a:srgbClr val="102B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96DCFF"/>
                          </a:solidFill>
                          <a:latin typeface="Consolas"/>
                        </a:rPr>
                        <a:t>Review</a:t>
                      </a:r>
                    </a:p>
                  </a:txBody>
                  <a:tcPr marL="54864" marR="54864" marT="18288" marB="18288">
                    <a:solidFill>
                      <a:srgbClr val="102B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96DCFF"/>
                          </a:solidFill>
                          <a:latin typeface="Consolas"/>
                        </a:rPr>
                        <a:t>Check</a:t>
                      </a:r>
                    </a:p>
                  </a:txBody>
                  <a:tcPr marL="54864" marR="54864" marT="18288" marB="18288">
                    <a:solidFill>
                      <a:srgbClr val="102B50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96DCFF"/>
                          </a:solidFill>
                          <a:latin typeface="Consolas"/>
                        </a:rPr>
                        <a:t>S-02</a:t>
                      </a:r>
                    </a:p>
                  </a:txBody>
                  <a:tcPr marL="54864" marR="54864" marT="18288" marB="18288">
                    <a:solidFill>
                      <a:srgbClr val="1432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96DCFF"/>
                          </a:solidFill>
                          <a:latin typeface="Consolas"/>
                        </a:rPr>
                        <a:t>Auditor</a:t>
                      </a:r>
                    </a:p>
                  </a:txBody>
                  <a:tcPr marL="54864" marR="54864" marT="18288" marB="18288">
                    <a:solidFill>
                      <a:srgbClr val="1432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96DCFF"/>
                          </a:solidFill>
                          <a:latin typeface="Consolas"/>
                        </a:rPr>
                        <a:t>Hold</a:t>
                      </a:r>
                    </a:p>
                  </a:txBody>
                  <a:tcPr marL="54864" marR="54864" marT="18288" marB="18288">
                    <a:solidFill>
                      <a:srgbClr val="1432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96DCFF"/>
                          </a:solidFill>
                          <a:latin typeface="Consolas"/>
                        </a:rPr>
                        <a:t>Repair</a:t>
                      </a:r>
                    </a:p>
                  </a:txBody>
                  <a:tcPr marL="54864" marR="54864" marT="18288" marB="18288">
                    <a:solidFill>
                      <a:srgbClr val="1432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96DCFF"/>
                          </a:solidFill>
                          <a:latin typeface="Consolas"/>
                        </a:rPr>
                        <a:t>Fix</a:t>
                      </a:r>
                    </a:p>
                  </a:txBody>
                  <a:tcPr marL="54864" marR="54864" marT="18288" marB="18288">
                    <a:solidFill>
                      <a:srgbClr val="14325C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96DCFF"/>
                          </a:solidFill>
                          <a:latin typeface="Consolas"/>
                        </a:rPr>
                        <a:t>S-03</a:t>
                      </a:r>
                    </a:p>
                  </a:txBody>
                  <a:tcPr marL="54864" marR="54864" marT="18288" marB="18288">
                    <a:solidFill>
                      <a:srgbClr val="102B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96DCFF"/>
                          </a:solidFill>
                          <a:latin typeface="Consolas"/>
                        </a:rPr>
                        <a:t>Author</a:t>
                      </a:r>
                    </a:p>
                  </a:txBody>
                  <a:tcPr marL="54864" marR="54864" marT="18288" marB="18288">
                    <a:solidFill>
                      <a:srgbClr val="102B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96DCFF"/>
                          </a:solidFill>
                          <a:latin typeface="Consolas"/>
                        </a:rPr>
                        <a:t>Ready</a:t>
                      </a:r>
                    </a:p>
                  </a:txBody>
                  <a:tcPr marL="54864" marR="54864" marT="18288" marB="18288">
                    <a:solidFill>
                      <a:srgbClr val="102B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96DCFF"/>
                          </a:solidFill>
                          <a:latin typeface="Consolas"/>
                        </a:rPr>
                        <a:t>Pass</a:t>
                      </a:r>
                    </a:p>
                  </a:txBody>
                  <a:tcPr marL="54864" marR="54864" marT="18288" marB="18288">
                    <a:solidFill>
                      <a:srgbClr val="102B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96DCFF"/>
                          </a:solidFill>
                          <a:latin typeface="Consolas"/>
                        </a:rPr>
                        <a:t>Ship</a:t>
                      </a:r>
                    </a:p>
                  </a:txBody>
                  <a:tcPr marL="54864" marR="54864" marT="18288" marB="18288">
                    <a:solidFill>
                      <a:srgbClr val="102B50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96DCFF"/>
                          </a:solidFill>
                          <a:latin typeface="Consolas"/>
                        </a:rPr>
                        <a:t>S-04</a:t>
                      </a:r>
                    </a:p>
                  </a:txBody>
                  <a:tcPr marL="54864" marR="54864" marT="18288" marB="18288">
                    <a:solidFill>
                      <a:srgbClr val="1432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96DCFF"/>
                          </a:solidFill>
                          <a:latin typeface="Consolas"/>
                        </a:rPr>
                        <a:t>Reviewer</a:t>
                      </a:r>
                    </a:p>
                  </a:txBody>
                  <a:tcPr marL="54864" marR="54864" marT="18288" marB="18288">
                    <a:solidFill>
                      <a:srgbClr val="1432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96DCFF"/>
                          </a:solidFill>
                          <a:latin typeface="Consolas"/>
                        </a:rPr>
                        <a:t>Watch</a:t>
                      </a:r>
                    </a:p>
                  </a:txBody>
                  <a:tcPr marL="54864" marR="54864" marT="18288" marB="18288">
                    <a:solidFill>
                      <a:srgbClr val="1432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96DCFF"/>
                          </a:solidFill>
                          <a:latin typeface="Consolas"/>
                        </a:rPr>
                        <a:t>Review</a:t>
                      </a:r>
                    </a:p>
                  </a:txBody>
                  <a:tcPr marL="54864" marR="54864" marT="18288" marB="18288">
                    <a:solidFill>
                      <a:srgbClr val="1432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96DCFF"/>
                          </a:solidFill>
                          <a:latin typeface="Consolas"/>
                        </a:rPr>
                        <a:t>Check</a:t>
                      </a:r>
                    </a:p>
                  </a:txBody>
                  <a:tcPr marL="54864" marR="54864" marT="18288" marB="18288">
                    <a:solidFill>
                      <a:srgbClr val="14325C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96DCFF"/>
                          </a:solidFill>
                          <a:latin typeface="Consolas"/>
                        </a:rPr>
                        <a:t>S-05</a:t>
                      </a:r>
                    </a:p>
                  </a:txBody>
                  <a:tcPr marL="54864" marR="54864" marT="18288" marB="18288">
                    <a:solidFill>
                      <a:srgbClr val="102B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96DCFF"/>
                          </a:solidFill>
                          <a:latin typeface="Consolas"/>
                        </a:rPr>
                        <a:t>Auditor</a:t>
                      </a:r>
                    </a:p>
                  </a:txBody>
                  <a:tcPr marL="54864" marR="54864" marT="18288" marB="18288">
                    <a:solidFill>
                      <a:srgbClr val="102B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96DCFF"/>
                          </a:solidFill>
                          <a:latin typeface="Consolas"/>
                        </a:rPr>
                        <a:t>Hold</a:t>
                      </a:r>
                    </a:p>
                  </a:txBody>
                  <a:tcPr marL="54864" marR="54864" marT="18288" marB="18288">
                    <a:solidFill>
                      <a:srgbClr val="102B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96DCFF"/>
                          </a:solidFill>
                          <a:latin typeface="Consolas"/>
                        </a:rPr>
                        <a:t>Repair</a:t>
                      </a:r>
                    </a:p>
                  </a:txBody>
                  <a:tcPr marL="54864" marR="54864" marT="18288" marB="18288">
                    <a:solidFill>
                      <a:srgbClr val="102B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96DCFF"/>
                          </a:solidFill>
                          <a:latin typeface="Consolas"/>
                        </a:rPr>
                        <a:t>Fix</a:t>
                      </a:r>
                    </a:p>
                  </a:txBody>
                  <a:tcPr marL="54864" marR="54864" marT="18288" marB="18288">
                    <a:solidFill>
                      <a:srgbClr val="102B50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96DCFF"/>
                          </a:solidFill>
                          <a:latin typeface="Consolas"/>
                        </a:rPr>
                        <a:t>S-06</a:t>
                      </a:r>
                    </a:p>
                  </a:txBody>
                  <a:tcPr marL="54864" marR="54864" marT="18288" marB="18288">
                    <a:solidFill>
                      <a:srgbClr val="1432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96DCFF"/>
                          </a:solidFill>
                          <a:latin typeface="Consolas"/>
                        </a:rPr>
                        <a:t>Author</a:t>
                      </a:r>
                    </a:p>
                  </a:txBody>
                  <a:tcPr marL="54864" marR="54864" marT="18288" marB="18288">
                    <a:solidFill>
                      <a:srgbClr val="1432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96DCFF"/>
                          </a:solidFill>
                          <a:latin typeface="Consolas"/>
                        </a:rPr>
                        <a:t>Ready</a:t>
                      </a:r>
                    </a:p>
                  </a:txBody>
                  <a:tcPr marL="54864" marR="54864" marT="18288" marB="18288">
                    <a:solidFill>
                      <a:srgbClr val="1432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96DCFF"/>
                          </a:solidFill>
                          <a:latin typeface="Consolas"/>
                        </a:rPr>
                        <a:t>Pass</a:t>
                      </a:r>
                    </a:p>
                  </a:txBody>
                  <a:tcPr marL="54864" marR="54864" marT="18288" marB="18288">
                    <a:solidFill>
                      <a:srgbClr val="1432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96DCFF"/>
                          </a:solidFill>
                          <a:latin typeface="Consolas"/>
                        </a:rPr>
                        <a:t>Ship</a:t>
                      </a:r>
                    </a:p>
                  </a:txBody>
                  <a:tcPr marL="54864" marR="54864" marT="18288" marB="18288">
                    <a:solidFill>
                      <a:srgbClr val="14325C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96DCFF"/>
                          </a:solidFill>
                          <a:latin typeface="Consolas"/>
                        </a:rPr>
                        <a:t>S-07</a:t>
                      </a:r>
                    </a:p>
                  </a:txBody>
                  <a:tcPr marL="54864" marR="54864" marT="18288" marB="18288">
                    <a:solidFill>
                      <a:srgbClr val="102B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96DCFF"/>
                          </a:solidFill>
                          <a:latin typeface="Consolas"/>
                        </a:rPr>
                        <a:t>Reviewer</a:t>
                      </a:r>
                    </a:p>
                  </a:txBody>
                  <a:tcPr marL="54864" marR="54864" marT="18288" marB="18288">
                    <a:solidFill>
                      <a:srgbClr val="102B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96DCFF"/>
                          </a:solidFill>
                          <a:latin typeface="Consolas"/>
                        </a:rPr>
                        <a:t>Watch</a:t>
                      </a:r>
                    </a:p>
                  </a:txBody>
                  <a:tcPr marL="54864" marR="54864" marT="18288" marB="18288">
                    <a:solidFill>
                      <a:srgbClr val="102B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96DCFF"/>
                          </a:solidFill>
                          <a:latin typeface="Consolas"/>
                        </a:rPr>
                        <a:t>Review</a:t>
                      </a:r>
                    </a:p>
                  </a:txBody>
                  <a:tcPr marL="54864" marR="54864" marT="18288" marB="18288">
                    <a:solidFill>
                      <a:srgbClr val="102B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96DCFF"/>
                          </a:solidFill>
                          <a:latin typeface="Consolas"/>
                        </a:rPr>
                        <a:t>Check</a:t>
                      </a:r>
                    </a:p>
                  </a:txBody>
                  <a:tcPr marL="54864" marR="54864" marT="18288" marB="18288">
                    <a:solidFill>
                      <a:srgbClr val="102B50"/>
                    </a:solidFill>
                  </a:tcPr>
                </a:tc>
              </a:tr>
            </a:tbl>
          </a:graphicData>
        </a:graphic>
      </p:graphicFrame>
      <p:sp>
        <p:nvSpPr>
          <p:cNvPr id="46" name="risk-dot-0"/>
          <p:cNvSpPr/>
          <p:nvPr/>
        </p:nvSpPr>
        <p:spPr>
          <a:xfrm>
            <a:off x="9308592" y="1746504"/>
            <a:ext cx="164592" cy="164592"/>
          </a:xfrm>
          <a:prstGeom prst="ellipse">
            <a:avLst/>
          </a:prstGeom>
          <a:solidFill>
            <a:srgbClr val="64C8FF"/>
          </a:solidFill>
          <a:ln w="10160">
            <a:solidFill>
              <a:srgbClr val="64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isk-dot-1"/>
          <p:cNvSpPr/>
          <p:nvPr/>
        </p:nvSpPr>
        <p:spPr>
          <a:xfrm>
            <a:off x="9308592" y="2276856"/>
            <a:ext cx="164592" cy="164592"/>
          </a:xfrm>
          <a:prstGeom prst="ellipse">
            <a:avLst/>
          </a:prstGeom>
          <a:solidFill>
            <a:srgbClr val="64C8FF"/>
          </a:solidFill>
          <a:ln w="10160">
            <a:solidFill>
              <a:srgbClr val="64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isk-dot-2"/>
          <p:cNvSpPr/>
          <p:nvPr/>
        </p:nvSpPr>
        <p:spPr>
          <a:xfrm>
            <a:off x="9308592" y="2807208"/>
            <a:ext cx="164592" cy="164592"/>
          </a:xfrm>
          <a:prstGeom prst="ellipse">
            <a:avLst/>
          </a:prstGeom>
          <a:solidFill>
            <a:srgbClr val="FFD166"/>
          </a:solidFill>
          <a:ln w="1016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isk-dot-3"/>
          <p:cNvSpPr/>
          <p:nvPr/>
        </p:nvSpPr>
        <p:spPr>
          <a:xfrm>
            <a:off x="9308592" y="3337560"/>
            <a:ext cx="164592" cy="164592"/>
          </a:xfrm>
          <a:prstGeom prst="ellipse">
            <a:avLst/>
          </a:prstGeom>
          <a:solidFill>
            <a:srgbClr val="64C8FF"/>
          </a:solidFill>
          <a:ln w="10160">
            <a:solidFill>
              <a:srgbClr val="64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isk-dot-4"/>
          <p:cNvSpPr/>
          <p:nvPr/>
        </p:nvSpPr>
        <p:spPr>
          <a:xfrm>
            <a:off x="9308592" y="3867912"/>
            <a:ext cx="164592" cy="164592"/>
          </a:xfrm>
          <a:prstGeom prst="ellipse">
            <a:avLst/>
          </a:prstGeom>
          <a:solidFill>
            <a:srgbClr val="64B4FF"/>
          </a:solidFill>
          <a:ln w="1016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isk-dot-5"/>
          <p:cNvSpPr/>
          <p:nvPr/>
        </p:nvSpPr>
        <p:spPr>
          <a:xfrm>
            <a:off x="9308592" y="4398264"/>
            <a:ext cx="164592" cy="164592"/>
          </a:xfrm>
          <a:prstGeom prst="ellipse">
            <a:avLst/>
          </a:prstGeom>
          <a:solidFill>
            <a:srgbClr val="64C8FF"/>
          </a:solidFill>
          <a:ln w="10160">
            <a:solidFill>
              <a:srgbClr val="64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progress-fill"/>
          <p:cNvSpPr/>
          <p:nvPr/>
        </p:nvSpPr>
        <p:spPr>
          <a:xfrm>
            <a:off x="2249424" y="5687568"/>
            <a:ext cx="7406640" cy="384048"/>
          </a:xfrm>
          <a:prstGeom prst="roundRect">
            <a:avLst/>
          </a:prstGeom>
          <a:solidFill>
            <a:srgbClr val="64C8FF"/>
          </a:solidFill>
          <a:ln w="10160">
            <a:solidFill>
              <a:srgbClr val="64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profile-tag"/>
          <p:cNvSpPr txBox="1"/>
          <p:nvPr/>
        </p:nvSpPr>
        <p:spPr>
          <a:xfrm>
            <a:off x="457200" y="201168"/>
            <a:ext cx="768096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1" lang="en-US">
                <a:solidFill>
                  <a:srgbClr val="64C8FF"/>
                </a:solidFill>
                <a:latin typeface="Consolas"/>
              </a:rPr>
              <a:t>V3 STRESS SUITE  ·  ARCHITECTURAL BLUEPRINT  ·  CONTROL ROOM</a:t>
            </a:r>
          </a:p>
        </p:txBody>
      </p:sp>
      <p:sp>
        <p:nvSpPr>
          <p:cNvPr id="54" name="slide-index"/>
          <p:cNvSpPr txBox="1"/>
          <p:nvPr/>
        </p:nvSpPr>
        <p:spPr>
          <a:xfrm>
            <a:off x="10808208" y="201168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00" b="1" lang="en-US">
                <a:solidFill>
                  <a:srgbClr val="64C8FF"/>
                </a:solidFill>
                <a:latin typeface="Consolas"/>
              </a:rPr>
              <a:t>46/60</a:t>
            </a:r>
          </a:p>
        </p:txBody>
      </p:sp>
      <p:sp>
        <p:nvSpPr>
          <p:cNvPr id="55" name="title"/>
          <p:cNvSpPr txBox="1"/>
          <p:nvPr/>
        </p:nvSpPr>
        <p:spPr>
          <a:xfrm>
            <a:off x="457200" y="484632"/>
            <a:ext cx="11274552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200" b="1" lang="en-US">
                <a:solidFill>
                  <a:srgbClr val="96DCFF"/>
                </a:solidFill>
                <a:latin typeface="Consolas"/>
              </a:rPr>
              <a:t>Control room layouts keep dense delivery signals governable</a:t>
            </a:r>
          </a:p>
        </p:txBody>
      </p:sp>
      <p:sp>
        <p:nvSpPr>
          <p:cNvPr id="56" name="footer"/>
          <p:cNvSpPr txBox="1"/>
          <p:nvPr/>
        </p:nvSpPr>
        <p:spPr>
          <a:xfrm>
            <a:off x="457200" y="6473952"/>
            <a:ext cx="1051560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0" lang="en-US">
                <a:solidFill>
                  <a:srgbClr val="64C8FF"/>
                </a:solidFill>
                <a:latin typeface="Consolas"/>
              </a:rPr>
              <a:t>Native-object stress fixture · dual cyan blueprint grid, dimension lines, and a circular stamp · editable geometry and recorded style lock</a:t>
            </a:r>
          </a:p>
        </p:txBody>
      </p:sp>
      <p:sp>
        <p:nvSpPr>
          <p:cNvPr id="57" name="nav-title"/>
          <p:cNvSpPr txBox="1"/>
          <p:nvPr/>
        </p:nvSpPr>
        <p:spPr>
          <a:xfrm>
            <a:off x="667512" y="1298448"/>
            <a:ext cx="1078992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1" lang="en-US">
                <a:solidFill>
                  <a:srgbClr val="64C8FF"/>
                </a:solidFill>
                <a:latin typeface="Consolas"/>
              </a:rPr>
              <a:t>CONTROL
PLANES</a:t>
            </a:r>
          </a:p>
        </p:txBody>
      </p:sp>
      <p:sp>
        <p:nvSpPr>
          <p:cNvPr id="58" name="nav-label-0"/>
          <p:cNvSpPr txBox="1"/>
          <p:nvPr/>
        </p:nvSpPr>
        <p:spPr>
          <a:xfrm>
            <a:off x="749808" y="1965960"/>
            <a:ext cx="932688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1" lang="en-US">
                <a:solidFill>
                  <a:srgbClr val="111111"/>
                </a:solidFill>
                <a:latin typeface="Consolas"/>
              </a:rPr>
              <a:t>INBOX</a:t>
            </a:r>
          </a:p>
        </p:txBody>
      </p:sp>
      <p:sp>
        <p:nvSpPr>
          <p:cNvPr id="59" name="nav-label-1"/>
          <p:cNvSpPr txBox="1"/>
          <p:nvPr/>
        </p:nvSpPr>
        <p:spPr>
          <a:xfrm>
            <a:off x="749808" y="2478024"/>
            <a:ext cx="932688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0" lang="en-US">
                <a:solidFill>
                  <a:srgbClr val="96DCFF"/>
                </a:solidFill>
                <a:latin typeface="Consolas"/>
              </a:rPr>
              <a:t>SIGNALS</a:t>
            </a:r>
          </a:p>
        </p:txBody>
      </p:sp>
      <p:sp>
        <p:nvSpPr>
          <p:cNvPr id="60" name="nav-label-2"/>
          <p:cNvSpPr txBox="1"/>
          <p:nvPr/>
        </p:nvSpPr>
        <p:spPr>
          <a:xfrm>
            <a:off x="749808" y="2990088"/>
            <a:ext cx="932688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0" lang="en-US">
                <a:solidFill>
                  <a:srgbClr val="96DCFF"/>
                </a:solidFill>
                <a:latin typeface="Consolas"/>
              </a:rPr>
              <a:t>EVIDENCE</a:t>
            </a:r>
          </a:p>
        </p:txBody>
      </p:sp>
      <p:sp>
        <p:nvSpPr>
          <p:cNvPr id="61" name="nav-label-3"/>
          <p:cNvSpPr txBox="1"/>
          <p:nvPr/>
        </p:nvSpPr>
        <p:spPr>
          <a:xfrm>
            <a:off x="749808" y="3502152"/>
            <a:ext cx="932688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0" lang="en-US">
                <a:solidFill>
                  <a:srgbClr val="96DCFF"/>
                </a:solidFill>
                <a:latin typeface="Consolas"/>
              </a:rPr>
              <a:t>POLICY</a:t>
            </a:r>
          </a:p>
        </p:txBody>
      </p:sp>
      <p:sp>
        <p:nvSpPr>
          <p:cNvPr id="62" name="nav-label-4"/>
          <p:cNvSpPr txBox="1"/>
          <p:nvPr/>
        </p:nvSpPr>
        <p:spPr>
          <a:xfrm>
            <a:off x="749808" y="4014215"/>
            <a:ext cx="932688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0" lang="en-US">
                <a:solidFill>
                  <a:srgbClr val="96DCFF"/>
                </a:solidFill>
                <a:latin typeface="Consolas"/>
              </a:rPr>
              <a:t>REPAIR</a:t>
            </a:r>
          </a:p>
        </p:txBody>
      </p:sp>
      <p:sp>
        <p:nvSpPr>
          <p:cNvPr id="63" name="nav-label-5"/>
          <p:cNvSpPr txBox="1"/>
          <p:nvPr/>
        </p:nvSpPr>
        <p:spPr>
          <a:xfrm>
            <a:off x="749808" y="4526280"/>
            <a:ext cx="932688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0" lang="en-US">
                <a:solidFill>
                  <a:srgbClr val="96DCFF"/>
                </a:solidFill>
                <a:latin typeface="Consolas"/>
              </a:rPr>
              <a:t>RELEASE</a:t>
            </a:r>
          </a:p>
        </p:txBody>
      </p:sp>
      <p:sp>
        <p:nvSpPr>
          <p:cNvPr id="64" name="nav-label-6"/>
          <p:cNvSpPr txBox="1"/>
          <p:nvPr/>
        </p:nvSpPr>
        <p:spPr>
          <a:xfrm>
            <a:off x="749808" y="5038344"/>
            <a:ext cx="932688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0" lang="en-US">
                <a:solidFill>
                  <a:srgbClr val="96DCFF"/>
                </a:solidFill>
                <a:latin typeface="Consolas"/>
              </a:rPr>
              <a:t>ARCHIVE</a:t>
            </a:r>
          </a:p>
        </p:txBody>
      </p:sp>
      <p:sp>
        <p:nvSpPr>
          <p:cNvPr id="65" name="metric-v-0"/>
          <p:cNvSpPr txBox="1"/>
          <p:nvPr/>
        </p:nvSpPr>
        <p:spPr>
          <a:xfrm>
            <a:off x="2432304" y="1234440"/>
            <a:ext cx="80467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lang="en-US">
                <a:solidFill>
                  <a:srgbClr val="96DCFF"/>
                </a:solidFill>
                <a:latin typeface="Consolas"/>
              </a:rPr>
              <a:t>48</a:t>
            </a:r>
          </a:p>
        </p:txBody>
      </p:sp>
      <p:sp>
        <p:nvSpPr>
          <p:cNvPr id="66" name="metric-l-0"/>
          <p:cNvSpPr txBox="1"/>
          <p:nvPr/>
        </p:nvSpPr>
        <p:spPr>
          <a:xfrm>
            <a:off x="2359152" y="1581912"/>
            <a:ext cx="932688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64C8FF"/>
                </a:solidFill>
                <a:latin typeface="Consolas"/>
              </a:rPr>
              <a:t>WORK</a:t>
            </a:r>
          </a:p>
        </p:txBody>
      </p:sp>
      <p:sp>
        <p:nvSpPr>
          <p:cNvPr id="67" name="metric-v-1"/>
          <p:cNvSpPr txBox="1"/>
          <p:nvPr/>
        </p:nvSpPr>
        <p:spPr>
          <a:xfrm>
            <a:off x="3739896" y="1234440"/>
            <a:ext cx="80467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lang="en-US">
                <a:solidFill>
                  <a:srgbClr val="96DCFF"/>
                </a:solidFill>
                <a:latin typeface="Consolas"/>
              </a:rPr>
              <a:t>06</a:t>
            </a:r>
          </a:p>
        </p:txBody>
      </p:sp>
      <p:sp>
        <p:nvSpPr>
          <p:cNvPr id="68" name="metric-l-1"/>
          <p:cNvSpPr txBox="1"/>
          <p:nvPr/>
        </p:nvSpPr>
        <p:spPr>
          <a:xfrm>
            <a:off x="3666744" y="1581912"/>
            <a:ext cx="932688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64C8FF"/>
                </a:solidFill>
                <a:latin typeface="Consolas"/>
              </a:rPr>
              <a:t>FLAGS</a:t>
            </a:r>
          </a:p>
        </p:txBody>
      </p:sp>
      <p:sp>
        <p:nvSpPr>
          <p:cNvPr id="69" name="metric-v-2"/>
          <p:cNvSpPr txBox="1"/>
          <p:nvPr/>
        </p:nvSpPr>
        <p:spPr>
          <a:xfrm>
            <a:off x="5047488" y="1234440"/>
            <a:ext cx="80467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lang="en-US">
                <a:solidFill>
                  <a:srgbClr val="96DCFF"/>
                </a:solidFill>
                <a:latin typeface="Consolas"/>
              </a:rPr>
              <a:t>31</a:t>
            </a:r>
          </a:p>
        </p:txBody>
      </p:sp>
      <p:sp>
        <p:nvSpPr>
          <p:cNvPr id="70" name="metric-l-2"/>
          <p:cNvSpPr txBox="1"/>
          <p:nvPr/>
        </p:nvSpPr>
        <p:spPr>
          <a:xfrm>
            <a:off x="4974336" y="1581912"/>
            <a:ext cx="932688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64C8FF"/>
                </a:solidFill>
                <a:latin typeface="Consolas"/>
              </a:rPr>
              <a:t>READY</a:t>
            </a:r>
          </a:p>
        </p:txBody>
      </p:sp>
      <p:sp>
        <p:nvSpPr>
          <p:cNvPr id="71" name="metric-v-3"/>
          <p:cNvSpPr txBox="1"/>
          <p:nvPr/>
        </p:nvSpPr>
        <p:spPr>
          <a:xfrm>
            <a:off x="6355080" y="1234440"/>
            <a:ext cx="80467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lang="en-US">
                <a:solidFill>
                  <a:srgbClr val="96DCFF"/>
                </a:solidFill>
                <a:latin typeface="Consolas"/>
              </a:rPr>
              <a:t>04</a:t>
            </a:r>
          </a:p>
        </p:txBody>
      </p:sp>
      <p:sp>
        <p:nvSpPr>
          <p:cNvPr id="72" name="metric-l-3"/>
          <p:cNvSpPr txBox="1"/>
          <p:nvPr/>
        </p:nvSpPr>
        <p:spPr>
          <a:xfrm>
            <a:off x="6281928" y="1581912"/>
            <a:ext cx="932688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64C8FF"/>
                </a:solidFill>
                <a:latin typeface="Consolas"/>
              </a:rPr>
              <a:t>HOLD</a:t>
            </a:r>
          </a:p>
        </p:txBody>
      </p:sp>
      <p:sp>
        <p:nvSpPr>
          <p:cNvPr id="73" name="metric-v-4"/>
          <p:cNvSpPr txBox="1"/>
          <p:nvPr/>
        </p:nvSpPr>
        <p:spPr>
          <a:xfrm>
            <a:off x="7662672" y="1234440"/>
            <a:ext cx="80467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lang="en-US">
                <a:solidFill>
                  <a:srgbClr val="96DCFF"/>
                </a:solidFill>
                <a:latin typeface="Consolas"/>
              </a:rPr>
              <a:t>12</a:t>
            </a:r>
          </a:p>
        </p:txBody>
      </p:sp>
      <p:sp>
        <p:nvSpPr>
          <p:cNvPr id="74" name="metric-l-4"/>
          <p:cNvSpPr txBox="1"/>
          <p:nvPr/>
        </p:nvSpPr>
        <p:spPr>
          <a:xfrm>
            <a:off x="7589520" y="1581912"/>
            <a:ext cx="932688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64C8FF"/>
                </a:solidFill>
                <a:latin typeface="Consolas"/>
              </a:rPr>
              <a:t>STYLE</a:t>
            </a:r>
          </a:p>
        </p:txBody>
      </p:sp>
      <p:sp>
        <p:nvSpPr>
          <p:cNvPr id="75" name="risk-title"/>
          <p:cNvSpPr txBox="1"/>
          <p:nvPr/>
        </p:nvSpPr>
        <p:spPr>
          <a:xfrm>
            <a:off x="9308592" y="1298448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1" lang="en-US">
                <a:solidFill>
                  <a:srgbClr val="64C8FF"/>
                </a:solidFill>
                <a:latin typeface="Consolas"/>
              </a:rPr>
              <a:t>LIVE REVIEW QUEUE</a:t>
            </a:r>
          </a:p>
        </p:txBody>
      </p:sp>
      <p:sp>
        <p:nvSpPr>
          <p:cNvPr id="76" name="risk-label-0"/>
          <p:cNvSpPr txBox="1"/>
          <p:nvPr/>
        </p:nvSpPr>
        <p:spPr>
          <a:xfrm>
            <a:off x="9619488" y="1691640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50" b="1" lang="en-US">
                <a:solidFill>
                  <a:srgbClr val="96DCFF"/>
                </a:solidFill>
                <a:latin typeface="Consolas"/>
              </a:rPr>
              <a:t>Scope stable</a:t>
            </a:r>
          </a:p>
        </p:txBody>
      </p:sp>
      <p:sp>
        <p:nvSpPr>
          <p:cNvPr id="77" name="risk-state-0"/>
          <p:cNvSpPr txBox="1"/>
          <p:nvPr/>
        </p:nvSpPr>
        <p:spPr>
          <a:xfrm>
            <a:off x="10972800" y="169164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00" b="1" lang="en-US">
                <a:solidFill>
                  <a:srgbClr val="64C8FF"/>
                </a:solidFill>
                <a:latin typeface="Consolas"/>
              </a:rPr>
              <a:t>PASS</a:t>
            </a:r>
          </a:p>
        </p:txBody>
      </p:sp>
      <p:sp>
        <p:nvSpPr>
          <p:cNvPr id="78" name="risk-label-1"/>
          <p:cNvSpPr txBox="1"/>
          <p:nvPr/>
        </p:nvSpPr>
        <p:spPr>
          <a:xfrm>
            <a:off x="9619488" y="2221992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50" b="1" lang="en-US">
                <a:solidFill>
                  <a:srgbClr val="96DCFF"/>
                </a:solidFill>
                <a:latin typeface="Consolas"/>
              </a:rPr>
              <a:t>Text capacity</a:t>
            </a:r>
          </a:p>
        </p:txBody>
      </p:sp>
      <p:sp>
        <p:nvSpPr>
          <p:cNvPr id="79" name="risk-state-1"/>
          <p:cNvSpPr txBox="1"/>
          <p:nvPr/>
        </p:nvSpPr>
        <p:spPr>
          <a:xfrm>
            <a:off x="10972800" y="2221992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00" b="1" lang="en-US">
                <a:solidFill>
                  <a:srgbClr val="64C8FF"/>
                </a:solidFill>
                <a:latin typeface="Consolas"/>
              </a:rPr>
              <a:t>PASS</a:t>
            </a:r>
          </a:p>
        </p:txBody>
      </p:sp>
      <p:sp>
        <p:nvSpPr>
          <p:cNvPr id="80" name="risk-label-2"/>
          <p:cNvSpPr txBox="1"/>
          <p:nvPr/>
        </p:nvSpPr>
        <p:spPr>
          <a:xfrm>
            <a:off x="9619488" y="2752344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50" b="1" lang="en-US">
                <a:solidFill>
                  <a:srgbClr val="96DCFF"/>
                </a:solidFill>
                <a:latin typeface="Consolas"/>
              </a:rPr>
              <a:t>Contrast check</a:t>
            </a:r>
          </a:p>
        </p:txBody>
      </p:sp>
      <p:sp>
        <p:nvSpPr>
          <p:cNvPr id="81" name="risk-state-2"/>
          <p:cNvSpPr txBox="1"/>
          <p:nvPr/>
        </p:nvSpPr>
        <p:spPr>
          <a:xfrm>
            <a:off x="10972800" y="275234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00" b="1" lang="en-US">
                <a:solidFill>
                  <a:srgbClr val="FFD166"/>
                </a:solidFill>
                <a:latin typeface="Consolas"/>
              </a:rPr>
              <a:t>WATCH</a:t>
            </a:r>
          </a:p>
        </p:txBody>
      </p:sp>
      <p:sp>
        <p:nvSpPr>
          <p:cNvPr id="82" name="risk-label-3"/>
          <p:cNvSpPr txBox="1"/>
          <p:nvPr/>
        </p:nvSpPr>
        <p:spPr>
          <a:xfrm>
            <a:off x="9619488" y="3282696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50" b="1" lang="en-US">
                <a:solidFill>
                  <a:srgbClr val="96DCFF"/>
                </a:solidFill>
                <a:latin typeface="Consolas"/>
              </a:rPr>
              <a:t>Table fit</a:t>
            </a:r>
          </a:p>
        </p:txBody>
      </p:sp>
      <p:sp>
        <p:nvSpPr>
          <p:cNvPr id="83" name="risk-state-3"/>
          <p:cNvSpPr txBox="1"/>
          <p:nvPr/>
        </p:nvSpPr>
        <p:spPr>
          <a:xfrm>
            <a:off x="10972800" y="3282696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00" b="1" lang="en-US">
                <a:solidFill>
                  <a:srgbClr val="64C8FF"/>
                </a:solidFill>
                <a:latin typeface="Consolas"/>
              </a:rPr>
              <a:t>PASS</a:t>
            </a:r>
          </a:p>
        </p:txBody>
      </p:sp>
      <p:sp>
        <p:nvSpPr>
          <p:cNvPr id="84" name="risk-label-4"/>
          <p:cNvSpPr txBox="1"/>
          <p:nvPr/>
        </p:nvSpPr>
        <p:spPr>
          <a:xfrm>
            <a:off x="9619488" y="3813048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50" b="1" lang="en-US">
                <a:solidFill>
                  <a:srgbClr val="96DCFF"/>
                </a:solidFill>
                <a:latin typeface="Consolas"/>
              </a:rPr>
              <a:t>Read order</a:t>
            </a:r>
          </a:p>
        </p:txBody>
      </p:sp>
      <p:sp>
        <p:nvSpPr>
          <p:cNvPr id="85" name="risk-state-4"/>
          <p:cNvSpPr txBox="1"/>
          <p:nvPr/>
        </p:nvSpPr>
        <p:spPr>
          <a:xfrm>
            <a:off x="10972800" y="3813048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00" b="1" lang="en-US">
                <a:solidFill>
                  <a:srgbClr val="64B4FF"/>
                </a:solidFill>
                <a:latin typeface="Consolas"/>
              </a:rPr>
              <a:t>PASS</a:t>
            </a:r>
          </a:p>
        </p:txBody>
      </p:sp>
      <p:sp>
        <p:nvSpPr>
          <p:cNvPr id="86" name="risk-label-5"/>
          <p:cNvSpPr txBox="1"/>
          <p:nvPr/>
        </p:nvSpPr>
        <p:spPr>
          <a:xfrm>
            <a:off x="9619488" y="4343400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50" b="1" lang="en-US">
                <a:solidFill>
                  <a:srgbClr val="96DCFF"/>
                </a:solidFill>
                <a:latin typeface="Consolas"/>
              </a:rPr>
              <a:t>Package</a:t>
            </a:r>
          </a:p>
        </p:txBody>
      </p:sp>
      <p:sp>
        <p:nvSpPr>
          <p:cNvPr id="87" name="risk-state-5"/>
          <p:cNvSpPr txBox="1"/>
          <p:nvPr/>
        </p:nvSpPr>
        <p:spPr>
          <a:xfrm>
            <a:off x="10972800" y="434340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00" b="1" lang="en-US">
                <a:solidFill>
                  <a:srgbClr val="64C8FF"/>
                </a:solidFill>
                <a:latin typeface="Consolas"/>
              </a:rPr>
              <a:t>PASS</a:t>
            </a:r>
          </a:p>
        </p:txBody>
      </p:sp>
      <p:sp>
        <p:nvSpPr>
          <p:cNvPr id="88" name="progress-label"/>
          <p:cNvSpPr txBox="1"/>
          <p:nvPr/>
        </p:nvSpPr>
        <p:spPr>
          <a:xfrm>
            <a:off x="2468880" y="5788152"/>
            <a:ext cx="886968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50" b="1" lang="en-US">
                <a:solidFill>
                  <a:srgbClr val="111111"/>
                </a:solidFill>
                <a:latin typeface="Consolas"/>
              </a:rPr>
              <a:t>Stress workload: 78% complete · 12 profiles locked · 0 geometry regressions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240"/>
          </a:solidFill>
          <a:ln w="10160">
            <a:solidFill>
              <a:srgbClr val="0D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lueprint-v-1"/>
          <p:cNvSpPr/>
          <p:nvPr/>
        </p:nvSpPr>
        <p:spPr>
          <a:xfrm>
            <a:off x="914400" y="0"/>
            <a:ext cx="10972" cy="6858000"/>
          </a:xfrm>
          <a:prstGeom prst="rect">
            <a:avLst/>
          </a:prstGeom>
          <a:solidFill>
            <a:srgbClr val="2E5E8F"/>
          </a:solidFill>
          <a:ln w="10160">
            <a:solidFill>
              <a:srgbClr val="2E5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lueprint-v-2"/>
          <p:cNvSpPr/>
          <p:nvPr/>
        </p:nvSpPr>
        <p:spPr>
          <a:xfrm>
            <a:off x="1828800" y="0"/>
            <a:ext cx="10972" cy="6858000"/>
          </a:xfrm>
          <a:prstGeom prst="rect">
            <a:avLst/>
          </a:prstGeom>
          <a:solidFill>
            <a:srgbClr val="2E5E8F"/>
          </a:solidFill>
          <a:ln w="10160">
            <a:solidFill>
              <a:srgbClr val="2E5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blueprint-v-3"/>
          <p:cNvSpPr/>
          <p:nvPr/>
        </p:nvSpPr>
        <p:spPr>
          <a:xfrm>
            <a:off x="2743200" y="0"/>
            <a:ext cx="10972" cy="6858000"/>
          </a:xfrm>
          <a:prstGeom prst="rect">
            <a:avLst/>
          </a:prstGeom>
          <a:solidFill>
            <a:srgbClr val="2E5E8F"/>
          </a:solidFill>
          <a:ln w="10160">
            <a:solidFill>
              <a:srgbClr val="2E5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lueprint-v-4"/>
          <p:cNvSpPr/>
          <p:nvPr/>
        </p:nvSpPr>
        <p:spPr>
          <a:xfrm>
            <a:off x="3657600" y="0"/>
            <a:ext cx="10972" cy="6858000"/>
          </a:xfrm>
          <a:prstGeom prst="rect">
            <a:avLst/>
          </a:prstGeom>
          <a:solidFill>
            <a:srgbClr val="2E5E8F"/>
          </a:solidFill>
          <a:ln w="10160">
            <a:solidFill>
              <a:srgbClr val="2E5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blueprint-v-5"/>
          <p:cNvSpPr/>
          <p:nvPr/>
        </p:nvSpPr>
        <p:spPr>
          <a:xfrm>
            <a:off x="4572000" y="0"/>
            <a:ext cx="10972" cy="6858000"/>
          </a:xfrm>
          <a:prstGeom prst="rect">
            <a:avLst/>
          </a:prstGeom>
          <a:solidFill>
            <a:srgbClr val="2E5E8F"/>
          </a:solidFill>
          <a:ln w="10160">
            <a:solidFill>
              <a:srgbClr val="2E5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lueprint-v-6"/>
          <p:cNvSpPr/>
          <p:nvPr/>
        </p:nvSpPr>
        <p:spPr>
          <a:xfrm>
            <a:off x="5486400" y="0"/>
            <a:ext cx="10972" cy="6858000"/>
          </a:xfrm>
          <a:prstGeom prst="rect">
            <a:avLst/>
          </a:prstGeom>
          <a:solidFill>
            <a:srgbClr val="2E5E8F"/>
          </a:solidFill>
          <a:ln w="10160">
            <a:solidFill>
              <a:srgbClr val="2E5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blueprint-v-7"/>
          <p:cNvSpPr/>
          <p:nvPr/>
        </p:nvSpPr>
        <p:spPr>
          <a:xfrm>
            <a:off x="6400800" y="0"/>
            <a:ext cx="10972" cy="6858000"/>
          </a:xfrm>
          <a:prstGeom prst="rect">
            <a:avLst/>
          </a:prstGeom>
          <a:solidFill>
            <a:srgbClr val="2E5E8F"/>
          </a:solidFill>
          <a:ln w="10160">
            <a:solidFill>
              <a:srgbClr val="2E5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blueprint-v-8"/>
          <p:cNvSpPr/>
          <p:nvPr/>
        </p:nvSpPr>
        <p:spPr>
          <a:xfrm>
            <a:off x="7315200" y="0"/>
            <a:ext cx="10972" cy="6858000"/>
          </a:xfrm>
          <a:prstGeom prst="rect">
            <a:avLst/>
          </a:prstGeom>
          <a:solidFill>
            <a:srgbClr val="2E5E8F"/>
          </a:solidFill>
          <a:ln w="10160">
            <a:solidFill>
              <a:srgbClr val="2E5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blueprint-v-9"/>
          <p:cNvSpPr/>
          <p:nvPr/>
        </p:nvSpPr>
        <p:spPr>
          <a:xfrm>
            <a:off x="8229600" y="0"/>
            <a:ext cx="10972" cy="6858000"/>
          </a:xfrm>
          <a:prstGeom prst="rect">
            <a:avLst/>
          </a:prstGeom>
          <a:solidFill>
            <a:srgbClr val="2E5E8F"/>
          </a:solidFill>
          <a:ln w="10160">
            <a:solidFill>
              <a:srgbClr val="2E5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blueprint-v-10"/>
          <p:cNvSpPr/>
          <p:nvPr/>
        </p:nvSpPr>
        <p:spPr>
          <a:xfrm>
            <a:off x="9144000" y="0"/>
            <a:ext cx="10972" cy="6858000"/>
          </a:xfrm>
          <a:prstGeom prst="rect">
            <a:avLst/>
          </a:prstGeom>
          <a:solidFill>
            <a:srgbClr val="2E5E8F"/>
          </a:solidFill>
          <a:ln w="10160">
            <a:solidFill>
              <a:srgbClr val="2E5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blueprint-v-11"/>
          <p:cNvSpPr/>
          <p:nvPr/>
        </p:nvSpPr>
        <p:spPr>
          <a:xfrm>
            <a:off x="10058400" y="0"/>
            <a:ext cx="10972" cy="6858000"/>
          </a:xfrm>
          <a:prstGeom prst="rect">
            <a:avLst/>
          </a:prstGeom>
          <a:solidFill>
            <a:srgbClr val="2E5E8F"/>
          </a:solidFill>
          <a:ln w="10160">
            <a:solidFill>
              <a:srgbClr val="2E5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blueprint-v-12"/>
          <p:cNvSpPr/>
          <p:nvPr/>
        </p:nvSpPr>
        <p:spPr>
          <a:xfrm>
            <a:off x="10972800" y="0"/>
            <a:ext cx="10972" cy="6858000"/>
          </a:xfrm>
          <a:prstGeom prst="rect">
            <a:avLst/>
          </a:prstGeom>
          <a:solidFill>
            <a:srgbClr val="2E5E8F"/>
          </a:solidFill>
          <a:ln w="10160">
            <a:solidFill>
              <a:srgbClr val="2E5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blueprint-h-1"/>
          <p:cNvSpPr/>
          <p:nvPr/>
        </p:nvSpPr>
        <p:spPr>
          <a:xfrm>
            <a:off x="0" y="914400"/>
            <a:ext cx="12191695" cy="10972"/>
          </a:xfrm>
          <a:prstGeom prst="rect">
            <a:avLst/>
          </a:prstGeom>
          <a:solidFill>
            <a:srgbClr val="2E5E8F"/>
          </a:solidFill>
          <a:ln w="10160">
            <a:solidFill>
              <a:srgbClr val="2E5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blueprint-h-2"/>
          <p:cNvSpPr/>
          <p:nvPr/>
        </p:nvSpPr>
        <p:spPr>
          <a:xfrm>
            <a:off x="0" y="1828800"/>
            <a:ext cx="12191695" cy="10972"/>
          </a:xfrm>
          <a:prstGeom prst="rect">
            <a:avLst/>
          </a:prstGeom>
          <a:solidFill>
            <a:srgbClr val="2E5E8F"/>
          </a:solidFill>
          <a:ln w="10160">
            <a:solidFill>
              <a:srgbClr val="2E5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blueprint-h-3"/>
          <p:cNvSpPr/>
          <p:nvPr/>
        </p:nvSpPr>
        <p:spPr>
          <a:xfrm>
            <a:off x="0" y="2743200"/>
            <a:ext cx="12191695" cy="10972"/>
          </a:xfrm>
          <a:prstGeom prst="rect">
            <a:avLst/>
          </a:prstGeom>
          <a:solidFill>
            <a:srgbClr val="2E5E8F"/>
          </a:solidFill>
          <a:ln w="10160">
            <a:solidFill>
              <a:srgbClr val="2E5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lueprint-h-4"/>
          <p:cNvSpPr/>
          <p:nvPr/>
        </p:nvSpPr>
        <p:spPr>
          <a:xfrm>
            <a:off x="0" y="3657600"/>
            <a:ext cx="12191695" cy="10972"/>
          </a:xfrm>
          <a:prstGeom prst="rect">
            <a:avLst/>
          </a:prstGeom>
          <a:solidFill>
            <a:srgbClr val="2E5E8F"/>
          </a:solidFill>
          <a:ln w="10160">
            <a:solidFill>
              <a:srgbClr val="2E5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blueprint-h-5"/>
          <p:cNvSpPr/>
          <p:nvPr/>
        </p:nvSpPr>
        <p:spPr>
          <a:xfrm>
            <a:off x="0" y="4572000"/>
            <a:ext cx="12191695" cy="10972"/>
          </a:xfrm>
          <a:prstGeom prst="rect">
            <a:avLst/>
          </a:prstGeom>
          <a:solidFill>
            <a:srgbClr val="2E5E8F"/>
          </a:solidFill>
          <a:ln w="10160">
            <a:solidFill>
              <a:srgbClr val="2E5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blueprint-h-6"/>
          <p:cNvSpPr/>
          <p:nvPr/>
        </p:nvSpPr>
        <p:spPr>
          <a:xfrm>
            <a:off x="0" y="5486400"/>
            <a:ext cx="12191695" cy="10972"/>
          </a:xfrm>
          <a:prstGeom prst="rect">
            <a:avLst/>
          </a:prstGeom>
          <a:solidFill>
            <a:srgbClr val="2E5E8F"/>
          </a:solidFill>
          <a:ln w="10160">
            <a:solidFill>
              <a:srgbClr val="2E5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blueprint-h-7"/>
          <p:cNvSpPr/>
          <p:nvPr/>
        </p:nvSpPr>
        <p:spPr>
          <a:xfrm>
            <a:off x="0" y="6400800"/>
            <a:ext cx="12191695" cy="10972"/>
          </a:xfrm>
          <a:prstGeom prst="rect">
            <a:avLst/>
          </a:prstGeom>
          <a:solidFill>
            <a:srgbClr val="2E5E8F"/>
          </a:solidFill>
          <a:ln w="10160">
            <a:solidFill>
              <a:srgbClr val="2E5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op-band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64C8FF"/>
          </a:solidFill>
          <a:ln w="10160">
            <a:solidFill>
              <a:srgbClr val="64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mesh-shell"/>
          <p:cNvSpPr/>
          <p:nvPr/>
        </p:nvSpPr>
        <p:spPr>
          <a:xfrm>
            <a:off x="457200" y="1078992"/>
            <a:ext cx="7360920" cy="5029200"/>
          </a:xfrm>
          <a:prstGeom prst="rect">
            <a:avLst/>
          </a:prstGeom>
          <a:solidFill>
            <a:srgbClr val="14325C"/>
          </a:solidFill>
          <a:ln w="10160">
            <a:solidFill>
              <a:srgbClr val="2E5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mesh-rail-shell"/>
          <p:cNvSpPr/>
          <p:nvPr/>
        </p:nvSpPr>
        <p:spPr>
          <a:xfrm>
            <a:off x="8092440" y="1078992"/>
            <a:ext cx="3639312" cy="5029200"/>
          </a:xfrm>
          <a:prstGeom prst="rect">
            <a:avLst/>
          </a:prstGeom>
          <a:solidFill>
            <a:srgbClr val="102B50"/>
          </a:solidFill>
          <a:ln w="10160">
            <a:solidFill>
              <a:srgbClr val="2E5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mesh-accent"/>
          <p:cNvSpPr/>
          <p:nvPr/>
        </p:nvSpPr>
        <p:spPr>
          <a:xfrm>
            <a:off x="457200" y="1078992"/>
            <a:ext cx="73152" cy="5029200"/>
          </a:xfrm>
          <a:prstGeom prst="rect">
            <a:avLst/>
          </a:prstGeom>
          <a:solidFill>
            <a:srgbClr val="64C8FF"/>
          </a:solidFill>
          <a:ln w="10160">
            <a:solidFill>
              <a:srgbClr val="64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mesh-edge-0"/>
          <p:cNvCxnSpPr/>
          <p:nvPr/>
        </p:nvCxnSpPr>
        <p:spPr>
          <a:xfrm flipV="1">
            <a:off x="1618488" y="1920240"/>
            <a:ext cx="1828800" cy="320040"/>
          </a:xfrm>
          <a:prstGeom prst="line">
            <a:avLst/>
          </a:prstGeom>
          <a:ln w="13970">
            <a:solidFill>
              <a:srgbClr val="2E5E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mesh-edge-1"/>
          <p:cNvCxnSpPr/>
          <p:nvPr/>
        </p:nvCxnSpPr>
        <p:spPr>
          <a:xfrm>
            <a:off x="3447288" y="1920240"/>
            <a:ext cx="1920240" cy="320040"/>
          </a:xfrm>
          <a:prstGeom prst="line">
            <a:avLst/>
          </a:prstGeom>
          <a:ln w="13970">
            <a:solidFill>
              <a:srgbClr val="2E5E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mesh-edge-2"/>
          <p:cNvCxnSpPr/>
          <p:nvPr/>
        </p:nvCxnSpPr>
        <p:spPr>
          <a:xfrm>
            <a:off x="1618488" y="2240280"/>
            <a:ext cx="868680" cy="1325880"/>
          </a:xfrm>
          <a:prstGeom prst="line">
            <a:avLst/>
          </a:prstGeom>
          <a:ln w="13970">
            <a:solidFill>
              <a:srgbClr val="2E5E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mesh-edge-3"/>
          <p:cNvCxnSpPr/>
          <p:nvPr/>
        </p:nvCxnSpPr>
        <p:spPr>
          <a:xfrm flipH="1">
            <a:off x="2487168" y="1920240"/>
            <a:ext cx="960120" cy="1645920"/>
          </a:xfrm>
          <a:prstGeom prst="line">
            <a:avLst/>
          </a:prstGeom>
          <a:ln w="13970">
            <a:solidFill>
              <a:srgbClr val="2E5E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mesh-edge-4"/>
          <p:cNvCxnSpPr/>
          <p:nvPr/>
        </p:nvCxnSpPr>
        <p:spPr>
          <a:xfrm>
            <a:off x="3447288" y="1920240"/>
            <a:ext cx="1005840" cy="1307592"/>
          </a:xfrm>
          <a:prstGeom prst="line">
            <a:avLst/>
          </a:prstGeom>
          <a:ln w="13970">
            <a:solidFill>
              <a:srgbClr val="2E5E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mesh-edge-5"/>
          <p:cNvCxnSpPr/>
          <p:nvPr/>
        </p:nvCxnSpPr>
        <p:spPr>
          <a:xfrm flipH="1">
            <a:off x="4453128" y="2240280"/>
            <a:ext cx="914400" cy="987552"/>
          </a:xfrm>
          <a:prstGeom prst="line">
            <a:avLst/>
          </a:prstGeom>
          <a:ln w="13970">
            <a:solidFill>
              <a:srgbClr val="2E5E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mesh-edge-6"/>
          <p:cNvCxnSpPr/>
          <p:nvPr/>
        </p:nvCxnSpPr>
        <p:spPr>
          <a:xfrm>
            <a:off x="5367528" y="2240280"/>
            <a:ext cx="1005840" cy="1325880"/>
          </a:xfrm>
          <a:prstGeom prst="line">
            <a:avLst/>
          </a:prstGeom>
          <a:ln w="13970">
            <a:solidFill>
              <a:srgbClr val="2E5E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mesh-edge-7"/>
          <p:cNvCxnSpPr/>
          <p:nvPr/>
        </p:nvCxnSpPr>
        <p:spPr>
          <a:xfrm flipV="1">
            <a:off x="2487168" y="3227832"/>
            <a:ext cx="1965960" cy="338328"/>
          </a:xfrm>
          <a:prstGeom prst="line">
            <a:avLst/>
          </a:prstGeom>
          <a:ln w="13970">
            <a:solidFill>
              <a:srgbClr val="2E5E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mesh-edge-8"/>
          <p:cNvCxnSpPr/>
          <p:nvPr/>
        </p:nvCxnSpPr>
        <p:spPr>
          <a:xfrm>
            <a:off x="4453128" y="3227832"/>
            <a:ext cx="1920240" cy="338328"/>
          </a:xfrm>
          <a:prstGeom prst="line">
            <a:avLst/>
          </a:prstGeom>
          <a:ln w="13970">
            <a:solidFill>
              <a:srgbClr val="2E5E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mesh-edge-9"/>
          <p:cNvCxnSpPr/>
          <p:nvPr/>
        </p:nvCxnSpPr>
        <p:spPr>
          <a:xfrm>
            <a:off x="2487168" y="3566160"/>
            <a:ext cx="960120" cy="1325880"/>
          </a:xfrm>
          <a:prstGeom prst="line">
            <a:avLst/>
          </a:prstGeom>
          <a:ln w="13970">
            <a:solidFill>
              <a:srgbClr val="2E5E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mesh-edge-10"/>
          <p:cNvCxnSpPr/>
          <p:nvPr/>
        </p:nvCxnSpPr>
        <p:spPr>
          <a:xfrm flipH="1">
            <a:off x="3447288" y="3227832"/>
            <a:ext cx="1005840" cy="1664208"/>
          </a:xfrm>
          <a:prstGeom prst="line">
            <a:avLst/>
          </a:prstGeom>
          <a:ln w="13970">
            <a:solidFill>
              <a:srgbClr val="2E5E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mesh-edge-11"/>
          <p:cNvCxnSpPr/>
          <p:nvPr/>
        </p:nvCxnSpPr>
        <p:spPr>
          <a:xfrm>
            <a:off x="4453128" y="3227832"/>
            <a:ext cx="914400" cy="1664208"/>
          </a:xfrm>
          <a:prstGeom prst="line">
            <a:avLst/>
          </a:prstGeom>
          <a:ln w="13970">
            <a:solidFill>
              <a:srgbClr val="2E5E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mesh-edge-12"/>
          <p:cNvCxnSpPr/>
          <p:nvPr/>
        </p:nvCxnSpPr>
        <p:spPr>
          <a:xfrm flipH="1">
            <a:off x="5367528" y="3566160"/>
            <a:ext cx="1005840" cy="1325880"/>
          </a:xfrm>
          <a:prstGeom prst="line">
            <a:avLst/>
          </a:prstGeom>
          <a:ln w="13970">
            <a:solidFill>
              <a:srgbClr val="2E5E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mesh-edge-13"/>
          <p:cNvCxnSpPr/>
          <p:nvPr/>
        </p:nvCxnSpPr>
        <p:spPr>
          <a:xfrm>
            <a:off x="3447288" y="4892040"/>
            <a:ext cx="1920240" cy="0"/>
          </a:xfrm>
          <a:prstGeom prst="line">
            <a:avLst/>
          </a:prstGeom>
          <a:ln w="13970">
            <a:solidFill>
              <a:srgbClr val="2E5E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mesh-rail-accent"/>
          <p:cNvSpPr/>
          <p:nvPr/>
        </p:nvSpPr>
        <p:spPr>
          <a:xfrm>
            <a:off x="8092440" y="1078992"/>
            <a:ext cx="73152" cy="5029200"/>
          </a:xfrm>
          <a:prstGeom prst="rect">
            <a:avLst/>
          </a:prstGeom>
          <a:solidFill>
            <a:srgbClr val="64C8FF"/>
          </a:solidFill>
          <a:ln w="10160">
            <a:solidFill>
              <a:srgbClr val="64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" name="trace-line-0"/>
          <p:cNvCxnSpPr/>
          <p:nvPr/>
        </p:nvCxnSpPr>
        <p:spPr>
          <a:xfrm>
            <a:off x="8577072" y="2029968"/>
            <a:ext cx="0" cy="164592"/>
          </a:xfrm>
          <a:prstGeom prst="line">
            <a:avLst/>
          </a:prstGeom>
          <a:ln w="13970">
            <a:solidFill>
              <a:srgbClr val="64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trace-line-1"/>
          <p:cNvCxnSpPr/>
          <p:nvPr/>
        </p:nvCxnSpPr>
        <p:spPr>
          <a:xfrm>
            <a:off x="8577072" y="2596896"/>
            <a:ext cx="0" cy="164592"/>
          </a:xfrm>
          <a:prstGeom prst="line">
            <a:avLst/>
          </a:prstGeom>
          <a:ln w="13970">
            <a:solidFill>
              <a:srgbClr val="96D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trace-line-2"/>
          <p:cNvCxnSpPr/>
          <p:nvPr/>
        </p:nvCxnSpPr>
        <p:spPr>
          <a:xfrm>
            <a:off x="8577072" y="3163824"/>
            <a:ext cx="0" cy="164592"/>
          </a:xfrm>
          <a:prstGeom prst="line">
            <a:avLst/>
          </a:prstGeom>
          <a:ln w="13970">
            <a:solidFill>
              <a:srgbClr val="64B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trace-line-3"/>
          <p:cNvCxnSpPr/>
          <p:nvPr/>
        </p:nvCxnSpPr>
        <p:spPr>
          <a:xfrm>
            <a:off x="8577072" y="3730752"/>
            <a:ext cx="0" cy="164592"/>
          </a:xfrm>
          <a:prstGeom prst="line">
            <a:avLst/>
          </a:prstGeom>
          <a:ln w="13970">
            <a:solidFill>
              <a:srgbClr val="FFD1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trace-line-4"/>
          <p:cNvCxnSpPr/>
          <p:nvPr/>
        </p:nvCxnSpPr>
        <p:spPr>
          <a:xfrm>
            <a:off x="8577072" y="4297680"/>
            <a:ext cx="0" cy="164592"/>
          </a:xfrm>
          <a:prstGeom prst="line">
            <a:avLst/>
          </a:prstGeom>
          <a:ln w="13970">
            <a:solidFill>
              <a:srgbClr val="64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trace-line-5"/>
          <p:cNvCxnSpPr/>
          <p:nvPr/>
        </p:nvCxnSpPr>
        <p:spPr>
          <a:xfrm>
            <a:off x="8577072" y="4864608"/>
            <a:ext cx="0" cy="164592"/>
          </a:xfrm>
          <a:prstGeom prst="line">
            <a:avLst/>
          </a:prstGeom>
          <a:ln w="13970">
            <a:solidFill>
              <a:srgbClr val="FF7B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mesh-node-0"/>
          <p:cNvSpPr/>
          <p:nvPr/>
        </p:nvSpPr>
        <p:spPr>
          <a:xfrm>
            <a:off x="1051560" y="1920240"/>
            <a:ext cx="1143000" cy="640080"/>
          </a:xfrm>
          <a:prstGeom prst="roundRect">
            <a:avLst/>
          </a:prstGeom>
          <a:solidFill>
            <a:srgbClr val="64C8FF"/>
          </a:solidFill>
          <a:ln w="10160">
            <a:solidFill>
              <a:srgbClr val="64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mesh-node-1"/>
          <p:cNvSpPr/>
          <p:nvPr/>
        </p:nvSpPr>
        <p:spPr>
          <a:xfrm>
            <a:off x="2880360" y="1600200"/>
            <a:ext cx="1143000" cy="640080"/>
          </a:xfrm>
          <a:prstGeom prst="roundRect">
            <a:avLst/>
          </a:prstGeom>
          <a:solidFill>
            <a:srgbClr val="96DCFF"/>
          </a:solidFill>
          <a:ln w="10160">
            <a:solidFill>
              <a:srgbClr val="96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mesh-node-2"/>
          <p:cNvSpPr/>
          <p:nvPr/>
        </p:nvSpPr>
        <p:spPr>
          <a:xfrm>
            <a:off x="4800600" y="1920240"/>
            <a:ext cx="1143000" cy="640080"/>
          </a:xfrm>
          <a:prstGeom prst="roundRect">
            <a:avLst/>
          </a:prstGeom>
          <a:solidFill>
            <a:srgbClr val="64B4FF"/>
          </a:solidFill>
          <a:ln w="1016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mesh-node-3"/>
          <p:cNvSpPr/>
          <p:nvPr/>
        </p:nvSpPr>
        <p:spPr>
          <a:xfrm>
            <a:off x="1920240" y="3246120"/>
            <a:ext cx="1143000" cy="640080"/>
          </a:xfrm>
          <a:prstGeom prst="roundRect">
            <a:avLst/>
          </a:prstGeom>
          <a:solidFill>
            <a:srgbClr val="64C8FF"/>
          </a:solidFill>
          <a:ln w="10160">
            <a:solidFill>
              <a:srgbClr val="64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mesh-node-4"/>
          <p:cNvSpPr/>
          <p:nvPr/>
        </p:nvSpPr>
        <p:spPr>
          <a:xfrm>
            <a:off x="3886200" y="2907792"/>
            <a:ext cx="1143000" cy="640080"/>
          </a:xfrm>
          <a:prstGeom prst="roundRect">
            <a:avLst/>
          </a:prstGeom>
          <a:solidFill>
            <a:srgbClr val="FFD166"/>
          </a:solidFill>
          <a:ln w="1016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mesh-node-5"/>
          <p:cNvSpPr/>
          <p:nvPr/>
        </p:nvSpPr>
        <p:spPr>
          <a:xfrm>
            <a:off x="5806440" y="3246120"/>
            <a:ext cx="1143000" cy="640080"/>
          </a:xfrm>
          <a:prstGeom prst="roundRect">
            <a:avLst/>
          </a:prstGeom>
          <a:solidFill>
            <a:srgbClr val="64C8FF"/>
          </a:solidFill>
          <a:ln w="10160">
            <a:solidFill>
              <a:srgbClr val="64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mesh-node-6"/>
          <p:cNvSpPr/>
          <p:nvPr/>
        </p:nvSpPr>
        <p:spPr>
          <a:xfrm>
            <a:off x="2880360" y="4572000"/>
            <a:ext cx="1143000" cy="640080"/>
          </a:xfrm>
          <a:prstGeom prst="roundRect">
            <a:avLst/>
          </a:prstGeom>
          <a:solidFill>
            <a:srgbClr val="FF7B89"/>
          </a:solidFill>
          <a:ln w="10160">
            <a:solidFill>
              <a:srgbClr val="FF7B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mesh-node-7"/>
          <p:cNvSpPr/>
          <p:nvPr/>
        </p:nvSpPr>
        <p:spPr>
          <a:xfrm>
            <a:off x="4800600" y="4572000"/>
            <a:ext cx="1143000" cy="640080"/>
          </a:xfrm>
          <a:prstGeom prst="roundRect">
            <a:avLst/>
          </a:prstGeom>
          <a:solidFill>
            <a:srgbClr val="64C8FF"/>
          </a:solidFill>
          <a:ln w="10160">
            <a:solidFill>
              <a:srgbClr val="64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race-badge-0"/>
          <p:cNvSpPr/>
          <p:nvPr/>
        </p:nvSpPr>
        <p:spPr>
          <a:xfrm>
            <a:off x="8357616" y="1682496"/>
            <a:ext cx="438912" cy="347472"/>
          </a:xfrm>
          <a:prstGeom prst="roundRect">
            <a:avLst/>
          </a:prstGeom>
          <a:solidFill>
            <a:srgbClr val="64C8FF"/>
          </a:solidFill>
          <a:ln w="10160">
            <a:solidFill>
              <a:srgbClr val="64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race-badge-1"/>
          <p:cNvSpPr/>
          <p:nvPr/>
        </p:nvSpPr>
        <p:spPr>
          <a:xfrm>
            <a:off x="8357616" y="2249424"/>
            <a:ext cx="438912" cy="347472"/>
          </a:xfrm>
          <a:prstGeom prst="roundRect">
            <a:avLst/>
          </a:prstGeom>
          <a:solidFill>
            <a:srgbClr val="96DCFF"/>
          </a:solidFill>
          <a:ln w="10160">
            <a:solidFill>
              <a:srgbClr val="96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race-badge-2"/>
          <p:cNvSpPr/>
          <p:nvPr/>
        </p:nvSpPr>
        <p:spPr>
          <a:xfrm>
            <a:off x="8357616" y="2816352"/>
            <a:ext cx="438912" cy="347472"/>
          </a:xfrm>
          <a:prstGeom prst="roundRect">
            <a:avLst/>
          </a:prstGeom>
          <a:solidFill>
            <a:srgbClr val="64B4FF"/>
          </a:solidFill>
          <a:ln w="1016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race-badge-3"/>
          <p:cNvSpPr/>
          <p:nvPr/>
        </p:nvSpPr>
        <p:spPr>
          <a:xfrm>
            <a:off x="8357616" y="3383280"/>
            <a:ext cx="438912" cy="347472"/>
          </a:xfrm>
          <a:prstGeom prst="roundRect">
            <a:avLst/>
          </a:prstGeom>
          <a:solidFill>
            <a:srgbClr val="FFD166"/>
          </a:solidFill>
          <a:ln w="1016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race-badge-4"/>
          <p:cNvSpPr/>
          <p:nvPr/>
        </p:nvSpPr>
        <p:spPr>
          <a:xfrm>
            <a:off x="8357616" y="3950208"/>
            <a:ext cx="438912" cy="347472"/>
          </a:xfrm>
          <a:prstGeom prst="roundRect">
            <a:avLst/>
          </a:prstGeom>
          <a:solidFill>
            <a:srgbClr val="64C8FF"/>
          </a:solidFill>
          <a:ln w="10160">
            <a:solidFill>
              <a:srgbClr val="64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race-badge-5"/>
          <p:cNvSpPr/>
          <p:nvPr/>
        </p:nvSpPr>
        <p:spPr>
          <a:xfrm>
            <a:off x="8357616" y="4517136"/>
            <a:ext cx="438912" cy="347472"/>
          </a:xfrm>
          <a:prstGeom prst="roundRect">
            <a:avLst/>
          </a:prstGeom>
          <a:solidFill>
            <a:srgbClr val="FF7B89"/>
          </a:solidFill>
          <a:ln w="10160">
            <a:solidFill>
              <a:srgbClr val="FF7B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profile-tag"/>
          <p:cNvSpPr txBox="1"/>
          <p:nvPr/>
        </p:nvSpPr>
        <p:spPr>
          <a:xfrm>
            <a:off x="457200" y="201168"/>
            <a:ext cx="768096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1" lang="en-US">
                <a:solidFill>
                  <a:srgbClr val="64C8FF"/>
                </a:solidFill>
                <a:latin typeface="Consolas"/>
              </a:rPr>
              <a:t>V3 STRESS SUITE  ·  ARCHITECTURAL BLUEPRINT  ·  EVIDENCE MESH</a:t>
            </a:r>
          </a:p>
        </p:txBody>
      </p:sp>
      <p:sp>
        <p:nvSpPr>
          <p:cNvPr id="62" name="slide-index"/>
          <p:cNvSpPr txBox="1"/>
          <p:nvPr/>
        </p:nvSpPr>
        <p:spPr>
          <a:xfrm>
            <a:off x="10808208" y="201168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00" b="1" lang="en-US">
                <a:solidFill>
                  <a:srgbClr val="64C8FF"/>
                </a:solidFill>
                <a:latin typeface="Consolas"/>
              </a:rPr>
              <a:t>47/60</a:t>
            </a:r>
          </a:p>
        </p:txBody>
      </p:sp>
      <p:sp>
        <p:nvSpPr>
          <p:cNvPr id="63" name="title"/>
          <p:cNvSpPr txBox="1"/>
          <p:nvPr/>
        </p:nvSpPr>
        <p:spPr>
          <a:xfrm>
            <a:off x="457200" y="484632"/>
            <a:ext cx="11274552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200" b="1" lang="en-US">
                <a:solidFill>
                  <a:srgbClr val="96DCFF"/>
                </a:solidFill>
                <a:latin typeface="Consolas"/>
              </a:rPr>
              <a:t>Evidence meshes preserve traceability across a dense editable graph</a:t>
            </a:r>
          </a:p>
        </p:txBody>
      </p:sp>
      <p:sp>
        <p:nvSpPr>
          <p:cNvPr id="64" name="footer"/>
          <p:cNvSpPr txBox="1"/>
          <p:nvPr/>
        </p:nvSpPr>
        <p:spPr>
          <a:xfrm>
            <a:off x="457200" y="6473952"/>
            <a:ext cx="1051560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0" lang="en-US">
                <a:solidFill>
                  <a:srgbClr val="64C8FF"/>
                </a:solidFill>
                <a:latin typeface="Consolas"/>
              </a:rPr>
              <a:t>Native-object stress fixture · dual cyan blueprint grid, dimension lines, and a circular stamp · editable geometry and recorded style lock</a:t>
            </a:r>
          </a:p>
        </p:txBody>
      </p:sp>
      <p:sp>
        <p:nvSpPr>
          <p:cNvPr id="65" name="mesh-title"/>
          <p:cNvSpPr txBox="1"/>
          <p:nvPr/>
        </p:nvSpPr>
        <p:spPr>
          <a:xfrm>
            <a:off x="713232" y="1298448"/>
            <a:ext cx="320040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1" lang="en-US">
                <a:solidFill>
                  <a:srgbClr val="64C8FF"/>
                </a:solidFill>
                <a:latin typeface="Consolas"/>
              </a:rPr>
              <a:t>EVIDENCE ROUTING MESH</a:t>
            </a:r>
          </a:p>
        </p:txBody>
      </p:sp>
      <p:sp>
        <p:nvSpPr>
          <p:cNvPr id="66" name="mesh-label-0"/>
          <p:cNvSpPr txBox="1"/>
          <p:nvPr/>
        </p:nvSpPr>
        <p:spPr>
          <a:xfrm>
            <a:off x="1143000" y="2139696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lang="en-US">
                <a:solidFill>
                  <a:srgbClr val="111111"/>
                </a:solidFill>
                <a:latin typeface="Consolas"/>
              </a:rPr>
              <a:t>Request</a:t>
            </a:r>
          </a:p>
        </p:txBody>
      </p:sp>
      <p:sp>
        <p:nvSpPr>
          <p:cNvPr id="67" name="mesh-label-1"/>
          <p:cNvSpPr txBox="1"/>
          <p:nvPr/>
        </p:nvSpPr>
        <p:spPr>
          <a:xfrm>
            <a:off x="2971800" y="1819656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lang="en-US">
                <a:solidFill>
                  <a:srgbClr val="111111"/>
                </a:solidFill>
                <a:latin typeface="Consolas"/>
              </a:rPr>
              <a:t>Profile</a:t>
            </a:r>
          </a:p>
        </p:txBody>
      </p:sp>
      <p:sp>
        <p:nvSpPr>
          <p:cNvPr id="68" name="mesh-label-2"/>
          <p:cNvSpPr txBox="1"/>
          <p:nvPr/>
        </p:nvSpPr>
        <p:spPr>
          <a:xfrm>
            <a:off x="4892040" y="2139696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lang="en-US">
                <a:solidFill>
                  <a:srgbClr val="111111"/>
                </a:solidFill>
                <a:latin typeface="Consolas"/>
              </a:rPr>
              <a:t>Source</a:t>
            </a:r>
          </a:p>
        </p:txBody>
      </p:sp>
      <p:sp>
        <p:nvSpPr>
          <p:cNvPr id="69" name="mesh-label-3"/>
          <p:cNvSpPr txBox="1"/>
          <p:nvPr/>
        </p:nvSpPr>
        <p:spPr>
          <a:xfrm>
            <a:off x="2011680" y="3465576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lang="en-US">
                <a:solidFill>
                  <a:srgbClr val="111111"/>
                </a:solidFill>
                <a:latin typeface="Consolas"/>
              </a:rPr>
              <a:t>Spec</a:t>
            </a:r>
          </a:p>
        </p:txBody>
      </p:sp>
      <p:sp>
        <p:nvSpPr>
          <p:cNvPr id="70" name="mesh-label-4"/>
          <p:cNvSpPr txBox="1"/>
          <p:nvPr/>
        </p:nvSpPr>
        <p:spPr>
          <a:xfrm>
            <a:off x="3977639" y="3127248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lang="en-US">
                <a:solidFill>
                  <a:srgbClr val="111111"/>
                </a:solidFill>
                <a:latin typeface="Consolas"/>
              </a:rPr>
              <a:t>Audit</a:t>
            </a:r>
          </a:p>
        </p:txBody>
      </p:sp>
      <p:sp>
        <p:nvSpPr>
          <p:cNvPr id="71" name="mesh-label-5"/>
          <p:cNvSpPr txBox="1"/>
          <p:nvPr/>
        </p:nvSpPr>
        <p:spPr>
          <a:xfrm>
            <a:off x="5897880" y="3465576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lang="en-US">
                <a:solidFill>
                  <a:srgbClr val="111111"/>
                </a:solidFill>
                <a:latin typeface="Consolas"/>
              </a:rPr>
              <a:t>Render</a:t>
            </a:r>
          </a:p>
        </p:txBody>
      </p:sp>
      <p:sp>
        <p:nvSpPr>
          <p:cNvPr id="72" name="mesh-label-6"/>
          <p:cNvSpPr txBox="1"/>
          <p:nvPr/>
        </p:nvSpPr>
        <p:spPr>
          <a:xfrm>
            <a:off x="2971800" y="4791456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lang="en-US">
                <a:solidFill>
                  <a:srgbClr val="111111"/>
                </a:solidFill>
                <a:latin typeface="Consolas"/>
              </a:rPr>
              <a:t>Repair</a:t>
            </a:r>
          </a:p>
        </p:txBody>
      </p:sp>
      <p:sp>
        <p:nvSpPr>
          <p:cNvPr id="73" name="mesh-label-7"/>
          <p:cNvSpPr txBox="1"/>
          <p:nvPr/>
        </p:nvSpPr>
        <p:spPr>
          <a:xfrm>
            <a:off x="4892040" y="4791456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lang="en-US">
                <a:solidFill>
                  <a:srgbClr val="111111"/>
                </a:solidFill>
                <a:latin typeface="Consolas"/>
              </a:rPr>
              <a:t>Ship</a:t>
            </a:r>
          </a:p>
        </p:txBody>
      </p:sp>
      <p:sp>
        <p:nvSpPr>
          <p:cNvPr id="74" name="mesh-rail-title"/>
          <p:cNvSpPr txBox="1"/>
          <p:nvPr/>
        </p:nvSpPr>
        <p:spPr>
          <a:xfrm>
            <a:off x="8357616" y="1298448"/>
            <a:ext cx="265176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1" lang="en-US">
                <a:solidFill>
                  <a:srgbClr val="64C8FF"/>
                </a:solidFill>
                <a:latin typeface="Consolas"/>
              </a:rPr>
              <a:t>TRACEABILITY</a:t>
            </a:r>
          </a:p>
        </p:txBody>
      </p:sp>
      <p:sp>
        <p:nvSpPr>
          <p:cNvPr id="75" name="trace-number-0"/>
          <p:cNvSpPr txBox="1"/>
          <p:nvPr/>
        </p:nvSpPr>
        <p:spPr>
          <a:xfrm>
            <a:off x="8375904" y="1783080"/>
            <a:ext cx="402336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111111"/>
                </a:solidFill>
                <a:latin typeface="Consolas"/>
              </a:rPr>
              <a:t>01</a:t>
            </a:r>
          </a:p>
        </p:txBody>
      </p:sp>
      <p:sp>
        <p:nvSpPr>
          <p:cNvPr id="76" name="trace-label-0"/>
          <p:cNvSpPr txBox="1"/>
          <p:nvPr/>
        </p:nvSpPr>
        <p:spPr>
          <a:xfrm>
            <a:off x="8979408" y="173736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1" lang="en-US">
                <a:solidFill>
                  <a:srgbClr val="96DCFF"/>
                </a:solidFill>
                <a:latin typeface="Consolas"/>
              </a:rPr>
              <a:t>Intent</a:t>
            </a:r>
          </a:p>
        </p:txBody>
      </p:sp>
      <p:sp>
        <p:nvSpPr>
          <p:cNvPr id="77" name="trace-number-1"/>
          <p:cNvSpPr txBox="1"/>
          <p:nvPr/>
        </p:nvSpPr>
        <p:spPr>
          <a:xfrm>
            <a:off x="8375904" y="2350008"/>
            <a:ext cx="402336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111111"/>
                </a:solidFill>
                <a:latin typeface="Consolas"/>
              </a:rPr>
              <a:t>02</a:t>
            </a:r>
          </a:p>
        </p:txBody>
      </p:sp>
      <p:sp>
        <p:nvSpPr>
          <p:cNvPr id="78" name="trace-label-1"/>
          <p:cNvSpPr txBox="1"/>
          <p:nvPr/>
        </p:nvSpPr>
        <p:spPr>
          <a:xfrm>
            <a:off x="8979408" y="2304288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1" lang="en-US">
                <a:solidFill>
                  <a:srgbClr val="96DCFF"/>
                </a:solidFill>
                <a:latin typeface="Consolas"/>
              </a:rPr>
              <a:t>Profile lock</a:t>
            </a:r>
          </a:p>
        </p:txBody>
      </p:sp>
      <p:sp>
        <p:nvSpPr>
          <p:cNvPr id="79" name="trace-number-2"/>
          <p:cNvSpPr txBox="1"/>
          <p:nvPr/>
        </p:nvSpPr>
        <p:spPr>
          <a:xfrm>
            <a:off x="8375904" y="2916936"/>
            <a:ext cx="402336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111111"/>
                </a:solidFill>
                <a:latin typeface="Consolas"/>
              </a:rPr>
              <a:t>03</a:t>
            </a:r>
          </a:p>
        </p:txBody>
      </p:sp>
      <p:sp>
        <p:nvSpPr>
          <p:cNvPr id="80" name="trace-label-2"/>
          <p:cNvSpPr txBox="1"/>
          <p:nvPr/>
        </p:nvSpPr>
        <p:spPr>
          <a:xfrm>
            <a:off x="8979408" y="2871216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1" lang="en-US">
                <a:solidFill>
                  <a:srgbClr val="96DCFF"/>
                </a:solidFill>
                <a:latin typeface="Consolas"/>
              </a:rPr>
              <a:t>Object spec</a:t>
            </a:r>
          </a:p>
        </p:txBody>
      </p:sp>
      <p:sp>
        <p:nvSpPr>
          <p:cNvPr id="81" name="trace-number-3"/>
          <p:cNvSpPr txBox="1"/>
          <p:nvPr/>
        </p:nvSpPr>
        <p:spPr>
          <a:xfrm>
            <a:off x="8375904" y="3483864"/>
            <a:ext cx="402336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111111"/>
                </a:solidFill>
                <a:latin typeface="Consolas"/>
              </a:rPr>
              <a:t>04</a:t>
            </a:r>
          </a:p>
        </p:txBody>
      </p:sp>
      <p:sp>
        <p:nvSpPr>
          <p:cNvPr id="82" name="trace-label-3"/>
          <p:cNvSpPr txBox="1"/>
          <p:nvPr/>
        </p:nvSpPr>
        <p:spPr>
          <a:xfrm>
            <a:off x="8979408" y="3438144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1" lang="en-US">
                <a:solidFill>
                  <a:srgbClr val="96DCFF"/>
                </a:solidFill>
                <a:latin typeface="Consolas"/>
              </a:rPr>
              <a:t>Quality gate</a:t>
            </a:r>
          </a:p>
        </p:txBody>
      </p:sp>
      <p:sp>
        <p:nvSpPr>
          <p:cNvPr id="83" name="trace-number-4"/>
          <p:cNvSpPr txBox="1"/>
          <p:nvPr/>
        </p:nvSpPr>
        <p:spPr>
          <a:xfrm>
            <a:off x="8375904" y="4050791"/>
            <a:ext cx="402336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111111"/>
                </a:solidFill>
                <a:latin typeface="Consolas"/>
              </a:rPr>
              <a:t>05</a:t>
            </a:r>
          </a:p>
        </p:txBody>
      </p:sp>
      <p:sp>
        <p:nvSpPr>
          <p:cNvPr id="84" name="trace-label-4"/>
          <p:cNvSpPr txBox="1"/>
          <p:nvPr/>
        </p:nvSpPr>
        <p:spPr>
          <a:xfrm>
            <a:off x="8979408" y="400507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1" lang="en-US">
                <a:solidFill>
                  <a:srgbClr val="96DCFF"/>
                </a:solidFill>
                <a:latin typeface="Consolas"/>
              </a:rPr>
              <a:t>Repair trace</a:t>
            </a:r>
          </a:p>
        </p:txBody>
      </p:sp>
      <p:sp>
        <p:nvSpPr>
          <p:cNvPr id="85" name="trace-number-5"/>
          <p:cNvSpPr txBox="1"/>
          <p:nvPr/>
        </p:nvSpPr>
        <p:spPr>
          <a:xfrm>
            <a:off x="8375904" y="4617720"/>
            <a:ext cx="402336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111111"/>
                </a:solidFill>
                <a:latin typeface="Consolas"/>
              </a:rPr>
              <a:t>06</a:t>
            </a:r>
          </a:p>
        </p:txBody>
      </p:sp>
      <p:sp>
        <p:nvSpPr>
          <p:cNvPr id="86" name="trace-label-5"/>
          <p:cNvSpPr txBox="1"/>
          <p:nvPr/>
        </p:nvSpPr>
        <p:spPr>
          <a:xfrm>
            <a:off x="8979408" y="457200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1" lang="en-US">
                <a:solidFill>
                  <a:srgbClr val="96DCFF"/>
                </a:solidFill>
                <a:latin typeface="Consolas"/>
              </a:rPr>
              <a:t>Artifact</a:t>
            </a:r>
          </a:p>
        </p:txBody>
      </p:sp>
      <p:sp>
        <p:nvSpPr>
          <p:cNvPr id="87" name="mesh-note"/>
          <p:cNvSpPr txBox="1"/>
          <p:nvPr/>
        </p:nvSpPr>
        <p:spPr>
          <a:xfrm>
            <a:off x="8357616" y="5321808"/>
            <a:ext cx="2834640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00" b="0" lang="en-US">
                <a:solidFill>
                  <a:srgbClr val="64C8FF"/>
                </a:solidFill>
                <a:latin typeface="Consolas"/>
              </a:rPr>
              <a:t>Fourteen editable links prove dense graph routing and layering.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240"/>
          </a:solidFill>
          <a:ln w="10160">
            <a:solidFill>
              <a:srgbClr val="0D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lueprint-v-1"/>
          <p:cNvSpPr/>
          <p:nvPr/>
        </p:nvSpPr>
        <p:spPr>
          <a:xfrm>
            <a:off x="914400" y="0"/>
            <a:ext cx="10972" cy="6858000"/>
          </a:xfrm>
          <a:prstGeom prst="rect">
            <a:avLst/>
          </a:prstGeom>
          <a:solidFill>
            <a:srgbClr val="2E5E8F"/>
          </a:solidFill>
          <a:ln w="10160">
            <a:solidFill>
              <a:srgbClr val="2E5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lueprint-v-2"/>
          <p:cNvSpPr/>
          <p:nvPr/>
        </p:nvSpPr>
        <p:spPr>
          <a:xfrm>
            <a:off x="1828800" y="0"/>
            <a:ext cx="10972" cy="6858000"/>
          </a:xfrm>
          <a:prstGeom prst="rect">
            <a:avLst/>
          </a:prstGeom>
          <a:solidFill>
            <a:srgbClr val="2E5E8F"/>
          </a:solidFill>
          <a:ln w="10160">
            <a:solidFill>
              <a:srgbClr val="2E5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blueprint-v-3"/>
          <p:cNvSpPr/>
          <p:nvPr/>
        </p:nvSpPr>
        <p:spPr>
          <a:xfrm>
            <a:off x="2743200" y="0"/>
            <a:ext cx="10972" cy="6858000"/>
          </a:xfrm>
          <a:prstGeom prst="rect">
            <a:avLst/>
          </a:prstGeom>
          <a:solidFill>
            <a:srgbClr val="2E5E8F"/>
          </a:solidFill>
          <a:ln w="10160">
            <a:solidFill>
              <a:srgbClr val="2E5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lueprint-v-4"/>
          <p:cNvSpPr/>
          <p:nvPr/>
        </p:nvSpPr>
        <p:spPr>
          <a:xfrm>
            <a:off x="3657600" y="0"/>
            <a:ext cx="10972" cy="6858000"/>
          </a:xfrm>
          <a:prstGeom prst="rect">
            <a:avLst/>
          </a:prstGeom>
          <a:solidFill>
            <a:srgbClr val="2E5E8F"/>
          </a:solidFill>
          <a:ln w="10160">
            <a:solidFill>
              <a:srgbClr val="2E5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blueprint-v-5"/>
          <p:cNvSpPr/>
          <p:nvPr/>
        </p:nvSpPr>
        <p:spPr>
          <a:xfrm>
            <a:off x="4572000" y="0"/>
            <a:ext cx="10972" cy="6858000"/>
          </a:xfrm>
          <a:prstGeom prst="rect">
            <a:avLst/>
          </a:prstGeom>
          <a:solidFill>
            <a:srgbClr val="2E5E8F"/>
          </a:solidFill>
          <a:ln w="10160">
            <a:solidFill>
              <a:srgbClr val="2E5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lueprint-v-6"/>
          <p:cNvSpPr/>
          <p:nvPr/>
        </p:nvSpPr>
        <p:spPr>
          <a:xfrm>
            <a:off x="5486400" y="0"/>
            <a:ext cx="10972" cy="6858000"/>
          </a:xfrm>
          <a:prstGeom prst="rect">
            <a:avLst/>
          </a:prstGeom>
          <a:solidFill>
            <a:srgbClr val="2E5E8F"/>
          </a:solidFill>
          <a:ln w="10160">
            <a:solidFill>
              <a:srgbClr val="2E5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blueprint-v-7"/>
          <p:cNvSpPr/>
          <p:nvPr/>
        </p:nvSpPr>
        <p:spPr>
          <a:xfrm>
            <a:off x="6400800" y="0"/>
            <a:ext cx="10972" cy="6858000"/>
          </a:xfrm>
          <a:prstGeom prst="rect">
            <a:avLst/>
          </a:prstGeom>
          <a:solidFill>
            <a:srgbClr val="2E5E8F"/>
          </a:solidFill>
          <a:ln w="10160">
            <a:solidFill>
              <a:srgbClr val="2E5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blueprint-v-8"/>
          <p:cNvSpPr/>
          <p:nvPr/>
        </p:nvSpPr>
        <p:spPr>
          <a:xfrm>
            <a:off x="7315200" y="0"/>
            <a:ext cx="10972" cy="6858000"/>
          </a:xfrm>
          <a:prstGeom prst="rect">
            <a:avLst/>
          </a:prstGeom>
          <a:solidFill>
            <a:srgbClr val="2E5E8F"/>
          </a:solidFill>
          <a:ln w="10160">
            <a:solidFill>
              <a:srgbClr val="2E5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blueprint-v-9"/>
          <p:cNvSpPr/>
          <p:nvPr/>
        </p:nvSpPr>
        <p:spPr>
          <a:xfrm>
            <a:off x="8229600" y="0"/>
            <a:ext cx="10972" cy="6858000"/>
          </a:xfrm>
          <a:prstGeom prst="rect">
            <a:avLst/>
          </a:prstGeom>
          <a:solidFill>
            <a:srgbClr val="2E5E8F"/>
          </a:solidFill>
          <a:ln w="10160">
            <a:solidFill>
              <a:srgbClr val="2E5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blueprint-v-10"/>
          <p:cNvSpPr/>
          <p:nvPr/>
        </p:nvSpPr>
        <p:spPr>
          <a:xfrm>
            <a:off x="9144000" y="0"/>
            <a:ext cx="10972" cy="6858000"/>
          </a:xfrm>
          <a:prstGeom prst="rect">
            <a:avLst/>
          </a:prstGeom>
          <a:solidFill>
            <a:srgbClr val="2E5E8F"/>
          </a:solidFill>
          <a:ln w="10160">
            <a:solidFill>
              <a:srgbClr val="2E5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blueprint-v-11"/>
          <p:cNvSpPr/>
          <p:nvPr/>
        </p:nvSpPr>
        <p:spPr>
          <a:xfrm>
            <a:off x="10058400" y="0"/>
            <a:ext cx="10972" cy="6858000"/>
          </a:xfrm>
          <a:prstGeom prst="rect">
            <a:avLst/>
          </a:prstGeom>
          <a:solidFill>
            <a:srgbClr val="2E5E8F"/>
          </a:solidFill>
          <a:ln w="10160">
            <a:solidFill>
              <a:srgbClr val="2E5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blueprint-v-12"/>
          <p:cNvSpPr/>
          <p:nvPr/>
        </p:nvSpPr>
        <p:spPr>
          <a:xfrm>
            <a:off x="10972800" y="0"/>
            <a:ext cx="10972" cy="6858000"/>
          </a:xfrm>
          <a:prstGeom prst="rect">
            <a:avLst/>
          </a:prstGeom>
          <a:solidFill>
            <a:srgbClr val="2E5E8F"/>
          </a:solidFill>
          <a:ln w="10160">
            <a:solidFill>
              <a:srgbClr val="2E5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blueprint-h-1"/>
          <p:cNvSpPr/>
          <p:nvPr/>
        </p:nvSpPr>
        <p:spPr>
          <a:xfrm>
            <a:off x="0" y="914400"/>
            <a:ext cx="12191695" cy="10972"/>
          </a:xfrm>
          <a:prstGeom prst="rect">
            <a:avLst/>
          </a:prstGeom>
          <a:solidFill>
            <a:srgbClr val="2E5E8F"/>
          </a:solidFill>
          <a:ln w="10160">
            <a:solidFill>
              <a:srgbClr val="2E5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blueprint-h-2"/>
          <p:cNvSpPr/>
          <p:nvPr/>
        </p:nvSpPr>
        <p:spPr>
          <a:xfrm>
            <a:off x="0" y="1828800"/>
            <a:ext cx="12191695" cy="10972"/>
          </a:xfrm>
          <a:prstGeom prst="rect">
            <a:avLst/>
          </a:prstGeom>
          <a:solidFill>
            <a:srgbClr val="2E5E8F"/>
          </a:solidFill>
          <a:ln w="10160">
            <a:solidFill>
              <a:srgbClr val="2E5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blueprint-h-3"/>
          <p:cNvSpPr/>
          <p:nvPr/>
        </p:nvSpPr>
        <p:spPr>
          <a:xfrm>
            <a:off x="0" y="2743200"/>
            <a:ext cx="12191695" cy="10972"/>
          </a:xfrm>
          <a:prstGeom prst="rect">
            <a:avLst/>
          </a:prstGeom>
          <a:solidFill>
            <a:srgbClr val="2E5E8F"/>
          </a:solidFill>
          <a:ln w="10160">
            <a:solidFill>
              <a:srgbClr val="2E5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lueprint-h-4"/>
          <p:cNvSpPr/>
          <p:nvPr/>
        </p:nvSpPr>
        <p:spPr>
          <a:xfrm>
            <a:off x="0" y="3657600"/>
            <a:ext cx="12191695" cy="10972"/>
          </a:xfrm>
          <a:prstGeom prst="rect">
            <a:avLst/>
          </a:prstGeom>
          <a:solidFill>
            <a:srgbClr val="2E5E8F"/>
          </a:solidFill>
          <a:ln w="10160">
            <a:solidFill>
              <a:srgbClr val="2E5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blueprint-h-5"/>
          <p:cNvSpPr/>
          <p:nvPr/>
        </p:nvSpPr>
        <p:spPr>
          <a:xfrm>
            <a:off x="0" y="4572000"/>
            <a:ext cx="12191695" cy="10972"/>
          </a:xfrm>
          <a:prstGeom prst="rect">
            <a:avLst/>
          </a:prstGeom>
          <a:solidFill>
            <a:srgbClr val="2E5E8F"/>
          </a:solidFill>
          <a:ln w="10160">
            <a:solidFill>
              <a:srgbClr val="2E5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blueprint-h-6"/>
          <p:cNvSpPr/>
          <p:nvPr/>
        </p:nvSpPr>
        <p:spPr>
          <a:xfrm>
            <a:off x="0" y="5486400"/>
            <a:ext cx="12191695" cy="10972"/>
          </a:xfrm>
          <a:prstGeom prst="rect">
            <a:avLst/>
          </a:prstGeom>
          <a:solidFill>
            <a:srgbClr val="2E5E8F"/>
          </a:solidFill>
          <a:ln w="10160">
            <a:solidFill>
              <a:srgbClr val="2E5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blueprint-h-7"/>
          <p:cNvSpPr/>
          <p:nvPr/>
        </p:nvSpPr>
        <p:spPr>
          <a:xfrm>
            <a:off x="0" y="6400800"/>
            <a:ext cx="12191695" cy="10972"/>
          </a:xfrm>
          <a:prstGeom prst="rect">
            <a:avLst/>
          </a:prstGeom>
          <a:solidFill>
            <a:srgbClr val="2E5E8F"/>
          </a:solidFill>
          <a:ln w="10160">
            <a:solidFill>
              <a:srgbClr val="2E5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op-band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64C8FF"/>
          </a:solidFill>
          <a:ln w="10160">
            <a:solidFill>
              <a:srgbClr val="64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matrix-rail-shell"/>
          <p:cNvSpPr/>
          <p:nvPr/>
        </p:nvSpPr>
        <p:spPr>
          <a:xfrm>
            <a:off x="8823960" y="1143000"/>
            <a:ext cx="2907792" cy="4443984"/>
          </a:xfrm>
          <a:prstGeom prst="rect">
            <a:avLst/>
          </a:prstGeom>
          <a:solidFill>
            <a:srgbClr val="14325C"/>
          </a:solidFill>
          <a:ln w="10160">
            <a:solidFill>
              <a:srgbClr val="2E5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matrix-rail-accent"/>
          <p:cNvSpPr/>
          <p:nvPr/>
        </p:nvSpPr>
        <p:spPr>
          <a:xfrm>
            <a:off x="8823960" y="1143000"/>
            <a:ext cx="73152" cy="4443984"/>
          </a:xfrm>
          <a:prstGeom prst="rect">
            <a:avLst/>
          </a:prstGeom>
          <a:solidFill>
            <a:srgbClr val="64C8FF"/>
          </a:solidFill>
          <a:ln w="10160">
            <a:solidFill>
              <a:srgbClr val="64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adar-ring-0.45"/>
          <p:cNvSpPr/>
          <p:nvPr/>
        </p:nvSpPr>
        <p:spPr>
          <a:xfrm>
            <a:off x="9866376" y="2834640"/>
            <a:ext cx="822960" cy="822960"/>
          </a:xfrm>
          <a:prstGeom prst="ellipse">
            <a:avLst/>
          </a:prstGeom>
          <a:solidFill>
            <a:srgbClr val="14325C"/>
          </a:solidFill>
          <a:ln w="10160">
            <a:solidFill>
              <a:srgbClr val="2E5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adar-ring-0.85"/>
          <p:cNvSpPr/>
          <p:nvPr/>
        </p:nvSpPr>
        <p:spPr>
          <a:xfrm>
            <a:off x="9500616" y="2468880"/>
            <a:ext cx="1554480" cy="1554480"/>
          </a:xfrm>
          <a:prstGeom prst="ellipse">
            <a:avLst/>
          </a:prstGeom>
          <a:solidFill>
            <a:srgbClr val="14325C"/>
          </a:solidFill>
          <a:ln w="10160">
            <a:solidFill>
              <a:srgbClr val="2E5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adar-ring-1.25"/>
          <p:cNvSpPr/>
          <p:nvPr/>
        </p:nvSpPr>
        <p:spPr>
          <a:xfrm>
            <a:off x="9134856" y="2103120"/>
            <a:ext cx="2286000" cy="2286000"/>
          </a:xfrm>
          <a:prstGeom prst="ellipse">
            <a:avLst/>
          </a:prstGeom>
          <a:solidFill>
            <a:srgbClr val="14325C"/>
          </a:solidFill>
          <a:ln w="10160">
            <a:solidFill>
              <a:srgbClr val="2E5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radar-axis-0"/>
          <p:cNvCxnSpPr/>
          <p:nvPr/>
        </p:nvCxnSpPr>
        <p:spPr>
          <a:xfrm flipV="1">
            <a:off x="10277856" y="1828799"/>
            <a:ext cx="0" cy="1417321"/>
          </a:xfrm>
          <a:prstGeom prst="line">
            <a:avLst/>
          </a:prstGeom>
          <a:ln w="13970">
            <a:solidFill>
              <a:srgbClr val="2E5E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radar-axis-1"/>
          <p:cNvCxnSpPr/>
          <p:nvPr/>
        </p:nvCxnSpPr>
        <p:spPr>
          <a:xfrm flipV="1">
            <a:off x="10277856" y="2537460"/>
            <a:ext cx="1227435" cy="708660"/>
          </a:xfrm>
          <a:prstGeom prst="line">
            <a:avLst/>
          </a:prstGeom>
          <a:ln w="13970">
            <a:solidFill>
              <a:srgbClr val="2E5E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radar-axis-2"/>
          <p:cNvCxnSpPr/>
          <p:nvPr/>
        </p:nvCxnSpPr>
        <p:spPr>
          <a:xfrm>
            <a:off x="10277856" y="3246120"/>
            <a:ext cx="1227435" cy="708659"/>
          </a:xfrm>
          <a:prstGeom prst="line">
            <a:avLst/>
          </a:prstGeom>
          <a:ln w="13970">
            <a:solidFill>
              <a:srgbClr val="2E5E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radar-axis-3"/>
          <p:cNvCxnSpPr/>
          <p:nvPr/>
        </p:nvCxnSpPr>
        <p:spPr>
          <a:xfrm>
            <a:off x="10277856" y="3246120"/>
            <a:ext cx="0" cy="1417320"/>
          </a:xfrm>
          <a:prstGeom prst="line">
            <a:avLst/>
          </a:prstGeom>
          <a:ln w="13970">
            <a:solidFill>
              <a:srgbClr val="2E5E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radar-axis-4"/>
          <p:cNvCxnSpPr/>
          <p:nvPr/>
        </p:nvCxnSpPr>
        <p:spPr>
          <a:xfrm flipH="1">
            <a:off x="9050420" y="3246120"/>
            <a:ext cx="1227436" cy="708659"/>
          </a:xfrm>
          <a:prstGeom prst="line">
            <a:avLst/>
          </a:prstGeom>
          <a:ln w="13970">
            <a:solidFill>
              <a:srgbClr val="2E5E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radar-axis-5"/>
          <p:cNvCxnSpPr/>
          <p:nvPr/>
        </p:nvCxnSpPr>
        <p:spPr>
          <a:xfrm flipH="1" flipV="1">
            <a:off x="9050420" y="2537459"/>
            <a:ext cx="1227436" cy="708661"/>
          </a:xfrm>
          <a:prstGeom prst="line">
            <a:avLst/>
          </a:prstGeom>
          <a:ln w="13970">
            <a:solidFill>
              <a:srgbClr val="2E5E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flow-link-0"/>
          <p:cNvCxnSpPr/>
          <p:nvPr/>
        </p:nvCxnSpPr>
        <p:spPr>
          <a:xfrm>
            <a:off x="2066543" y="5934456"/>
            <a:ext cx="265177" cy="0"/>
          </a:xfrm>
          <a:prstGeom prst="line">
            <a:avLst/>
          </a:prstGeom>
          <a:ln w="13970">
            <a:solidFill>
              <a:srgbClr val="64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flow-link-1"/>
          <p:cNvCxnSpPr/>
          <p:nvPr/>
        </p:nvCxnSpPr>
        <p:spPr>
          <a:xfrm>
            <a:off x="3959352" y="5934456"/>
            <a:ext cx="265175" cy="0"/>
          </a:xfrm>
          <a:prstGeom prst="line">
            <a:avLst/>
          </a:prstGeom>
          <a:ln w="13970">
            <a:solidFill>
              <a:srgbClr val="96D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flow-link-2"/>
          <p:cNvCxnSpPr/>
          <p:nvPr/>
        </p:nvCxnSpPr>
        <p:spPr>
          <a:xfrm>
            <a:off x="5852159" y="5934456"/>
            <a:ext cx="265177" cy="0"/>
          </a:xfrm>
          <a:prstGeom prst="line">
            <a:avLst/>
          </a:prstGeom>
          <a:ln w="13970">
            <a:solidFill>
              <a:srgbClr val="64B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flow-link-3"/>
          <p:cNvCxnSpPr/>
          <p:nvPr/>
        </p:nvCxnSpPr>
        <p:spPr>
          <a:xfrm>
            <a:off x="7744967" y="5934456"/>
            <a:ext cx="265176" cy="0"/>
          </a:xfrm>
          <a:prstGeom prst="line">
            <a:avLst/>
          </a:prstGeom>
          <a:ln w="13970">
            <a:solidFill>
              <a:srgbClr val="FFD1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flow-link-4"/>
          <p:cNvCxnSpPr/>
          <p:nvPr/>
        </p:nvCxnSpPr>
        <p:spPr>
          <a:xfrm>
            <a:off x="9637776" y="5934456"/>
            <a:ext cx="265175" cy="0"/>
          </a:xfrm>
          <a:prstGeom prst="line">
            <a:avLst/>
          </a:prstGeom>
          <a:ln w="13970">
            <a:solidFill>
              <a:srgbClr val="64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9" name="operating-table"/>
          <p:cNvGraphicFramePr>
            <a:graphicFrameLocks noGrp="1"/>
          </p:cNvGraphicFramePr>
          <p:nvPr/>
        </p:nvGraphicFramePr>
        <p:xfrm>
          <a:off x="457200" y="1143000"/>
          <a:ext cx="8092440" cy="44439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8740"/>
                <a:gridCol w="1348740"/>
                <a:gridCol w="1348740"/>
                <a:gridCol w="1348740"/>
                <a:gridCol w="1348740"/>
                <a:gridCol w="1348740"/>
              </a:tblGrid>
              <a:tr h="444398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0D2240"/>
                          </a:solidFill>
                          <a:latin typeface="Consolas"/>
                        </a:rPr>
                        <a:t>Workstream</a:t>
                      </a:r>
                    </a:p>
                  </a:txBody>
                  <a:tcPr marL="54864" marR="54864" marT="18288" marB="18288">
                    <a:solidFill>
                      <a:srgbClr val="64C8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0D2240"/>
                          </a:solidFill>
                          <a:latin typeface="Consolas"/>
                        </a:rPr>
                        <a:t>Profile</a:t>
                      </a:r>
                    </a:p>
                  </a:txBody>
                  <a:tcPr marL="54864" marR="54864" marT="18288" marB="18288">
                    <a:solidFill>
                      <a:srgbClr val="64C8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0D2240"/>
                          </a:solidFill>
                          <a:latin typeface="Consolas"/>
                        </a:rPr>
                        <a:t>Structure</a:t>
                      </a:r>
                    </a:p>
                  </a:txBody>
                  <a:tcPr marL="54864" marR="54864" marT="18288" marB="18288">
                    <a:solidFill>
                      <a:srgbClr val="64C8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0D2240"/>
                          </a:solidFill>
                          <a:latin typeface="Consolas"/>
                        </a:rPr>
                        <a:t>Density</a:t>
                      </a:r>
                    </a:p>
                  </a:txBody>
                  <a:tcPr marL="54864" marR="54864" marT="18288" marB="18288">
                    <a:solidFill>
                      <a:srgbClr val="64C8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0D2240"/>
                          </a:solidFill>
                          <a:latin typeface="Consolas"/>
                        </a:rPr>
                        <a:t>Gate</a:t>
                      </a:r>
                    </a:p>
                  </a:txBody>
                  <a:tcPr marL="54864" marR="54864" marT="18288" marB="18288">
                    <a:solidFill>
                      <a:srgbClr val="64C8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0D2240"/>
                          </a:solidFill>
                          <a:latin typeface="Consolas"/>
                        </a:rPr>
                        <a:t>Owner</a:t>
                      </a:r>
                    </a:p>
                  </a:txBody>
                  <a:tcPr marL="54864" marR="54864" marT="18288" marB="18288">
                    <a:solidFill>
                      <a:srgbClr val="64C8FF"/>
                    </a:solidFill>
                  </a:tcPr>
                </a:tc>
              </a:tr>
              <a:tr h="444398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96DCFF"/>
                          </a:solidFill>
                          <a:latin typeface="Consolas"/>
                        </a:rPr>
                        <a:t>W-01</a:t>
                      </a:r>
                    </a:p>
                  </a:txBody>
                  <a:tcPr marL="54864" marR="54864" marT="18288" marB="18288">
                    <a:solidFill>
                      <a:srgbClr val="102B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96DCFF"/>
                          </a:solidFill>
                          <a:latin typeface="Consolas"/>
                        </a:rPr>
                        <a:t>Ember</a:t>
                      </a:r>
                    </a:p>
                  </a:txBody>
                  <a:tcPr marL="54864" marR="54864" marT="18288" marB="18288">
                    <a:solidFill>
                      <a:srgbClr val="102B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96DCFF"/>
                          </a:solidFill>
                          <a:latin typeface="Consolas"/>
                        </a:rPr>
                        <a:t>Mesh</a:t>
                      </a:r>
                    </a:p>
                  </a:txBody>
                  <a:tcPr marL="54864" marR="54864" marT="18288" marB="18288">
                    <a:solidFill>
                      <a:srgbClr val="102B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96DCFF"/>
                          </a:solidFill>
                          <a:latin typeface="Consolas"/>
                        </a:rPr>
                        <a:t>Dense</a:t>
                      </a:r>
                    </a:p>
                  </a:txBody>
                  <a:tcPr marL="54864" marR="54864" marT="18288" marB="18288">
                    <a:solidFill>
                      <a:srgbClr val="102B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96DCFF"/>
                          </a:solidFill>
                          <a:latin typeface="Consolas"/>
                        </a:rPr>
                        <a:t>Watch</a:t>
                      </a:r>
                    </a:p>
                  </a:txBody>
                  <a:tcPr marL="54864" marR="54864" marT="18288" marB="18288">
                    <a:solidFill>
                      <a:srgbClr val="102B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96DCFF"/>
                          </a:solidFill>
                          <a:latin typeface="Consolas"/>
                        </a:rPr>
                        <a:t>R</a:t>
                      </a:r>
                    </a:p>
                  </a:txBody>
                  <a:tcPr marL="54864" marR="54864" marT="18288" marB="18288">
                    <a:solidFill>
                      <a:srgbClr val="102B50"/>
                    </a:solidFill>
                  </a:tcPr>
                </a:tc>
              </a:tr>
              <a:tr h="444398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96DCFF"/>
                          </a:solidFill>
                          <a:latin typeface="Consolas"/>
                        </a:rPr>
                        <a:t>W-02</a:t>
                      </a:r>
                    </a:p>
                  </a:txBody>
                  <a:tcPr marL="54864" marR="54864" marT="18288" marB="18288">
                    <a:solidFill>
                      <a:srgbClr val="1432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96DCFF"/>
                          </a:solidFill>
                          <a:latin typeface="Consolas"/>
                        </a:rPr>
                        <a:t>Signal</a:t>
                      </a:r>
                    </a:p>
                  </a:txBody>
                  <a:tcPr marL="54864" marR="54864" marT="18288" marB="18288">
                    <a:solidFill>
                      <a:srgbClr val="1432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96DCFF"/>
                          </a:solidFill>
                          <a:latin typeface="Consolas"/>
                        </a:rPr>
                        <a:t>Matrix</a:t>
                      </a:r>
                    </a:p>
                  </a:txBody>
                  <a:tcPr marL="54864" marR="54864" marT="18288" marB="18288">
                    <a:solidFill>
                      <a:srgbClr val="1432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96DCFF"/>
                          </a:solidFill>
                          <a:latin typeface="Consolas"/>
                        </a:rPr>
                        <a:t>Layered</a:t>
                      </a:r>
                    </a:p>
                  </a:txBody>
                  <a:tcPr marL="54864" marR="54864" marT="18288" marB="18288">
                    <a:solidFill>
                      <a:srgbClr val="1432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96DCFF"/>
                          </a:solidFill>
                          <a:latin typeface="Consolas"/>
                        </a:rPr>
                        <a:t>Repair</a:t>
                      </a:r>
                    </a:p>
                  </a:txBody>
                  <a:tcPr marL="54864" marR="54864" marT="18288" marB="18288">
                    <a:solidFill>
                      <a:srgbClr val="1432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96DCFF"/>
                          </a:solidFill>
                          <a:latin typeface="Consolas"/>
                        </a:rPr>
                        <a:t>C</a:t>
                      </a:r>
                    </a:p>
                  </a:txBody>
                  <a:tcPr marL="54864" marR="54864" marT="18288" marB="18288">
                    <a:solidFill>
                      <a:srgbClr val="14325C"/>
                    </a:solidFill>
                  </a:tcPr>
                </a:tc>
              </a:tr>
              <a:tr h="444398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96DCFF"/>
                          </a:solidFill>
                          <a:latin typeface="Consolas"/>
                        </a:rPr>
                        <a:t>W-03</a:t>
                      </a:r>
                    </a:p>
                  </a:txBody>
                  <a:tcPr marL="54864" marR="54864" marT="18288" marB="18288">
                    <a:solidFill>
                      <a:srgbClr val="102B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96DCFF"/>
                          </a:solidFill>
                          <a:latin typeface="Consolas"/>
                        </a:rPr>
                        <a:t>Grove</a:t>
                      </a:r>
                    </a:p>
                  </a:txBody>
                  <a:tcPr marL="54864" marR="54864" marT="18288" marB="18288">
                    <a:solidFill>
                      <a:srgbClr val="102B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96DCFF"/>
                          </a:solidFill>
                          <a:latin typeface="Consolas"/>
                        </a:rPr>
                        <a:t>Board</a:t>
                      </a:r>
                    </a:p>
                  </a:txBody>
                  <a:tcPr marL="54864" marR="54864" marT="18288" marB="18288">
                    <a:solidFill>
                      <a:srgbClr val="102B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96DCFF"/>
                          </a:solidFill>
                          <a:latin typeface="Consolas"/>
                        </a:rPr>
                        <a:t>Packed</a:t>
                      </a:r>
                    </a:p>
                  </a:txBody>
                  <a:tcPr marL="54864" marR="54864" marT="18288" marB="18288">
                    <a:solidFill>
                      <a:srgbClr val="102B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96DCFF"/>
                          </a:solidFill>
                          <a:latin typeface="Consolas"/>
                        </a:rPr>
                        <a:t>Pass</a:t>
                      </a:r>
                    </a:p>
                  </a:txBody>
                  <a:tcPr marL="54864" marR="54864" marT="18288" marB="18288">
                    <a:solidFill>
                      <a:srgbClr val="102B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96DCFF"/>
                          </a:solidFill>
                          <a:latin typeface="Consolas"/>
                        </a:rPr>
                        <a:t>I</a:t>
                      </a:r>
                    </a:p>
                  </a:txBody>
                  <a:tcPr marL="54864" marR="54864" marT="18288" marB="18288">
                    <a:solidFill>
                      <a:srgbClr val="102B50"/>
                    </a:solidFill>
                  </a:tcPr>
                </a:tc>
              </a:tr>
              <a:tr h="444398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96DCFF"/>
                          </a:solidFill>
                          <a:latin typeface="Consolas"/>
                        </a:rPr>
                        <a:t>W-04</a:t>
                      </a:r>
                    </a:p>
                  </a:txBody>
                  <a:tcPr marL="54864" marR="54864" marT="18288" marB="18288">
                    <a:solidFill>
                      <a:srgbClr val="1432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96DCFF"/>
                          </a:solidFill>
                          <a:latin typeface="Consolas"/>
                        </a:rPr>
                        <a:t>Atlas</a:t>
                      </a:r>
                    </a:p>
                  </a:txBody>
                  <a:tcPr marL="54864" marR="54864" marT="18288" marB="18288">
                    <a:solidFill>
                      <a:srgbClr val="1432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96DCFF"/>
                          </a:solidFill>
                          <a:latin typeface="Consolas"/>
                        </a:rPr>
                        <a:t>Cards</a:t>
                      </a:r>
                    </a:p>
                  </a:txBody>
                  <a:tcPr marL="54864" marR="54864" marT="18288" marB="18288">
                    <a:solidFill>
                      <a:srgbClr val="1432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96DCFF"/>
                          </a:solidFill>
                          <a:latin typeface="Consolas"/>
                        </a:rPr>
                        <a:t>High</a:t>
                      </a:r>
                    </a:p>
                  </a:txBody>
                  <a:tcPr marL="54864" marR="54864" marT="18288" marB="18288">
                    <a:solidFill>
                      <a:srgbClr val="1432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96DCFF"/>
                          </a:solidFill>
                          <a:latin typeface="Consolas"/>
                        </a:rPr>
                        <a:t>Pass</a:t>
                      </a:r>
                    </a:p>
                  </a:txBody>
                  <a:tcPr marL="54864" marR="54864" marT="18288" marB="18288">
                    <a:solidFill>
                      <a:srgbClr val="1432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96DCFF"/>
                          </a:solidFill>
                          <a:latin typeface="Consolas"/>
                        </a:rPr>
                        <a:t>A</a:t>
                      </a:r>
                    </a:p>
                  </a:txBody>
                  <a:tcPr marL="54864" marR="54864" marT="18288" marB="18288">
                    <a:solidFill>
                      <a:srgbClr val="14325C"/>
                    </a:solidFill>
                  </a:tcPr>
                </a:tc>
              </a:tr>
              <a:tr h="444398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96DCFF"/>
                          </a:solidFill>
                          <a:latin typeface="Consolas"/>
                        </a:rPr>
                        <a:t>W-05</a:t>
                      </a:r>
                    </a:p>
                  </a:txBody>
                  <a:tcPr marL="54864" marR="54864" marT="18288" marB="18288">
                    <a:solidFill>
                      <a:srgbClr val="102B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96DCFF"/>
                          </a:solidFill>
                          <a:latin typeface="Consolas"/>
                        </a:rPr>
                        <a:t>Ember</a:t>
                      </a:r>
                    </a:p>
                  </a:txBody>
                  <a:tcPr marL="54864" marR="54864" marT="18288" marB="18288">
                    <a:solidFill>
                      <a:srgbClr val="102B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96DCFF"/>
                          </a:solidFill>
                          <a:latin typeface="Consolas"/>
                        </a:rPr>
                        <a:t>Mesh</a:t>
                      </a:r>
                    </a:p>
                  </a:txBody>
                  <a:tcPr marL="54864" marR="54864" marT="18288" marB="18288">
                    <a:solidFill>
                      <a:srgbClr val="102B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96DCFF"/>
                          </a:solidFill>
                          <a:latin typeface="Consolas"/>
                        </a:rPr>
                        <a:t>Dense</a:t>
                      </a:r>
                    </a:p>
                  </a:txBody>
                  <a:tcPr marL="54864" marR="54864" marT="18288" marB="18288">
                    <a:solidFill>
                      <a:srgbClr val="102B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96DCFF"/>
                          </a:solidFill>
                          <a:latin typeface="Consolas"/>
                        </a:rPr>
                        <a:t>Watch</a:t>
                      </a:r>
                    </a:p>
                  </a:txBody>
                  <a:tcPr marL="54864" marR="54864" marT="18288" marB="18288">
                    <a:solidFill>
                      <a:srgbClr val="102B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96DCFF"/>
                          </a:solidFill>
                          <a:latin typeface="Consolas"/>
                        </a:rPr>
                        <a:t>R</a:t>
                      </a:r>
                    </a:p>
                  </a:txBody>
                  <a:tcPr marL="54864" marR="54864" marT="18288" marB="18288">
                    <a:solidFill>
                      <a:srgbClr val="102B50"/>
                    </a:solidFill>
                  </a:tcPr>
                </a:tc>
              </a:tr>
              <a:tr h="444398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96DCFF"/>
                          </a:solidFill>
                          <a:latin typeface="Consolas"/>
                        </a:rPr>
                        <a:t>W-06</a:t>
                      </a:r>
                    </a:p>
                  </a:txBody>
                  <a:tcPr marL="54864" marR="54864" marT="18288" marB="18288">
                    <a:solidFill>
                      <a:srgbClr val="1432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96DCFF"/>
                          </a:solidFill>
                          <a:latin typeface="Consolas"/>
                        </a:rPr>
                        <a:t>Signal</a:t>
                      </a:r>
                    </a:p>
                  </a:txBody>
                  <a:tcPr marL="54864" marR="54864" marT="18288" marB="18288">
                    <a:solidFill>
                      <a:srgbClr val="1432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96DCFF"/>
                          </a:solidFill>
                          <a:latin typeface="Consolas"/>
                        </a:rPr>
                        <a:t>Matrix</a:t>
                      </a:r>
                    </a:p>
                  </a:txBody>
                  <a:tcPr marL="54864" marR="54864" marT="18288" marB="18288">
                    <a:solidFill>
                      <a:srgbClr val="1432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96DCFF"/>
                          </a:solidFill>
                          <a:latin typeface="Consolas"/>
                        </a:rPr>
                        <a:t>Layered</a:t>
                      </a:r>
                    </a:p>
                  </a:txBody>
                  <a:tcPr marL="54864" marR="54864" marT="18288" marB="18288">
                    <a:solidFill>
                      <a:srgbClr val="1432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96DCFF"/>
                          </a:solidFill>
                          <a:latin typeface="Consolas"/>
                        </a:rPr>
                        <a:t>Repair</a:t>
                      </a:r>
                    </a:p>
                  </a:txBody>
                  <a:tcPr marL="54864" marR="54864" marT="18288" marB="18288">
                    <a:solidFill>
                      <a:srgbClr val="1432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96DCFF"/>
                          </a:solidFill>
                          <a:latin typeface="Consolas"/>
                        </a:rPr>
                        <a:t>C</a:t>
                      </a:r>
                    </a:p>
                  </a:txBody>
                  <a:tcPr marL="54864" marR="54864" marT="18288" marB="18288">
                    <a:solidFill>
                      <a:srgbClr val="14325C"/>
                    </a:solidFill>
                  </a:tcPr>
                </a:tc>
              </a:tr>
              <a:tr h="444398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96DCFF"/>
                          </a:solidFill>
                          <a:latin typeface="Consolas"/>
                        </a:rPr>
                        <a:t>W-07</a:t>
                      </a:r>
                    </a:p>
                  </a:txBody>
                  <a:tcPr marL="54864" marR="54864" marT="18288" marB="18288">
                    <a:solidFill>
                      <a:srgbClr val="102B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96DCFF"/>
                          </a:solidFill>
                          <a:latin typeface="Consolas"/>
                        </a:rPr>
                        <a:t>Grove</a:t>
                      </a:r>
                    </a:p>
                  </a:txBody>
                  <a:tcPr marL="54864" marR="54864" marT="18288" marB="18288">
                    <a:solidFill>
                      <a:srgbClr val="102B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96DCFF"/>
                          </a:solidFill>
                          <a:latin typeface="Consolas"/>
                        </a:rPr>
                        <a:t>Board</a:t>
                      </a:r>
                    </a:p>
                  </a:txBody>
                  <a:tcPr marL="54864" marR="54864" marT="18288" marB="18288">
                    <a:solidFill>
                      <a:srgbClr val="102B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96DCFF"/>
                          </a:solidFill>
                          <a:latin typeface="Consolas"/>
                        </a:rPr>
                        <a:t>Packed</a:t>
                      </a:r>
                    </a:p>
                  </a:txBody>
                  <a:tcPr marL="54864" marR="54864" marT="18288" marB="18288">
                    <a:solidFill>
                      <a:srgbClr val="102B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96DCFF"/>
                          </a:solidFill>
                          <a:latin typeface="Consolas"/>
                        </a:rPr>
                        <a:t>Pass</a:t>
                      </a:r>
                    </a:p>
                  </a:txBody>
                  <a:tcPr marL="54864" marR="54864" marT="18288" marB="18288">
                    <a:solidFill>
                      <a:srgbClr val="102B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96DCFF"/>
                          </a:solidFill>
                          <a:latin typeface="Consolas"/>
                        </a:rPr>
                        <a:t>I</a:t>
                      </a:r>
                    </a:p>
                  </a:txBody>
                  <a:tcPr marL="54864" marR="54864" marT="18288" marB="18288">
                    <a:solidFill>
                      <a:srgbClr val="102B50"/>
                    </a:solidFill>
                  </a:tcPr>
                </a:tc>
              </a:tr>
              <a:tr h="444398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96DCFF"/>
                          </a:solidFill>
                          <a:latin typeface="Consolas"/>
                        </a:rPr>
                        <a:t>W-08</a:t>
                      </a:r>
                    </a:p>
                  </a:txBody>
                  <a:tcPr marL="54864" marR="54864" marT="18288" marB="18288">
                    <a:solidFill>
                      <a:srgbClr val="1432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96DCFF"/>
                          </a:solidFill>
                          <a:latin typeface="Consolas"/>
                        </a:rPr>
                        <a:t>Atlas</a:t>
                      </a:r>
                    </a:p>
                  </a:txBody>
                  <a:tcPr marL="54864" marR="54864" marT="18288" marB="18288">
                    <a:solidFill>
                      <a:srgbClr val="1432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96DCFF"/>
                          </a:solidFill>
                          <a:latin typeface="Consolas"/>
                        </a:rPr>
                        <a:t>Cards</a:t>
                      </a:r>
                    </a:p>
                  </a:txBody>
                  <a:tcPr marL="54864" marR="54864" marT="18288" marB="18288">
                    <a:solidFill>
                      <a:srgbClr val="1432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96DCFF"/>
                          </a:solidFill>
                          <a:latin typeface="Consolas"/>
                        </a:rPr>
                        <a:t>High</a:t>
                      </a:r>
                    </a:p>
                  </a:txBody>
                  <a:tcPr marL="54864" marR="54864" marT="18288" marB="18288">
                    <a:solidFill>
                      <a:srgbClr val="1432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96DCFF"/>
                          </a:solidFill>
                          <a:latin typeface="Consolas"/>
                        </a:rPr>
                        <a:t>Pass</a:t>
                      </a:r>
                    </a:p>
                  </a:txBody>
                  <a:tcPr marL="54864" marR="54864" marT="18288" marB="18288">
                    <a:solidFill>
                      <a:srgbClr val="1432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96DCFF"/>
                          </a:solidFill>
                          <a:latin typeface="Consolas"/>
                        </a:rPr>
                        <a:t>A</a:t>
                      </a:r>
                    </a:p>
                  </a:txBody>
                  <a:tcPr marL="54864" marR="54864" marT="18288" marB="18288">
                    <a:solidFill>
                      <a:srgbClr val="14325C"/>
                    </a:solidFill>
                  </a:tcPr>
                </a:tc>
              </a:tr>
              <a:tr h="444402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96DCFF"/>
                          </a:solidFill>
                          <a:latin typeface="Consolas"/>
                        </a:rPr>
                        <a:t>W-09</a:t>
                      </a:r>
                    </a:p>
                  </a:txBody>
                  <a:tcPr marL="54864" marR="54864" marT="18288" marB="18288">
                    <a:solidFill>
                      <a:srgbClr val="102B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96DCFF"/>
                          </a:solidFill>
                          <a:latin typeface="Consolas"/>
                        </a:rPr>
                        <a:t>Ember</a:t>
                      </a:r>
                    </a:p>
                  </a:txBody>
                  <a:tcPr marL="54864" marR="54864" marT="18288" marB="18288">
                    <a:solidFill>
                      <a:srgbClr val="102B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96DCFF"/>
                          </a:solidFill>
                          <a:latin typeface="Consolas"/>
                        </a:rPr>
                        <a:t>Mesh</a:t>
                      </a:r>
                    </a:p>
                  </a:txBody>
                  <a:tcPr marL="54864" marR="54864" marT="18288" marB="18288">
                    <a:solidFill>
                      <a:srgbClr val="102B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96DCFF"/>
                          </a:solidFill>
                          <a:latin typeface="Consolas"/>
                        </a:rPr>
                        <a:t>Dense</a:t>
                      </a:r>
                    </a:p>
                  </a:txBody>
                  <a:tcPr marL="54864" marR="54864" marT="18288" marB="18288">
                    <a:solidFill>
                      <a:srgbClr val="102B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96DCFF"/>
                          </a:solidFill>
                          <a:latin typeface="Consolas"/>
                        </a:rPr>
                        <a:t>Watch</a:t>
                      </a:r>
                    </a:p>
                  </a:txBody>
                  <a:tcPr marL="54864" marR="54864" marT="18288" marB="18288">
                    <a:solidFill>
                      <a:srgbClr val="102B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96DCFF"/>
                          </a:solidFill>
                          <a:latin typeface="Consolas"/>
                        </a:rPr>
                        <a:t>R</a:t>
                      </a:r>
                    </a:p>
                  </a:txBody>
                  <a:tcPr marL="54864" marR="54864" marT="18288" marB="18288">
                    <a:solidFill>
                      <a:srgbClr val="102B50"/>
                    </a:solidFill>
                  </a:tcPr>
                </a:tc>
              </a:tr>
            </a:tbl>
          </a:graphicData>
        </a:graphic>
      </p:graphicFrame>
      <p:sp>
        <p:nvSpPr>
          <p:cNvPr id="40" name="flow-0"/>
          <p:cNvSpPr/>
          <p:nvPr/>
        </p:nvSpPr>
        <p:spPr>
          <a:xfrm>
            <a:off x="457200" y="5742432"/>
            <a:ext cx="1600200" cy="384048"/>
          </a:xfrm>
          <a:prstGeom prst="roundRect">
            <a:avLst/>
          </a:prstGeom>
          <a:solidFill>
            <a:srgbClr val="102B50"/>
          </a:solidFill>
          <a:ln w="10160">
            <a:solidFill>
              <a:srgbClr val="64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low-1"/>
          <p:cNvSpPr/>
          <p:nvPr/>
        </p:nvSpPr>
        <p:spPr>
          <a:xfrm>
            <a:off x="2350008" y="5742432"/>
            <a:ext cx="1600200" cy="384048"/>
          </a:xfrm>
          <a:prstGeom prst="roundRect">
            <a:avLst/>
          </a:prstGeom>
          <a:solidFill>
            <a:srgbClr val="102B50"/>
          </a:solidFill>
          <a:ln w="10160">
            <a:solidFill>
              <a:srgbClr val="96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flow-2"/>
          <p:cNvSpPr/>
          <p:nvPr/>
        </p:nvSpPr>
        <p:spPr>
          <a:xfrm>
            <a:off x="4242816" y="5742432"/>
            <a:ext cx="1600200" cy="384048"/>
          </a:xfrm>
          <a:prstGeom prst="roundRect">
            <a:avLst/>
          </a:prstGeom>
          <a:solidFill>
            <a:srgbClr val="102B50"/>
          </a:solidFill>
          <a:ln w="1016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flow-3"/>
          <p:cNvSpPr/>
          <p:nvPr/>
        </p:nvSpPr>
        <p:spPr>
          <a:xfrm>
            <a:off x="6135624" y="5742432"/>
            <a:ext cx="1600200" cy="384048"/>
          </a:xfrm>
          <a:prstGeom prst="roundRect">
            <a:avLst/>
          </a:prstGeom>
          <a:solidFill>
            <a:srgbClr val="102B50"/>
          </a:solidFill>
          <a:ln w="1016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flow-4"/>
          <p:cNvSpPr/>
          <p:nvPr/>
        </p:nvSpPr>
        <p:spPr>
          <a:xfrm>
            <a:off x="8028431" y="5742432"/>
            <a:ext cx="1600200" cy="384048"/>
          </a:xfrm>
          <a:prstGeom prst="roundRect">
            <a:avLst/>
          </a:prstGeom>
          <a:solidFill>
            <a:srgbClr val="102B50"/>
          </a:solidFill>
          <a:ln w="10160">
            <a:solidFill>
              <a:srgbClr val="64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flow-5"/>
          <p:cNvSpPr/>
          <p:nvPr/>
        </p:nvSpPr>
        <p:spPr>
          <a:xfrm>
            <a:off x="9921240" y="5742432"/>
            <a:ext cx="1600200" cy="384048"/>
          </a:xfrm>
          <a:prstGeom prst="roundRect">
            <a:avLst/>
          </a:prstGeom>
          <a:solidFill>
            <a:srgbClr val="102B50"/>
          </a:solidFill>
          <a:ln w="10160">
            <a:solidFill>
              <a:srgbClr val="64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profile-tag"/>
          <p:cNvSpPr txBox="1"/>
          <p:nvPr/>
        </p:nvSpPr>
        <p:spPr>
          <a:xfrm>
            <a:off x="457200" y="201168"/>
            <a:ext cx="768096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1" lang="en-US">
                <a:solidFill>
                  <a:srgbClr val="64C8FF"/>
                </a:solidFill>
                <a:latin typeface="Consolas"/>
              </a:rPr>
              <a:t>V3 STRESS SUITE  ·  ARCHITECTURAL BLUEPRINT  ·  OPERATING MATRIX</a:t>
            </a:r>
          </a:p>
        </p:txBody>
      </p:sp>
      <p:sp>
        <p:nvSpPr>
          <p:cNvPr id="47" name="slide-index"/>
          <p:cNvSpPr txBox="1"/>
          <p:nvPr/>
        </p:nvSpPr>
        <p:spPr>
          <a:xfrm>
            <a:off x="10808208" y="201168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00" b="1" lang="en-US">
                <a:solidFill>
                  <a:srgbClr val="64C8FF"/>
                </a:solidFill>
                <a:latin typeface="Consolas"/>
              </a:rPr>
              <a:t>48/60</a:t>
            </a:r>
          </a:p>
        </p:txBody>
      </p:sp>
      <p:sp>
        <p:nvSpPr>
          <p:cNvPr id="48" name="title"/>
          <p:cNvSpPr txBox="1"/>
          <p:nvPr/>
        </p:nvSpPr>
        <p:spPr>
          <a:xfrm>
            <a:off x="457200" y="484632"/>
            <a:ext cx="11274552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200" b="1" lang="en-US">
                <a:solidFill>
                  <a:srgbClr val="96DCFF"/>
                </a:solidFill>
                <a:latin typeface="Consolas"/>
              </a:rPr>
              <a:t>Operating matrices make quality ownership visible at a glance</a:t>
            </a:r>
          </a:p>
        </p:txBody>
      </p:sp>
      <p:sp>
        <p:nvSpPr>
          <p:cNvPr id="49" name="footer"/>
          <p:cNvSpPr txBox="1"/>
          <p:nvPr/>
        </p:nvSpPr>
        <p:spPr>
          <a:xfrm>
            <a:off x="457200" y="6473952"/>
            <a:ext cx="1051560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0" lang="en-US">
                <a:solidFill>
                  <a:srgbClr val="64C8FF"/>
                </a:solidFill>
                <a:latin typeface="Consolas"/>
              </a:rPr>
              <a:t>Native-object stress fixture · dual cyan blueprint grid, dimension lines, and a circular stamp · editable geometry and recorded style lock</a:t>
            </a:r>
          </a:p>
        </p:txBody>
      </p:sp>
      <p:sp>
        <p:nvSpPr>
          <p:cNvPr id="50" name="matrix-rail-title"/>
          <p:cNvSpPr txBox="1"/>
          <p:nvPr/>
        </p:nvSpPr>
        <p:spPr>
          <a:xfrm>
            <a:off x="9089136" y="1371600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1" lang="en-US">
                <a:solidFill>
                  <a:srgbClr val="64C8FF"/>
                </a:solidFill>
                <a:latin typeface="Consolas"/>
              </a:rPr>
              <a:t>QUALITY RADAR</a:t>
            </a:r>
          </a:p>
        </p:txBody>
      </p:sp>
      <p:sp>
        <p:nvSpPr>
          <p:cNvPr id="51" name="radar-label-0"/>
          <p:cNvSpPr txBox="1"/>
          <p:nvPr/>
        </p:nvSpPr>
        <p:spPr>
          <a:xfrm>
            <a:off x="9893808" y="1737360"/>
            <a:ext cx="768096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64C8FF"/>
                </a:solidFill>
                <a:latin typeface="Consolas"/>
              </a:rPr>
              <a:t>Bounds</a:t>
            </a:r>
          </a:p>
        </p:txBody>
      </p:sp>
      <p:sp>
        <p:nvSpPr>
          <p:cNvPr id="52" name="radar-label-1"/>
          <p:cNvSpPr txBox="1"/>
          <p:nvPr/>
        </p:nvSpPr>
        <p:spPr>
          <a:xfrm>
            <a:off x="11120932" y="2446020"/>
            <a:ext cx="768096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64C8FF"/>
                </a:solidFill>
                <a:latin typeface="Consolas"/>
              </a:rPr>
              <a:t>Fonts</a:t>
            </a:r>
          </a:p>
        </p:txBody>
      </p:sp>
      <p:sp>
        <p:nvSpPr>
          <p:cNvPr id="53" name="radar-label-2"/>
          <p:cNvSpPr txBox="1"/>
          <p:nvPr/>
        </p:nvSpPr>
        <p:spPr>
          <a:xfrm>
            <a:off x="11120932" y="3863339"/>
            <a:ext cx="768096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64C8FF"/>
                </a:solidFill>
                <a:latin typeface="Consolas"/>
              </a:rPr>
              <a:t>Tables</a:t>
            </a:r>
          </a:p>
        </p:txBody>
      </p:sp>
      <p:sp>
        <p:nvSpPr>
          <p:cNvPr id="54" name="radar-label-3"/>
          <p:cNvSpPr txBox="1"/>
          <p:nvPr/>
        </p:nvSpPr>
        <p:spPr>
          <a:xfrm>
            <a:off x="9893808" y="4572000"/>
            <a:ext cx="768096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64C8FF"/>
                </a:solidFill>
                <a:latin typeface="Consolas"/>
              </a:rPr>
              <a:t>Contrast</a:t>
            </a:r>
          </a:p>
        </p:txBody>
      </p:sp>
      <p:sp>
        <p:nvSpPr>
          <p:cNvPr id="55" name="radar-label-4"/>
          <p:cNvSpPr txBox="1"/>
          <p:nvPr/>
        </p:nvSpPr>
        <p:spPr>
          <a:xfrm>
            <a:off x="8666683" y="3863339"/>
            <a:ext cx="768096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64C8FF"/>
                </a:solidFill>
                <a:latin typeface="Consolas"/>
              </a:rPr>
              <a:t>Order</a:t>
            </a:r>
          </a:p>
        </p:txBody>
      </p:sp>
      <p:sp>
        <p:nvSpPr>
          <p:cNvPr id="56" name="radar-label-5"/>
          <p:cNvSpPr txBox="1"/>
          <p:nvPr/>
        </p:nvSpPr>
        <p:spPr>
          <a:xfrm>
            <a:off x="8666683" y="2446020"/>
            <a:ext cx="768096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64C8FF"/>
                </a:solidFill>
                <a:latin typeface="Consolas"/>
              </a:rPr>
              <a:t>Style</a:t>
            </a:r>
          </a:p>
        </p:txBody>
      </p:sp>
      <p:sp>
        <p:nvSpPr>
          <p:cNvPr id="57" name="radar-point-0"/>
          <p:cNvSpPr/>
          <p:nvPr/>
        </p:nvSpPr>
        <p:spPr>
          <a:xfrm>
            <a:off x="10204704" y="2258568"/>
            <a:ext cx="146304" cy="146304"/>
          </a:xfrm>
          <a:prstGeom prst="ellipse">
            <a:avLst/>
          </a:prstGeom>
          <a:solidFill>
            <a:srgbClr val="64B4FF"/>
          </a:solidFill>
          <a:ln w="1016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adar-point-1"/>
          <p:cNvSpPr/>
          <p:nvPr/>
        </p:nvSpPr>
        <p:spPr>
          <a:xfrm>
            <a:off x="10806379" y="2825496"/>
            <a:ext cx="146304" cy="146304"/>
          </a:xfrm>
          <a:prstGeom prst="ellipse">
            <a:avLst/>
          </a:prstGeom>
          <a:solidFill>
            <a:srgbClr val="64B4FF"/>
          </a:solidFill>
          <a:ln w="1016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adar-point-2"/>
          <p:cNvSpPr/>
          <p:nvPr/>
        </p:nvSpPr>
        <p:spPr>
          <a:xfrm>
            <a:off x="11139220" y="3712463"/>
            <a:ext cx="146304" cy="146304"/>
          </a:xfrm>
          <a:prstGeom prst="ellipse">
            <a:avLst/>
          </a:prstGeom>
          <a:solidFill>
            <a:srgbClr val="64B4FF"/>
          </a:solidFill>
          <a:ln w="1016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adar-point-3"/>
          <p:cNvSpPr/>
          <p:nvPr/>
        </p:nvSpPr>
        <p:spPr>
          <a:xfrm>
            <a:off x="10204704" y="3995928"/>
            <a:ext cx="146304" cy="146304"/>
          </a:xfrm>
          <a:prstGeom prst="ellipse">
            <a:avLst/>
          </a:prstGeom>
          <a:solidFill>
            <a:srgbClr val="64B4FF"/>
          </a:solidFill>
          <a:ln w="1016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adar-point-4"/>
          <p:cNvSpPr/>
          <p:nvPr/>
        </p:nvSpPr>
        <p:spPr>
          <a:xfrm>
            <a:off x="9317736" y="3685032"/>
            <a:ext cx="146304" cy="146304"/>
          </a:xfrm>
          <a:prstGeom prst="ellipse">
            <a:avLst/>
          </a:prstGeom>
          <a:solidFill>
            <a:srgbClr val="64B4FF"/>
          </a:solidFill>
          <a:ln w="1016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adar-point-5"/>
          <p:cNvSpPr/>
          <p:nvPr/>
        </p:nvSpPr>
        <p:spPr>
          <a:xfrm>
            <a:off x="9650577" y="2852928"/>
            <a:ext cx="146304" cy="146304"/>
          </a:xfrm>
          <a:prstGeom prst="ellipse">
            <a:avLst/>
          </a:prstGeom>
          <a:solidFill>
            <a:srgbClr val="64B4FF"/>
          </a:solidFill>
          <a:ln w="1016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matrix-note"/>
          <p:cNvSpPr txBox="1"/>
          <p:nvPr/>
        </p:nvSpPr>
        <p:spPr>
          <a:xfrm>
            <a:off x="9089136" y="4800600"/>
            <a:ext cx="2267712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00" b="0" lang="en-US">
                <a:solidFill>
                  <a:srgbClr val="64C8FF"/>
                </a:solidFill>
                <a:latin typeface="Consolas"/>
              </a:rPr>
              <a:t>Editable table and quality geometry share one governed frame.</a:t>
            </a:r>
          </a:p>
        </p:txBody>
      </p:sp>
      <p:sp>
        <p:nvSpPr>
          <p:cNvPr id="64" name="flow-label-0"/>
          <p:cNvSpPr txBox="1"/>
          <p:nvPr/>
        </p:nvSpPr>
        <p:spPr>
          <a:xfrm>
            <a:off x="566928" y="5852160"/>
            <a:ext cx="137160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50" b="1" lang="en-US">
                <a:solidFill>
                  <a:srgbClr val="64C8FF"/>
                </a:solidFill>
                <a:latin typeface="Consolas"/>
              </a:rPr>
              <a:t>Lock</a:t>
            </a:r>
          </a:p>
        </p:txBody>
      </p:sp>
      <p:sp>
        <p:nvSpPr>
          <p:cNvPr id="65" name="flow-label-1"/>
          <p:cNvSpPr txBox="1"/>
          <p:nvPr/>
        </p:nvSpPr>
        <p:spPr>
          <a:xfrm>
            <a:off x="2459736" y="5852160"/>
            <a:ext cx="137160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50" b="1" lang="en-US">
                <a:solidFill>
                  <a:srgbClr val="96DCFF"/>
                </a:solidFill>
                <a:latin typeface="Consolas"/>
              </a:rPr>
              <a:t>Compose</a:t>
            </a:r>
          </a:p>
        </p:txBody>
      </p:sp>
      <p:sp>
        <p:nvSpPr>
          <p:cNvPr id="66" name="flow-label-2"/>
          <p:cNvSpPr txBox="1"/>
          <p:nvPr/>
        </p:nvSpPr>
        <p:spPr>
          <a:xfrm>
            <a:off x="4352544" y="5852160"/>
            <a:ext cx="137160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50" b="1" lang="en-US">
                <a:solidFill>
                  <a:srgbClr val="64B4FF"/>
                </a:solidFill>
                <a:latin typeface="Consolas"/>
              </a:rPr>
              <a:t>Validate</a:t>
            </a:r>
          </a:p>
        </p:txBody>
      </p:sp>
      <p:sp>
        <p:nvSpPr>
          <p:cNvPr id="67" name="flow-label-3"/>
          <p:cNvSpPr txBox="1"/>
          <p:nvPr/>
        </p:nvSpPr>
        <p:spPr>
          <a:xfrm>
            <a:off x="6245352" y="5852160"/>
            <a:ext cx="137160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50" b="1" lang="en-US">
                <a:solidFill>
                  <a:srgbClr val="FFD166"/>
                </a:solidFill>
                <a:latin typeface="Consolas"/>
              </a:rPr>
              <a:t>Render</a:t>
            </a:r>
          </a:p>
        </p:txBody>
      </p:sp>
      <p:sp>
        <p:nvSpPr>
          <p:cNvPr id="68" name="flow-label-4"/>
          <p:cNvSpPr txBox="1"/>
          <p:nvPr/>
        </p:nvSpPr>
        <p:spPr>
          <a:xfrm>
            <a:off x="8138160" y="5852160"/>
            <a:ext cx="137160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50" b="1" lang="en-US">
                <a:solidFill>
                  <a:srgbClr val="64C8FF"/>
                </a:solidFill>
                <a:latin typeface="Consolas"/>
              </a:rPr>
              <a:t>Inspect</a:t>
            </a:r>
          </a:p>
        </p:txBody>
      </p:sp>
      <p:sp>
        <p:nvSpPr>
          <p:cNvPr id="69" name="flow-label-5"/>
          <p:cNvSpPr txBox="1"/>
          <p:nvPr/>
        </p:nvSpPr>
        <p:spPr>
          <a:xfrm>
            <a:off x="10030968" y="5852160"/>
            <a:ext cx="137160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50" b="1" lang="en-US">
                <a:solidFill>
                  <a:srgbClr val="64C8FF"/>
                </a:solidFill>
                <a:latin typeface="Consolas"/>
              </a:rPr>
              <a:t>Publish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240"/>
          </a:solidFill>
          <a:ln w="10160">
            <a:solidFill>
              <a:srgbClr val="0D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lueprint-v-1"/>
          <p:cNvSpPr/>
          <p:nvPr/>
        </p:nvSpPr>
        <p:spPr>
          <a:xfrm>
            <a:off x="914400" y="0"/>
            <a:ext cx="10972" cy="6858000"/>
          </a:xfrm>
          <a:prstGeom prst="rect">
            <a:avLst/>
          </a:prstGeom>
          <a:solidFill>
            <a:srgbClr val="2E5E8F"/>
          </a:solidFill>
          <a:ln w="10160">
            <a:solidFill>
              <a:srgbClr val="2E5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lueprint-v-2"/>
          <p:cNvSpPr/>
          <p:nvPr/>
        </p:nvSpPr>
        <p:spPr>
          <a:xfrm>
            <a:off x="1828800" y="0"/>
            <a:ext cx="10972" cy="6858000"/>
          </a:xfrm>
          <a:prstGeom prst="rect">
            <a:avLst/>
          </a:prstGeom>
          <a:solidFill>
            <a:srgbClr val="2E5E8F"/>
          </a:solidFill>
          <a:ln w="10160">
            <a:solidFill>
              <a:srgbClr val="2E5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blueprint-v-3"/>
          <p:cNvSpPr/>
          <p:nvPr/>
        </p:nvSpPr>
        <p:spPr>
          <a:xfrm>
            <a:off x="2743200" y="0"/>
            <a:ext cx="10972" cy="6858000"/>
          </a:xfrm>
          <a:prstGeom prst="rect">
            <a:avLst/>
          </a:prstGeom>
          <a:solidFill>
            <a:srgbClr val="2E5E8F"/>
          </a:solidFill>
          <a:ln w="10160">
            <a:solidFill>
              <a:srgbClr val="2E5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lueprint-v-4"/>
          <p:cNvSpPr/>
          <p:nvPr/>
        </p:nvSpPr>
        <p:spPr>
          <a:xfrm>
            <a:off x="3657600" y="0"/>
            <a:ext cx="10972" cy="6858000"/>
          </a:xfrm>
          <a:prstGeom prst="rect">
            <a:avLst/>
          </a:prstGeom>
          <a:solidFill>
            <a:srgbClr val="2E5E8F"/>
          </a:solidFill>
          <a:ln w="10160">
            <a:solidFill>
              <a:srgbClr val="2E5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blueprint-v-5"/>
          <p:cNvSpPr/>
          <p:nvPr/>
        </p:nvSpPr>
        <p:spPr>
          <a:xfrm>
            <a:off x="4572000" y="0"/>
            <a:ext cx="10972" cy="6858000"/>
          </a:xfrm>
          <a:prstGeom prst="rect">
            <a:avLst/>
          </a:prstGeom>
          <a:solidFill>
            <a:srgbClr val="2E5E8F"/>
          </a:solidFill>
          <a:ln w="10160">
            <a:solidFill>
              <a:srgbClr val="2E5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lueprint-v-6"/>
          <p:cNvSpPr/>
          <p:nvPr/>
        </p:nvSpPr>
        <p:spPr>
          <a:xfrm>
            <a:off x="5486400" y="0"/>
            <a:ext cx="10972" cy="6858000"/>
          </a:xfrm>
          <a:prstGeom prst="rect">
            <a:avLst/>
          </a:prstGeom>
          <a:solidFill>
            <a:srgbClr val="2E5E8F"/>
          </a:solidFill>
          <a:ln w="10160">
            <a:solidFill>
              <a:srgbClr val="2E5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blueprint-v-7"/>
          <p:cNvSpPr/>
          <p:nvPr/>
        </p:nvSpPr>
        <p:spPr>
          <a:xfrm>
            <a:off x="6400800" y="0"/>
            <a:ext cx="10972" cy="6858000"/>
          </a:xfrm>
          <a:prstGeom prst="rect">
            <a:avLst/>
          </a:prstGeom>
          <a:solidFill>
            <a:srgbClr val="2E5E8F"/>
          </a:solidFill>
          <a:ln w="10160">
            <a:solidFill>
              <a:srgbClr val="2E5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blueprint-v-8"/>
          <p:cNvSpPr/>
          <p:nvPr/>
        </p:nvSpPr>
        <p:spPr>
          <a:xfrm>
            <a:off x="7315200" y="0"/>
            <a:ext cx="10972" cy="6858000"/>
          </a:xfrm>
          <a:prstGeom prst="rect">
            <a:avLst/>
          </a:prstGeom>
          <a:solidFill>
            <a:srgbClr val="2E5E8F"/>
          </a:solidFill>
          <a:ln w="10160">
            <a:solidFill>
              <a:srgbClr val="2E5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blueprint-v-9"/>
          <p:cNvSpPr/>
          <p:nvPr/>
        </p:nvSpPr>
        <p:spPr>
          <a:xfrm>
            <a:off x="8229600" y="0"/>
            <a:ext cx="10972" cy="6858000"/>
          </a:xfrm>
          <a:prstGeom prst="rect">
            <a:avLst/>
          </a:prstGeom>
          <a:solidFill>
            <a:srgbClr val="2E5E8F"/>
          </a:solidFill>
          <a:ln w="10160">
            <a:solidFill>
              <a:srgbClr val="2E5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blueprint-v-10"/>
          <p:cNvSpPr/>
          <p:nvPr/>
        </p:nvSpPr>
        <p:spPr>
          <a:xfrm>
            <a:off x="9144000" y="0"/>
            <a:ext cx="10972" cy="6858000"/>
          </a:xfrm>
          <a:prstGeom prst="rect">
            <a:avLst/>
          </a:prstGeom>
          <a:solidFill>
            <a:srgbClr val="2E5E8F"/>
          </a:solidFill>
          <a:ln w="10160">
            <a:solidFill>
              <a:srgbClr val="2E5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blueprint-v-11"/>
          <p:cNvSpPr/>
          <p:nvPr/>
        </p:nvSpPr>
        <p:spPr>
          <a:xfrm>
            <a:off x="10058400" y="0"/>
            <a:ext cx="10972" cy="6858000"/>
          </a:xfrm>
          <a:prstGeom prst="rect">
            <a:avLst/>
          </a:prstGeom>
          <a:solidFill>
            <a:srgbClr val="2E5E8F"/>
          </a:solidFill>
          <a:ln w="10160">
            <a:solidFill>
              <a:srgbClr val="2E5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blueprint-v-12"/>
          <p:cNvSpPr/>
          <p:nvPr/>
        </p:nvSpPr>
        <p:spPr>
          <a:xfrm>
            <a:off x="10972800" y="0"/>
            <a:ext cx="10972" cy="6858000"/>
          </a:xfrm>
          <a:prstGeom prst="rect">
            <a:avLst/>
          </a:prstGeom>
          <a:solidFill>
            <a:srgbClr val="2E5E8F"/>
          </a:solidFill>
          <a:ln w="10160">
            <a:solidFill>
              <a:srgbClr val="2E5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blueprint-h-1"/>
          <p:cNvSpPr/>
          <p:nvPr/>
        </p:nvSpPr>
        <p:spPr>
          <a:xfrm>
            <a:off x="0" y="914400"/>
            <a:ext cx="12191695" cy="10972"/>
          </a:xfrm>
          <a:prstGeom prst="rect">
            <a:avLst/>
          </a:prstGeom>
          <a:solidFill>
            <a:srgbClr val="2E5E8F"/>
          </a:solidFill>
          <a:ln w="10160">
            <a:solidFill>
              <a:srgbClr val="2E5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blueprint-h-2"/>
          <p:cNvSpPr/>
          <p:nvPr/>
        </p:nvSpPr>
        <p:spPr>
          <a:xfrm>
            <a:off x="0" y="1828800"/>
            <a:ext cx="12191695" cy="10972"/>
          </a:xfrm>
          <a:prstGeom prst="rect">
            <a:avLst/>
          </a:prstGeom>
          <a:solidFill>
            <a:srgbClr val="2E5E8F"/>
          </a:solidFill>
          <a:ln w="10160">
            <a:solidFill>
              <a:srgbClr val="2E5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blueprint-h-3"/>
          <p:cNvSpPr/>
          <p:nvPr/>
        </p:nvSpPr>
        <p:spPr>
          <a:xfrm>
            <a:off x="0" y="2743200"/>
            <a:ext cx="12191695" cy="10972"/>
          </a:xfrm>
          <a:prstGeom prst="rect">
            <a:avLst/>
          </a:prstGeom>
          <a:solidFill>
            <a:srgbClr val="2E5E8F"/>
          </a:solidFill>
          <a:ln w="10160">
            <a:solidFill>
              <a:srgbClr val="2E5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lueprint-h-4"/>
          <p:cNvSpPr/>
          <p:nvPr/>
        </p:nvSpPr>
        <p:spPr>
          <a:xfrm>
            <a:off x="0" y="3657600"/>
            <a:ext cx="12191695" cy="10972"/>
          </a:xfrm>
          <a:prstGeom prst="rect">
            <a:avLst/>
          </a:prstGeom>
          <a:solidFill>
            <a:srgbClr val="2E5E8F"/>
          </a:solidFill>
          <a:ln w="10160">
            <a:solidFill>
              <a:srgbClr val="2E5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blueprint-h-5"/>
          <p:cNvSpPr/>
          <p:nvPr/>
        </p:nvSpPr>
        <p:spPr>
          <a:xfrm>
            <a:off x="0" y="4572000"/>
            <a:ext cx="12191695" cy="10972"/>
          </a:xfrm>
          <a:prstGeom prst="rect">
            <a:avLst/>
          </a:prstGeom>
          <a:solidFill>
            <a:srgbClr val="2E5E8F"/>
          </a:solidFill>
          <a:ln w="10160">
            <a:solidFill>
              <a:srgbClr val="2E5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blueprint-h-6"/>
          <p:cNvSpPr/>
          <p:nvPr/>
        </p:nvSpPr>
        <p:spPr>
          <a:xfrm>
            <a:off x="0" y="5486400"/>
            <a:ext cx="12191695" cy="10972"/>
          </a:xfrm>
          <a:prstGeom prst="rect">
            <a:avLst/>
          </a:prstGeom>
          <a:solidFill>
            <a:srgbClr val="2E5E8F"/>
          </a:solidFill>
          <a:ln w="10160">
            <a:solidFill>
              <a:srgbClr val="2E5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blueprint-h-7"/>
          <p:cNvSpPr/>
          <p:nvPr/>
        </p:nvSpPr>
        <p:spPr>
          <a:xfrm>
            <a:off x="0" y="6400800"/>
            <a:ext cx="12191695" cy="10972"/>
          </a:xfrm>
          <a:prstGeom prst="rect">
            <a:avLst/>
          </a:prstGeom>
          <a:solidFill>
            <a:srgbClr val="2E5E8F"/>
          </a:solidFill>
          <a:ln w="10160">
            <a:solidFill>
              <a:srgbClr val="2E5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op-band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64C8FF"/>
          </a:solidFill>
          <a:ln w="10160">
            <a:solidFill>
              <a:srgbClr val="64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portfolio-0-shell"/>
          <p:cNvSpPr/>
          <p:nvPr/>
        </p:nvSpPr>
        <p:spPr>
          <a:xfrm>
            <a:off x="457200" y="1097280"/>
            <a:ext cx="2395728" cy="2057400"/>
          </a:xfrm>
          <a:prstGeom prst="rect">
            <a:avLst/>
          </a:prstGeom>
          <a:solidFill>
            <a:srgbClr val="102B50"/>
          </a:solidFill>
          <a:ln w="10160">
            <a:solidFill>
              <a:srgbClr val="2E5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portfolio-1-shell"/>
          <p:cNvSpPr/>
          <p:nvPr/>
        </p:nvSpPr>
        <p:spPr>
          <a:xfrm>
            <a:off x="3054096" y="1097280"/>
            <a:ext cx="2395728" cy="2057400"/>
          </a:xfrm>
          <a:prstGeom prst="rect">
            <a:avLst/>
          </a:prstGeom>
          <a:solidFill>
            <a:srgbClr val="102B50"/>
          </a:solidFill>
          <a:ln w="10160">
            <a:solidFill>
              <a:srgbClr val="2E5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portfolio-2-shell"/>
          <p:cNvSpPr/>
          <p:nvPr/>
        </p:nvSpPr>
        <p:spPr>
          <a:xfrm>
            <a:off x="5650992" y="1097280"/>
            <a:ext cx="2395728" cy="2057400"/>
          </a:xfrm>
          <a:prstGeom prst="rect">
            <a:avLst/>
          </a:prstGeom>
          <a:solidFill>
            <a:srgbClr val="102B50"/>
          </a:solidFill>
          <a:ln w="10160">
            <a:solidFill>
              <a:srgbClr val="2E5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portfolio-3-shell"/>
          <p:cNvSpPr/>
          <p:nvPr/>
        </p:nvSpPr>
        <p:spPr>
          <a:xfrm>
            <a:off x="457200" y="3429000"/>
            <a:ext cx="2395728" cy="2057400"/>
          </a:xfrm>
          <a:prstGeom prst="rect">
            <a:avLst/>
          </a:prstGeom>
          <a:solidFill>
            <a:srgbClr val="102B50"/>
          </a:solidFill>
          <a:ln w="10160">
            <a:solidFill>
              <a:srgbClr val="2E5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portfolio-4-shell"/>
          <p:cNvSpPr/>
          <p:nvPr/>
        </p:nvSpPr>
        <p:spPr>
          <a:xfrm>
            <a:off x="3054096" y="3429000"/>
            <a:ext cx="2395728" cy="2057400"/>
          </a:xfrm>
          <a:prstGeom prst="rect">
            <a:avLst/>
          </a:prstGeom>
          <a:solidFill>
            <a:srgbClr val="102B50"/>
          </a:solidFill>
          <a:ln w="10160">
            <a:solidFill>
              <a:srgbClr val="2E5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portfolio-5-shell"/>
          <p:cNvSpPr/>
          <p:nvPr/>
        </p:nvSpPr>
        <p:spPr>
          <a:xfrm>
            <a:off x="5650992" y="3429000"/>
            <a:ext cx="2395728" cy="2057400"/>
          </a:xfrm>
          <a:prstGeom prst="rect">
            <a:avLst/>
          </a:prstGeom>
          <a:solidFill>
            <a:srgbClr val="102B50"/>
          </a:solidFill>
          <a:ln w="10160">
            <a:solidFill>
              <a:srgbClr val="2E5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portfolio-rail-shell"/>
          <p:cNvSpPr/>
          <p:nvPr/>
        </p:nvSpPr>
        <p:spPr>
          <a:xfrm>
            <a:off x="8458200" y="1097280"/>
            <a:ext cx="3273552" cy="4892040"/>
          </a:xfrm>
          <a:prstGeom prst="rect">
            <a:avLst/>
          </a:prstGeom>
          <a:solidFill>
            <a:srgbClr val="14325C"/>
          </a:solidFill>
          <a:ln w="10160">
            <a:solidFill>
              <a:srgbClr val="2E5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portfolio-0-accent"/>
          <p:cNvSpPr/>
          <p:nvPr/>
        </p:nvSpPr>
        <p:spPr>
          <a:xfrm>
            <a:off x="457200" y="1097280"/>
            <a:ext cx="73152" cy="2057400"/>
          </a:xfrm>
          <a:prstGeom prst="rect">
            <a:avLst/>
          </a:prstGeom>
          <a:solidFill>
            <a:srgbClr val="64C8FF"/>
          </a:solidFill>
          <a:ln w="10160">
            <a:solidFill>
              <a:srgbClr val="64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portfolio-1-accent"/>
          <p:cNvSpPr/>
          <p:nvPr/>
        </p:nvSpPr>
        <p:spPr>
          <a:xfrm>
            <a:off x="3054096" y="1097280"/>
            <a:ext cx="73152" cy="2057400"/>
          </a:xfrm>
          <a:prstGeom prst="rect">
            <a:avLst/>
          </a:prstGeom>
          <a:solidFill>
            <a:srgbClr val="64C8FF"/>
          </a:solidFill>
          <a:ln w="10160">
            <a:solidFill>
              <a:srgbClr val="64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portfolio-2-accent"/>
          <p:cNvSpPr/>
          <p:nvPr/>
        </p:nvSpPr>
        <p:spPr>
          <a:xfrm>
            <a:off x="5650992" y="1097280"/>
            <a:ext cx="73152" cy="2057400"/>
          </a:xfrm>
          <a:prstGeom prst="rect">
            <a:avLst/>
          </a:prstGeom>
          <a:solidFill>
            <a:srgbClr val="64C8FF"/>
          </a:solidFill>
          <a:ln w="10160">
            <a:solidFill>
              <a:srgbClr val="64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portfolio-3-accent"/>
          <p:cNvSpPr/>
          <p:nvPr/>
        </p:nvSpPr>
        <p:spPr>
          <a:xfrm>
            <a:off x="457200" y="3429000"/>
            <a:ext cx="73152" cy="2057400"/>
          </a:xfrm>
          <a:prstGeom prst="rect">
            <a:avLst/>
          </a:prstGeom>
          <a:solidFill>
            <a:srgbClr val="64C8FF"/>
          </a:solidFill>
          <a:ln w="10160">
            <a:solidFill>
              <a:srgbClr val="64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portfolio-4-accent"/>
          <p:cNvSpPr/>
          <p:nvPr/>
        </p:nvSpPr>
        <p:spPr>
          <a:xfrm>
            <a:off x="3054096" y="3429000"/>
            <a:ext cx="73152" cy="2057400"/>
          </a:xfrm>
          <a:prstGeom prst="rect">
            <a:avLst/>
          </a:prstGeom>
          <a:solidFill>
            <a:srgbClr val="64C8FF"/>
          </a:solidFill>
          <a:ln w="10160">
            <a:solidFill>
              <a:srgbClr val="64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portfolio-5-accent"/>
          <p:cNvSpPr/>
          <p:nvPr/>
        </p:nvSpPr>
        <p:spPr>
          <a:xfrm>
            <a:off x="5650992" y="3429000"/>
            <a:ext cx="73152" cy="2057400"/>
          </a:xfrm>
          <a:prstGeom prst="rect">
            <a:avLst/>
          </a:prstGeom>
          <a:solidFill>
            <a:srgbClr val="64C8FF"/>
          </a:solidFill>
          <a:ln w="10160">
            <a:solidFill>
              <a:srgbClr val="64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portfolio-rail-accent"/>
          <p:cNvSpPr/>
          <p:nvPr/>
        </p:nvSpPr>
        <p:spPr>
          <a:xfrm>
            <a:off x="8458200" y="1097280"/>
            <a:ext cx="73152" cy="4892040"/>
          </a:xfrm>
          <a:prstGeom prst="rect">
            <a:avLst/>
          </a:prstGeom>
          <a:solidFill>
            <a:srgbClr val="64C8FF"/>
          </a:solidFill>
          <a:ln w="10160">
            <a:solidFill>
              <a:srgbClr val="64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portfolio-micro-0-0"/>
          <p:cNvSpPr/>
          <p:nvPr/>
        </p:nvSpPr>
        <p:spPr>
          <a:xfrm>
            <a:off x="676656" y="2139696"/>
            <a:ext cx="859536" cy="256032"/>
          </a:xfrm>
          <a:prstGeom prst="roundRect">
            <a:avLst/>
          </a:prstGeom>
          <a:solidFill>
            <a:srgbClr val="14325C"/>
          </a:solidFill>
          <a:ln w="10160">
            <a:solidFill>
              <a:srgbClr val="64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portfolio-micro-0-1"/>
          <p:cNvSpPr/>
          <p:nvPr/>
        </p:nvSpPr>
        <p:spPr>
          <a:xfrm>
            <a:off x="1664208" y="2139696"/>
            <a:ext cx="859536" cy="256032"/>
          </a:xfrm>
          <a:prstGeom prst="roundRect">
            <a:avLst/>
          </a:prstGeom>
          <a:solidFill>
            <a:srgbClr val="14325C"/>
          </a:solidFill>
          <a:ln w="10160">
            <a:solidFill>
              <a:srgbClr val="64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portfolio-micro-0-2"/>
          <p:cNvSpPr/>
          <p:nvPr/>
        </p:nvSpPr>
        <p:spPr>
          <a:xfrm>
            <a:off x="676656" y="2523744"/>
            <a:ext cx="859536" cy="256032"/>
          </a:xfrm>
          <a:prstGeom prst="roundRect">
            <a:avLst/>
          </a:prstGeom>
          <a:solidFill>
            <a:srgbClr val="14325C"/>
          </a:solidFill>
          <a:ln w="10160">
            <a:solidFill>
              <a:srgbClr val="64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portfolio-micro-0-3"/>
          <p:cNvSpPr/>
          <p:nvPr/>
        </p:nvSpPr>
        <p:spPr>
          <a:xfrm>
            <a:off x="1664208" y="2523744"/>
            <a:ext cx="859536" cy="256032"/>
          </a:xfrm>
          <a:prstGeom prst="roundRect">
            <a:avLst/>
          </a:prstGeom>
          <a:solidFill>
            <a:srgbClr val="14325C"/>
          </a:solidFill>
          <a:ln w="10160">
            <a:solidFill>
              <a:srgbClr val="64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portfolio-micro-1-0"/>
          <p:cNvSpPr/>
          <p:nvPr/>
        </p:nvSpPr>
        <p:spPr>
          <a:xfrm>
            <a:off x="3273552" y="2139696"/>
            <a:ext cx="859536" cy="256032"/>
          </a:xfrm>
          <a:prstGeom prst="roundRect">
            <a:avLst/>
          </a:prstGeom>
          <a:solidFill>
            <a:srgbClr val="14325C"/>
          </a:solidFill>
          <a:ln w="10160">
            <a:solidFill>
              <a:srgbClr val="96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portfolio-micro-1-1"/>
          <p:cNvSpPr/>
          <p:nvPr/>
        </p:nvSpPr>
        <p:spPr>
          <a:xfrm>
            <a:off x="4261104" y="2139696"/>
            <a:ext cx="859536" cy="256032"/>
          </a:xfrm>
          <a:prstGeom prst="roundRect">
            <a:avLst/>
          </a:prstGeom>
          <a:solidFill>
            <a:srgbClr val="14325C"/>
          </a:solidFill>
          <a:ln w="10160">
            <a:solidFill>
              <a:srgbClr val="96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portfolio-micro-1-2"/>
          <p:cNvSpPr/>
          <p:nvPr/>
        </p:nvSpPr>
        <p:spPr>
          <a:xfrm>
            <a:off x="3273552" y="2523744"/>
            <a:ext cx="859536" cy="256032"/>
          </a:xfrm>
          <a:prstGeom prst="roundRect">
            <a:avLst/>
          </a:prstGeom>
          <a:solidFill>
            <a:srgbClr val="14325C"/>
          </a:solidFill>
          <a:ln w="10160">
            <a:solidFill>
              <a:srgbClr val="96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portfolio-micro-1-3"/>
          <p:cNvSpPr/>
          <p:nvPr/>
        </p:nvSpPr>
        <p:spPr>
          <a:xfrm>
            <a:off x="4261104" y="2523744"/>
            <a:ext cx="859536" cy="256032"/>
          </a:xfrm>
          <a:prstGeom prst="roundRect">
            <a:avLst/>
          </a:prstGeom>
          <a:solidFill>
            <a:srgbClr val="14325C"/>
          </a:solidFill>
          <a:ln w="10160">
            <a:solidFill>
              <a:srgbClr val="96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portfolio-micro-2-0"/>
          <p:cNvSpPr/>
          <p:nvPr/>
        </p:nvSpPr>
        <p:spPr>
          <a:xfrm>
            <a:off x="5870448" y="2139696"/>
            <a:ext cx="859536" cy="256032"/>
          </a:xfrm>
          <a:prstGeom prst="roundRect">
            <a:avLst/>
          </a:prstGeom>
          <a:solidFill>
            <a:srgbClr val="14325C"/>
          </a:solidFill>
          <a:ln w="1016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portfolio-micro-2-1"/>
          <p:cNvSpPr/>
          <p:nvPr/>
        </p:nvSpPr>
        <p:spPr>
          <a:xfrm>
            <a:off x="6858000" y="2139696"/>
            <a:ext cx="859536" cy="256032"/>
          </a:xfrm>
          <a:prstGeom prst="roundRect">
            <a:avLst/>
          </a:prstGeom>
          <a:solidFill>
            <a:srgbClr val="14325C"/>
          </a:solidFill>
          <a:ln w="1016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portfolio-micro-2-2"/>
          <p:cNvSpPr/>
          <p:nvPr/>
        </p:nvSpPr>
        <p:spPr>
          <a:xfrm>
            <a:off x="5870448" y="2523744"/>
            <a:ext cx="859536" cy="256032"/>
          </a:xfrm>
          <a:prstGeom prst="roundRect">
            <a:avLst/>
          </a:prstGeom>
          <a:solidFill>
            <a:srgbClr val="14325C"/>
          </a:solidFill>
          <a:ln w="1016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portfolio-micro-2-3"/>
          <p:cNvSpPr/>
          <p:nvPr/>
        </p:nvSpPr>
        <p:spPr>
          <a:xfrm>
            <a:off x="6858000" y="2523744"/>
            <a:ext cx="859536" cy="256032"/>
          </a:xfrm>
          <a:prstGeom prst="roundRect">
            <a:avLst/>
          </a:prstGeom>
          <a:solidFill>
            <a:srgbClr val="14325C"/>
          </a:solidFill>
          <a:ln w="1016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portfolio-micro-3-0"/>
          <p:cNvSpPr/>
          <p:nvPr/>
        </p:nvSpPr>
        <p:spPr>
          <a:xfrm>
            <a:off x="676656" y="4471416"/>
            <a:ext cx="859536" cy="256032"/>
          </a:xfrm>
          <a:prstGeom prst="roundRect">
            <a:avLst/>
          </a:prstGeom>
          <a:solidFill>
            <a:srgbClr val="14325C"/>
          </a:solidFill>
          <a:ln w="10160">
            <a:solidFill>
              <a:srgbClr val="64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portfolio-micro-3-1"/>
          <p:cNvSpPr/>
          <p:nvPr/>
        </p:nvSpPr>
        <p:spPr>
          <a:xfrm>
            <a:off x="1664208" y="4471416"/>
            <a:ext cx="859536" cy="256032"/>
          </a:xfrm>
          <a:prstGeom prst="roundRect">
            <a:avLst/>
          </a:prstGeom>
          <a:solidFill>
            <a:srgbClr val="14325C"/>
          </a:solidFill>
          <a:ln w="10160">
            <a:solidFill>
              <a:srgbClr val="64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portfolio-micro-3-2"/>
          <p:cNvSpPr/>
          <p:nvPr/>
        </p:nvSpPr>
        <p:spPr>
          <a:xfrm>
            <a:off x="676656" y="4855464"/>
            <a:ext cx="859536" cy="256032"/>
          </a:xfrm>
          <a:prstGeom prst="roundRect">
            <a:avLst/>
          </a:prstGeom>
          <a:solidFill>
            <a:srgbClr val="14325C"/>
          </a:solidFill>
          <a:ln w="10160">
            <a:solidFill>
              <a:srgbClr val="64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portfolio-micro-3-3"/>
          <p:cNvSpPr/>
          <p:nvPr/>
        </p:nvSpPr>
        <p:spPr>
          <a:xfrm>
            <a:off x="1664208" y="4855464"/>
            <a:ext cx="859536" cy="256032"/>
          </a:xfrm>
          <a:prstGeom prst="roundRect">
            <a:avLst/>
          </a:prstGeom>
          <a:solidFill>
            <a:srgbClr val="14325C"/>
          </a:solidFill>
          <a:ln w="10160">
            <a:solidFill>
              <a:srgbClr val="64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portfolio-micro-4-0"/>
          <p:cNvSpPr/>
          <p:nvPr/>
        </p:nvSpPr>
        <p:spPr>
          <a:xfrm>
            <a:off x="3273552" y="4471416"/>
            <a:ext cx="859536" cy="256032"/>
          </a:xfrm>
          <a:prstGeom prst="roundRect">
            <a:avLst/>
          </a:prstGeom>
          <a:solidFill>
            <a:srgbClr val="14325C"/>
          </a:solidFill>
          <a:ln w="1016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portfolio-micro-4-1"/>
          <p:cNvSpPr/>
          <p:nvPr/>
        </p:nvSpPr>
        <p:spPr>
          <a:xfrm>
            <a:off x="4261104" y="4471416"/>
            <a:ext cx="859536" cy="256032"/>
          </a:xfrm>
          <a:prstGeom prst="roundRect">
            <a:avLst/>
          </a:prstGeom>
          <a:solidFill>
            <a:srgbClr val="14325C"/>
          </a:solidFill>
          <a:ln w="1016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portfolio-micro-4-2"/>
          <p:cNvSpPr/>
          <p:nvPr/>
        </p:nvSpPr>
        <p:spPr>
          <a:xfrm>
            <a:off x="3273552" y="4855464"/>
            <a:ext cx="859536" cy="256032"/>
          </a:xfrm>
          <a:prstGeom prst="roundRect">
            <a:avLst/>
          </a:prstGeom>
          <a:solidFill>
            <a:srgbClr val="14325C"/>
          </a:solidFill>
          <a:ln w="1016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portfolio-micro-4-3"/>
          <p:cNvSpPr/>
          <p:nvPr/>
        </p:nvSpPr>
        <p:spPr>
          <a:xfrm>
            <a:off x="4261104" y="4855464"/>
            <a:ext cx="859536" cy="256032"/>
          </a:xfrm>
          <a:prstGeom prst="roundRect">
            <a:avLst/>
          </a:prstGeom>
          <a:solidFill>
            <a:srgbClr val="14325C"/>
          </a:solidFill>
          <a:ln w="1016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portfolio-micro-5-0"/>
          <p:cNvSpPr/>
          <p:nvPr/>
        </p:nvSpPr>
        <p:spPr>
          <a:xfrm>
            <a:off x="5870448" y="4471416"/>
            <a:ext cx="859536" cy="256032"/>
          </a:xfrm>
          <a:prstGeom prst="roundRect">
            <a:avLst/>
          </a:prstGeom>
          <a:solidFill>
            <a:srgbClr val="14325C"/>
          </a:solidFill>
          <a:ln w="10160">
            <a:solidFill>
              <a:srgbClr val="FF7B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portfolio-micro-5-1"/>
          <p:cNvSpPr/>
          <p:nvPr/>
        </p:nvSpPr>
        <p:spPr>
          <a:xfrm>
            <a:off x="6858000" y="4471416"/>
            <a:ext cx="859536" cy="256032"/>
          </a:xfrm>
          <a:prstGeom prst="roundRect">
            <a:avLst/>
          </a:prstGeom>
          <a:solidFill>
            <a:srgbClr val="14325C"/>
          </a:solidFill>
          <a:ln w="10160">
            <a:solidFill>
              <a:srgbClr val="FF7B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portfolio-micro-5-2"/>
          <p:cNvSpPr/>
          <p:nvPr/>
        </p:nvSpPr>
        <p:spPr>
          <a:xfrm>
            <a:off x="5870448" y="4855464"/>
            <a:ext cx="859536" cy="256032"/>
          </a:xfrm>
          <a:prstGeom prst="roundRect">
            <a:avLst/>
          </a:prstGeom>
          <a:solidFill>
            <a:srgbClr val="14325C"/>
          </a:solidFill>
          <a:ln w="10160">
            <a:solidFill>
              <a:srgbClr val="FF7B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portfolio-micro-5-3"/>
          <p:cNvSpPr/>
          <p:nvPr/>
        </p:nvSpPr>
        <p:spPr>
          <a:xfrm>
            <a:off x="6858000" y="4855464"/>
            <a:ext cx="859536" cy="256032"/>
          </a:xfrm>
          <a:prstGeom prst="roundRect">
            <a:avLst/>
          </a:prstGeom>
          <a:solidFill>
            <a:srgbClr val="14325C"/>
          </a:solidFill>
          <a:ln w="10160">
            <a:solidFill>
              <a:srgbClr val="FF7B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lease-cell-0"/>
          <p:cNvSpPr/>
          <p:nvPr/>
        </p:nvSpPr>
        <p:spPr>
          <a:xfrm>
            <a:off x="8723376" y="1737360"/>
            <a:ext cx="2697480" cy="512064"/>
          </a:xfrm>
          <a:prstGeom prst="roundRect">
            <a:avLst/>
          </a:prstGeom>
          <a:solidFill>
            <a:srgbClr val="102B50"/>
          </a:solidFill>
          <a:ln w="10160">
            <a:solidFill>
              <a:srgbClr val="2E5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lease-cell-1"/>
          <p:cNvSpPr/>
          <p:nvPr/>
        </p:nvSpPr>
        <p:spPr>
          <a:xfrm>
            <a:off x="8723376" y="2432304"/>
            <a:ext cx="2697480" cy="512064"/>
          </a:xfrm>
          <a:prstGeom prst="roundRect">
            <a:avLst/>
          </a:prstGeom>
          <a:solidFill>
            <a:srgbClr val="102B50"/>
          </a:solidFill>
          <a:ln w="10160">
            <a:solidFill>
              <a:srgbClr val="2E5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lease-cell-2"/>
          <p:cNvSpPr/>
          <p:nvPr/>
        </p:nvSpPr>
        <p:spPr>
          <a:xfrm>
            <a:off x="8723376" y="3127248"/>
            <a:ext cx="2697480" cy="512064"/>
          </a:xfrm>
          <a:prstGeom prst="roundRect">
            <a:avLst/>
          </a:prstGeom>
          <a:solidFill>
            <a:srgbClr val="102B50"/>
          </a:solidFill>
          <a:ln w="10160">
            <a:solidFill>
              <a:srgbClr val="2E5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lease-cell-3"/>
          <p:cNvSpPr/>
          <p:nvPr/>
        </p:nvSpPr>
        <p:spPr>
          <a:xfrm>
            <a:off x="8723376" y="3822191"/>
            <a:ext cx="2697480" cy="512064"/>
          </a:xfrm>
          <a:prstGeom prst="roundRect">
            <a:avLst/>
          </a:prstGeom>
          <a:solidFill>
            <a:srgbClr val="102B50"/>
          </a:solidFill>
          <a:ln w="10160">
            <a:solidFill>
              <a:srgbClr val="2E5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lease-cell-4"/>
          <p:cNvSpPr/>
          <p:nvPr/>
        </p:nvSpPr>
        <p:spPr>
          <a:xfrm>
            <a:off x="8723376" y="4517136"/>
            <a:ext cx="2697480" cy="512064"/>
          </a:xfrm>
          <a:prstGeom prst="roundRect">
            <a:avLst/>
          </a:prstGeom>
          <a:solidFill>
            <a:srgbClr val="102B50"/>
          </a:solidFill>
          <a:ln w="10160">
            <a:solidFill>
              <a:srgbClr val="2E5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portfolio-banner"/>
          <p:cNvSpPr/>
          <p:nvPr/>
        </p:nvSpPr>
        <p:spPr>
          <a:xfrm>
            <a:off x="457200" y="5559552"/>
            <a:ext cx="7882127" cy="438912"/>
          </a:xfrm>
          <a:prstGeom prst="roundRect">
            <a:avLst/>
          </a:prstGeom>
          <a:solidFill>
            <a:srgbClr val="64C8FF"/>
          </a:solidFill>
          <a:ln w="10160">
            <a:solidFill>
              <a:srgbClr val="64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profile-tag"/>
          <p:cNvSpPr txBox="1"/>
          <p:nvPr/>
        </p:nvSpPr>
        <p:spPr>
          <a:xfrm>
            <a:off x="457200" y="201168"/>
            <a:ext cx="768096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1" lang="en-US">
                <a:solidFill>
                  <a:srgbClr val="64C8FF"/>
                </a:solidFill>
                <a:latin typeface="Consolas"/>
              </a:rPr>
              <a:t>V3 STRESS SUITE  ·  ARCHITECTURAL BLUEPRINT  ·  PORTFOLIO GRID</a:t>
            </a:r>
          </a:p>
        </p:txBody>
      </p:sp>
      <p:sp>
        <p:nvSpPr>
          <p:cNvPr id="68" name="slide-index"/>
          <p:cNvSpPr txBox="1"/>
          <p:nvPr/>
        </p:nvSpPr>
        <p:spPr>
          <a:xfrm>
            <a:off x="10808208" y="201168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00" b="1" lang="en-US">
                <a:solidFill>
                  <a:srgbClr val="64C8FF"/>
                </a:solidFill>
                <a:latin typeface="Consolas"/>
              </a:rPr>
              <a:t>49/60</a:t>
            </a:r>
          </a:p>
        </p:txBody>
      </p:sp>
      <p:sp>
        <p:nvSpPr>
          <p:cNvPr id="69" name="title"/>
          <p:cNvSpPr txBox="1"/>
          <p:nvPr/>
        </p:nvSpPr>
        <p:spPr>
          <a:xfrm>
            <a:off x="457200" y="484632"/>
            <a:ext cx="11274552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200" b="1" lang="en-US">
                <a:solidFill>
                  <a:srgbClr val="96DCFF"/>
                </a:solidFill>
                <a:latin typeface="Consolas"/>
              </a:rPr>
              <a:t>Portfolio grids compress six validated capability views into one scan</a:t>
            </a:r>
          </a:p>
        </p:txBody>
      </p:sp>
      <p:sp>
        <p:nvSpPr>
          <p:cNvPr id="70" name="footer"/>
          <p:cNvSpPr txBox="1"/>
          <p:nvPr/>
        </p:nvSpPr>
        <p:spPr>
          <a:xfrm>
            <a:off x="457200" y="6473952"/>
            <a:ext cx="1051560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0" lang="en-US">
                <a:solidFill>
                  <a:srgbClr val="64C8FF"/>
                </a:solidFill>
                <a:latin typeface="Consolas"/>
              </a:rPr>
              <a:t>Native-object stress fixture · dual cyan blueprint grid, dimension lines, and a circular stamp · editable geometry and recorded style lock</a:t>
            </a:r>
          </a:p>
        </p:txBody>
      </p:sp>
      <p:sp>
        <p:nvSpPr>
          <p:cNvPr id="71" name="portfolio-num-0"/>
          <p:cNvSpPr txBox="1"/>
          <p:nvPr/>
        </p:nvSpPr>
        <p:spPr>
          <a:xfrm>
            <a:off x="676656" y="1298448"/>
            <a:ext cx="566928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1" lang="en-US">
                <a:solidFill>
                  <a:srgbClr val="64C8FF"/>
                </a:solidFill>
                <a:latin typeface="Consolas"/>
              </a:rPr>
              <a:t>01</a:t>
            </a:r>
          </a:p>
        </p:txBody>
      </p:sp>
      <p:sp>
        <p:nvSpPr>
          <p:cNvPr id="72" name="portfolio-name-0"/>
          <p:cNvSpPr txBox="1"/>
          <p:nvPr/>
        </p:nvSpPr>
        <p:spPr>
          <a:xfrm>
            <a:off x="676656" y="1719072"/>
            <a:ext cx="192024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50" b="1" lang="en-US">
                <a:solidFill>
                  <a:srgbClr val="96DCFF"/>
                </a:solidFill>
                <a:latin typeface="Consolas"/>
              </a:rPr>
              <a:t>Profile lock</a:t>
            </a:r>
          </a:p>
        </p:txBody>
      </p:sp>
      <p:sp>
        <p:nvSpPr>
          <p:cNvPr id="73" name="portfolio-micro-label-0-0"/>
          <p:cNvSpPr txBox="1"/>
          <p:nvPr/>
        </p:nvSpPr>
        <p:spPr>
          <a:xfrm>
            <a:off x="722376" y="2208276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64C8FF"/>
                </a:solidFill>
                <a:latin typeface="Consolas"/>
              </a:rPr>
              <a:t>spec</a:t>
            </a:r>
          </a:p>
        </p:txBody>
      </p:sp>
      <p:sp>
        <p:nvSpPr>
          <p:cNvPr id="74" name="portfolio-micro-label-0-1"/>
          <p:cNvSpPr txBox="1"/>
          <p:nvPr/>
        </p:nvSpPr>
        <p:spPr>
          <a:xfrm>
            <a:off x="1709928" y="2208276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64C8FF"/>
                </a:solidFill>
                <a:latin typeface="Consolas"/>
              </a:rPr>
              <a:t>audit</a:t>
            </a:r>
          </a:p>
        </p:txBody>
      </p:sp>
      <p:sp>
        <p:nvSpPr>
          <p:cNvPr id="75" name="portfolio-micro-label-0-2"/>
          <p:cNvSpPr txBox="1"/>
          <p:nvPr/>
        </p:nvSpPr>
        <p:spPr>
          <a:xfrm>
            <a:off x="722376" y="2592324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64C8FF"/>
                </a:solidFill>
                <a:latin typeface="Consolas"/>
              </a:rPr>
              <a:t>trace</a:t>
            </a:r>
          </a:p>
        </p:txBody>
      </p:sp>
      <p:sp>
        <p:nvSpPr>
          <p:cNvPr id="76" name="portfolio-micro-label-0-3"/>
          <p:cNvSpPr txBox="1"/>
          <p:nvPr/>
        </p:nvSpPr>
        <p:spPr>
          <a:xfrm>
            <a:off x="1709928" y="2592324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64C8FF"/>
                </a:solidFill>
                <a:latin typeface="Consolas"/>
              </a:rPr>
              <a:t>pass</a:t>
            </a:r>
          </a:p>
        </p:txBody>
      </p:sp>
      <p:sp>
        <p:nvSpPr>
          <p:cNvPr id="77" name="portfolio-num-1"/>
          <p:cNvSpPr txBox="1"/>
          <p:nvPr/>
        </p:nvSpPr>
        <p:spPr>
          <a:xfrm>
            <a:off x="3273552" y="1298448"/>
            <a:ext cx="566928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1" lang="en-US">
                <a:solidFill>
                  <a:srgbClr val="96DCFF"/>
                </a:solidFill>
                <a:latin typeface="Consolas"/>
              </a:rPr>
              <a:t>02</a:t>
            </a:r>
          </a:p>
        </p:txBody>
      </p:sp>
      <p:sp>
        <p:nvSpPr>
          <p:cNvPr id="78" name="portfolio-name-1"/>
          <p:cNvSpPr txBox="1"/>
          <p:nvPr/>
        </p:nvSpPr>
        <p:spPr>
          <a:xfrm>
            <a:off x="3273552" y="1719072"/>
            <a:ext cx="192024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50" b="1" lang="en-US">
                <a:solidFill>
                  <a:srgbClr val="96DCFF"/>
                </a:solidFill>
                <a:latin typeface="Consolas"/>
              </a:rPr>
              <a:t>Narrative</a:t>
            </a:r>
          </a:p>
        </p:txBody>
      </p:sp>
      <p:sp>
        <p:nvSpPr>
          <p:cNvPr id="79" name="portfolio-micro-label-1-0"/>
          <p:cNvSpPr txBox="1"/>
          <p:nvPr/>
        </p:nvSpPr>
        <p:spPr>
          <a:xfrm>
            <a:off x="3319272" y="2208276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96DCFF"/>
                </a:solidFill>
                <a:latin typeface="Consolas"/>
              </a:rPr>
              <a:t>spec</a:t>
            </a:r>
          </a:p>
        </p:txBody>
      </p:sp>
      <p:sp>
        <p:nvSpPr>
          <p:cNvPr id="80" name="portfolio-micro-label-1-1"/>
          <p:cNvSpPr txBox="1"/>
          <p:nvPr/>
        </p:nvSpPr>
        <p:spPr>
          <a:xfrm>
            <a:off x="4306824" y="2208276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96DCFF"/>
                </a:solidFill>
                <a:latin typeface="Consolas"/>
              </a:rPr>
              <a:t>audit</a:t>
            </a:r>
          </a:p>
        </p:txBody>
      </p:sp>
      <p:sp>
        <p:nvSpPr>
          <p:cNvPr id="81" name="portfolio-micro-label-1-2"/>
          <p:cNvSpPr txBox="1"/>
          <p:nvPr/>
        </p:nvSpPr>
        <p:spPr>
          <a:xfrm>
            <a:off x="3319272" y="2592324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96DCFF"/>
                </a:solidFill>
                <a:latin typeface="Consolas"/>
              </a:rPr>
              <a:t>trace</a:t>
            </a:r>
          </a:p>
        </p:txBody>
      </p:sp>
      <p:sp>
        <p:nvSpPr>
          <p:cNvPr id="82" name="portfolio-micro-label-1-3"/>
          <p:cNvSpPr txBox="1"/>
          <p:nvPr/>
        </p:nvSpPr>
        <p:spPr>
          <a:xfrm>
            <a:off x="4306824" y="2592324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96DCFF"/>
                </a:solidFill>
                <a:latin typeface="Consolas"/>
              </a:rPr>
              <a:t>pass</a:t>
            </a:r>
          </a:p>
        </p:txBody>
      </p:sp>
      <p:sp>
        <p:nvSpPr>
          <p:cNvPr id="83" name="portfolio-num-2"/>
          <p:cNvSpPr txBox="1"/>
          <p:nvPr/>
        </p:nvSpPr>
        <p:spPr>
          <a:xfrm>
            <a:off x="5870448" y="1298448"/>
            <a:ext cx="566928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1" lang="en-US">
                <a:solidFill>
                  <a:srgbClr val="64B4FF"/>
                </a:solidFill>
                <a:latin typeface="Consolas"/>
              </a:rPr>
              <a:t>03</a:t>
            </a:r>
          </a:p>
        </p:txBody>
      </p:sp>
      <p:sp>
        <p:nvSpPr>
          <p:cNvPr id="84" name="portfolio-name-2"/>
          <p:cNvSpPr txBox="1"/>
          <p:nvPr/>
        </p:nvSpPr>
        <p:spPr>
          <a:xfrm>
            <a:off x="5870448" y="1719072"/>
            <a:ext cx="192024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50" b="1" lang="en-US">
                <a:solidFill>
                  <a:srgbClr val="96DCFF"/>
                </a:solidFill>
                <a:latin typeface="Consolas"/>
              </a:rPr>
              <a:t>Geometry</a:t>
            </a:r>
          </a:p>
        </p:txBody>
      </p:sp>
      <p:sp>
        <p:nvSpPr>
          <p:cNvPr id="85" name="portfolio-micro-label-2-0"/>
          <p:cNvSpPr txBox="1"/>
          <p:nvPr/>
        </p:nvSpPr>
        <p:spPr>
          <a:xfrm>
            <a:off x="5916168" y="2208276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64B4FF"/>
                </a:solidFill>
                <a:latin typeface="Consolas"/>
              </a:rPr>
              <a:t>spec</a:t>
            </a:r>
          </a:p>
        </p:txBody>
      </p:sp>
      <p:sp>
        <p:nvSpPr>
          <p:cNvPr id="86" name="portfolio-micro-label-2-1"/>
          <p:cNvSpPr txBox="1"/>
          <p:nvPr/>
        </p:nvSpPr>
        <p:spPr>
          <a:xfrm>
            <a:off x="6903720" y="2208276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64B4FF"/>
                </a:solidFill>
                <a:latin typeface="Consolas"/>
              </a:rPr>
              <a:t>audit</a:t>
            </a:r>
          </a:p>
        </p:txBody>
      </p:sp>
      <p:sp>
        <p:nvSpPr>
          <p:cNvPr id="87" name="portfolio-micro-label-2-2"/>
          <p:cNvSpPr txBox="1"/>
          <p:nvPr/>
        </p:nvSpPr>
        <p:spPr>
          <a:xfrm>
            <a:off x="5916168" y="2592324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64B4FF"/>
                </a:solidFill>
                <a:latin typeface="Consolas"/>
              </a:rPr>
              <a:t>trace</a:t>
            </a:r>
          </a:p>
        </p:txBody>
      </p:sp>
      <p:sp>
        <p:nvSpPr>
          <p:cNvPr id="88" name="portfolio-micro-label-2-3"/>
          <p:cNvSpPr txBox="1"/>
          <p:nvPr/>
        </p:nvSpPr>
        <p:spPr>
          <a:xfrm>
            <a:off x="6903720" y="2592324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64B4FF"/>
                </a:solidFill>
                <a:latin typeface="Consolas"/>
              </a:rPr>
              <a:t>pass</a:t>
            </a:r>
          </a:p>
        </p:txBody>
      </p:sp>
      <p:sp>
        <p:nvSpPr>
          <p:cNvPr id="89" name="portfolio-num-3"/>
          <p:cNvSpPr txBox="1"/>
          <p:nvPr/>
        </p:nvSpPr>
        <p:spPr>
          <a:xfrm>
            <a:off x="676656" y="3630168"/>
            <a:ext cx="566928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1" lang="en-US">
                <a:solidFill>
                  <a:srgbClr val="64C8FF"/>
                </a:solidFill>
                <a:latin typeface="Consolas"/>
              </a:rPr>
              <a:t>04</a:t>
            </a:r>
          </a:p>
        </p:txBody>
      </p:sp>
      <p:sp>
        <p:nvSpPr>
          <p:cNvPr id="90" name="portfolio-name-3"/>
          <p:cNvSpPr txBox="1"/>
          <p:nvPr/>
        </p:nvSpPr>
        <p:spPr>
          <a:xfrm>
            <a:off x="676656" y="4050791"/>
            <a:ext cx="192024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50" b="1" lang="en-US">
                <a:solidFill>
                  <a:srgbClr val="96DCFF"/>
                </a:solidFill>
                <a:latin typeface="Consolas"/>
              </a:rPr>
              <a:t>Visuals</a:t>
            </a:r>
          </a:p>
        </p:txBody>
      </p:sp>
      <p:sp>
        <p:nvSpPr>
          <p:cNvPr id="91" name="portfolio-micro-label-3-0"/>
          <p:cNvSpPr txBox="1"/>
          <p:nvPr/>
        </p:nvSpPr>
        <p:spPr>
          <a:xfrm>
            <a:off x="722376" y="4539996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64C8FF"/>
                </a:solidFill>
                <a:latin typeface="Consolas"/>
              </a:rPr>
              <a:t>spec</a:t>
            </a:r>
          </a:p>
        </p:txBody>
      </p:sp>
      <p:sp>
        <p:nvSpPr>
          <p:cNvPr id="92" name="portfolio-micro-label-3-1"/>
          <p:cNvSpPr txBox="1"/>
          <p:nvPr/>
        </p:nvSpPr>
        <p:spPr>
          <a:xfrm>
            <a:off x="1709928" y="4539996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64C8FF"/>
                </a:solidFill>
                <a:latin typeface="Consolas"/>
              </a:rPr>
              <a:t>audit</a:t>
            </a:r>
          </a:p>
        </p:txBody>
      </p:sp>
      <p:sp>
        <p:nvSpPr>
          <p:cNvPr id="93" name="portfolio-micro-label-3-2"/>
          <p:cNvSpPr txBox="1"/>
          <p:nvPr/>
        </p:nvSpPr>
        <p:spPr>
          <a:xfrm>
            <a:off x="722376" y="4924044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64C8FF"/>
                </a:solidFill>
                <a:latin typeface="Consolas"/>
              </a:rPr>
              <a:t>trace</a:t>
            </a:r>
          </a:p>
        </p:txBody>
      </p:sp>
      <p:sp>
        <p:nvSpPr>
          <p:cNvPr id="94" name="portfolio-micro-label-3-3"/>
          <p:cNvSpPr txBox="1"/>
          <p:nvPr/>
        </p:nvSpPr>
        <p:spPr>
          <a:xfrm>
            <a:off x="1709928" y="4924044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64C8FF"/>
                </a:solidFill>
                <a:latin typeface="Consolas"/>
              </a:rPr>
              <a:t>pass</a:t>
            </a:r>
          </a:p>
        </p:txBody>
      </p:sp>
      <p:sp>
        <p:nvSpPr>
          <p:cNvPr id="95" name="portfolio-num-4"/>
          <p:cNvSpPr txBox="1"/>
          <p:nvPr/>
        </p:nvSpPr>
        <p:spPr>
          <a:xfrm>
            <a:off x="3273552" y="3630168"/>
            <a:ext cx="566928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1" lang="en-US">
                <a:solidFill>
                  <a:srgbClr val="FFD166"/>
                </a:solidFill>
                <a:latin typeface="Consolas"/>
              </a:rPr>
              <a:t>05</a:t>
            </a:r>
          </a:p>
        </p:txBody>
      </p:sp>
      <p:sp>
        <p:nvSpPr>
          <p:cNvPr id="96" name="portfolio-name-4"/>
          <p:cNvSpPr txBox="1"/>
          <p:nvPr/>
        </p:nvSpPr>
        <p:spPr>
          <a:xfrm>
            <a:off x="3273552" y="4050791"/>
            <a:ext cx="192024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50" b="1" lang="en-US">
                <a:solidFill>
                  <a:srgbClr val="96DCFF"/>
                </a:solidFill>
                <a:latin typeface="Consolas"/>
              </a:rPr>
              <a:t>Accessibility</a:t>
            </a:r>
          </a:p>
        </p:txBody>
      </p:sp>
      <p:sp>
        <p:nvSpPr>
          <p:cNvPr id="97" name="portfolio-micro-label-4-0"/>
          <p:cNvSpPr txBox="1"/>
          <p:nvPr/>
        </p:nvSpPr>
        <p:spPr>
          <a:xfrm>
            <a:off x="3319272" y="4539996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FFD166"/>
                </a:solidFill>
                <a:latin typeface="Consolas"/>
              </a:rPr>
              <a:t>spec</a:t>
            </a:r>
          </a:p>
        </p:txBody>
      </p:sp>
      <p:sp>
        <p:nvSpPr>
          <p:cNvPr id="98" name="portfolio-micro-label-4-1"/>
          <p:cNvSpPr txBox="1"/>
          <p:nvPr/>
        </p:nvSpPr>
        <p:spPr>
          <a:xfrm>
            <a:off x="4306824" y="4539996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FFD166"/>
                </a:solidFill>
                <a:latin typeface="Consolas"/>
              </a:rPr>
              <a:t>audit</a:t>
            </a:r>
          </a:p>
        </p:txBody>
      </p:sp>
      <p:sp>
        <p:nvSpPr>
          <p:cNvPr id="99" name="portfolio-micro-label-4-2"/>
          <p:cNvSpPr txBox="1"/>
          <p:nvPr/>
        </p:nvSpPr>
        <p:spPr>
          <a:xfrm>
            <a:off x="3319272" y="4924044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FFD166"/>
                </a:solidFill>
                <a:latin typeface="Consolas"/>
              </a:rPr>
              <a:t>trace</a:t>
            </a:r>
          </a:p>
        </p:txBody>
      </p:sp>
      <p:sp>
        <p:nvSpPr>
          <p:cNvPr id="100" name="portfolio-micro-label-4-3"/>
          <p:cNvSpPr txBox="1"/>
          <p:nvPr/>
        </p:nvSpPr>
        <p:spPr>
          <a:xfrm>
            <a:off x="4306824" y="4924044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FFD166"/>
                </a:solidFill>
                <a:latin typeface="Consolas"/>
              </a:rPr>
              <a:t>pass</a:t>
            </a:r>
          </a:p>
        </p:txBody>
      </p:sp>
      <p:sp>
        <p:nvSpPr>
          <p:cNvPr id="101" name="portfolio-num-5"/>
          <p:cNvSpPr txBox="1"/>
          <p:nvPr/>
        </p:nvSpPr>
        <p:spPr>
          <a:xfrm>
            <a:off x="5870448" y="3630168"/>
            <a:ext cx="566928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1" lang="en-US">
                <a:solidFill>
                  <a:srgbClr val="FF7B89"/>
                </a:solidFill>
                <a:latin typeface="Consolas"/>
              </a:rPr>
              <a:t>06</a:t>
            </a:r>
          </a:p>
        </p:txBody>
      </p:sp>
      <p:sp>
        <p:nvSpPr>
          <p:cNvPr id="102" name="portfolio-name-5"/>
          <p:cNvSpPr txBox="1"/>
          <p:nvPr/>
        </p:nvSpPr>
        <p:spPr>
          <a:xfrm>
            <a:off x="5870448" y="4050791"/>
            <a:ext cx="192024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50" b="1" lang="en-US">
                <a:solidFill>
                  <a:srgbClr val="96DCFF"/>
                </a:solidFill>
                <a:latin typeface="Consolas"/>
              </a:rPr>
              <a:t>Package</a:t>
            </a:r>
          </a:p>
        </p:txBody>
      </p:sp>
      <p:sp>
        <p:nvSpPr>
          <p:cNvPr id="103" name="portfolio-micro-label-5-0"/>
          <p:cNvSpPr txBox="1"/>
          <p:nvPr/>
        </p:nvSpPr>
        <p:spPr>
          <a:xfrm>
            <a:off x="5916168" y="4539996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FF7B89"/>
                </a:solidFill>
                <a:latin typeface="Consolas"/>
              </a:rPr>
              <a:t>spec</a:t>
            </a:r>
          </a:p>
        </p:txBody>
      </p:sp>
      <p:sp>
        <p:nvSpPr>
          <p:cNvPr id="104" name="portfolio-micro-label-5-1"/>
          <p:cNvSpPr txBox="1"/>
          <p:nvPr/>
        </p:nvSpPr>
        <p:spPr>
          <a:xfrm>
            <a:off x="6903720" y="4539996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FF7B89"/>
                </a:solidFill>
                <a:latin typeface="Consolas"/>
              </a:rPr>
              <a:t>audit</a:t>
            </a:r>
          </a:p>
        </p:txBody>
      </p:sp>
      <p:sp>
        <p:nvSpPr>
          <p:cNvPr id="105" name="portfolio-micro-label-5-2"/>
          <p:cNvSpPr txBox="1"/>
          <p:nvPr/>
        </p:nvSpPr>
        <p:spPr>
          <a:xfrm>
            <a:off x="5916168" y="4924044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FF7B89"/>
                </a:solidFill>
                <a:latin typeface="Consolas"/>
              </a:rPr>
              <a:t>trace</a:t>
            </a:r>
          </a:p>
        </p:txBody>
      </p:sp>
      <p:sp>
        <p:nvSpPr>
          <p:cNvPr id="106" name="portfolio-micro-label-5-3"/>
          <p:cNvSpPr txBox="1"/>
          <p:nvPr/>
        </p:nvSpPr>
        <p:spPr>
          <a:xfrm>
            <a:off x="6903720" y="4924044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FF7B89"/>
                </a:solidFill>
                <a:latin typeface="Consolas"/>
              </a:rPr>
              <a:t>pass</a:t>
            </a:r>
          </a:p>
        </p:txBody>
      </p:sp>
      <p:sp>
        <p:nvSpPr>
          <p:cNvPr id="107" name="portfolio-rail-title"/>
          <p:cNvSpPr txBox="1"/>
          <p:nvPr/>
        </p:nvSpPr>
        <p:spPr>
          <a:xfrm>
            <a:off x="8723376" y="1325880"/>
            <a:ext cx="246888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1" lang="en-US">
                <a:solidFill>
                  <a:srgbClr val="64C8FF"/>
                </a:solidFill>
                <a:latin typeface="Consolas"/>
              </a:rPr>
              <a:t>RELEASE BOARD</a:t>
            </a:r>
          </a:p>
        </p:txBody>
      </p:sp>
      <p:sp>
        <p:nvSpPr>
          <p:cNvPr id="108" name="release-label-0"/>
          <p:cNvSpPr txBox="1"/>
          <p:nvPr/>
        </p:nvSpPr>
        <p:spPr>
          <a:xfrm>
            <a:off x="8906256" y="1847088"/>
            <a:ext cx="137160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50" b="1" lang="en-US">
                <a:solidFill>
                  <a:srgbClr val="64C8FF"/>
                </a:solidFill>
                <a:latin typeface="Consolas"/>
              </a:rPr>
              <a:t>Layouts</a:t>
            </a:r>
          </a:p>
        </p:txBody>
      </p:sp>
      <p:sp>
        <p:nvSpPr>
          <p:cNvPr id="109" name="release-value-0"/>
          <p:cNvSpPr txBox="1"/>
          <p:nvPr/>
        </p:nvSpPr>
        <p:spPr>
          <a:xfrm>
            <a:off x="10378440" y="1828800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1100" b="1" lang="en-US">
                <a:solidFill>
                  <a:srgbClr val="64C8FF"/>
                </a:solidFill>
                <a:latin typeface="Consolas"/>
              </a:rPr>
              <a:t>60</a:t>
            </a:r>
          </a:p>
        </p:txBody>
      </p:sp>
      <p:sp>
        <p:nvSpPr>
          <p:cNvPr id="110" name="release-label-1"/>
          <p:cNvSpPr txBox="1"/>
          <p:nvPr/>
        </p:nvSpPr>
        <p:spPr>
          <a:xfrm>
            <a:off x="8906256" y="2542032"/>
            <a:ext cx="137160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50" b="1" lang="en-US">
                <a:solidFill>
                  <a:srgbClr val="64C8FF"/>
                </a:solidFill>
                <a:latin typeface="Consolas"/>
              </a:rPr>
              <a:t>Profiles</a:t>
            </a:r>
          </a:p>
        </p:txBody>
      </p:sp>
      <p:sp>
        <p:nvSpPr>
          <p:cNvPr id="111" name="release-value-1"/>
          <p:cNvSpPr txBox="1"/>
          <p:nvPr/>
        </p:nvSpPr>
        <p:spPr>
          <a:xfrm>
            <a:off x="10378440" y="2523744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1100" b="1" lang="en-US">
                <a:solidFill>
                  <a:srgbClr val="96DCFF"/>
                </a:solidFill>
                <a:latin typeface="Consolas"/>
              </a:rPr>
              <a:t>12</a:t>
            </a:r>
          </a:p>
        </p:txBody>
      </p:sp>
      <p:sp>
        <p:nvSpPr>
          <p:cNvPr id="112" name="release-label-2"/>
          <p:cNvSpPr txBox="1"/>
          <p:nvPr/>
        </p:nvSpPr>
        <p:spPr>
          <a:xfrm>
            <a:off x="8906256" y="3236976"/>
            <a:ext cx="137160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50" b="1" lang="en-US">
                <a:solidFill>
                  <a:srgbClr val="64C8FF"/>
                </a:solidFill>
                <a:latin typeface="Consolas"/>
              </a:rPr>
              <a:t>Gate checks</a:t>
            </a:r>
          </a:p>
        </p:txBody>
      </p:sp>
      <p:sp>
        <p:nvSpPr>
          <p:cNvPr id="113" name="release-value-2"/>
          <p:cNvSpPr txBox="1"/>
          <p:nvPr/>
        </p:nvSpPr>
        <p:spPr>
          <a:xfrm>
            <a:off x="10378440" y="3218688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1100" b="1" lang="en-US">
                <a:solidFill>
                  <a:srgbClr val="64B4FF"/>
                </a:solidFill>
                <a:latin typeface="Consolas"/>
              </a:rPr>
              <a:t>11</a:t>
            </a:r>
          </a:p>
        </p:txBody>
      </p:sp>
      <p:sp>
        <p:nvSpPr>
          <p:cNvPr id="114" name="release-label-3"/>
          <p:cNvSpPr txBox="1"/>
          <p:nvPr/>
        </p:nvSpPr>
        <p:spPr>
          <a:xfrm>
            <a:off x="8906256" y="3931920"/>
            <a:ext cx="137160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50" b="1" lang="en-US">
                <a:solidFill>
                  <a:srgbClr val="64C8FF"/>
                </a:solidFill>
                <a:latin typeface="Consolas"/>
              </a:rPr>
              <a:t>Defects</a:t>
            </a:r>
          </a:p>
        </p:txBody>
      </p:sp>
      <p:sp>
        <p:nvSpPr>
          <p:cNvPr id="115" name="release-value-3"/>
          <p:cNvSpPr txBox="1"/>
          <p:nvPr/>
        </p:nvSpPr>
        <p:spPr>
          <a:xfrm>
            <a:off x="10378440" y="3913632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1100" b="1" lang="en-US">
                <a:solidFill>
                  <a:srgbClr val="64C8FF"/>
                </a:solidFill>
                <a:latin typeface="Consolas"/>
              </a:rPr>
              <a:t>00</a:t>
            </a:r>
          </a:p>
        </p:txBody>
      </p:sp>
      <p:sp>
        <p:nvSpPr>
          <p:cNvPr id="116" name="release-label-4"/>
          <p:cNvSpPr txBox="1"/>
          <p:nvPr/>
        </p:nvSpPr>
        <p:spPr>
          <a:xfrm>
            <a:off x="8906256" y="4626864"/>
            <a:ext cx="137160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50" b="1" lang="en-US">
                <a:solidFill>
                  <a:srgbClr val="64C8FF"/>
                </a:solidFill>
                <a:latin typeface="Consolas"/>
              </a:rPr>
              <a:t>Evidence</a:t>
            </a:r>
          </a:p>
        </p:txBody>
      </p:sp>
      <p:sp>
        <p:nvSpPr>
          <p:cNvPr id="117" name="release-value-4"/>
          <p:cNvSpPr txBox="1"/>
          <p:nvPr/>
        </p:nvSpPr>
        <p:spPr>
          <a:xfrm>
            <a:off x="10378440" y="4608576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1100" b="1" lang="en-US">
                <a:solidFill>
                  <a:srgbClr val="FFD166"/>
                </a:solidFill>
                <a:latin typeface="Consolas"/>
              </a:rPr>
              <a:t>native</a:t>
            </a:r>
          </a:p>
        </p:txBody>
      </p:sp>
      <p:sp>
        <p:nvSpPr>
          <p:cNvPr id="118" name="portfolio-banner-label"/>
          <p:cNvSpPr txBox="1"/>
          <p:nvPr/>
        </p:nvSpPr>
        <p:spPr>
          <a:xfrm>
            <a:off x="713232" y="5687568"/>
            <a:ext cx="740664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50" b="1" lang="en-US">
                <a:solidFill>
                  <a:srgbClr val="111111"/>
                </a:solidFill>
                <a:latin typeface="Consolas"/>
              </a:rPr>
              <a:t>Six dense tiles test nested cards, micro-labels, hierarchy, and high-information scanning.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240"/>
          </a:solidFill>
          <a:ln w="10160">
            <a:solidFill>
              <a:srgbClr val="0D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lueprint-v-1"/>
          <p:cNvSpPr/>
          <p:nvPr/>
        </p:nvSpPr>
        <p:spPr>
          <a:xfrm>
            <a:off x="914400" y="0"/>
            <a:ext cx="10972" cy="6858000"/>
          </a:xfrm>
          <a:prstGeom prst="rect">
            <a:avLst/>
          </a:prstGeom>
          <a:solidFill>
            <a:srgbClr val="2E5E8F"/>
          </a:solidFill>
          <a:ln w="10160">
            <a:solidFill>
              <a:srgbClr val="2E5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lueprint-v-2"/>
          <p:cNvSpPr/>
          <p:nvPr/>
        </p:nvSpPr>
        <p:spPr>
          <a:xfrm>
            <a:off x="1828800" y="0"/>
            <a:ext cx="10972" cy="6858000"/>
          </a:xfrm>
          <a:prstGeom prst="rect">
            <a:avLst/>
          </a:prstGeom>
          <a:solidFill>
            <a:srgbClr val="2E5E8F"/>
          </a:solidFill>
          <a:ln w="10160">
            <a:solidFill>
              <a:srgbClr val="2E5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blueprint-v-3"/>
          <p:cNvSpPr/>
          <p:nvPr/>
        </p:nvSpPr>
        <p:spPr>
          <a:xfrm>
            <a:off x="2743200" y="0"/>
            <a:ext cx="10972" cy="6858000"/>
          </a:xfrm>
          <a:prstGeom prst="rect">
            <a:avLst/>
          </a:prstGeom>
          <a:solidFill>
            <a:srgbClr val="2E5E8F"/>
          </a:solidFill>
          <a:ln w="10160">
            <a:solidFill>
              <a:srgbClr val="2E5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lueprint-v-4"/>
          <p:cNvSpPr/>
          <p:nvPr/>
        </p:nvSpPr>
        <p:spPr>
          <a:xfrm>
            <a:off x="3657600" y="0"/>
            <a:ext cx="10972" cy="6858000"/>
          </a:xfrm>
          <a:prstGeom prst="rect">
            <a:avLst/>
          </a:prstGeom>
          <a:solidFill>
            <a:srgbClr val="2E5E8F"/>
          </a:solidFill>
          <a:ln w="10160">
            <a:solidFill>
              <a:srgbClr val="2E5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blueprint-v-5"/>
          <p:cNvSpPr/>
          <p:nvPr/>
        </p:nvSpPr>
        <p:spPr>
          <a:xfrm>
            <a:off x="4572000" y="0"/>
            <a:ext cx="10972" cy="6858000"/>
          </a:xfrm>
          <a:prstGeom prst="rect">
            <a:avLst/>
          </a:prstGeom>
          <a:solidFill>
            <a:srgbClr val="2E5E8F"/>
          </a:solidFill>
          <a:ln w="10160">
            <a:solidFill>
              <a:srgbClr val="2E5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lueprint-v-6"/>
          <p:cNvSpPr/>
          <p:nvPr/>
        </p:nvSpPr>
        <p:spPr>
          <a:xfrm>
            <a:off x="5486400" y="0"/>
            <a:ext cx="10972" cy="6858000"/>
          </a:xfrm>
          <a:prstGeom prst="rect">
            <a:avLst/>
          </a:prstGeom>
          <a:solidFill>
            <a:srgbClr val="2E5E8F"/>
          </a:solidFill>
          <a:ln w="10160">
            <a:solidFill>
              <a:srgbClr val="2E5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blueprint-v-7"/>
          <p:cNvSpPr/>
          <p:nvPr/>
        </p:nvSpPr>
        <p:spPr>
          <a:xfrm>
            <a:off x="6400800" y="0"/>
            <a:ext cx="10972" cy="6858000"/>
          </a:xfrm>
          <a:prstGeom prst="rect">
            <a:avLst/>
          </a:prstGeom>
          <a:solidFill>
            <a:srgbClr val="2E5E8F"/>
          </a:solidFill>
          <a:ln w="10160">
            <a:solidFill>
              <a:srgbClr val="2E5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blueprint-v-8"/>
          <p:cNvSpPr/>
          <p:nvPr/>
        </p:nvSpPr>
        <p:spPr>
          <a:xfrm>
            <a:off x="7315200" y="0"/>
            <a:ext cx="10972" cy="6858000"/>
          </a:xfrm>
          <a:prstGeom prst="rect">
            <a:avLst/>
          </a:prstGeom>
          <a:solidFill>
            <a:srgbClr val="2E5E8F"/>
          </a:solidFill>
          <a:ln w="10160">
            <a:solidFill>
              <a:srgbClr val="2E5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blueprint-v-9"/>
          <p:cNvSpPr/>
          <p:nvPr/>
        </p:nvSpPr>
        <p:spPr>
          <a:xfrm>
            <a:off x="8229600" y="0"/>
            <a:ext cx="10972" cy="6858000"/>
          </a:xfrm>
          <a:prstGeom prst="rect">
            <a:avLst/>
          </a:prstGeom>
          <a:solidFill>
            <a:srgbClr val="2E5E8F"/>
          </a:solidFill>
          <a:ln w="10160">
            <a:solidFill>
              <a:srgbClr val="2E5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blueprint-v-10"/>
          <p:cNvSpPr/>
          <p:nvPr/>
        </p:nvSpPr>
        <p:spPr>
          <a:xfrm>
            <a:off x="9144000" y="0"/>
            <a:ext cx="10972" cy="6858000"/>
          </a:xfrm>
          <a:prstGeom prst="rect">
            <a:avLst/>
          </a:prstGeom>
          <a:solidFill>
            <a:srgbClr val="2E5E8F"/>
          </a:solidFill>
          <a:ln w="10160">
            <a:solidFill>
              <a:srgbClr val="2E5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blueprint-v-11"/>
          <p:cNvSpPr/>
          <p:nvPr/>
        </p:nvSpPr>
        <p:spPr>
          <a:xfrm>
            <a:off x="10058400" y="0"/>
            <a:ext cx="10972" cy="6858000"/>
          </a:xfrm>
          <a:prstGeom prst="rect">
            <a:avLst/>
          </a:prstGeom>
          <a:solidFill>
            <a:srgbClr val="2E5E8F"/>
          </a:solidFill>
          <a:ln w="10160">
            <a:solidFill>
              <a:srgbClr val="2E5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blueprint-v-12"/>
          <p:cNvSpPr/>
          <p:nvPr/>
        </p:nvSpPr>
        <p:spPr>
          <a:xfrm>
            <a:off x="10972800" y="0"/>
            <a:ext cx="10972" cy="6858000"/>
          </a:xfrm>
          <a:prstGeom prst="rect">
            <a:avLst/>
          </a:prstGeom>
          <a:solidFill>
            <a:srgbClr val="2E5E8F"/>
          </a:solidFill>
          <a:ln w="10160">
            <a:solidFill>
              <a:srgbClr val="2E5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blueprint-h-1"/>
          <p:cNvSpPr/>
          <p:nvPr/>
        </p:nvSpPr>
        <p:spPr>
          <a:xfrm>
            <a:off x="0" y="914400"/>
            <a:ext cx="12191695" cy="10972"/>
          </a:xfrm>
          <a:prstGeom prst="rect">
            <a:avLst/>
          </a:prstGeom>
          <a:solidFill>
            <a:srgbClr val="2E5E8F"/>
          </a:solidFill>
          <a:ln w="10160">
            <a:solidFill>
              <a:srgbClr val="2E5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blueprint-h-2"/>
          <p:cNvSpPr/>
          <p:nvPr/>
        </p:nvSpPr>
        <p:spPr>
          <a:xfrm>
            <a:off x="0" y="1828800"/>
            <a:ext cx="12191695" cy="10972"/>
          </a:xfrm>
          <a:prstGeom prst="rect">
            <a:avLst/>
          </a:prstGeom>
          <a:solidFill>
            <a:srgbClr val="2E5E8F"/>
          </a:solidFill>
          <a:ln w="10160">
            <a:solidFill>
              <a:srgbClr val="2E5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blueprint-h-3"/>
          <p:cNvSpPr/>
          <p:nvPr/>
        </p:nvSpPr>
        <p:spPr>
          <a:xfrm>
            <a:off x="0" y="2743200"/>
            <a:ext cx="12191695" cy="10972"/>
          </a:xfrm>
          <a:prstGeom prst="rect">
            <a:avLst/>
          </a:prstGeom>
          <a:solidFill>
            <a:srgbClr val="2E5E8F"/>
          </a:solidFill>
          <a:ln w="10160">
            <a:solidFill>
              <a:srgbClr val="2E5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lueprint-h-4"/>
          <p:cNvSpPr/>
          <p:nvPr/>
        </p:nvSpPr>
        <p:spPr>
          <a:xfrm>
            <a:off x="0" y="3657600"/>
            <a:ext cx="12191695" cy="10972"/>
          </a:xfrm>
          <a:prstGeom prst="rect">
            <a:avLst/>
          </a:prstGeom>
          <a:solidFill>
            <a:srgbClr val="2E5E8F"/>
          </a:solidFill>
          <a:ln w="10160">
            <a:solidFill>
              <a:srgbClr val="2E5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blueprint-h-5"/>
          <p:cNvSpPr/>
          <p:nvPr/>
        </p:nvSpPr>
        <p:spPr>
          <a:xfrm>
            <a:off x="0" y="4572000"/>
            <a:ext cx="12191695" cy="10972"/>
          </a:xfrm>
          <a:prstGeom prst="rect">
            <a:avLst/>
          </a:prstGeom>
          <a:solidFill>
            <a:srgbClr val="2E5E8F"/>
          </a:solidFill>
          <a:ln w="10160">
            <a:solidFill>
              <a:srgbClr val="2E5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blueprint-h-6"/>
          <p:cNvSpPr/>
          <p:nvPr/>
        </p:nvSpPr>
        <p:spPr>
          <a:xfrm>
            <a:off x="0" y="5486400"/>
            <a:ext cx="12191695" cy="10972"/>
          </a:xfrm>
          <a:prstGeom prst="rect">
            <a:avLst/>
          </a:prstGeom>
          <a:solidFill>
            <a:srgbClr val="2E5E8F"/>
          </a:solidFill>
          <a:ln w="10160">
            <a:solidFill>
              <a:srgbClr val="2E5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blueprint-h-7"/>
          <p:cNvSpPr/>
          <p:nvPr/>
        </p:nvSpPr>
        <p:spPr>
          <a:xfrm>
            <a:off x="0" y="6400800"/>
            <a:ext cx="12191695" cy="10972"/>
          </a:xfrm>
          <a:prstGeom prst="rect">
            <a:avLst/>
          </a:prstGeom>
          <a:solidFill>
            <a:srgbClr val="2E5E8F"/>
          </a:solidFill>
          <a:ln w="10160">
            <a:solidFill>
              <a:srgbClr val="2E5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op-band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64C8FF"/>
          </a:solidFill>
          <a:ln w="10160">
            <a:solidFill>
              <a:srgbClr val="64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lane-0"/>
          <p:cNvSpPr/>
          <p:nvPr/>
        </p:nvSpPr>
        <p:spPr>
          <a:xfrm>
            <a:off x="457200" y="1097280"/>
            <a:ext cx="8458200" cy="914400"/>
          </a:xfrm>
          <a:prstGeom prst="roundRect">
            <a:avLst/>
          </a:prstGeom>
          <a:solidFill>
            <a:srgbClr val="14325C"/>
          </a:solidFill>
          <a:ln w="10160">
            <a:solidFill>
              <a:srgbClr val="2E5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lane-1"/>
          <p:cNvSpPr/>
          <p:nvPr/>
        </p:nvSpPr>
        <p:spPr>
          <a:xfrm>
            <a:off x="457200" y="2267712"/>
            <a:ext cx="8458200" cy="914400"/>
          </a:xfrm>
          <a:prstGeom prst="roundRect">
            <a:avLst/>
          </a:prstGeom>
          <a:solidFill>
            <a:srgbClr val="14325C"/>
          </a:solidFill>
          <a:ln w="10160">
            <a:solidFill>
              <a:srgbClr val="2E5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lane-2"/>
          <p:cNvSpPr/>
          <p:nvPr/>
        </p:nvSpPr>
        <p:spPr>
          <a:xfrm>
            <a:off x="457200" y="3438144"/>
            <a:ext cx="8458200" cy="914400"/>
          </a:xfrm>
          <a:prstGeom prst="roundRect">
            <a:avLst/>
          </a:prstGeom>
          <a:solidFill>
            <a:srgbClr val="14325C"/>
          </a:solidFill>
          <a:ln w="10160">
            <a:solidFill>
              <a:srgbClr val="2E5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lane-3"/>
          <p:cNvSpPr/>
          <p:nvPr/>
        </p:nvSpPr>
        <p:spPr>
          <a:xfrm>
            <a:off x="457200" y="4608576"/>
            <a:ext cx="8458200" cy="914400"/>
          </a:xfrm>
          <a:prstGeom prst="roundRect">
            <a:avLst/>
          </a:prstGeom>
          <a:solidFill>
            <a:srgbClr val="14325C"/>
          </a:solidFill>
          <a:ln w="10160">
            <a:solidFill>
              <a:srgbClr val="2E5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workbench-rail-shell"/>
          <p:cNvSpPr/>
          <p:nvPr/>
        </p:nvSpPr>
        <p:spPr>
          <a:xfrm>
            <a:off x="9189720" y="1097280"/>
            <a:ext cx="2542032" cy="4892040"/>
          </a:xfrm>
          <a:prstGeom prst="rect">
            <a:avLst/>
          </a:prstGeom>
          <a:solidFill>
            <a:srgbClr val="102B50"/>
          </a:solidFill>
          <a:ln w="10160">
            <a:solidFill>
              <a:srgbClr val="2E5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lane-label-0"/>
          <p:cNvSpPr/>
          <p:nvPr/>
        </p:nvSpPr>
        <p:spPr>
          <a:xfrm>
            <a:off x="457200" y="1097280"/>
            <a:ext cx="1097280" cy="914400"/>
          </a:xfrm>
          <a:prstGeom prst="rect">
            <a:avLst/>
          </a:prstGeom>
          <a:solidFill>
            <a:srgbClr val="64C8FF"/>
          </a:solidFill>
          <a:ln w="10160">
            <a:solidFill>
              <a:srgbClr val="64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lane-label-1"/>
          <p:cNvSpPr/>
          <p:nvPr/>
        </p:nvSpPr>
        <p:spPr>
          <a:xfrm>
            <a:off x="457200" y="2267712"/>
            <a:ext cx="1097280" cy="914400"/>
          </a:xfrm>
          <a:prstGeom prst="rect">
            <a:avLst/>
          </a:prstGeom>
          <a:solidFill>
            <a:srgbClr val="96DCFF"/>
          </a:solidFill>
          <a:ln w="10160">
            <a:solidFill>
              <a:srgbClr val="96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lane-label-2"/>
          <p:cNvSpPr/>
          <p:nvPr/>
        </p:nvSpPr>
        <p:spPr>
          <a:xfrm>
            <a:off x="457200" y="3438144"/>
            <a:ext cx="1097280" cy="914400"/>
          </a:xfrm>
          <a:prstGeom prst="rect">
            <a:avLst/>
          </a:prstGeom>
          <a:solidFill>
            <a:srgbClr val="64B4FF"/>
          </a:solidFill>
          <a:ln w="1016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lane-label-3"/>
          <p:cNvSpPr/>
          <p:nvPr/>
        </p:nvSpPr>
        <p:spPr>
          <a:xfrm>
            <a:off x="457200" y="4608576"/>
            <a:ext cx="1097280" cy="914400"/>
          </a:xfrm>
          <a:prstGeom prst="rect">
            <a:avLst/>
          </a:prstGeom>
          <a:solidFill>
            <a:srgbClr val="64C8FF"/>
          </a:solidFill>
          <a:ln w="10160">
            <a:solidFill>
              <a:srgbClr val="64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workbench-rail-accent"/>
          <p:cNvSpPr/>
          <p:nvPr/>
        </p:nvSpPr>
        <p:spPr>
          <a:xfrm>
            <a:off x="9189720" y="1097280"/>
            <a:ext cx="73152" cy="4892040"/>
          </a:xfrm>
          <a:prstGeom prst="rect">
            <a:avLst/>
          </a:prstGeom>
          <a:solidFill>
            <a:srgbClr val="64C8FF"/>
          </a:solidFill>
          <a:ln w="10160">
            <a:solidFill>
              <a:srgbClr val="64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hart-axis"/>
          <p:cNvCxnSpPr/>
          <p:nvPr/>
        </p:nvCxnSpPr>
        <p:spPr>
          <a:xfrm>
            <a:off x="9400032" y="4718304"/>
            <a:ext cx="2048256" cy="0"/>
          </a:xfrm>
          <a:prstGeom prst="line">
            <a:avLst/>
          </a:prstGeom>
          <a:ln w="13970">
            <a:solidFill>
              <a:srgbClr val="2E5E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ask-0-0"/>
          <p:cNvSpPr/>
          <p:nvPr/>
        </p:nvSpPr>
        <p:spPr>
          <a:xfrm>
            <a:off x="1773936" y="1234440"/>
            <a:ext cx="1161288" cy="621792"/>
          </a:xfrm>
          <a:prstGeom prst="roundRect">
            <a:avLst/>
          </a:prstGeom>
          <a:solidFill>
            <a:srgbClr val="102B50"/>
          </a:solidFill>
          <a:ln w="10160">
            <a:solidFill>
              <a:srgbClr val="64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ask-0-1"/>
          <p:cNvSpPr/>
          <p:nvPr/>
        </p:nvSpPr>
        <p:spPr>
          <a:xfrm>
            <a:off x="3127248" y="1234440"/>
            <a:ext cx="1161288" cy="621792"/>
          </a:xfrm>
          <a:prstGeom prst="roundRect">
            <a:avLst/>
          </a:prstGeom>
          <a:solidFill>
            <a:srgbClr val="102B50"/>
          </a:solidFill>
          <a:ln w="10160">
            <a:solidFill>
              <a:srgbClr val="64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ask-0-2"/>
          <p:cNvSpPr/>
          <p:nvPr/>
        </p:nvSpPr>
        <p:spPr>
          <a:xfrm>
            <a:off x="4480560" y="1234440"/>
            <a:ext cx="1161288" cy="621792"/>
          </a:xfrm>
          <a:prstGeom prst="roundRect">
            <a:avLst/>
          </a:prstGeom>
          <a:solidFill>
            <a:srgbClr val="102B50"/>
          </a:solidFill>
          <a:ln w="10160">
            <a:solidFill>
              <a:srgbClr val="64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ask-0-3"/>
          <p:cNvSpPr/>
          <p:nvPr/>
        </p:nvSpPr>
        <p:spPr>
          <a:xfrm>
            <a:off x="5833872" y="1234440"/>
            <a:ext cx="1161288" cy="621792"/>
          </a:xfrm>
          <a:prstGeom prst="roundRect">
            <a:avLst/>
          </a:prstGeom>
          <a:solidFill>
            <a:srgbClr val="102B50"/>
          </a:solidFill>
          <a:ln w="10160">
            <a:solidFill>
              <a:srgbClr val="64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ask-0-4"/>
          <p:cNvSpPr/>
          <p:nvPr/>
        </p:nvSpPr>
        <p:spPr>
          <a:xfrm>
            <a:off x="7187184" y="1234440"/>
            <a:ext cx="1161288" cy="621792"/>
          </a:xfrm>
          <a:prstGeom prst="roundRect">
            <a:avLst/>
          </a:prstGeom>
          <a:solidFill>
            <a:srgbClr val="102B50"/>
          </a:solidFill>
          <a:ln w="10160">
            <a:solidFill>
              <a:srgbClr val="64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ask-1-0"/>
          <p:cNvSpPr/>
          <p:nvPr/>
        </p:nvSpPr>
        <p:spPr>
          <a:xfrm>
            <a:off x="1773936" y="2404872"/>
            <a:ext cx="1161288" cy="621792"/>
          </a:xfrm>
          <a:prstGeom prst="roundRect">
            <a:avLst/>
          </a:prstGeom>
          <a:solidFill>
            <a:srgbClr val="102B50"/>
          </a:solidFill>
          <a:ln w="10160">
            <a:solidFill>
              <a:srgbClr val="96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ask-1-1"/>
          <p:cNvSpPr/>
          <p:nvPr/>
        </p:nvSpPr>
        <p:spPr>
          <a:xfrm>
            <a:off x="3127248" y="2404872"/>
            <a:ext cx="1161288" cy="621792"/>
          </a:xfrm>
          <a:prstGeom prst="roundRect">
            <a:avLst/>
          </a:prstGeom>
          <a:solidFill>
            <a:srgbClr val="102B50"/>
          </a:solidFill>
          <a:ln w="10160">
            <a:solidFill>
              <a:srgbClr val="96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ask-1-2"/>
          <p:cNvSpPr/>
          <p:nvPr/>
        </p:nvSpPr>
        <p:spPr>
          <a:xfrm>
            <a:off x="4480560" y="2404872"/>
            <a:ext cx="1161288" cy="621792"/>
          </a:xfrm>
          <a:prstGeom prst="roundRect">
            <a:avLst/>
          </a:prstGeom>
          <a:solidFill>
            <a:srgbClr val="102B50"/>
          </a:solidFill>
          <a:ln w="10160">
            <a:solidFill>
              <a:srgbClr val="96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ask-1-3"/>
          <p:cNvSpPr/>
          <p:nvPr/>
        </p:nvSpPr>
        <p:spPr>
          <a:xfrm>
            <a:off x="5833872" y="2404872"/>
            <a:ext cx="1161288" cy="621792"/>
          </a:xfrm>
          <a:prstGeom prst="roundRect">
            <a:avLst/>
          </a:prstGeom>
          <a:solidFill>
            <a:srgbClr val="102B50"/>
          </a:solidFill>
          <a:ln w="10160">
            <a:solidFill>
              <a:srgbClr val="96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ask-1-4"/>
          <p:cNvSpPr/>
          <p:nvPr/>
        </p:nvSpPr>
        <p:spPr>
          <a:xfrm>
            <a:off x="7187184" y="2404872"/>
            <a:ext cx="1161288" cy="621792"/>
          </a:xfrm>
          <a:prstGeom prst="roundRect">
            <a:avLst/>
          </a:prstGeom>
          <a:solidFill>
            <a:srgbClr val="102B50"/>
          </a:solidFill>
          <a:ln w="10160">
            <a:solidFill>
              <a:srgbClr val="96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ask-2-0"/>
          <p:cNvSpPr/>
          <p:nvPr/>
        </p:nvSpPr>
        <p:spPr>
          <a:xfrm>
            <a:off x="1773936" y="3575304"/>
            <a:ext cx="1161288" cy="621792"/>
          </a:xfrm>
          <a:prstGeom prst="roundRect">
            <a:avLst/>
          </a:prstGeom>
          <a:solidFill>
            <a:srgbClr val="102B50"/>
          </a:solidFill>
          <a:ln w="1016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ask-2-1"/>
          <p:cNvSpPr/>
          <p:nvPr/>
        </p:nvSpPr>
        <p:spPr>
          <a:xfrm>
            <a:off x="3127248" y="3575304"/>
            <a:ext cx="1161288" cy="621792"/>
          </a:xfrm>
          <a:prstGeom prst="roundRect">
            <a:avLst/>
          </a:prstGeom>
          <a:solidFill>
            <a:srgbClr val="102B50"/>
          </a:solidFill>
          <a:ln w="1016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ask-2-2"/>
          <p:cNvSpPr/>
          <p:nvPr/>
        </p:nvSpPr>
        <p:spPr>
          <a:xfrm>
            <a:off x="4480560" y="3575304"/>
            <a:ext cx="1161288" cy="621792"/>
          </a:xfrm>
          <a:prstGeom prst="roundRect">
            <a:avLst/>
          </a:prstGeom>
          <a:solidFill>
            <a:srgbClr val="102B50"/>
          </a:solidFill>
          <a:ln w="1016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ask-2-3"/>
          <p:cNvSpPr/>
          <p:nvPr/>
        </p:nvSpPr>
        <p:spPr>
          <a:xfrm>
            <a:off x="5833872" y="3575304"/>
            <a:ext cx="1161288" cy="621792"/>
          </a:xfrm>
          <a:prstGeom prst="roundRect">
            <a:avLst/>
          </a:prstGeom>
          <a:solidFill>
            <a:srgbClr val="102B50"/>
          </a:solidFill>
          <a:ln w="1016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ask-2-4"/>
          <p:cNvSpPr/>
          <p:nvPr/>
        </p:nvSpPr>
        <p:spPr>
          <a:xfrm>
            <a:off x="7187184" y="3575304"/>
            <a:ext cx="1161288" cy="621792"/>
          </a:xfrm>
          <a:prstGeom prst="roundRect">
            <a:avLst/>
          </a:prstGeom>
          <a:solidFill>
            <a:srgbClr val="102B50"/>
          </a:solidFill>
          <a:ln w="1016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ask-3-0"/>
          <p:cNvSpPr/>
          <p:nvPr/>
        </p:nvSpPr>
        <p:spPr>
          <a:xfrm>
            <a:off x="1773936" y="4745736"/>
            <a:ext cx="1161288" cy="621792"/>
          </a:xfrm>
          <a:prstGeom prst="roundRect">
            <a:avLst/>
          </a:prstGeom>
          <a:solidFill>
            <a:srgbClr val="102B50"/>
          </a:solidFill>
          <a:ln w="10160">
            <a:solidFill>
              <a:srgbClr val="64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ask-3-1"/>
          <p:cNvSpPr/>
          <p:nvPr/>
        </p:nvSpPr>
        <p:spPr>
          <a:xfrm>
            <a:off x="3127248" y="4745736"/>
            <a:ext cx="1161288" cy="621792"/>
          </a:xfrm>
          <a:prstGeom prst="roundRect">
            <a:avLst/>
          </a:prstGeom>
          <a:solidFill>
            <a:srgbClr val="102B50"/>
          </a:solidFill>
          <a:ln w="10160">
            <a:solidFill>
              <a:srgbClr val="64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ask-3-2"/>
          <p:cNvSpPr/>
          <p:nvPr/>
        </p:nvSpPr>
        <p:spPr>
          <a:xfrm>
            <a:off x="4480560" y="4745736"/>
            <a:ext cx="1161288" cy="621792"/>
          </a:xfrm>
          <a:prstGeom prst="roundRect">
            <a:avLst/>
          </a:prstGeom>
          <a:solidFill>
            <a:srgbClr val="102B50"/>
          </a:solidFill>
          <a:ln w="10160">
            <a:solidFill>
              <a:srgbClr val="64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ask-3-3"/>
          <p:cNvSpPr/>
          <p:nvPr/>
        </p:nvSpPr>
        <p:spPr>
          <a:xfrm>
            <a:off x="5833872" y="4745736"/>
            <a:ext cx="1161288" cy="621792"/>
          </a:xfrm>
          <a:prstGeom prst="roundRect">
            <a:avLst/>
          </a:prstGeom>
          <a:solidFill>
            <a:srgbClr val="102B50"/>
          </a:solidFill>
          <a:ln w="10160">
            <a:solidFill>
              <a:srgbClr val="64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ask-3-4"/>
          <p:cNvSpPr/>
          <p:nvPr/>
        </p:nvSpPr>
        <p:spPr>
          <a:xfrm>
            <a:off x="7187184" y="4745736"/>
            <a:ext cx="1161288" cy="621792"/>
          </a:xfrm>
          <a:prstGeom prst="roundRect">
            <a:avLst/>
          </a:prstGeom>
          <a:solidFill>
            <a:srgbClr val="102B50"/>
          </a:solidFill>
          <a:ln w="10160">
            <a:solidFill>
              <a:srgbClr val="64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bar-0"/>
          <p:cNvSpPr/>
          <p:nvPr/>
        </p:nvSpPr>
        <p:spPr>
          <a:xfrm>
            <a:off x="9454896" y="3771900"/>
            <a:ext cx="155448" cy="946403"/>
          </a:xfrm>
          <a:prstGeom prst="roundRect">
            <a:avLst/>
          </a:prstGeom>
          <a:solidFill>
            <a:srgbClr val="64C8FF"/>
          </a:solidFill>
          <a:ln w="10160">
            <a:solidFill>
              <a:srgbClr val="64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bar-1"/>
          <p:cNvSpPr/>
          <p:nvPr/>
        </p:nvSpPr>
        <p:spPr>
          <a:xfrm>
            <a:off x="9701784" y="3204057"/>
            <a:ext cx="155448" cy="1514246"/>
          </a:xfrm>
          <a:prstGeom prst="roundRect">
            <a:avLst/>
          </a:prstGeom>
          <a:solidFill>
            <a:srgbClr val="96DCFF"/>
          </a:solidFill>
          <a:ln w="10160">
            <a:solidFill>
              <a:srgbClr val="96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bar-2"/>
          <p:cNvSpPr/>
          <p:nvPr/>
        </p:nvSpPr>
        <p:spPr>
          <a:xfrm>
            <a:off x="9948672" y="3498494"/>
            <a:ext cx="155448" cy="1219809"/>
          </a:xfrm>
          <a:prstGeom prst="roundRect">
            <a:avLst/>
          </a:prstGeom>
          <a:solidFill>
            <a:srgbClr val="64B4FF"/>
          </a:solidFill>
          <a:ln w="1016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bar-3"/>
          <p:cNvSpPr/>
          <p:nvPr/>
        </p:nvSpPr>
        <p:spPr>
          <a:xfrm>
            <a:off x="10195560" y="2909620"/>
            <a:ext cx="155448" cy="1808683"/>
          </a:xfrm>
          <a:prstGeom prst="roundRect">
            <a:avLst/>
          </a:prstGeom>
          <a:solidFill>
            <a:srgbClr val="64C8FF"/>
          </a:solidFill>
          <a:ln w="10160">
            <a:solidFill>
              <a:srgbClr val="64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bar-4"/>
          <p:cNvSpPr/>
          <p:nvPr/>
        </p:nvSpPr>
        <p:spPr>
          <a:xfrm>
            <a:off x="10442448" y="3330244"/>
            <a:ext cx="155448" cy="1388059"/>
          </a:xfrm>
          <a:prstGeom prst="roundRect">
            <a:avLst/>
          </a:prstGeom>
          <a:solidFill>
            <a:srgbClr val="64C8FF"/>
          </a:solidFill>
          <a:ln w="10160">
            <a:solidFill>
              <a:srgbClr val="64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bar-5"/>
          <p:cNvSpPr/>
          <p:nvPr/>
        </p:nvSpPr>
        <p:spPr>
          <a:xfrm>
            <a:off x="10689336" y="2783433"/>
            <a:ext cx="155448" cy="1934870"/>
          </a:xfrm>
          <a:prstGeom prst="roundRect">
            <a:avLst/>
          </a:prstGeom>
          <a:solidFill>
            <a:srgbClr val="96DCFF"/>
          </a:solidFill>
          <a:ln w="10160">
            <a:solidFill>
              <a:srgbClr val="96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bar-6"/>
          <p:cNvSpPr/>
          <p:nvPr/>
        </p:nvSpPr>
        <p:spPr>
          <a:xfrm>
            <a:off x="10936224" y="3119932"/>
            <a:ext cx="155448" cy="1598371"/>
          </a:xfrm>
          <a:prstGeom prst="roundRect">
            <a:avLst/>
          </a:prstGeom>
          <a:solidFill>
            <a:srgbClr val="64B4FF"/>
          </a:solidFill>
          <a:ln w="1016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bar-7"/>
          <p:cNvSpPr/>
          <p:nvPr/>
        </p:nvSpPr>
        <p:spPr>
          <a:xfrm>
            <a:off x="11183112" y="3603650"/>
            <a:ext cx="155448" cy="1114653"/>
          </a:xfrm>
          <a:prstGeom prst="roundRect">
            <a:avLst/>
          </a:prstGeom>
          <a:solidFill>
            <a:srgbClr val="64C8FF"/>
          </a:solidFill>
          <a:ln w="10160">
            <a:solidFill>
              <a:srgbClr val="64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check-dot-0"/>
          <p:cNvSpPr/>
          <p:nvPr/>
        </p:nvSpPr>
        <p:spPr>
          <a:xfrm>
            <a:off x="9436608" y="5321808"/>
            <a:ext cx="91440" cy="91440"/>
          </a:xfrm>
          <a:prstGeom prst="ellipse">
            <a:avLst/>
          </a:prstGeom>
          <a:solidFill>
            <a:srgbClr val="64C8FF"/>
          </a:solidFill>
          <a:ln w="10160">
            <a:solidFill>
              <a:srgbClr val="64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check-dot-1"/>
          <p:cNvSpPr/>
          <p:nvPr/>
        </p:nvSpPr>
        <p:spPr>
          <a:xfrm>
            <a:off x="9436608" y="5486400"/>
            <a:ext cx="91440" cy="91440"/>
          </a:xfrm>
          <a:prstGeom prst="ellipse">
            <a:avLst/>
          </a:prstGeom>
          <a:solidFill>
            <a:srgbClr val="64C8FF"/>
          </a:solidFill>
          <a:ln w="10160">
            <a:solidFill>
              <a:srgbClr val="64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check-dot-2"/>
          <p:cNvSpPr/>
          <p:nvPr/>
        </p:nvSpPr>
        <p:spPr>
          <a:xfrm>
            <a:off x="9436608" y="5650992"/>
            <a:ext cx="91440" cy="91440"/>
          </a:xfrm>
          <a:prstGeom prst="ellipse">
            <a:avLst/>
          </a:prstGeom>
          <a:solidFill>
            <a:srgbClr val="64C8FF"/>
          </a:solidFill>
          <a:ln w="10160">
            <a:solidFill>
              <a:srgbClr val="64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check-dot-3"/>
          <p:cNvSpPr/>
          <p:nvPr/>
        </p:nvSpPr>
        <p:spPr>
          <a:xfrm>
            <a:off x="9436608" y="5815584"/>
            <a:ext cx="91440" cy="91440"/>
          </a:xfrm>
          <a:prstGeom prst="ellipse">
            <a:avLst/>
          </a:prstGeom>
          <a:solidFill>
            <a:srgbClr val="64B4FF"/>
          </a:solidFill>
          <a:ln w="1016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profile-tag"/>
          <p:cNvSpPr txBox="1"/>
          <p:nvPr/>
        </p:nvSpPr>
        <p:spPr>
          <a:xfrm>
            <a:off x="457200" y="201168"/>
            <a:ext cx="768096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1" lang="en-US">
                <a:solidFill>
                  <a:srgbClr val="64C8FF"/>
                </a:solidFill>
                <a:latin typeface="Consolas"/>
              </a:rPr>
              <a:t>V3 STRESS SUITE  ·  ARCHITECTURAL BLUEPRINT  ·  DELIVERY WORKBENCH</a:t>
            </a:r>
          </a:p>
        </p:txBody>
      </p:sp>
      <p:sp>
        <p:nvSpPr>
          <p:cNvPr id="67" name="slide-index"/>
          <p:cNvSpPr txBox="1"/>
          <p:nvPr/>
        </p:nvSpPr>
        <p:spPr>
          <a:xfrm>
            <a:off x="10808208" y="201168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00" b="1" lang="en-US">
                <a:solidFill>
                  <a:srgbClr val="64C8FF"/>
                </a:solidFill>
                <a:latin typeface="Consolas"/>
              </a:rPr>
              <a:t>50/60</a:t>
            </a:r>
          </a:p>
        </p:txBody>
      </p:sp>
      <p:sp>
        <p:nvSpPr>
          <p:cNvPr id="68" name="title"/>
          <p:cNvSpPr txBox="1"/>
          <p:nvPr/>
        </p:nvSpPr>
        <p:spPr>
          <a:xfrm>
            <a:off x="457200" y="484632"/>
            <a:ext cx="11274552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200" b="1" lang="en-US">
                <a:solidFill>
                  <a:srgbClr val="96DCFF"/>
                </a:solidFill>
                <a:latin typeface="Consolas"/>
              </a:rPr>
              <a:t>Delivery workbenches keep parallel work lanes legible under load</a:t>
            </a:r>
          </a:p>
        </p:txBody>
      </p:sp>
      <p:sp>
        <p:nvSpPr>
          <p:cNvPr id="69" name="footer"/>
          <p:cNvSpPr txBox="1"/>
          <p:nvPr/>
        </p:nvSpPr>
        <p:spPr>
          <a:xfrm>
            <a:off x="457200" y="6473952"/>
            <a:ext cx="1051560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0" lang="en-US">
                <a:solidFill>
                  <a:srgbClr val="64C8FF"/>
                </a:solidFill>
                <a:latin typeface="Consolas"/>
              </a:rPr>
              <a:t>Native-object stress fixture · dual cyan blueprint grid, dimension lines, and a circular stamp · editable geometry and recorded style lock</a:t>
            </a:r>
          </a:p>
        </p:txBody>
      </p:sp>
      <p:sp>
        <p:nvSpPr>
          <p:cNvPr id="70" name="lane-name-0"/>
          <p:cNvSpPr txBox="1"/>
          <p:nvPr/>
        </p:nvSpPr>
        <p:spPr>
          <a:xfrm>
            <a:off x="566928" y="1444752"/>
            <a:ext cx="868680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lang="en-US">
                <a:solidFill>
                  <a:srgbClr val="111111"/>
                </a:solidFill>
                <a:latin typeface="Consolas"/>
              </a:rPr>
              <a:t>INTAKE</a:t>
            </a:r>
          </a:p>
        </p:txBody>
      </p:sp>
      <p:sp>
        <p:nvSpPr>
          <p:cNvPr id="71" name="task-title-0-0"/>
          <p:cNvSpPr txBox="1"/>
          <p:nvPr/>
        </p:nvSpPr>
        <p:spPr>
          <a:xfrm>
            <a:off x="1847088" y="1362456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96DCFF"/>
                </a:solidFill>
                <a:latin typeface="Consolas"/>
              </a:rPr>
              <a:t>Scope</a:t>
            </a:r>
          </a:p>
        </p:txBody>
      </p:sp>
      <p:sp>
        <p:nvSpPr>
          <p:cNvPr id="72" name="task-state-0-0"/>
          <p:cNvSpPr txBox="1"/>
          <p:nvPr/>
        </p:nvSpPr>
        <p:spPr>
          <a:xfrm>
            <a:off x="1847088" y="1545336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64C8FF"/>
                </a:solidFill>
                <a:latin typeface="Consolas"/>
              </a:rPr>
              <a:t>new</a:t>
            </a:r>
          </a:p>
        </p:txBody>
      </p:sp>
      <p:sp>
        <p:nvSpPr>
          <p:cNvPr id="73" name="task-title-0-1"/>
          <p:cNvSpPr txBox="1"/>
          <p:nvPr/>
        </p:nvSpPr>
        <p:spPr>
          <a:xfrm>
            <a:off x="3200400" y="1362456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96DCFF"/>
                </a:solidFill>
                <a:latin typeface="Consolas"/>
              </a:rPr>
              <a:t>Profile</a:t>
            </a:r>
          </a:p>
        </p:txBody>
      </p:sp>
      <p:sp>
        <p:nvSpPr>
          <p:cNvPr id="74" name="task-state-0-1"/>
          <p:cNvSpPr txBox="1"/>
          <p:nvPr/>
        </p:nvSpPr>
        <p:spPr>
          <a:xfrm>
            <a:off x="3200400" y="1545336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64C8FF"/>
                </a:solidFill>
                <a:latin typeface="Consolas"/>
              </a:rPr>
              <a:t>locked</a:t>
            </a:r>
          </a:p>
        </p:txBody>
      </p:sp>
      <p:sp>
        <p:nvSpPr>
          <p:cNvPr id="75" name="task-title-0-2"/>
          <p:cNvSpPr txBox="1"/>
          <p:nvPr/>
        </p:nvSpPr>
        <p:spPr>
          <a:xfrm>
            <a:off x="4553712" y="1362456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96DCFF"/>
                </a:solidFill>
                <a:latin typeface="Consolas"/>
              </a:rPr>
              <a:t>Spec</a:t>
            </a:r>
          </a:p>
        </p:txBody>
      </p:sp>
      <p:sp>
        <p:nvSpPr>
          <p:cNvPr id="76" name="task-state-0-2"/>
          <p:cNvSpPr txBox="1"/>
          <p:nvPr/>
        </p:nvSpPr>
        <p:spPr>
          <a:xfrm>
            <a:off x="4553712" y="1545336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64C8FF"/>
                </a:solidFill>
                <a:latin typeface="Consolas"/>
              </a:rPr>
              <a:t>ready</a:t>
            </a:r>
          </a:p>
        </p:txBody>
      </p:sp>
      <p:sp>
        <p:nvSpPr>
          <p:cNvPr id="77" name="task-title-0-3"/>
          <p:cNvSpPr txBox="1"/>
          <p:nvPr/>
        </p:nvSpPr>
        <p:spPr>
          <a:xfrm>
            <a:off x="5907024" y="1362456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96DCFF"/>
                </a:solidFill>
                <a:latin typeface="Consolas"/>
              </a:rPr>
              <a:t>Audit</a:t>
            </a:r>
          </a:p>
        </p:txBody>
      </p:sp>
      <p:sp>
        <p:nvSpPr>
          <p:cNvPr id="78" name="task-state-0-3"/>
          <p:cNvSpPr txBox="1"/>
          <p:nvPr/>
        </p:nvSpPr>
        <p:spPr>
          <a:xfrm>
            <a:off x="5907024" y="1545336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64C8FF"/>
                </a:solidFill>
                <a:latin typeface="Consolas"/>
              </a:rPr>
              <a:t>pass</a:t>
            </a:r>
          </a:p>
        </p:txBody>
      </p:sp>
      <p:sp>
        <p:nvSpPr>
          <p:cNvPr id="79" name="task-title-0-4"/>
          <p:cNvSpPr txBox="1"/>
          <p:nvPr/>
        </p:nvSpPr>
        <p:spPr>
          <a:xfrm>
            <a:off x="7260336" y="1362456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96DCFF"/>
                </a:solidFill>
                <a:latin typeface="Consolas"/>
              </a:rPr>
              <a:t>Owner</a:t>
            </a:r>
          </a:p>
        </p:txBody>
      </p:sp>
      <p:sp>
        <p:nvSpPr>
          <p:cNvPr id="80" name="task-state-0-4"/>
          <p:cNvSpPr txBox="1"/>
          <p:nvPr/>
        </p:nvSpPr>
        <p:spPr>
          <a:xfrm>
            <a:off x="7260336" y="1545336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64C8FF"/>
                </a:solidFill>
                <a:latin typeface="Consolas"/>
              </a:rPr>
              <a:t>assigned</a:t>
            </a:r>
          </a:p>
        </p:txBody>
      </p:sp>
      <p:sp>
        <p:nvSpPr>
          <p:cNvPr id="81" name="lane-name-1"/>
          <p:cNvSpPr txBox="1"/>
          <p:nvPr/>
        </p:nvSpPr>
        <p:spPr>
          <a:xfrm>
            <a:off x="566928" y="2615184"/>
            <a:ext cx="868680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lang="en-US">
                <a:solidFill>
                  <a:srgbClr val="111111"/>
                </a:solidFill>
                <a:latin typeface="Consolas"/>
              </a:rPr>
              <a:t>AUTHOR</a:t>
            </a:r>
          </a:p>
        </p:txBody>
      </p:sp>
      <p:sp>
        <p:nvSpPr>
          <p:cNvPr id="82" name="task-title-1-0"/>
          <p:cNvSpPr txBox="1"/>
          <p:nvPr/>
        </p:nvSpPr>
        <p:spPr>
          <a:xfrm>
            <a:off x="1847088" y="2532888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96DCFF"/>
                </a:solidFill>
                <a:latin typeface="Consolas"/>
              </a:rPr>
              <a:t>Scope</a:t>
            </a:r>
          </a:p>
        </p:txBody>
      </p:sp>
      <p:sp>
        <p:nvSpPr>
          <p:cNvPr id="83" name="task-state-1-0"/>
          <p:cNvSpPr txBox="1"/>
          <p:nvPr/>
        </p:nvSpPr>
        <p:spPr>
          <a:xfrm>
            <a:off x="1847088" y="2715768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96DCFF"/>
                </a:solidFill>
                <a:latin typeface="Consolas"/>
              </a:rPr>
              <a:t>locked</a:t>
            </a:r>
          </a:p>
        </p:txBody>
      </p:sp>
      <p:sp>
        <p:nvSpPr>
          <p:cNvPr id="84" name="task-title-1-1"/>
          <p:cNvSpPr txBox="1"/>
          <p:nvPr/>
        </p:nvSpPr>
        <p:spPr>
          <a:xfrm>
            <a:off x="3200400" y="2532888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96DCFF"/>
                </a:solidFill>
                <a:latin typeface="Consolas"/>
              </a:rPr>
              <a:t>Profile</a:t>
            </a:r>
          </a:p>
        </p:txBody>
      </p:sp>
      <p:sp>
        <p:nvSpPr>
          <p:cNvPr id="85" name="task-state-1-1"/>
          <p:cNvSpPr txBox="1"/>
          <p:nvPr/>
        </p:nvSpPr>
        <p:spPr>
          <a:xfrm>
            <a:off x="3200400" y="2715768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96DCFF"/>
                </a:solidFill>
                <a:latin typeface="Consolas"/>
              </a:rPr>
              <a:t>ready</a:t>
            </a:r>
          </a:p>
        </p:txBody>
      </p:sp>
      <p:sp>
        <p:nvSpPr>
          <p:cNvPr id="86" name="task-title-1-2"/>
          <p:cNvSpPr txBox="1"/>
          <p:nvPr/>
        </p:nvSpPr>
        <p:spPr>
          <a:xfrm>
            <a:off x="4553712" y="2532888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96DCFF"/>
                </a:solidFill>
                <a:latin typeface="Consolas"/>
              </a:rPr>
              <a:t>Spec</a:t>
            </a:r>
          </a:p>
        </p:txBody>
      </p:sp>
      <p:sp>
        <p:nvSpPr>
          <p:cNvPr id="87" name="task-state-1-2"/>
          <p:cNvSpPr txBox="1"/>
          <p:nvPr/>
        </p:nvSpPr>
        <p:spPr>
          <a:xfrm>
            <a:off x="4553712" y="2715768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96DCFF"/>
                </a:solidFill>
                <a:latin typeface="Consolas"/>
              </a:rPr>
              <a:t>pass</a:t>
            </a:r>
          </a:p>
        </p:txBody>
      </p:sp>
      <p:sp>
        <p:nvSpPr>
          <p:cNvPr id="88" name="task-title-1-3"/>
          <p:cNvSpPr txBox="1"/>
          <p:nvPr/>
        </p:nvSpPr>
        <p:spPr>
          <a:xfrm>
            <a:off x="5907024" y="2532888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96DCFF"/>
                </a:solidFill>
                <a:latin typeface="Consolas"/>
              </a:rPr>
              <a:t>Audit</a:t>
            </a:r>
          </a:p>
        </p:txBody>
      </p:sp>
      <p:sp>
        <p:nvSpPr>
          <p:cNvPr id="89" name="task-state-1-3"/>
          <p:cNvSpPr txBox="1"/>
          <p:nvPr/>
        </p:nvSpPr>
        <p:spPr>
          <a:xfrm>
            <a:off x="5907024" y="2715768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96DCFF"/>
                </a:solidFill>
                <a:latin typeface="Consolas"/>
              </a:rPr>
              <a:t>assigned</a:t>
            </a:r>
          </a:p>
        </p:txBody>
      </p:sp>
      <p:sp>
        <p:nvSpPr>
          <p:cNvPr id="90" name="task-title-1-4"/>
          <p:cNvSpPr txBox="1"/>
          <p:nvPr/>
        </p:nvSpPr>
        <p:spPr>
          <a:xfrm>
            <a:off x="7260336" y="2532888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96DCFF"/>
                </a:solidFill>
                <a:latin typeface="Consolas"/>
              </a:rPr>
              <a:t>Owner</a:t>
            </a:r>
          </a:p>
        </p:txBody>
      </p:sp>
      <p:sp>
        <p:nvSpPr>
          <p:cNvPr id="91" name="task-state-1-4"/>
          <p:cNvSpPr txBox="1"/>
          <p:nvPr/>
        </p:nvSpPr>
        <p:spPr>
          <a:xfrm>
            <a:off x="7260336" y="2715768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96DCFF"/>
                </a:solidFill>
                <a:latin typeface="Consolas"/>
              </a:rPr>
              <a:t>new</a:t>
            </a:r>
          </a:p>
        </p:txBody>
      </p:sp>
      <p:sp>
        <p:nvSpPr>
          <p:cNvPr id="92" name="lane-name-2"/>
          <p:cNvSpPr txBox="1"/>
          <p:nvPr/>
        </p:nvSpPr>
        <p:spPr>
          <a:xfrm>
            <a:off x="566928" y="3785615"/>
            <a:ext cx="868680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lang="en-US">
                <a:solidFill>
                  <a:srgbClr val="111111"/>
                </a:solidFill>
                <a:latin typeface="Consolas"/>
              </a:rPr>
              <a:t>VERIFY</a:t>
            </a:r>
          </a:p>
        </p:txBody>
      </p:sp>
      <p:sp>
        <p:nvSpPr>
          <p:cNvPr id="93" name="task-title-2-0"/>
          <p:cNvSpPr txBox="1"/>
          <p:nvPr/>
        </p:nvSpPr>
        <p:spPr>
          <a:xfrm>
            <a:off x="1847088" y="3703320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96DCFF"/>
                </a:solidFill>
                <a:latin typeface="Consolas"/>
              </a:rPr>
              <a:t>Scope</a:t>
            </a:r>
          </a:p>
        </p:txBody>
      </p:sp>
      <p:sp>
        <p:nvSpPr>
          <p:cNvPr id="94" name="task-state-2-0"/>
          <p:cNvSpPr txBox="1"/>
          <p:nvPr/>
        </p:nvSpPr>
        <p:spPr>
          <a:xfrm>
            <a:off x="1847088" y="3886200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64B4FF"/>
                </a:solidFill>
                <a:latin typeface="Consolas"/>
              </a:rPr>
              <a:t>ready</a:t>
            </a:r>
          </a:p>
        </p:txBody>
      </p:sp>
      <p:sp>
        <p:nvSpPr>
          <p:cNvPr id="95" name="task-title-2-1"/>
          <p:cNvSpPr txBox="1"/>
          <p:nvPr/>
        </p:nvSpPr>
        <p:spPr>
          <a:xfrm>
            <a:off x="3200400" y="3703320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96DCFF"/>
                </a:solidFill>
                <a:latin typeface="Consolas"/>
              </a:rPr>
              <a:t>Profile</a:t>
            </a:r>
          </a:p>
        </p:txBody>
      </p:sp>
      <p:sp>
        <p:nvSpPr>
          <p:cNvPr id="96" name="task-state-2-1"/>
          <p:cNvSpPr txBox="1"/>
          <p:nvPr/>
        </p:nvSpPr>
        <p:spPr>
          <a:xfrm>
            <a:off x="3200400" y="3886200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64B4FF"/>
                </a:solidFill>
                <a:latin typeface="Consolas"/>
              </a:rPr>
              <a:t>pass</a:t>
            </a:r>
          </a:p>
        </p:txBody>
      </p:sp>
      <p:sp>
        <p:nvSpPr>
          <p:cNvPr id="97" name="task-title-2-2"/>
          <p:cNvSpPr txBox="1"/>
          <p:nvPr/>
        </p:nvSpPr>
        <p:spPr>
          <a:xfrm>
            <a:off x="4553712" y="3703320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96DCFF"/>
                </a:solidFill>
                <a:latin typeface="Consolas"/>
              </a:rPr>
              <a:t>Spec</a:t>
            </a:r>
          </a:p>
        </p:txBody>
      </p:sp>
      <p:sp>
        <p:nvSpPr>
          <p:cNvPr id="98" name="task-state-2-2"/>
          <p:cNvSpPr txBox="1"/>
          <p:nvPr/>
        </p:nvSpPr>
        <p:spPr>
          <a:xfrm>
            <a:off x="4553712" y="3886200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64B4FF"/>
                </a:solidFill>
                <a:latin typeface="Consolas"/>
              </a:rPr>
              <a:t>assigned</a:t>
            </a:r>
          </a:p>
        </p:txBody>
      </p:sp>
      <p:sp>
        <p:nvSpPr>
          <p:cNvPr id="99" name="task-title-2-3"/>
          <p:cNvSpPr txBox="1"/>
          <p:nvPr/>
        </p:nvSpPr>
        <p:spPr>
          <a:xfrm>
            <a:off x="5907024" y="3703320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96DCFF"/>
                </a:solidFill>
                <a:latin typeface="Consolas"/>
              </a:rPr>
              <a:t>Audit</a:t>
            </a:r>
          </a:p>
        </p:txBody>
      </p:sp>
      <p:sp>
        <p:nvSpPr>
          <p:cNvPr id="100" name="task-state-2-3"/>
          <p:cNvSpPr txBox="1"/>
          <p:nvPr/>
        </p:nvSpPr>
        <p:spPr>
          <a:xfrm>
            <a:off x="5907024" y="3886200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64B4FF"/>
                </a:solidFill>
                <a:latin typeface="Consolas"/>
              </a:rPr>
              <a:t>new</a:t>
            </a:r>
          </a:p>
        </p:txBody>
      </p:sp>
      <p:sp>
        <p:nvSpPr>
          <p:cNvPr id="101" name="task-title-2-4"/>
          <p:cNvSpPr txBox="1"/>
          <p:nvPr/>
        </p:nvSpPr>
        <p:spPr>
          <a:xfrm>
            <a:off x="7260336" y="3703320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96DCFF"/>
                </a:solidFill>
                <a:latin typeface="Consolas"/>
              </a:rPr>
              <a:t>Owner</a:t>
            </a:r>
          </a:p>
        </p:txBody>
      </p:sp>
      <p:sp>
        <p:nvSpPr>
          <p:cNvPr id="102" name="task-state-2-4"/>
          <p:cNvSpPr txBox="1"/>
          <p:nvPr/>
        </p:nvSpPr>
        <p:spPr>
          <a:xfrm>
            <a:off x="7260336" y="3886200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64B4FF"/>
                </a:solidFill>
                <a:latin typeface="Consolas"/>
              </a:rPr>
              <a:t>locked</a:t>
            </a:r>
          </a:p>
        </p:txBody>
      </p:sp>
      <p:sp>
        <p:nvSpPr>
          <p:cNvPr id="103" name="lane-name-3"/>
          <p:cNvSpPr txBox="1"/>
          <p:nvPr/>
        </p:nvSpPr>
        <p:spPr>
          <a:xfrm>
            <a:off x="566928" y="4956048"/>
            <a:ext cx="868680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lang="en-US">
                <a:solidFill>
                  <a:srgbClr val="111111"/>
                </a:solidFill>
                <a:latin typeface="Consolas"/>
              </a:rPr>
              <a:t>SHIP</a:t>
            </a:r>
          </a:p>
        </p:txBody>
      </p:sp>
      <p:sp>
        <p:nvSpPr>
          <p:cNvPr id="104" name="task-title-3-0"/>
          <p:cNvSpPr txBox="1"/>
          <p:nvPr/>
        </p:nvSpPr>
        <p:spPr>
          <a:xfrm>
            <a:off x="1847088" y="4873752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96DCFF"/>
                </a:solidFill>
                <a:latin typeface="Consolas"/>
              </a:rPr>
              <a:t>Scope</a:t>
            </a:r>
          </a:p>
        </p:txBody>
      </p:sp>
      <p:sp>
        <p:nvSpPr>
          <p:cNvPr id="105" name="task-state-3-0"/>
          <p:cNvSpPr txBox="1"/>
          <p:nvPr/>
        </p:nvSpPr>
        <p:spPr>
          <a:xfrm>
            <a:off x="1847088" y="5056632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64C8FF"/>
                </a:solidFill>
                <a:latin typeface="Consolas"/>
              </a:rPr>
              <a:t>pass</a:t>
            </a:r>
          </a:p>
        </p:txBody>
      </p:sp>
      <p:sp>
        <p:nvSpPr>
          <p:cNvPr id="106" name="task-title-3-1"/>
          <p:cNvSpPr txBox="1"/>
          <p:nvPr/>
        </p:nvSpPr>
        <p:spPr>
          <a:xfrm>
            <a:off x="3200400" y="4873752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96DCFF"/>
                </a:solidFill>
                <a:latin typeface="Consolas"/>
              </a:rPr>
              <a:t>Profile</a:t>
            </a:r>
          </a:p>
        </p:txBody>
      </p:sp>
      <p:sp>
        <p:nvSpPr>
          <p:cNvPr id="107" name="task-state-3-1"/>
          <p:cNvSpPr txBox="1"/>
          <p:nvPr/>
        </p:nvSpPr>
        <p:spPr>
          <a:xfrm>
            <a:off x="3200400" y="5056632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64C8FF"/>
                </a:solidFill>
                <a:latin typeface="Consolas"/>
              </a:rPr>
              <a:t>assigned</a:t>
            </a:r>
          </a:p>
        </p:txBody>
      </p:sp>
      <p:sp>
        <p:nvSpPr>
          <p:cNvPr id="108" name="task-title-3-2"/>
          <p:cNvSpPr txBox="1"/>
          <p:nvPr/>
        </p:nvSpPr>
        <p:spPr>
          <a:xfrm>
            <a:off x="4553712" y="4873752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96DCFF"/>
                </a:solidFill>
                <a:latin typeface="Consolas"/>
              </a:rPr>
              <a:t>Spec</a:t>
            </a:r>
          </a:p>
        </p:txBody>
      </p:sp>
      <p:sp>
        <p:nvSpPr>
          <p:cNvPr id="109" name="task-state-3-2"/>
          <p:cNvSpPr txBox="1"/>
          <p:nvPr/>
        </p:nvSpPr>
        <p:spPr>
          <a:xfrm>
            <a:off x="4553712" y="5056632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64C8FF"/>
                </a:solidFill>
                <a:latin typeface="Consolas"/>
              </a:rPr>
              <a:t>new</a:t>
            </a:r>
          </a:p>
        </p:txBody>
      </p:sp>
      <p:sp>
        <p:nvSpPr>
          <p:cNvPr id="110" name="task-title-3-3"/>
          <p:cNvSpPr txBox="1"/>
          <p:nvPr/>
        </p:nvSpPr>
        <p:spPr>
          <a:xfrm>
            <a:off x="5907024" y="4873752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96DCFF"/>
                </a:solidFill>
                <a:latin typeface="Consolas"/>
              </a:rPr>
              <a:t>Audit</a:t>
            </a:r>
          </a:p>
        </p:txBody>
      </p:sp>
      <p:sp>
        <p:nvSpPr>
          <p:cNvPr id="111" name="task-state-3-3"/>
          <p:cNvSpPr txBox="1"/>
          <p:nvPr/>
        </p:nvSpPr>
        <p:spPr>
          <a:xfrm>
            <a:off x="5907024" y="5056632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64C8FF"/>
                </a:solidFill>
                <a:latin typeface="Consolas"/>
              </a:rPr>
              <a:t>locked</a:t>
            </a:r>
          </a:p>
        </p:txBody>
      </p:sp>
      <p:sp>
        <p:nvSpPr>
          <p:cNvPr id="112" name="task-title-3-4"/>
          <p:cNvSpPr txBox="1"/>
          <p:nvPr/>
        </p:nvSpPr>
        <p:spPr>
          <a:xfrm>
            <a:off x="7260336" y="4873752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96DCFF"/>
                </a:solidFill>
                <a:latin typeface="Consolas"/>
              </a:rPr>
              <a:t>Owner</a:t>
            </a:r>
          </a:p>
        </p:txBody>
      </p:sp>
      <p:sp>
        <p:nvSpPr>
          <p:cNvPr id="113" name="task-state-3-4"/>
          <p:cNvSpPr txBox="1"/>
          <p:nvPr/>
        </p:nvSpPr>
        <p:spPr>
          <a:xfrm>
            <a:off x="7260336" y="5056632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64C8FF"/>
                </a:solidFill>
                <a:latin typeface="Consolas"/>
              </a:rPr>
              <a:t>ready</a:t>
            </a:r>
          </a:p>
        </p:txBody>
      </p:sp>
      <p:sp>
        <p:nvSpPr>
          <p:cNvPr id="114" name="workbench-rail-title"/>
          <p:cNvSpPr txBox="1"/>
          <p:nvPr/>
        </p:nvSpPr>
        <p:spPr>
          <a:xfrm>
            <a:off x="9436608" y="1325880"/>
            <a:ext cx="196596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1" lang="en-US">
                <a:solidFill>
                  <a:srgbClr val="64C8FF"/>
                </a:solidFill>
                <a:latin typeface="Consolas"/>
              </a:rPr>
              <a:t>BUILD SIGNALS</a:t>
            </a:r>
          </a:p>
        </p:txBody>
      </p:sp>
      <p:sp>
        <p:nvSpPr>
          <p:cNvPr id="115" name="chart-label"/>
          <p:cNvSpPr txBox="1"/>
          <p:nvPr/>
        </p:nvSpPr>
        <p:spPr>
          <a:xfrm>
            <a:off x="9436608" y="4956048"/>
            <a:ext cx="192024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0" lang="en-US">
                <a:solidFill>
                  <a:srgbClr val="64C8FF"/>
                </a:solidFill>
                <a:latin typeface="Consolas"/>
              </a:rPr>
              <a:t>completion by work lane</a:t>
            </a:r>
          </a:p>
        </p:txBody>
      </p:sp>
      <p:sp>
        <p:nvSpPr>
          <p:cNvPr id="116" name="check-label-0"/>
          <p:cNvSpPr txBox="1"/>
          <p:nvPr/>
        </p:nvSpPr>
        <p:spPr>
          <a:xfrm>
            <a:off x="9619488" y="5303520"/>
            <a:ext cx="141732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1" lang="en-US">
                <a:solidFill>
                  <a:srgbClr val="96DCFF"/>
                </a:solidFill>
                <a:latin typeface="Consolas"/>
              </a:rPr>
              <a:t>bounds</a:t>
            </a:r>
          </a:p>
        </p:txBody>
      </p:sp>
      <p:sp>
        <p:nvSpPr>
          <p:cNvPr id="117" name="check-label-1"/>
          <p:cNvSpPr txBox="1"/>
          <p:nvPr/>
        </p:nvSpPr>
        <p:spPr>
          <a:xfrm>
            <a:off x="9619488" y="5468112"/>
            <a:ext cx="141732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1" lang="en-US">
                <a:solidFill>
                  <a:srgbClr val="96DCFF"/>
                </a:solidFill>
                <a:latin typeface="Consolas"/>
              </a:rPr>
              <a:t>content</a:t>
            </a:r>
          </a:p>
        </p:txBody>
      </p:sp>
      <p:sp>
        <p:nvSpPr>
          <p:cNvPr id="118" name="check-label-2"/>
          <p:cNvSpPr txBox="1"/>
          <p:nvPr/>
        </p:nvSpPr>
        <p:spPr>
          <a:xfrm>
            <a:off x="9619488" y="5632704"/>
            <a:ext cx="141732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1" lang="en-US">
                <a:solidFill>
                  <a:srgbClr val="96DCFF"/>
                </a:solidFill>
                <a:latin typeface="Consolas"/>
              </a:rPr>
              <a:t>tables</a:t>
            </a:r>
          </a:p>
        </p:txBody>
      </p:sp>
      <p:sp>
        <p:nvSpPr>
          <p:cNvPr id="119" name="check-label-3"/>
          <p:cNvSpPr txBox="1"/>
          <p:nvPr/>
        </p:nvSpPr>
        <p:spPr>
          <a:xfrm>
            <a:off x="9619488" y="5797296"/>
            <a:ext cx="141732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1" lang="en-US">
                <a:solidFill>
                  <a:srgbClr val="96DCFF"/>
                </a:solidFill>
                <a:latin typeface="Consolas"/>
              </a:rPr>
              <a:t>order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DDD0"/>
          </a:solidFill>
          <a:ln w="10160">
            <a:solidFill>
              <a:srgbClr val="E8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ollage-red-block"/>
          <p:cNvSpPr/>
          <p:nvPr/>
        </p:nvSpPr>
        <p:spPr>
          <a:xfrm>
            <a:off x="8595360" y="411480"/>
            <a:ext cx="2468880" cy="1234440"/>
          </a:xfrm>
          <a:prstGeom prst="rect">
            <a:avLst/>
          </a:prstGeom>
          <a:solidFill>
            <a:srgbClr val="D72638"/>
          </a:solidFill>
          <a:ln w="10160">
            <a:solidFill>
              <a:srgbClr val="D726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ollage-black-block"/>
          <p:cNvSpPr/>
          <p:nvPr/>
        </p:nvSpPr>
        <p:spPr>
          <a:xfrm>
            <a:off x="9464040" y="4983480"/>
            <a:ext cx="2267712" cy="1078992"/>
          </a:xfrm>
          <a:prstGeom prst="rect">
            <a:avLst/>
          </a:prstGeom>
          <a:solidFill>
            <a:srgbClr val="1A1A1A"/>
          </a:solidFill>
          <a:ln w="1016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op-band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D72638"/>
          </a:solidFill>
          <a:ln w="10160">
            <a:solidFill>
              <a:srgbClr val="D726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nav-shell"/>
          <p:cNvSpPr/>
          <p:nvPr/>
        </p:nvSpPr>
        <p:spPr>
          <a:xfrm>
            <a:off x="457200" y="1078992"/>
            <a:ext cx="1572768" cy="5102352"/>
          </a:xfrm>
          <a:prstGeom prst="rect">
            <a:avLst/>
          </a:prstGeom>
          <a:solidFill>
            <a:srgbClr val="FFFFFF"/>
          </a:solidFill>
          <a:ln w="10160">
            <a:solidFill>
              <a:srgbClr val="C8B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metric-0-shell"/>
          <p:cNvSpPr/>
          <p:nvPr/>
        </p:nvSpPr>
        <p:spPr>
          <a:xfrm>
            <a:off x="2249424" y="1078992"/>
            <a:ext cx="1161288" cy="768096"/>
          </a:xfrm>
          <a:prstGeom prst="rect">
            <a:avLst/>
          </a:prstGeom>
          <a:solidFill>
            <a:srgbClr val="F5D020"/>
          </a:solidFill>
          <a:ln w="10160">
            <a:solidFill>
              <a:srgbClr val="C8B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metric-1-shell"/>
          <p:cNvSpPr/>
          <p:nvPr/>
        </p:nvSpPr>
        <p:spPr>
          <a:xfrm>
            <a:off x="3557016" y="1078992"/>
            <a:ext cx="1161288" cy="768096"/>
          </a:xfrm>
          <a:prstGeom prst="rect">
            <a:avLst/>
          </a:prstGeom>
          <a:solidFill>
            <a:srgbClr val="F5D020"/>
          </a:solidFill>
          <a:ln w="10160">
            <a:solidFill>
              <a:srgbClr val="C8B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metric-2-shell"/>
          <p:cNvSpPr/>
          <p:nvPr/>
        </p:nvSpPr>
        <p:spPr>
          <a:xfrm>
            <a:off x="4864608" y="1078992"/>
            <a:ext cx="1161288" cy="768096"/>
          </a:xfrm>
          <a:prstGeom prst="rect">
            <a:avLst/>
          </a:prstGeom>
          <a:solidFill>
            <a:srgbClr val="F5D020"/>
          </a:solidFill>
          <a:ln w="10160">
            <a:solidFill>
              <a:srgbClr val="C8B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metric-3-shell"/>
          <p:cNvSpPr/>
          <p:nvPr/>
        </p:nvSpPr>
        <p:spPr>
          <a:xfrm>
            <a:off x="6172200" y="1078992"/>
            <a:ext cx="1161288" cy="768096"/>
          </a:xfrm>
          <a:prstGeom prst="rect">
            <a:avLst/>
          </a:prstGeom>
          <a:solidFill>
            <a:srgbClr val="F5D020"/>
          </a:solidFill>
          <a:ln w="10160">
            <a:solidFill>
              <a:srgbClr val="C8B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metric-4-shell"/>
          <p:cNvSpPr/>
          <p:nvPr/>
        </p:nvSpPr>
        <p:spPr>
          <a:xfrm>
            <a:off x="7479792" y="1078992"/>
            <a:ext cx="1161288" cy="768096"/>
          </a:xfrm>
          <a:prstGeom prst="rect">
            <a:avLst/>
          </a:prstGeom>
          <a:solidFill>
            <a:srgbClr val="F5D020"/>
          </a:solidFill>
          <a:ln w="10160">
            <a:solidFill>
              <a:srgbClr val="C8B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isk-rail-shell"/>
          <p:cNvSpPr/>
          <p:nvPr/>
        </p:nvSpPr>
        <p:spPr>
          <a:xfrm>
            <a:off x="9052560" y="1078992"/>
            <a:ext cx="2679192" cy="4389120"/>
          </a:xfrm>
          <a:prstGeom prst="rect">
            <a:avLst/>
          </a:prstGeom>
          <a:solidFill>
            <a:srgbClr val="FFFFFF"/>
          </a:solidFill>
          <a:ln w="10160">
            <a:solidFill>
              <a:srgbClr val="C8B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nav-accent"/>
          <p:cNvSpPr/>
          <p:nvPr/>
        </p:nvSpPr>
        <p:spPr>
          <a:xfrm>
            <a:off x="457200" y="1078992"/>
            <a:ext cx="73152" cy="5102352"/>
          </a:xfrm>
          <a:prstGeom prst="rect">
            <a:avLst/>
          </a:prstGeom>
          <a:solidFill>
            <a:srgbClr val="D72638"/>
          </a:solidFill>
          <a:ln w="10160">
            <a:solidFill>
              <a:srgbClr val="D726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nav-0"/>
          <p:cNvSpPr/>
          <p:nvPr/>
        </p:nvSpPr>
        <p:spPr>
          <a:xfrm>
            <a:off x="658368" y="1874519"/>
            <a:ext cx="1143000" cy="329184"/>
          </a:xfrm>
          <a:prstGeom prst="roundRect">
            <a:avLst/>
          </a:prstGeom>
          <a:solidFill>
            <a:srgbClr val="D72638"/>
          </a:solidFill>
          <a:ln w="10160">
            <a:solidFill>
              <a:srgbClr val="C8B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nav-1"/>
          <p:cNvSpPr/>
          <p:nvPr/>
        </p:nvSpPr>
        <p:spPr>
          <a:xfrm>
            <a:off x="658368" y="2386584"/>
            <a:ext cx="1143000" cy="329184"/>
          </a:xfrm>
          <a:prstGeom prst="roundRect">
            <a:avLst/>
          </a:prstGeom>
          <a:solidFill>
            <a:srgbClr val="F5D020"/>
          </a:solidFill>
          <a:ln w="10160">
            <a:solidFill>
              <a:srgbClr val="C8B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nav-2"/>
          <p:cNvSpPr/>
          <p:nvPr/>
        </p:nvSpPr>
        <p:spPr>
          <a:xfrm>
            <a:off x="658368" y="2898648"/>
            <a:ext cx="1143000" cy="329184"/>
          </a:xfrm>
          <a:prstGeom prst="roundRect">
            <a:avLst/>
          </a:prstGeom>
          <a:solidFill>
            <a:srgbClr val="F5D020"/>
          </a:solidFill>
          <a:ln w="10160">
            <a:solidFill>
              <a:srgbClr val="C8B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nav-3"/>
          <p:cNvSpPr/>
          <p:nvPr/>
        </p:nvSpPr>
        <p:spPr>
          <a:xfrm>
            <a:off x="658368" y="3410712"/>
            <a:ext cx="1143000" cy="329184"/>
          </a:xfrm>
          <a:prstGeom prst="roundRect">
            <a:avLst/>
          </a:prstGeom>
          <a:solidFill>
            <a:srgbClr val="F5D020"/>
          </a:solidFill>
          <a:ln w="10160">
            <a:solidFill>
              <a:srgbClr val="C8B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nav-4"/>
          <p:cNvSpPr/>
          <p:nvPr/>
        </p:nvSpPr>
        <p:spPr>
          <a:xfrm>
            <a:off x="658368" y="3922776"/>
            <a:ext cx="1143000" cy="329184"/>
          </a:xfrm>
          <a:prstGeom prst="roundRect">
            <a:avLst/>
          </a:prstGeom>
          <a:solidFill>
            <a:srgbClr val="F5D020"/>
          </a:solidFill>
          <a:ln w="10160">
            <a:solidFill>
              <a:srgbClr val="C8B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nav-5"/>
          <p:cNvSpPr/>
          <p:nvPr/>
        </p:nvSpPr>
        <p:spPr>
          <a:xfrm>
            <a:off x="658368" y="4434840"/>
            <a:ext cx="1143000" cy="329184"/>
          </a:xfrm>
          <a:prstGeom prst="roundRect">
            <a:avLst/>
          </a:prstGeom>
          <a:solidFill>
            <a:srgbClr val="F5D020"/>
          </a:solidFill>
          <a:ln w="10160">
            <a:solidFill>
              <a:srgbClr val="C8B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nav-6"/>
          <p:cNvSpPr/>
          <p:nvPr/>
        </p:nvSpPr>
        <p:spPr>
          <a:xfrm>
            <a:off x="658368" y="4946904"/>
            <a:ext cx="1143000" cy="329184"/>
          </a:xfrm>
          <a:prstGeom prst="roundRect">
            <a:avLst/>
          </a:prstGeom>
          <a:solidFill>
            <a:srgbClr val="F5D020"/>
          </a:solidFill>
          <a:ln w="10160">
            <a:solidFill>
              <a:srgbClr val="C8B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metric-0-accent"/>
          <p:cNvSpPr/>
          <p:nvPr/>
        </p:nvSpPr>
        <p:spPr>
          <a:xfrm>
            <a:off x="2249424" y="1078992"/>
            <a:ext cx="73152" cy="768096"/>
          </a:xfrm>
          <a:prstGeom prst="rect">
            <a:avLst/>
          </a:prstGeom>
          <a:solidFill>
            <a:srgbClr val="D72638"/>
          </a:solidFill>
          <a:ln w="10160">
            <a:solidFill>
              <a:srgbClr val="D726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metric-1-accent"/>
          <p:cNvSpPr/>
          <p:nvPr/>
        </p:nvSpPr>
        <p:spPr>
          <a:xfrm>
            <a:off x="3557016" y="1078992"/>
            <a:ext cx="73152" cy="768096"/>
          </a:xfrm>
          <a:prstGeom prst="rect">
            <a:avLst/>
          </a:prstGeom>
          <a:solidFill>
            <a:srgbClr val="F5D020"/>
          </a:solidFill>
          <a:ln w="10160">
            <a:solidFill>
              <a:srgbClr val="F5D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metric-2-accent"/>
          <p:cNvSpPr/>
          <p:nvPr/>
        </p:nvSpPr>
        <p:spPr>
          <a:xfrm>
            <a:off x="4864608" y="1078992"/>
            <a:ext cx="73152" cy="768096"/>
          </a:xfrm>
          <a:prstGeom prst="rect">
            <a:avLst/>
          </a:prstGeom>
          <a:solidFill>
            <a:srgbClr val="1A1A1A"/>
          </a:solidFill>
          <a:ln w="1016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metric-3-accent"/>
          <p:cNvSpPr/>
          <p:nvPr/>
        </p:nvSpPr>
        <p:spPr>
          <a:xfrm>
            <a:off x="6172200" y="1078992"/>
            <a:ext cx="73152" cy="768096"/>
          </a:xfrm>
          <a:prstGeom prst="rect">
            <a:avLst/>
          </a:prstGeom>
          <a:solidFill>
            <a:srgbClr val="F5D020"/>
          </a:solidFill>
          <a:ln w="10160">
            <a:solidFill>
              <a:srgbClr val="F5D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metric-4-accent"/>
          <p:cNvSpPr/>
          <p:nvPr/>
        </p:nvSpPr>
        <p:spPr>
          <a:xfrm>
            <a:off x="7479792" y="1078992"/>
            <a:ext cx="73152" cy="768096"/>
          </a:xfrm>
          <a:prstGeom prst="rect">
            <a:avLst/>
          </a:prstGeom>
          <a:solidFill>
            <a:srgbClr val="D72638"/>
          </a:solidFill>
          <a:ln w="10160">
            <a:solidFill>
              <a:srgbClr val="D726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isk-rail-accent"/>
          <p:cNvSpPr/>
          <p:nvPr/>
        </p:nvSpPr>
        <p:spPr>
          <a:xfrm>
            <a:off x="9052560" y="1078992"/>
            <a:ext cx="73152" cy="4389120"/>
          </a:xfrm>
          <a:prstGeom prst="rect">
            <a:avLst/>
          </a:prstGeom>
          <a:solidFill>
            <a:srgbClr val="D72638"/>
          </a:solidFill>
          <a:ln w="10160">
            <a:solidFill>
              <a:srgbClr val="D726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progress-track"/>
          <p:cNvSpPr/>
          <p:nvPr/>
        </p:nvSpPr>
        <p:spPr>
          <a:xfrm>
            <a:off x="2249424" y="5687568"/>
            <a:ext cx="9482328" cy="3840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8B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28" name="signal-table"/>
          <p:cNvGraphicFramePr>
            <a:graphicFrameLocks noGrp="1"/>
          </p:cNvGraphicFramePr>
          <p:nvPr/>
        </p:nvGraphicFramePr>
        <p:xfrm>
          <a:off x="2249424" y="2066543"/>
          <a:ext cx="6537960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7592"/>
                <a:gridCol w="1307592"/>
                <a:gridCol w="1307592"/>
                <a:gridCol w="1307592"/>
                <a:gridCol w="1307592"/>
              </a:tblGrid>
              <a:tr h="425196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FFFFFF"/>
                          </a:solidFill>
                          <a:latin typeface="Georgia"/>
                        </a:rPr>
                        <a:t>Signal</a:t>
                      </a:r>
                    </a:p>
                  </a:txBody>
                  <a:tcPr marL="54864" marR="54864" marT="18288" marB="18288">
                    <a:solidFill>
                      <a:srgbClr val="D726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FFFFFF"/>
                          </a:solidFill>
                          <a:latin typeface="Georgia"/>
                        </a:rPr>
                        <a:t>Owner</a:t>
                      </a:r>
                    </a:p>
                  </a:txBody>
                  <a:tcPr marL="54864" marR="54864" marT="18288" marB="18288">
                    <a:solidFill>
                      <a:srgbClr val="D726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FFFFFF"/>
                          </a:solidFill>
                          <a:latin typeface="Georgia"/>
                        </a:rPr>
                        <a:t>State</a:t>
                      </a:r>
                    </a:p>
                  </a:txBody>
                  <a:tcPr marL="54864" marR="54864" marT="18288" marB="18288">
                    <a:solidFill>
                      <a:srgbClr val="D726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FFFFFF"/>
                          </a:solidFill>
                          <a:latin typeface="Georgia"/>
                        </a:rPr>
                        <a:t>Gate</a:t>
                      </a:r>
                    </a:p>
                  </a:txBody>
                  <a:tcPr marL="54864" marR="54864" marT="18288" marB="18288">
                    <a:solidFill>
                      <a:srgbClr val="D726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FFFFFF"/>
                          </a:solidFill>
                          <a:latin typeface="Georgia"/>
                        </a:rPr>
                        <a:t>Next</a:t>
                      </a:r>
                    </a:p>
                  </a:txBody>
                  <a:tcPr marL="54864" marR="54864" marT="18288" marB="18288">
                    <a:solidFill>
                      <a:srgbClr val="D72638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1A1A1A"/>
                          </a:solidFill>
                          <a:latin typeface="Georgia"/>
                        </a:rPr>
                        <a:t>S-01</a:t>
                      </a:r>
                    </a:p>
                  </a:txBody>
                  <a:tcPr marL="54864" marR="54864" marT="18288" marB="18288">
                    <a:solidFill>
                      <a:srgbClr val="F5D0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1A"/>
                          </a:solidFill>
                          <a:latin typeface="Georgia"/>
                        </a:rPr>
                        <a:t>Reviewer</a:t>
                      </a:r>
                    </a:p>
                  </a:txBody>
                  <a:tcPr marL="54864" marR="54864" marT="18288" marB="18288">
                    <a:solidFill>
                      <a:srgbClr val="F5D0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1A"/>
                          </a:solidFill>
                          <a:latin typeface="Georgia"/>
                        </a:rPr>
                        <a:t>Watch</a:t>
                      </a:r>
                    </a:p>
                  </a:txBody>
                  <a:tcPr marL="54864" marR="54864" marT="18288" marB="18288">
                    <a:solidFill>
                      <a:srgbClr val="F5D0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1A"/>
                          </a:solidFill>
                          <a:latin typeface="Georgia"/>
                        </a:rPr>
                        <a:t>Review</a:t>
                      </a:r>
                    </a:p>
                  </a:txBody>
                  <a:tcPr marL="54864" marR="54864" marT="18288" marB="18288">
                    <a:solidFill>
                      <a:srgbClr val="F5D0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1A"/>
                          </a:solidFill>
                          <a:latin typeface="Georgia"/>
                        </a:rPr>
                        <a:t>Check</a:t>
                      </a:r>
                    </a:p>
                  </a:txBody>
                  <a:tcPr marL="54864" marR="54864" marT="18288" marB="18288">
                    <a:solidFill>
                      <a:srgbClr val="F5D020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1A1A1A"/>
                          </a:solidFill>
                          <a:latin typeface="Georgia"/>
                        </a:rPr>
                        <a:t>S-02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1A"/>
                          </a:solidFill>
                          <a:latin typeface="Georgia"/>
                        </a:rPr>
                        <a:t>Auditor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1A"/>
                          </a:solidFill>
                          <a:latin typeface="Georgia"/>
                        </a:rPr>
                        <a:t>Hold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1A"/>
                          </a:solidFill>
                          <a:latin typeface="Georgia"/>
                        </a:rPr>
                        <a:t>Repair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1A"/>
                          </a:solidFill>
                          <a:latin typeface="Georgia"/>
                        </a:rPr>
                        <a:t>Fix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1A1A1A"/>
                          </a:solidFill>
                          <a:latin typeface="Georgia"/>
                        </a:rPr>
                        <a:t>S-03</a:t>
                      </a:r>
                    </a:p>
                  </a:txBody>
                  <a:tcPr marL="54864" marR="54864" marT="18288" marB="18288">
                    <a:solidFill>
                      <a:srgbClr val="F5D0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1A"/>
                          </a:solidFill>
                          <a:latin typeface="Georgia"/>
                        </a:rPr>
                        <a:t>Author</a:t>
                      </a:r>
                    </a:p>
                  </a:txBody>
                  <a:tcPr marL="54864" marR="54864" marT="18288" marB="18288">
                    <a:solidFill>
                      <a:srgbClr val="F5D0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1A"/>
                          </a:solidFill>
                          <a:latin typeface="Georgia"/>
                        </a:rPr>
                        <a:t>Ready</a:t>
                      </a:r>
                    </a:p>
                  </a:txBody>
                  <a:tcPr marL="54864" marR="54864" marT="18288" marB="18288">
                    <a:solidFill>
                      <a:srgbClr val="F5D0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1A"/>
                          </a:solidFill>
                          <a:latin typeface="Georgia"/>
                        </a:rPr>
                        <a:t>Pass</a:t>
                      </a:r>
                    </a:p>
                  </a:txBody>
                  <a:tcPr marL="54864" marR="54864" marT="18288" marB="18288">
                    <a:solidFill>
                      <a:srgbClr val="F5D0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1A"/>
                          </a:solidFill>
                          <a:latin typeface="Georgia"/>
                        </a:rPr>
                        <a:t>Ship</a:t>
                      </a:r>
                    </a:p>
                  </a:txBody>
                  <a:tcPr marL="54864" marR="54864" marT="18288" marB="18288">
                    <a:solidFill>
                      <a:srgbClr val="F5D020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1A1A1A"/>
                          </a:solidFill>
                          <a:latin typeface="Georgia"/>
                        </a:rPr>
                        <a:t>S-04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1A"/>
                          </a:solidFill>
                          <a:latin typeface="Georgia"/>
                        </a:rPr>
                        <a:t>Reviewer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1A"/>
                          </a:solidFill>
                          <a:latin typeface="Georgia"/>
                        </a:rPr>
                        <a:t>Watch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1A"/>
                          </a:solidFill>
                          <a:latin typeface="Georgia"/>
                        </a:rPr>
                        <a:t>Review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1A"/>
                          </a:solidFill>
                          <a:latin typeface="Georgia"/>
                        </a:rPr>
                        <a:t>Check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1A1A1A"/>
                          </a:solidFill>
                          <a:latin typeface="Georgia"/>
                        </a:rPr>
                        <a:t>S-05</a:t>
                      </a:r>
                    </a:p>
                  </a:txBody>
                  <a:tcPr marL="54864" marR="54864" marT="18288" marB="18288">
                    <a:solidFill>
                      <a:srgbClr val="F5D0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1A"/>
                          </a:solidFill>
                          <a:latin typeface="Georgia"/>
                        </a:rPr>
                        <a:t>Auditor</a:t>
                      </a:r>
                    </a:p>
                  </a:txBody>
                  <a:tcPr marL="54864" marR="54864" marT="18288" marB="18288">
                    <a:solidFill>
                      <a:srgbClr val="F5D0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1A"/>
                          </a:solidFill>
                          <a:latin typeface="Georgia"/>
                        </a:rPr>
                        <a:t>Hold</a:t>
                      </a:r>
                    </a:p>
                  </a:txBody>
                  <a:tcPr marL="54864" marR="54864" marT="18288" marB="18288">
                    <a:solidFill>
                      <a:srgbClr val="F5D0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1A"/>
                          </a:solidFill>
                          <a:latin typeface="Georgia"/>
                        </a:rPr>
                        <a:t>Repair</a:t>
                      </a:r>
                    </a:p>
                  </a:txBody>
                  <a:tcPr marL="54864" marR="54864" marT="18288" marB="18288">
                    <a:solidFill>
                      <a:srgbClr val="F5D0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1A"/>
                          </a:solidFill>
                          <a:latin typeface="Georgia"/>
                        </a:rPr>
                        <a:t>Fix</a:t>
                      </a:r>
                    </a:p>
                  </a:txBody>
                  <a:tcPr marL="54864" marR="54864" marT="18288" marB="18288">
                    <a:solidFill>
                      <a:srgbClr val="F5D020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1A1A1A"/>
                          </a:solidFill>
                          <a:latin typeface="Georgia"/>
                        </a:rPr>
                        <a:t>S-06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1A"/>
                          </a:solidFill>
                          <a:latin typeface="Georgia"/>
                        </a:rPr>
                        <a:t>Author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1A"/>
                          </a:solidFill>
                          <a:latin typeface="Georgia"/>
                        </a:rPr>
                        <a:t>Ready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1A"/>
                          </a:solidFill>
                          <a:latin typeface="Georgia"/>
                        </a:rPr>
                        <a:t>Pass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1A"/>
                          </a:solidFill>
                          <a:latin typeface="Georgia"/>
                        </a:rPr>
                        <a:t>Ship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1A1A1A"/>
                          </a:solidFill>
                          <a:latin typeface="Georgia"/>
                        </a:rPr>
                        <a:t>S-07</a:t>
                      </a:r>
                    </a:p>
                  </a:txBody>
                  <a:tcPr marL="54864" marR="54864" marT="18288" marB="18288">
                    <a:solidFill>
                      <a:srgbClr val="F5D0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1A"/>
                          </a:solidFill>
                          <a:latin typeface="Georgia"/>
                        </a:rPr>
                        <a:t>Reviewer</a:t>
                      </a:r>
                    </a:p>
                  </a:txBody>
                  <a:tcPr marL="54864" marR="54864" marT="18288" marB="18288">
                    <a:solidFill>
                      <a:srgbClr val="F5D0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1A"/>
                          </a:solidFill>
                          <a:latin typeface="Georgia"/>
                        </a:rPr>
                        <a:t>Watch</a:t>
                      </a:r>
                    </a:p>
                  </a:txBody>
                  <a:tcPr marL="54864" marR="54864" marT="18288" marB="18288">
                    <a:solidFill>
                      <a:srgbClr val="F5D0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1A"/>
                          </a:solidFill>
                          <a:latin typeface="Georgia"/>
                        </a:rPr>
                        <a:t>Review</a:t>
                      </a:r>
                    </a:p>
                  </a:txBody>
                  <a:tcPr marL="54864" marR="54864" marT="18288" marB="18288">
                    <a:solidFill>
                      <a:srgbClr val="F5D0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1A"/>
                          </a:solidFill>
                          <a:latin typeface="Georgia"/>
                        </a:rPr>
                        <a:t>Check</a:t>
                      </a:r>
                    </a:p>
                  </a:txBody>
                  <a:tcPr marL="54864" marR="54864" marT="18288" marB="18288">
                    <a:solidFill>
                      <a:srgbClr val="F5D020"/>
                    </a:solidFill>
                  </a:tcPr>
                </a:tc>
              </a:tr>
            </a:tbl>
          </a:graphicData>
        </a:graphic>
      </p:graphicFrame>
      <p:sp>
        <p:nvSpPr>
          <p:cNvPr id="29" name="risk-dot-0"/>
          <p:cNvSpPr/>
          <p:nvPr/>
        </p:nvSpPr>
        <p:spPr>
          <a:xfrm>
            <a:off x="9308592" y="1746504"/>
            <a:ext cx="164592" cy="164592"/>
          </a:xfrm>
          <a:prstGeom prst="ellipse">
            <a:avLst/>
          </a:prstGeom>
          <a:solidFill>
            <a:srgbClr val="D72638"/>
          </a:solidFill>
          <a:ln w="10160">
            <a:solidFill>
              <a:srgbClr val="D726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isk-dot-1"/>
          <p:cNvSpPr/>
          <p:nvPr/>
        </p:nvSpPr>
        <p:spPr>
          <a:xfrm>
            <a:off x="9308592" y="2276856"/>
            <a:ext cx="164592" cy="164592"/>
          </a:xfrm>
          <a:prstGeom prst="ellipse">
            <a:avLst/>
          </a:prstGeom>
          <a:solidFill>
            <a:srgbClr val="D72638"/>
          </a:solidFill>
          <a:ln w="10160">
            <a:solidFill>
              <a:srgbClr val="D726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isk-dot-2"/>
          <p:cNvSpPr/>
          <p:nvPr/>
        </p:nvSpPr>
        <p:spPr>
          <a:xfrm>
            <a:off x="9308592" y="2807208"/>
            <a:ext cx="164592" cy="164592"/>
          </a:xfrm>
          <a:prstGeom prst="ellipse">
            <a:avLst/>
          </a:prstGeom>
          <a:solidFill>
            <a:srgbClr val="F5D020"/>
          </a:solidFill>
          <a:ln w="10160">
            <a:solidFill>
              <a:srgbClr val="F5D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isk-dot-3"/>
          <p:cNvSpPr/>
          <p:nvPr/>
        </p:nvSpPr>
        <p:spPr>
          <a:xfrm>
            <a:off x="9308592" y="3337560"/>
            <a:ext cx="164592" cy="164592"/>
          </a:xfrm>
          <a:prstGeom prst="ellipse">
            <a:avLst/>
          </a:prstGeom>
          <a:solidFill>
            <a:srgbClr val="D72638"/>
          </a:solidFill>
          <a:ln w="10160">
            <a:solidFill>
              <a:srgbClr val="D726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isk-dot-4"/>
          <p:cNvSpPr/>
          <p:nvPr/>
        </p:nvSpPr>
        <p:spPr>
          <a:xfrm>
            <a:off x="9308592" y="3867912"/>
            <a:ext cx="164592" cy="164592"/>
          </a:xfrm>
          <a:prstGeom prst="ellipse">
            <a:avLst/>
          </a:prstGeom>
          <a:solidFill>
            <a:srgbClr val="1A1A1A"/>
          </a:solidFill>
          <a:ln w="1016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isk-dot-5"/>
          <p:cNvSpPr/>
          <p:nvPr/>
        </p:nvSpPr>
        <p:spPr>
          <a:xfrm>
            <a:off x="9308592" y="4398264"/>
            <a:ext cx="164592" cy="164592"/>
          </a:xfrm>
          <a:prstGeom prst="ellipse">
            <a:avLst/>
          </a:prstGeom>
          <a:solidFill>
            <a:srgbClr val="D72638"/>
          </a:solidFill>
          <a:ln w="10160">
            <a:solidFill>
              <a:srgbClr val="D726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progress-fill"/>
          <p:cNvSpPr/>
          <p:nvPr/>
        </p:nvSpPr>
        <p:spPr>
          <a:xfrm>
            <a:off x="2249424" y="5687568"/>
            <a:ext cx="7406640" cy="384048"/>
          </a:xfrm>
          <a:prstGeom prst="roundRect">
            <a:avLst/>
          </a:prstGeom>
          <a:solidFill>
            <a:srgbClr val="D72638"/>
          </a:solidFill>
          <a:ln w="10160">
            <a:solidFill>
              <a:srgbClr val="D726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ollage-number"/>
          <p:cNvSpPr txBox="1"/>
          <p:nvPr/>
        </p:nvSpPr>
        <p:spPr>
          <a:xfrm>
            <a:off x="9189720" y="1600200"/>
            <a:ext cx="2057400" cy="9601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5400" b="1" lang="en-US">
                <a:solidFill>
                  <a:srgbClr val="D72638"/>
                </a:solidFill>
                <a:latin typeface="Arial Black"/>
              </a:rPr>
              <a:t>60</a:t>
            </a:r>
          </a:p>
        </p:txBody>
      </p:sp>
      <p:sp>
        <p:nvSpPr>
          <p:cNvPr id="37" name="profile-tag"/>
          <p:cNvSpPr txBox="1"/>
          <p:nvPr/>
        </p:nvSpPr>
        <p:spPr>
          <a:xfrm>
            <a:off x="457200" y="201168"/>
            <a:ext cx="768096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1" lang="en-US">
                <a:solidFill>
                  <a:srgbClr val="D72638"/>
                </a:solidFill>
                <a:latin typeface="Georgia"/>
              </a:rPr>
              <a:t>V3 STRESS SUITE  ·  MAXIMALIST COLLAGE  ·  CONTROL ROOM</a:t>
            </a:r>
          </a:p>
        </p:txBody>
      </p:sp>
      <p:sp>
        <p:nvSpPr>
          <p:cNvPr id="38" name="slide-index"/>
          <p:cNvSpPr txBox="1"/>
          <p:nvPr/>
        </p:nvSpPr>
        <p:spPr>
          <a:xfrm>
            <a:off x="10808208" y="201168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00" b="1" lang="en-US">
                <a:solidFill>
                  <a:srgbClr val="4A423A"/>
                </a:solidFill>
                <a:latin typeface="Georgia"/>
              </a:rPr>
              <a:t>51/60</a:t>
            </a:r>
          </a:p>
        </p:txBody>
      </p:sp>
      <p:sp>
        <p:nvSpPr>
          <p:cNvPr id="39" name="title"/>
          <p:cNvSpPr txBox="1"/>
          <p:nvPr/>
        </p:nvSpPr>
        <p:spPr>
          <a:xfrm>
            <a:off x="457200" y="484632"/>
            <a:ext cx="11274552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200" b="1" lang="en-US">
                <a:solidFill>
                  <a:srgbClr val="1A1A1A"/>
                </a:solidFill>
                <a:latin typeface="Arial Black"/>
              </a:rPr>
              <a:t>Control room layouts keep dense delivery signals governable</a:t>
            </a:r>
          </a:p>
        </p:txBody>
      </p:sp>
      <p:sp>
        <p:nvSpPr>
          <p:cNvPr id="40" name="footer"/>
          <p:cNvSpPr txBox="1"/>
          <p:nvPr/>
        </p:nvSpPr>
        <p:spPr>
          <a:xfrm>
            <a:off x="457200" y="6473952"/>
            <a:ext cx="1051560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0" lang="en-US">
                <a:solidFill>
                  <a:srgbClr val="4A423A"/>
                </a:solidFill>
                <a:latin typeface="Georgia"/>
              </a:rPr>
              <a:t>Native-object stress fixture · overlapping red-black-yellow blocks, ghost numbers, and rotated collage energy · editable geometry and recorded style lock</a:t>
            </a:r>
          </a:p>
        </p:txBody>
      </p:sp>
      <p:sp>
        <p:nvSpPr>
          <p:cNvPr id="41" name="nav-title"/>
          <p:cNvSpPr txBox="1"/>
          <p:nvPr/>
        </p:nvSpPr>
        <p:spPr>
          <a:xfrm>
            <a:off x="667512" y="1298448"/>
            <a:ext cx="1078992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1" lang="en-US">
                <a:solidFill>
                  <a:srgbClr val="D72638"/>
                </a:solidFill>
                <a:latin typeface="Georgia"/>
              </a:rPr>
              <a:t>CONTROL
PLANES</a:t>
            </a:r>
          </a:p>
        </p:txBody>
      </p:sp>
      <p:sp>
        <p:nvSpPr>
          <p:cNvPr id="42" name="nav-label-0"/>
          <p:cNvSpPr txBox="1"/>
          <p:nvPr/>
        </p:nvSpPr>
        <p:spPr>
          <a:xfrm>
            <a:off x="749808" y="1965960"/>
            <a:ext cx="932688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1" lang="en-US">
                <a:solidFill>
                  <a:srgbClr val="FFFFFF"/>
                </a:solidFill>
                <a:latin typeface="Georgia"/>
              </a:rPr>
              <a:t>INBOX</a:t>
            </a:r>
          </a:p>
        </p:txBody>
      </p:sp>
      <p:sp>
        <p:nvSpPr>
          <p:cNvPr id="43" name="nav-label-1"/>
          <p:cNvSpPr txBox="1"/>
          <p:nvPr/>
        </p:nvSpPr>
        <p:spPr>
          <a:xfrm>
            <a:off x="749808" y="2478024"/>
            <a:ext cx="932688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0" lang="en-US">
                <a:solidFill>
                  <a:srgbClr val="1A1A1A"/>
                </a:solidFill>
                <a:latin typeface="Georgia"/>
              </a:rPr>
              <a:t>SIGNALS</a:t>
            </a:r>
          </a:p>
        </p:txBody>
      </p:sp>
      <p:sp>
        <p:nvSpPr>
          <p:cNvPr id="44" name="nav-label-2"/>
          <p:cNvSpPr txBox="1"/>
          <p:nvPr/>
        </p:nvSpPr>
        <p:spPr>
          <a:xfrm>
            <a:off x="749808" y="2990088"/>
            <a:ext cx="932688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0" lang="en-US">
                <a:solidFill>
                  <a:srgbClr val="1A1A1A"/>
                </a:solidFill>
                <a:latin typeface="Georgia"/>
              </a:rPr>
              <a:t>EVIDENCE</a:t>
            </a:r>
          </a:p>
        </p:txBody>
      </p:sp>
      <p:sp>
        <p:nvSpPr>
          <p:cNvPr id="45" name="nav-label-3"/>
          <p:cNvSpPr txBox="1"/>
          <p:nvPr/>
        </p:nvSpPr>
        <p:spPr>
          <a:xfrm>
            <a:off x="749808" y="3502152"/>
            <a:ext cx="932688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0" lang="en-US">
                <a:solidFill>
                  <a:srgbClr val="1A1A1A"/>
                </a:solidFill>
                <a:latin typeface="Georgia"/>
              </a:rPr>
              <a:t>POLICY</a:t>
            </a:r>
          </a:p>
        </p:txBody>
      </p:sp>
      <p:sp>
        <p:nvSpPr>
          <p:cNvPr id="46" name="nav-label-4"/>
          <p:cNvSpPr txBox="1"/>
          <p:nvPr/>
        </p:nvSpPr>
        <p:spPr>
          <a:xfrm>
            <a:off x="749808" y="4014215"/>
            <a:ext cx="932688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0" lang="en-US">
                <a:solidFill>
                  <a:srgbClr val="1A1A1A"/>
                </a:solidFill>
                <a:latin typeface="Georgia"/>
              </a:rPr>
              <a:t>REPAIR</a:t>
            </a:r>
          </a:p>
        </p:txBody>
      </p:sp>
      <p:sp>
        <p:nvSpPr>
          <p:cNvPr id="47" name="nav-label-5"/>
          <p:cNvSpPr txBox="1"/>
          <p:nvPr/>
        </p:nvSpPr>
        <p:spPr>
          <a:xfrm>
            <a:off x="749808" y="4526280"/>
            <a:ext cx="932688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0" lang="en-US">
                <a:solidFill>
                  <a:srgbClr val="1A1A1A"/>
                </a:solidFill>
                <a:latin typeface="Georgia"/>
              </a:rPr>
              <a:t>RELEASE</a:t>
            </a:r>
          </a:p>
        </p:txBody>
      </p:sp>
      <p:sp>
        <p:nvSpPr>
          <p:cNvPr id="48" name="nav-label-6"/>
          <p:cNvSpPr txBox="1"/>
          <p:nvPr/>
        </p:nvSpPr>
        <p:spPr>
          <a:xfrm>
            <a:off x="749808" y="5038344"/>
            <a:ext cx="932688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0" lang="en-US">
                <a:solidFill>
                  <a:srgbClr val="1A1A1A"/>
                </a:solidFill>
                <a:latin typeface="Georgia"/>
              </a:rPr>
              <a:t>ARCHIVE</a:t>
            </a:r>
          </a:p>
        </p:txBody>
      </p:sp>
      <p:sp>
        <p:nvSpPr>
          <p:cNvPr id="49" name="metric-v-0"/>
          <p:cNvSpPr txBox="1"/>
          <p:nvPr/>
        </p:nvSpPr>
        <p:spPr>
          <a:xfrm>
            <a:off x="2432304" y="1234440"/>
            <a:ext cx="80467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lang="en-US">
                <a:solidFill>
                  <a:srgbClr val="1A1A1A"/>
                </a:solidFill>
                <a:latin typeface="Arial Black"/>
              </a:rPr>
              <a:t>48</a:t>
            </a:r>
          </a:p>
        </p:txBody>
      </p:sp>
      <p:sp>
        <p:nvSpPr>
          <p:cNvPr id="50" name="metric-l-0"/>
          <p:cNvSpPr txBox="1"/>
          <p:nvPr/>
        </p:nvSpPr>
        <p:spPr>
          <a:xfrm>
            <a:off x="2359152" y="1581912"/>
            <a:ext cx="932688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4A423A"/>
                </a:solidFill>
                <a:latin typeface="Georgia"/>
              </a:rPr>
              <a:t>WORK</a:t>
            </a:r>
          </a:p>
        </p:txBody>
      </p:sp>
      <p:sp>
        <p:nvSpPr>
          <p:cNvPr id="51" name="metric-v-1"/>
          <p:cNvSpPr txBox="1"/>
          <p:nvPr/>
        </p:nvSpPr>
        <p:spPr>
          <a:xfrm>
            <a:off x="3739896" y="1234440"/>
            <a:ext cx="80467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lang="en-US">
                <a:solidFill>
                  <a:srgbClr val="1A1A1A"/>
                </a:solidFill>
                <a:latin typeface="Arial Black"/>
              </a:rPr>
              <a:t>06</a:t>
            </a:r>
          </a:p>
        </p:txBody>
      </p:sp>
      <p:sp>
        <p:nvSpPr>
          <p:cNvPr id="52" name="metric-l-1"/>
          <p:cNvSpPr txBox="1"/>
          <p:nvPr/>
        </p:nvSpPr>
        <p:spPr>
          <a:xfrm>
            <a:off x="3666744" y="1581912"/>
            <a:ext cx="932688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4A423A"/>
                </a:solidFill>
                <a:latin typeface="Georgia"/>
              </a:rPr>
              <a:t>FLAGS</a:t>
            </a:r>
          </a:p>
        </p:txBody>
      </p:sp>
      <p:sp>
        <p:nvSpPr>
          <p:cNvPr id="53" name="metric-v-2"/>
          <p:cNvSpPr txBox="1"/>
          <p:nvPr/>
        </p:nvSpPr>
        <p:spPr>
          <a:xfrm>
            <a:off x="5047488" y="1234440"/>
            <a:ext cx="80467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lang="en-US">
                <a:solidFill>
                  <a:srgbClr val="1A1A1A"/>
                </a:solidFill>
                <a:latin typeface="Arial Black"/>
              </a:rPr>
              <a:t>31</a:t>
            </a:r>
          </a:p>
        </p:txBody>
      </p:sp>
      <p:sp>
        <p:nvSpPr>
          <p:cNvPr id="54" name="metric-l-2"/>
          <p:cNvSpPr txBox="1"/>
          <p:nvPr/>
        </p:nvSpPr>
        <p:spPr>
          <a:xfrm>
            <a:off x="4974336" y="1581912"/>
            <a:ext cx="932688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4A423A"/>
                </a:solidFill>
                <a:latin typeface="Georgia"/>
              </a:rPr>
              <a:t>READY</a:t>
            </a:r>
          </a:p>
        </p:txBody>
      </p:sp>
      <p:sp>
        <p:nvSpPr>
          <p:cNvPr id="55" name="metric-v-3"/>
          <p:cNvSpPr txBox="1"/>
          <p:nvPr/>
        </p:nvSpPr>
        <p:spPr>
          <a:xfrm>
            <a:off x="6355080" y="1234440"/>
            <a:ext cx="80467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lang="en-US">
                <a:solidFill>
                  <a:srgbClr val="1A1A1A"/>
                </a:solidFill>
                <a:latin typeface="Arial Black"/>
              </a:rPr>
              <a:t>04</a:t>
            </a:r>
          </a:p>
        </p:txBody>
      </p:sp>
      <p:sp>
        <p:nvSpPr>
          <p:cNvPr id="56" name="metric-l-3"/>
          <p:cNvSpPr txBox="1"/>
          <p:nvPr/>
        </p:nvSpPr>
        <p:spPr>
          <a:xfrm>
            <a:off x="6281928" y="1581912"/>
            <a:ext cx="932688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4A423A"/>
                </a:solidFill>
                <a:latin typeface="Georgia"/>
              </a:rPr>
              <a:t>HOLD</a:t>
            </a:r>
          </a:p>
        </p:txBody>
      </p:sp>
      <p:sp>
        <p:nvSpPr>
          <p:cNvPr id="57" name="metric-v-4"/>
          <p:cNvSpPr txBox="1"/>
          <p:nvPr/>
        </p:nvSpPr>
        <p:spPr>
          <a:xfrm>
            <a:off x="7662672" y="1234440"/>
            <a:ext cx="80467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lang="en-US">
                <a:solidFill>
                  <a:srgbClr val="1A1A1A"/>
                </a:solidFill>
                <a:latin typeface="Arial Black"/>
              </a:rPr>
              <a:t>12</a:t>
            </a:r>
          </a:p>
        </p:txBody>
      </p:sp>
      <p:sp>
        <p:nvSpPr>
          <p:cNvPr id="58" name="metric-l-4"/>
          <p:cNvSpPr txBox="1"/>
          <p:nvPr/>
        </p:nvSpPr>
        <p:spPr>
          <a:xfrm>
            <a:off x="7589520" y="1581912"/>
            <a:ext cx="932688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4A423A"/>
                </a:solidFill>
                <a:latin typeface="Georgia"/>
              </a:rPr>
              <a:t>STYLE</a:t>
            </a:r>
          </a:p>
        </p:txBody>
      </p:sp>
      <p:sp>
        <p:nvSpPr>
          <p:cNvPr id="59" name="risk-title"/>
          <p:cNvSpPr txBox="1"/>
          <p:nvPr/>
        </p:nvSpPr>
        <p:spPr>
          <a:xfrm>
            <a:off x="9308592" y="1298448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1" lang="en-US">
                <a:solidFill>
                  <a:srgbClr val="D72638"/>
                </a:solidFill>
                <a:latin typeface="Georgia"/>
              </a:rPr>
              <a:t>LIVE REVIEW QUEUE</a:t>
            </a:r>
          </a:p>
        </p:txBody>
      </p:sp>
      <p:sp>
        <p:nvSpPr>
          <p:cNvPr id="60" name="risk-label-0"/>
          <p:cNvSpPr txBox="1"/>
          <p:nvPr/>
        </p:nvSpPr>
        <p:spPr>
          <a:xfrm>
            <a:off x="9619488" y="1691640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50" b="1" lang="en-US">
                <a:solidFill>
                  <a:srgbClr val="1A1A1A"/>
                </a:solidFill>
                <a:latin typeface="Georgia"/>
              </a:rPr>
              <a:t>Scope stable</a:t>
            </a:r>
          </a:p>
        </p:txBody>
      </p:sp>
      <p:sp>
        <p:nvSpPr>
          <p:cNvPr id="61" name="risk-state-0"/>
          <p:cNvSpPr txBox="1"/>
          <p:nvPr/>
        </p:nvSpPr>
        <p:spPr>
          <a:xfrm>
            <a:off x="10972800" y="169164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00" b="1" lang="en-US">
                <a:solidFill>
                  <a:srgbClr val="D72638"/>
                </a:solidFill>
                <a:latin typeface="Georgia"/>
              </a:rPr>
              <a:t>PASS</a:t>
            </a:r>
          </a:p>
        </p:txBody>
      </p:sp>
      <p:sp>
        <p:nvSpPr>
          <p:cNvPr id="62" name="risk-label-1"/>
          <p:cNvSpPr txBox="1"/>
          <p:nvPr/>
        </p:nvSpPr>
        <p:spPr>
          <a:xfrm>
            <a:off x="9619488" y="2221992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50" b="1" lang="en-US">
                <a:solidFill>
                  <a:srgbClr val="1A1A1A"/>
                </a:solidFill>
                <a:latin typeface="Georgia"/>
              </a:rPr>
              <a:t>Text capacity</a:t>
            </a:r>
          </a:p>
        </p:txBody>
      </p:sp>
      <p:sp>
        <p:nvSpPr>
          <p:cNvPr id="63" name="risk-state-1"/>
          <p:cNvSpPr txBox="1"/>
          <p:nvPr/>
        </p:nvSpPr>
        <p:spPr>
          <a:xfrm>
            <a:off x="10972800" y="2221992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00" b="1" lang="en-US">
                <a:solidFill>
                  <a:srgbClr val="D72638"/>
                </a:solidFill>
                <a:latin typeface="Georgia"/>
              </a:rPr>
              <a:t>PASS</a:t>
            </a:r>
          </a:p>
        </p:txBody>
      </p:sp>
      <p:sp>
        <p:nvSpPr>
          <p:cNvPr id="64" name="risk-label-2"/>
          <p:cNvSpPr txBox="1"/>
          <p:nvPr/>
        </p:nvSpPr>
        <p:spPr>
          <a:xfrm>
            <a:off x="9619488" y="2752344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50" b="1" lang="en-US">
                <a:solidFill>
                  <a:srgbClr val="1A1A1A"/>
                </a:solidFill>
                <a:latin typeface="Georgia"/>
              </a:rPr>
              <a:t>Contrast check</a:t>
            </a:r>
          </a:p>
        </p:txBody>
      </p:sp>
      <p:sp>
        <p:nvSpPr>
          <p:cNvPr id="65" name="risk-state-2"/>
          <p:cNvSpPr txBox="1"/>
          <p:nvPr/>
        </p:nvSpPr>
        <p:spPr>
          <a:xfrm>
            <a:off x="10972800" y="275234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00" b="1" lang="en-US">
                <a:solidFill>
                  <a:srgbClr val="F5D020"/>
                </a:solidFill>
                <a:latin typeface="Georgia"/>
              </a:rPr>
              <a:t>WATCH</a:t>
            </a:r>
          </a:p>
        </p:txBody>
      </p:sp>
      <p:sp>
        <p:nvSpPr>
          <p:cNvPr id="66" name="risk-label-3"/>
          <p:cNvSpPr txBox="1"/>
          <p:nvPr/>
        </p:nvSpPr>
        <p:spPr>
          <a:xfrm>
            <a:off x="9619488" y="3282696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50" b="1" lang="en-US">
                <a:solidFill>
                  <a:srgbClr val="1A1A1A"/>
                </a:solidFill>
                <a:latin typeface="Georgia"/>
              </a:rPr>
              <a:t>Table fit</a:t>
            </a:r>
          </a:p>
        </p:txBody>
      </p:sp>
      <p:sp>
        <p:nvSpPr>
          <p:cNvPr id="67" name="risk-state-3"/>
          <p:cNvSpPr txBox="1"/>
          <p:nvPr/>
        </p:nvSpPr>
        <p:spPr>
          <a:xfrm>
            <a:off x="10972800" y="3282696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00" b="1" lang="en-US">
                <a:solidFill>
                  <a:srgbClr val="D72638"/>
                </a:solidFill>
                <a:latin typeface="Georgia"/>
              </a:rPr>
              <a:t>PASS</a:t>
            </a:r>
          </a:p>
        </p:txBody>
      </p:sp>
      <p:sp>
        <p:nvSpPr>
          <p:cNvPr id="68" name="risk-label-4"/>
          <p:cNvSpPr txBox="1"/>
          <p:nvPr/>
        </p:nvSpPr>
        <p:spPr>
          <a:xfrm>
            <a:off x="9619488" y="3813048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50" b="1" lang="en-US">
                <a:solidFill>
                  <a:srgbClr val="1A1A1A"/>
                </a:solidFill>
                <a:latin typeface="Georgia"/>
              </a:rPr>
              <a:t>Read order</a:t>
            </a:r>
          </a:p>
        </p:txBody>
      </p:sp>
      <p:sp>
        <p:nvSpPr>
          <p:cNvPr id="69" name="risk-state-4"/>
          <p:cNvSpPr txBox="1"/>
          <p:nvPr/>
        </p:nvSpPr>
        <p:spPr>
          <a:xfrm>
            <a:off x="10972800" y="3813048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00" b="1" lang="en-US">
                <a:solidFill>
                  <a:srgbClr val="1A1A1A"/>
                </a:solidFill>
                <a:latin typeface="Georgia"/>
              </a:rPr>
              <a:t>PASS</a:t>
            </a:r>
          </a:p>
        </p:txBody>
      </p:sp>
      <p:sp>
        <p:nvSpPr>
          <p:cNvPr id="70" name="risk-label-5"/>
          <p:cNvSpPr txBox="1"/>
          <p:nvPr/>
        </p:nvSpPr>
        <p:spPr>
          <a:xfrm>
            <a:off x="9619488" y="4343400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50" b="1" lang="en-US">
                <a:solidFill>
                  <a:srgbClr val="1A1A1A"/>
                </a:solidFill>
                <a:latin typeface="Georgia"/>
              </a:rPr>
              <a:t>Package</a:t>
            </a:r>
          </a:p>
        </p:txBody>
      </p:sp>
      <p:sp>
        <p:nvSpPr>
          <p:cNvPr id="71" name="risk-state-5"/>
          <p:cNvSpPr txBox="1"/>
          <p:nvPr/>
        </p:nvSpPr>
        <p:spPr>
          <a:xfrm>
            <a:off x="10972800" y="434340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00" b="1" lang="en-US">
                <a:solidFill>
                  <a:srgbClr val="D72638"/>
                </a:solidFill>
                <a:latin typeface="Georgia"/>
              </a:rPr>
              <a:t>PASS</a:t>
            </a:r>
          </a:p>
        </p:txBody>
      </p:sp>
      <p:sp>
        <p:nvSpPr>
          <p:cNvPr id="72" name="progress-label"/>
          <p:cNvSpPr txBox="1"/>
          <p:nvPr/>
        </p:nvSpPr>
        <p:spPr>
          <a:xfrm>
            <a:off x="2468880" y="5788152"/>
            <a:ext cx="886968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50" b="1" lang="en-US">
                <a:solidFill>
                  <a:srgbClr val="FFFFFF"/>
                </a:solidFill>
                <a:latin typeface="Georgia"/>
              </a:rPr>
              <a:t>Stress workload: 78% complete · 12 profiles locked · 0 geometry regressions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DDD0"/>
          </a:solidFill>
          <a:ln w="10160">
            <a:solidFill>
              <a:srgbClr val="E8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ollage-red-block"/>
          <p:cNvSpPr/>
          <p:nvPr/>
        </p:nvSpPr>
        <p:spPr>
          <a:xfrm>
            <a:off x="8595360" y="411480"/>
            <a:ext cx="2468880" cy="1234440"/>
          </a:xfrm>
          <a:prstGeom prst="rect">
            <a:avLst/>
          </a:prstGeom>
          <a:solidFill>
            <a:srgbClr val="D72638"/>
          </a:solidFill>
          <a:ln w="10160">
            <a:solidFill>
              <a:srgbClr val="D726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ollage-black-block"/>
          <p:cNvSpPr/>
          <p:nvPr/>
        </p:nvSpPr>
        <p:spPr>
          <a:xfrm>
            <a:off x="9464040" y="4983480"/>
            <a:ext cx="2267712" cy="1078992"/>
          </a:xfrm>
          <a:prstGeom prst="rect">
            <a:avLst/>
          </a:prstGeom>
          <a:solidFill>
            <a:srgbClr val="1A1A1A"/>
          </a:solidFill>
          <a:ln w="1016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op-band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D72638"/>
          </a:solidFill>
          <a:ln w="10160">
            <a:solidFill>
              <a:srgbClr val="D726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mesh-shell"/>
          <p:cNvSpPr/>
          <p:nvPr/>
        </p:nvSpPr>
        <p:spPr>
          <a:xfrm>
            <a:off x="457200" y="1078992"/>
            <a:ext cx="7360920" cy="5029200"/>
          </a:xfrm>
          <a:prstGeom prst="rect">
            <a:avLst/>
          </a:prstGeom>
          <a:solidFill>
            <a:srgbClr val="FFFFFF"/>
          </a:solidFill>
          <a:ln w="10160">
            <a:solidFill>
              <a:srgbClr val="C8B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mesh-rail-shell"/>
          <p:cNvSpPr/>
          <p:nvPr/>
        </p:nvSpPr>
        <p:spPr>
          <a:xfrm>
            <a:off x="8092440" y="1078992"/>
            <a:ext cx="3639312" cy="5029200"/>
          </a:xfrm>
          <a:prstGeom prst="rect">
            <a:avLst/>
          </a:prstGeom>
          <a:solidFill>
            <a:srgbClr val="F5D020"/>
          </a:solidFill>
          <a:ln w="10160">
            <a:solidFill>
              <a:srgbClr val="C8B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mesh-accent"/>
          <p:cNvSpPr/>
          <p:nvPr/>
        </p:nvSpPr>
        <p:spPr>
          <a:xfrm>
            <a:off x="457200" y="1078992"/>
            <a:ext cx="73152" cy="5029200"/>
          </a:xfrm>
          <a:prstGeom prst="rect">
            <a:avLst/>
          </a:prstGeom>
          <a:solidFill>
            <a:srgbClr val="D72638"/>
          </a:solidFill>
          <a:ln w="10160">
            <a:solidFill>
              <a:srgbClr val="D726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mesh-edge-0"/>
          <p:cNvCxnSpPr/>
          <p:nvPr/>
        </p:nvCxnSpPr>
        <p:spPr>
          <a:xfrm flipV="1">
            <a:off x="1618488" y="1920240"/>
            <a:ext cx="1828800" cy="320040"/>
          </a:xfrm>
          <a:prstGeom prst="line">
            <a:avLst/>
          </a:prstGeom>
          <a:ln w="13970">
            <a:solidFill>
              <a:srgbClr val="C8B9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mesh-edge-1"/>
          <p:cNvCxnSpPr/>
          <p:nvPr/>
        </p:nvCxnSpPr>
        <p:spPr>
          <a:xfrm>
            <a:off x="3447288" y="1920240"/>
            <a:ext cx="1920240" cy="320040"/>
          </a:xfrm>
          <a:prstGeom prst="line">
            <a:avLst/>
          </a:prstGeom>
          <a:ln w="13970">
            <a:solidFill>
              <a:srgbClr val="C8B9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mesh-edge-2"/>
          <p:cNvCxnSpPr/>
          <p:nvPr/>
        </p:nvCxnSpPr>
        <p:spPr>
          <a:xfrm>
            <a:off x="1618488" y="2240280"/>
            <a:ext cx="868680" cy="1325880"/>
          </a:xfrm>
          <a:prstGeom prst="line">
            <a:avLst/>
          </a:prstGeom>
          <a:ln w="13970">
            <a:solidFill>
              <a:srgbClr val="C8B9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mesh-edge-3"/>
          <p:cNvCxnSpPr/>
          <p:nvPr/>
        </p:nvCxnSpPr>
        <p:spPr>
          <a:xfrm flipH="1">
            <a:off x="2487168" y="1920240"/>
            <a:ext cx="960120" cy="1645920"/>
          </a:xfrm>
          <a:prstGeom prst="line">
            <a:avLst/>
          </a:prstGeom>
          <a:ln w="13970">
            <a:solidFill>
              <a:srgbClr val="C8B9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mesh-edge-4"/>
          <p:cNvCxnSpPr/>
          <p:nvPr/>
        </p:nvCxnSpPr>
        <p:spPr>
          <a:xfrm>
            <a:off x="3447288" y="1920240"/>
            <a:ext cx="1005840" cy="1307592"/>
          </a:xfrm>
          <a:prstGeom prst="line">
            <a:avLst/>
          </a:prstGeom>
          <a:ln w="13970">
            <a:solidFill>
              <a:srgbClr val="C8B9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mesh-edge-5"/>
          <p:cNvCxnSpPr/>
          <p:nvPr/>
        </p:nvCxnSpPr>
        <p:spPr>
          <a:xfrm flipH="1">
            <a:off x="4453128" y="2240280"/>
            <a:ext cx="914400" cy="987552"/>
          </a:xfrm>
          <a:prstGeom prst="line">
            <a:avLst/>
          </a:prstGeom>
          <a:ln w="13970">
            <a:solidFill>
              <a:srgbClr val="C8B9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mesh-edge-6"/>
          <p:cNvCxnSpPr/>
          <p:nvPr/>
        </p:nvCxnSpPr>
        <p:spPr>
          <a:xfrm>
            <a:off x="5367528" y="2240280"/>
            <a:ext cx="1005840" cy="1325880"/>
          </a:xfrm>
          <a:prstGeom prst="line">
            <a:avLst/>
          </a:prstGeom>
          <a:ln w="13970">
            <a:solidFill>
              <a:srgbClr val="C8B9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mesh-edge-7"/>
          <p:cNvCxnSpPr/>
          <p:nvPr/>
        </p:nvCxnSpPr>
        <p:spPr>
          <a:xfrm flipV="1">
            <a:off x="2487168" y="3227832"/>
            <a:ext cx="1965960" cy="338328"/>
          </a:xfrm>
          <a:prstGeom prst="line">
            <a:avLst/>
          </a:prstGeom>
          <a:ln w="13970">
            <a:solidFill>
              <a:srgbClr val="C8B9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mesh-edge-8"/>
          <p:cNvCxnSpPr/>
          <p:nvPr/>
        </p:nvCxnSpPr>
        <p:spPr>
          <a:xfrm>
            <a:off x="4453128" y="3227832"/>
            <a:ext cx="1920240" cy="338328"/>
          </a:xfrm>
          <a:prstGeom prst="line">
            <a:avLst/>
          </a:prstGeom>
          <a:ln w="13970">
            <a:solidFill>
              <a:srgbClr val="C8B9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mesh-edge-9"/>
          <p:cNvCxnSpPr/>
          <p:nvPr/>
        </p:nvCxnSpPr>
        <p:spPr>
          <a:xfrm>
            <a:off x="2487168" y="3566160"/>
            <a:ext cx="960120" cy="1325880"/>
          </a:xfrm>
          <a:prstGeom prst="line">
            <a:avLst/>
          </a:prstGeom>
          <a:ln w="13970">
            <a:solidFill>
              <a:srgbClr val="C8B9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mesh-edge-10"/>
          <p:cNvCxnSpPr/>
          <p:nvPr/>
        </p:nvCxnSpPr>
        <p:spPr>
          <a:xfrm flipH="1">
            <a:off x="3447288" y="3227832"/>
            <a:ext cx="1005840" cy="1664208"/>
          </a:xfrm>
          <a:prstGeom prst="line">
            <a:avLst/>
          </a:prstGeom>
          <a:ln w="13970">
            <a:solidFill>
              <a:srgbClr val="C8B9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mesh-edge-11"/>
          <p:cNvCxnSpPr/>
          <p:nvPr/>
        </p:nvCxnSpPr>
        <p:spPr>
          <a:xfrm>
            <a:off x="4453128" y="3227832"/>
            <a:ext cx="914400" cy="1664208"/>
          </a:xfrm>
          <a:prstGeom prst="line">
            <a:avLst/>
          </a:prstGeom>
          <a:ln w="13970">
            <a:solidFill>
              <a:srgbClr val="C8B9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mesh-edge-12"/>
          <p:cNvCxnSpPr/>
          <p:nvPr/>
        </p:nvCxnSpPr>
        <p:spPr>
          <a:xfrm flipH="1">
            <a:off x="5367528" y="3566160"/>
            <a:ext cx="1005840" cy="1325880"/>
          </a:xfrm>
          <a:prstGeom prst="line">
            <a:avLst/>
          </a:prstGeom>
          <a:ln w="13970">
            <a:solidFill>
              <a:srgbClr val="C8B9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mesh-edge-13"/>
          <p:cNvCxnSpPr/>
          <p:nvPr/>
        </p:nvCxnSpPr>
        <p:spPr>
          <a:xfrm>
            <a:off x="3447288" y="4892040"/>
            <a:ext cx="1920240" cy="0"/>
          </a:xfrm>
          <a:prstGeom prst="line">
            <a:avLst/>
          </a:prstGeom>
          <a:ln w="13970">
            <a:solidFill>
              <a:srgbClr val="C8B9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mesh-rail-accent"/>
          <p:cNvSpPr/>
          <p:nvPr/>
        </p:nvSpPr>
        <p:spPr>
          <a:xfrm>
            <a:off x="8092440" y="1078992"/>
            <a:ext cx="73152" cy="5029200"/>
          </a:xfrm>
          <a:prstGeom prst="rect">
            <a:avLst/>
          </a:prstGeom>
          <a:solidFill>
            <a:srgbClr val="D72638"/>
          </a:solidFill>
          <a:ln w="10160">
            <a:solidFill>
              <a:srgbClr val="D726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trace-line-0"/>
          <p:cNvCxnSpPr/>
          <p:nvPr/>
        </p:nvCxnSpPr>
        <p:spPr>
          <a:xfrm>
            <a:off x="8577072" y="2029968"/>
            <a:ext cx="0" cy="164592"/>
          </a:xfrm>
          <a:prstGeom prst="line">
            <a:avLst/>
          </a:prstGeom>
          <a:ln w="13970">
            <a:solidFill>
              <a:srgbClr val="D72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trace-line-1"/>
          <p:cNvCxnSpPr/>
          <p:nvPr/>
        </p:nvCxnSpPr>
        <p:spPr>
          <a:xfrm>
            <a:off x="8577072" y="2596896"/>
            <a:ext cx="0" cy="164592"/>
          </a:xfrm>
          <a:prstGeom prst="line">
            <a:avLst/>
          </a:prstGeom>
          <a:ln w="13970">
            <a:solidFill>
              <a:srgbClr val="F5D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trace-line-2"/>
          <p:cNvCxnSpPr/>
          <p:nvPr/>
        </p:nvCxnSpPr>
        <p:spPr>
          <a:xfrm>
            <a:off x="8577072" y="3163824"/>
            <a:ext cx="0" cy="164592"/>
          </a:xfrm>
          <a:prstGeom prst="line">
            <a:avLst/>
          </a:prstGeom>
          <a:ln w="1397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trace-line-3"/>
          <p:cNvCxnSpPr/>
          <p:nvPr/>
        </p:nvCxnSpPr>
        <p:spPr>
          <a:xfrm>
            <a:off x="8577072" y="3730752"/>
            <a:ext cx="0" cy="164592"/>
          </a:xfrm>
          <a:prstGeom prst="line">
            <a:avLst/>
          </a:prstGeom>
          <a:ln w="13970">
            <a:solidFill>
              <a:srgbClr val="F5D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trace-line-4"/>
          <p:cNvCxnSpPr/>
          <p:nvPr/>
        </p:nvCxnSpPr>
        <p:spPr>
          <a:xfrm>
            <a:off x="8577072" y="4297680"/>
            <a:ext cx="0" cy="164592"/>
          </a:xfrm>
          <a:prstGeom prst="line">
            <a:avLst/>
          </a:prstGeom>
          <a:ln w="13970">
            <a:solidFill>
              <a:srgbClr val="D72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trace-line-5"/>
          <p:cNvCxnSpPr/>
          <p:nvPr/>
        </p:nvCxnSpPr>
        <p:spPr>
          <a:xfrm>
            <a:off x="8577072" y="4864608"/>
            <a:ext cx="0" cy="164592"/>
          </a:xfrm>
          <a:prstGeom prst="line">
            <a:avLst/>
          </a:prstGeom>
          <a:ln w="13970">
            <a:solidFill>
              <a:srgbClr val="D72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mesh-node-0"/>
          <p:cNvSpPr/>
          <p:nvPr/>
        </p:nvSpPr>
        <p:spPr>
          <a:xfrm>
            <a:off x="1051560" y="1920240"/>
            <a:ext cx="1143000" cy="640080"/>
          </a:xfrm>
          <a:prstGeom prst="roundRect">
            <a:avLst/>
          </a:prstGeom>
          <a:solidFill>
            <a:srgbClr val="D72638"/>
          </a:solidFill>
          <a:ln w="10160">
            <a:solidFill>
              <a:srgbClr val="D726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mesh-node-1"/>
          <p:cNvSpPr/>
          <p:nvPr/>
        </p:nvSpPr>
        <p:spPr>
          <a:xfrm>
            <a:off x="2880360" y="1600200"/>
            <a:ext cx="1143000" cy="640080"/>
          </a:xfrm>
          <a:prstGeom prst="roundRect">
            <a:avLst/>
          </a:prstGeom>
          <a:solidFill>
            <a:srgbClr val="F5D020"/>
          </a:solidFill>
          <a:ln w="10160">
            <a:solidFill>
              <a:srgbClr val="F5D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mesh-node-2"/>
          <p:cNvSpPr/>
          <p:nvPr/>
        </p:nvSpPr>
        <p:spPr>
          <a:xfrm>
            <a:off x="4800600" y="1920240"/>
            <a:ext cx="1143000" cy="640080"/>
          </a:xfrm>
          <a:prstGeom prst="roundRect">
            <a:avLst/>
          </a:prstGeom>
          <a:solidFill>
            <a:srgbClr val="1A1A1A"/>
          </a:solidFill>
          <a:ln w="1016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mesh-node-3"/>
          <p:cNvSpPr/>
          <p:nvPr/>
        </p:nvSpPr>
        <p:spPr>
          <a:xfrm>
            <a:off x="1920240" y="3246120"/>
            <a:ext cx="1143000" cy="640080"/>
          </a:xfrm>
          <a:prstGeom prst="roundRect">
            <a:avLst/>
          </a:prstGeom>
          <a:solidFill>
            <a:srgbClr val="D72638"/>
          </a:solidFill>
          <a:ln w="10160">
            <a:solidFill>
              <a:srgbClr val="D726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mesh-node-4"/>
          <p:cNvSpPr/>
          <p:nvPr/>
        </p:nvSpPr>
        <p:spPr>
          <a:xfrm>
            <a:off x="3886200" y="2907792"/>
            <a:ext cx="1143000" cy="640080"/>
          </a:xfrm>
          <a:prstGeom prst="roundRect">
            <a:avLst/>
          </a:prstGeom>
          <a:solidFill>
            <a:srgbClr val="F5D020"/>
          </a:solidFill>
          <a:ln w="10160">
            <a:solidFill>
              <a:srgbClr val="F5D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mesh-node-5"/>
          <p:cNvSpPr/>
          <p:nvPr/>
        </p:nvSpPr>
        <p:spPr>
          <a:xfrm>
            <a:off x="5806440" y="3246120"/>
            <a:ext cx="1143000" cy="640080"/>
          </a:xfrm>
          <a:prstGeom prst="roundRect">
            <a:avLst/>
          </a:prstGeom>
          <a:solidFill>
            <a:srgbClr val="D72638"/>
          </a:solidFill>
          <a:ln w="10160">
            <a:solidFill>
              <a:srgbClr val="D726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mesh-node-6"/>
          <p:cNvSpPr/>
          <p:nvPr/>
        </p:nvSpPr>
        <p:spPr>
          <a:xfrm>
            <a:off x="2880360" y="4572000"/>
            <a:ext cx="1143000" cy="640080"/>
          </a:xfrm>
          <a:prstGeom prst="roundRect">
            <a:avLst/>
          </a:prstGeom>
          <a:solidFill>
            <a:srgbClr val="D72638"/>
          </a:solidFill>
          <a:ln w="10160">
            <a:solidFill>
              <a:srgbClr val="D726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mesh-node-7"/>
          <p:cNvSpPr/>
          <p:nvPr/>
        </p:nvSpPr>
        <p:spPr>
          <a:xfrm>
            <a:off x="4800600" y="4572000"/>
            <a:ext cx="1143000" cy="640080"/>
          </a:xfrm>
          <a:prstGeom prst="roundRect">
            <a:avLst/>
          </a:prstGeom>
          <a:solidFill>
            <a:srgbClr val="D72638"/>
          </a:solidFill>
          <a:ln w="10160">
            <a:solidFill>
              <a:srgbClr val="D726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race-badge-0"/>
          <p:cNvSpPr/>
          <p:nvPr/>
        </p:nvSpPr>
        <p:spPr>
          <a:xfrm>
            <a:off x="8357616" y="1682496"/>
            <a:ext cx="438912" cy="347472"/>
          </a:xfrm>
          <a:prstGeom prst="roundRect">
            <a:avLst/>
          </a:prstGeom>
          <a:solidFill>
            <a:srgbClr val="D72638"/>
          </a:solidFill>
          <a:ln w="10160">
            <a:solidFill>
              <a:srgbClr val="D726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race-badge-1"/>
          <p:cNvSpPr/>
          <p:nvPr/>
        </p:nvSpPr>
        <p:spPr>
          <a:xfrm>
            <a:off x="8357616" y="2249424"/>
            <a:ext cx="438912" cy="347472"/>
          </a:xfrm>
          <a:prstGeom prst="roundRect">
            <a:avLst/>
          </a:prstGeom>
          <a:solidFill>
            <a:srgbClr val="F5D020"/>
          </a:solidFill>
          <a:ln w="10160">
            <a:solidFill>
              <a:srgbClr val="F5D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race-badge-2"/>
          <p:cNvSpPr/>
          <p:nvPr/>
        </p:nvSpPr>
        <p:spPr>
          <a:xfrm>
            <a:off x="8357616" y="2816352"/>
            <a:ext cx="438912" cy="347472"/>
          </a:xfrm>
          <a:prstGeom prst="roundRect">
            <a:avLst/>
          </a:prstGeom>
          <a:solidFill>
            <a:srgbClr val="1A1A1A"/>
          </a:solidFill>
          <a:ln w="1016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race-badge-3"/>
          <p:cNvSpPr/>
          <p:nvPr/>
        </p:nvSpPr>
        <p:spPr>
          <a:xfrm>
            <a:off x="8357616" y="3383280"/>
            <a:ext cx="438912" cy="347472"/>
          </a:xfrm>
          <a:prstGeom prst="roundRect">
            <a:avLst/>
          </a:prstGeom>
          <a:solidFill>
            <a:srgbClr val="F5D020"/>
          </a:solidFill>
          <a:ln w="10160">
            <a:solidFill>
              <a:srgbClr val="F5D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race-badge-4"/>
          <p:cNvSpPr/>
          <p:nvPr/>
        </p:nvSpPr>
        <p:spPr>
          <a:xfrm>
            <a:off x="8357616" y="3950208"/>
            <a:ext cx="438912" cy="347472"/>
          </a:xfrm>
          <a:prstGeom prst="roundRect">
            <a:avLst/>
          </a:prstGeom>
          <a:solidFill>
            <a:srgbClr val="D72638"/>
          </a:solidFill>
          <a:ln w="10160">
            <a:solidFill>
              <a:srgbClr val="D726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race-badge-5"/>
          <p:cNvSpPr/>
          <p:nvPr/>
        </p:nvSpPr>
        <p:spPr>
          <a:xfrm>
            <a:off x="8357616" y="4517136"/>
            <a:ext cx="438912" cy="347472"/>
          </a:xfrm>
          <a:prstGeom prst="roundRect">
            <a:avLst/>
          </a:prstGeom>
          <a:solidFill>
            <a:srgbClr val="D72638"/>
          </a:solidFill>
          <a:ln w="10160">
            <a:solidFill>
              <a:srgbClr val="D726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collage-number"/>
          <p:cNvSpPr txBox="1"/>
          <p:nvPr/>
        </p:nvSpPr>
        <p:spPr>
          <a:xfrm>
            <a:off x="9189720" y="1600200"/>
            <a:ext cx="2057400" cy="9601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5400" b="1" lang="en-US">
                <a:solidFill>
                  <a:srgbClr val="D72638"/>
                </a:solidFill>
                <a:latin typeface="Arial Black"/>
              </a:rPr>
              <a:t>60</a:t>
            </a:r>
          </a:p>
        </p:txBody>
      </p:sp>
      <p:sp>
        <p:nvSpPr>
          <p:cNvPr id="45" name="profile-tag"/>
          <p:cNvSpPr txBox="1"/>
          <p:nvPr/>
        </p:nvSpPr>
        <p:spPr>
          <a:xfrm>
            <a:off x="457200" y="201168"/>
            <a:ext cx="768096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1" lang="en-US">
                <a:solidFill>
                  <a:srgbClr val="D72638"/>
                </a:solidFill>
                <a:latin typeface="Georgia"/>
              </a:rPr>
              <a:t>V3 STRESS SUITE  ·  MAXIMALIST COLLAGE  ·  EVIDENCE MESH</a:t>
            </a:r>
          </a:p>
        </p:txBody>
      </p:sp>
      <p:sp>
        <p:nvSpPr>
          <p:cNvPr id="46" name="slide-index"/>
          <p:cNvSpPr txBox="1"/>
          <p:nvPr/>
        </p:nvSpPr>
        <p:spPr>
          <a:xfrm>
            <a:off x="10808208" y="201168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00" b="1" lang="en-US">
                <a:solidFill>
                  <a:srgbClr val="4A423A"/>
                </a:solidFill>
                <a:latin typeface="Georgia"/>
              </a:rPr>
              <a:t>52/60</a:t>
            </a:r>
          </a:p>
        </p:txBody>
      </p:sp>
      <p:sp>
        <p:nvSpPr>
          <p:cNvPr id="47" name="title"/>
          <p:cNvSpPr txBox="1"/>
          <p:nvPr/>
        </p:nvSpPr>
        <p:spPr>
          <a:xfrm>
            <a:off x="457200" y="484632"/>
            <a:ext cx="11274552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200" b="1" lang="en-US">
                <a:solidFill>
                  <a:srgbClr val="1A1A1A"/>
                </a:solidFill>
                <a:latin typeface="Arial Black"/>
              </a:rPr>
              <a:t>Evidence meshes preserve traceability across a dense editable graph</a:t>
            </a:r>
          </a:p>
        </p:txBody>
      </p:sp>
      <p:sp>
        <p:nvSpPr>
          <p:cNvPr id="48" name="footer"/>
          <p:cNvSpPr txBox="1"/>
          <p:nvPr/>
        </p:nvSpPr>
        <p:spPr>
          <a:xfrm>
            <a:off x="457200" y="6473952"/>
            <a:ext cx="1051560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0" lang="en-US">
                <a:solidFill>
                  <a:srgbClr val="4A423A"/>
                </a:solidFill>
                <a:latin typeface="Georgia"/>
              </a:rPr>
              <a:t>Native-object stress fixture · overlapping red-black-yellow blocks, ghost numbers, and rotated collage energy · editable geometry and recorded style lock</a:t>
            </a:r>
          </a:p>
        </p:txBody>
      </p:sp>
      <p:sp>
        <p:nvSpPr>
          <p:cNvPr id="49" name="mesh-title"/>
          <p:cNvSpPr txBox="1"/>
          <p:nvPr/>
        </p:nvSpPr>
        <p:spPr>
          <a:xfrm>
            <a:off x="713232" y="1298448"/>
            <a:ext cx="320040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1" lang="en-US">
                <a:solidFill>
                  <a:srgbClr val="D72638"/>
                </a:solidFill>
                <a:latin typeface="Georgia"/>
              </a:rPr>
              <a:t>EVIDENCE ROUTING MESH</a:t>
            </a:r>
          </a:p>
        </p:txBody>
      </p:sp>
      <p:sp>
        <p:nvSpPr>
          <p:cNvPr id="50" name="mesh-label-0"/>
          <p:cNvSpPr txBox="1"/>
          <p:nvPr/>
        </p:nvSpPr>
        <p:spPr>
          <a:xfrm>
            <a:off x="1143000" y="2139696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lang="en-US">
                <a:solidFill>
                  <a:srgbClr val="FFFFFF"/>
                </a:solidFill>
                <a:latin typeface="Georgia"/>
              </a:rPr>
              <a:t>Request</a:t>
            </a:r>
          </a:p>
        </p:txBody>
      </p:sp>
      <p:sp>
        <p:nvSpPr>
          <p:cNvPr id="51" name="mesh-label-1"/>
          <p:cNvSpPr txBox="1"/>
          <p:nvPr/>
        </p:nvSpPr>
        <p:spPr>
          <a:xfrm>
            <a:off x="2971800" y="1819656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lang="en-US">
                <a:solidFill>
                  <a:srgbClr val="111111"/>
                </a:solidFill>
                <a:latin typeface="Georgia"/>
              </a:rPr>
              <a:t>Profile</a:t>
            </a:r>
          </a:p>
        </p:txBody>
      </p:sp>
      <p:sp>
        <p:nvSpPr>
          <p:cNvPr id="52" name="mesh-label-2"/>
          <p:cNvSpPr txBox="1"/>
          <p:nvPr/>
        </p:nvSpPr>
        <p:spPr>
          <a:xfrm>
            <a:off x="4892040" y="2139696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lang="en-US">
                <a:solidFill>
                  <a:srgbClr val="FFFFFF"/>
                </a:solidFill>
                <a:latin typeface="Georgia"/>
              </a:rPr>
              <a:t>Source</a:t>
            </a:r>
          </a:p>
        </p:txBody>
      </p:sp>
      <p:sp>
        <p:nvSpPr>
          <p:cNvPr id="53" name="mesh-label-3"/>
          <p:cNvSpPr txBox="1"/>
          <p:nvPr/>
        </p:nvSpPr>
        <p:spPr>
          <a:xfrm>
            <a:off x="2011680" y="3465576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lang="en-US">
                <a:solidFill>
                  <a:srgbClr val="FFFFFF"/>
                </a:solidFill>
                <a:latin typeface="Georgia"/>
              </a:rPr>
              <a:t>Spec</a:t>
            </a:r>
          </a:p>
        </p:txBody>
      </p:sp>
      <p:sp>
        <p:nvSpPr>
          <p:cNvPr id="54" name="mesh-label-4"/>
          <p:cNvSpPr txBox="1"/>
          <p:nvPr/>
        </p:nvSpPr>
        <p:spPr>
          <a:xfrm>
            <a:off x="3977639" y="3127248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lang="en-US">
                <a:solidFill>
                  <a:srgbClr val="111111"/>
                </a:solidFill>
                <a:latin typeface="Georgia"/>
              </a:rPr>
              <a:t>Audit</a:t>
            </a:r>
          </a:p>
        </p:txBody>
      </p:sp>
      <p:sp>
        <p:nvSpPr>
          <p:cNvPr id="55" name="mesh-label-5"/>
          <p:cNvSpPr txBox="1"/>
          <p:nvPr/>
        </p:nvSpPr>
        <p:spPr>
          <a:xfrm>
            <a:off x="5897880" y="3465576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lang="en-US">
                <a:solidFill>
                  <a:srgbClr val="FFFFFF"/>
                </a:solidFill>
                <a:latin typeface="Georgia"/>
              </a:rPr>
              <a:t>Render</a:t>
            </a:r>
          </a:p>
        </p:txBody>
      </p:sp>
      <p:sp>
        <p:nvSpPr>
          <p:cNvPr id="56" name="mesh-label-6"/>
          <p:cNvSpPr txBox="1"/>
          <p:nvPr/>
        </p:nvSpPr>
        <p:spPr>
          <a:xfrm>
            <a:off x="2971800" y="4791456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lang="en-US">
                <a:solidFill>
                  <a:srgbClr val="FFFFFF"/>
                </a:solidFill>
                <a:latin typeface="Georgia"/>
              </a:rPr>
              <a:t>Repair</a:t>
            </a:r>
          </a:p>
        </p:txBody>
      </p:sp>
      <p:sp>
        <p:nvSpPr>
          <p:cNvPr id="57" name="mesh-label-7"/>
          <p:cNvSpPr txBox="1"/>
          <p:nvPr/>
        </p:nvSpPr>
        <p:spPr>
          <a:xfrm>
            <a:off x="4892040" y="4791456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lang="en-US">
                <a:solidFill>
                  <a:srgbClr val="FFFFFF"/>
                </a:solidFill>
                <a:latin typeface="Georgia"/>
              </a:rPr>
              <a:t>Ship</a:t>
            </a:r>
          </a:p>
        </p:txBody>
      </p:sp>
      <p:sp>
        <p:nvSpPr>
          <p:cNvPr id="58" name="mesh-rail-title"/>
          <p:cNvSpPr txBox="1"/>
          <p:nvPr/>
        </p:nvSpPr>
        <p:spPr>
          <a:xfrm>
            <a:off x="8357616" y="1298448"/>
            <a:ext cx="265176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1" lang="en-US">
                <a:solidFill>
                  <a:srgbClr val="D72638"/>
                </a:solidFill>
                <a:latin typeface="Georgia"/>
              </a:rPr>
              <a:t>TRACEABILITY</a:t>
            </a:r>
          </a:p>
        </p:txBody>
      </p:sp>
      <p:sp>
        <p:nvSpPr>
          <p:cNvPr id="59" name="trace-number-0"/>
          <p:cNvSpPr txBox="1"/>
          <p:nvPr/>
        </p:nvSpPr>
        <p:spPr>
          <a:xfrm>
            <a:off x="8375904" y="1783080"/>
            <a:ext cx="402336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FFFFFF"/>
                </a:solidFill>
                <a:latin typeface="Georgia"/>
              </a:rPr>
              <a:t>01</a:t>
            </a:r>
          </a:p>
        </p:txBody>
      </p:sp>
      <p:sp>
        <p:nvSpPr>
          <p:cNvPr id="60" name="trace-label-0"/>
          <p:cNvSpPr txBox="1"/>
          <p:nvPr/>
        </p:nvSpPr>
        <p:spPr>
          <a:xfrm>
            <a:off x="8979408" y="173736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1" lang="en-US">
                <a:solidFill>
                  <a:srgbClr val="1A1A1A"/>
                </a:solidFill>
                <a:latin typeface="Georgia"/>
              </a:rPr>
              <a:t>Intent</a:t>
            </a:r>
          </a:p>
        </p:txBody>
      </p:sp>
      <p:sp>
        <p:nvSpPr>
          <p:cNvPr id="61" name="trace-number-1"/>
          <p:cNvSpPr txBox="1"/>
          <p:nvPr/>
        </p:nvSpPr>
        <p:spPr>
          <a:xfrm>
            <a:off x="8375904" y="2350008"/>
            <a:ext cx="402336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111111"/>
                </a:solidFill>
                <a:latin typeface="Georgia"/>
              </a:rPr>
              <a:t>02</a:t>
            </a:r>
          </a:p>
        </p:txBody>
      </p:sp>
      <p:sp>
        <p:nvSpPr>
          <p:cNvPr id="62" name="trace-label-1"/>
          <p:cNvSpPr txBox="1"/>
          <p:nvPr/>
        </p:nvSpPr>
        <p:spPr>
          <a:xfrm>
            <a:off x="8979408" y="2304288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1" lang="en-US">
                <a:solidFill>
                  <a:srgbClr val="1A1A1A"/>
                </a:solidFill>
                <a:latin typeface="Georgia"/>
              </a:rPr>
              <a:t>Profile lock</a:t>
            </a:r>
          </a:p>
        </p:txBody>
      </p:sp>
      <p:sp>
        <p:nvSpPr>
          <p:cNvPr id="63" name="trace-number-2"/>
          <p:cNvSpPr txBox="1"/>
          <p:nvPr/>
        </p:nvSpPr>
        <p:spPr>
          <a:xfrm>
            <a:off x="8375904" y="2916936"/>
            <a:ext cx="402336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FFFFFF"/>
                </a:solidFill>
                <a:latin typeface="Georgia"/>
              </a:rPr>
              <a:t>03</a:t>
            </a:r>
          </a:p>
        </p:txBody>
      </p:sp>
      <p:sp>
        <p:nvSpPr>
          <p:cNvPr id="64" name="trace-label-2"/>
          <p:cNvSpPr txBox="1"/>
          <p:nvPr/>
        </p:nvSpPr>
        <p:spPr>
          <a:xfrm>
            <a:off x="8979408" y="2871216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1" lang="en-US">
                <a:solidFill>
                  <a:srgbClr val="1A1A1A"/>
                </a:solidFill>
                <a:latin typeface="Georgia"/>
              </a:rPr>
              <a:t>Object spec</a:t>
            </a:r>
          </a:p>
        </p:txBody>
      </p:sp>
      <p:sp>
        <p:nvSpPr>
          <p:cNvPr id="65" name="trace-number-3"/>
          <p:cNvSpPr txBox="1"/>
          <p:nvPr/>
        </p:nvSpPr>
        <p:spPr>
          <a:xfrm>
            <a:off x="8375904" y="3483864"/>
            <a:ext cx="402336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111111"/>
                </a:solidFill>
                <a:latin typeface="Georgia"/>
              </a:rPr>
              <a:t>04</a:t>
            </a:r>
          </a:p>
        </p:txBody>
      </p:sp>
      <p:sp>
        <p:nvSpPr>
          <p:cNvPr id="66" name="trace-label-3"/>
          <p:cNvSpPr txBox="1"/>
          <p:nvPr/>
        </p:nvSpPr>
        <p:spPr>
          <a:xfrm>
            <a:off x="8979408" y="3438144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1" lang="en-US">
                <a:solidFill>
                  <a:srgbClr val="1A1A1A"/>
                </a:solidFill>
                <a:latin typeface="Georgia"/>
              </a:rPr>
              <a:t>Quality gate</a:t>
            </a:r>
          </a:p>
        </p:txBody>
      </p:sp>
      <p:sp>
        <p:nvSpPr>
          <p:cNvPr id="67" name="trace-number-4"/>
          <p:cNvSpPr txBox="1"/>
          <p:nvPr/>
        </p:nvSpPr>
        <p:spPr>
          <a:xfrm>
            <a:off x="8375904" y="4050791"/>
            <a:ext cx="402336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FFFFFF"/>
                </a:solidFill>
                <a:latin typeface="Georgia"/>
              </a:rPr>
              <a:t>05</a:t>
            </a:r>
          </a:p>
        </p:txBody>
      </p:sp>
      <p:sp>
        <p:nvSpPr>
          <p:cNvPr id="68" name="trace-label-4"/>
          <p:cNvSpPr txBox="1"/>
          <p:nvPr/>
        </p:nvSpPr>
        <p:spPr>
          <a:xfrm>
            <a:off x="8979408" y="400507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1" lang="en-US">
                <a:solidFill>
                  <a:srgbClr val="1A1A1A"/>
                </a:solidFill>
                <a:latin typeface="Georgia"/>
              </a:rPr>
              <a:t>Repair trace</a:t>
            </a:r>
          </a:p>
        </p:txBody>
      </p:sp>
      <p:sp>
        <p:nvSpPr>
          <p:cNvPr id="69" name="trace-number-5"/>
          <p:cNvSpPr txBox="1"/>
          <p:nvPr/>
        </p:nvSpPr>
        <p:spPr>
          <a:xfrm>
            <a:off x="8375904" y="4617720"/>
            <a:ext cx="402336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FFFFFF"/>
                </a:solidFill>
                <a:latin typeface="Georgia"/>
              </a:rPr>
              <a:t>06</a:t>
            </a:r>
          </a:p>
        </p:txBody>
      </p:sp>
      <p:sp>
        <p:nvSpPr>
          <p:cNvPr id="70" name="trace-label-5"/>
          <p:cNvSpPr txBox="1"/>
          <p:nvPr/>
        </p:nvSpPr>
        <p:spPr>
          <a:xfrm>
            <a:off x="8979408" y="457200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1" lang="en-US">
                <a:solidFill>
                  <a:srgbClr val="1A1A1A"/>
                </a:solidFill>
                <a:latin typeface="Georgia"/>
              </a:rPr>
              <a:t>Artifact</a:t>
            </a:r>
          </a:p>
        </p:txBody>
      </p:sp>
      <p:sp>
        <p:nvSpPr>
          <p:cNvPr id="71" name="mesh-note"/>
          <p:cNvSpPr txBox="1"/>
          <p:nvPr/>
        </p:nvSpPr>
        <p:spPr>
          <a:xfrm>
            <a:off x="8357616" y="5321808"/>
            <a:ext cx="2834640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00" b="0" lang="en-US">
                <a:solidFill>
                  <a:srgbClr val="4A423A"/>
                </a:solidFill>
                <a:latin typeface="Georgia"/>
              </a:rPr>
              <a:t>Fourteen editable links prove dense graph routing and layering.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DDD0"/>
          </a:solidFill>
          <a:ln w="10160">
            <a:solidFill>
              <a:srgbClr val="E8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ollage-red-block"/>
          <p:cNvSpPr/>
          <p:nvPr/>
        </p:nvSpPr>
        <p:spPr>
          <a:xfrm>
            <a:off x="8595360" y="411480"/>
            <a:ext cx="2468880" cy="1234440"/>
          </a:xfrm>
          <a:prstGeom prst="rect">
            <a:avLst/>
          </a:prstGeom>
          <a:solidFill>
            <a:srgbClr val="D72638"/>
          </a:solidFill>
          <a:ln w="10160">
            <a:solidFill>
              <a:srgbClr val="D726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ollage-black-block"/>
          <p:cNvSpPr/>
          <p:nvPr/>
        </p:nvSpPr>
        <p:spPr>
          <a:xfrm>
            <a:off x="9464040" y="4983480"/>
            <a:ext cx="2267712" cy="1078992"/>
          </a:xfrm>
          <a:prstGeom prst="rect">
            <a:avLst/>
          </a:prstGeom>
          <a:solidFill>
            <a:srgbClr val="1A1A1A"/>
          </a:solidFill>
          <a:ln w="1016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op-band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D72638"/>
          </a:solidFill>
          <a:ln w="10160">
            <a:solidFill>
              <a:srgbClr val="D726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matrix-rail-shell"/>
          <p:cNvSpPr/>
          <p:nvPr/>
        </p:nvSpPr>
        <p:spPr>
          <a:xfrm>
            <a:off x="8823960" y="1143000"/>
            <a:ext cx="2907792" cy="4443984"/>
          </a:xfrm>
          <a:prstGeom prst="rect">
            <a:avLst/>
          </a:prstGeom>
          <a:solidFill>
            <a:srgbClr val="FFFFFF"/>
          </a:solidFill>
          <a:ln w="10160">
            <a:solidFill>
              <a:srgbClr val="C8B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matrix-rail-accent"/>
          <p:cNvSpPr/>
          <p:nvPr/>
        </p:nvSpPr>
        <p:spPr>
          <a:xfrm>
            <a:off x="8823960" y="1143000"/>
            <a:ext cx="73152" cy="4443984"/>
          </a:xfrm>
          <a:prstGeom prst="rect">
            <a:avLst/>
          </a:prstGeom>
          <a:solidFill>
            <a:srgbClr val="D72638"/>
          </a:solidFill>
          <a:ln w="10160">
            <a:solidFill>
              <a:srgbClr val="D726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adar-ring-0.45"/>
          <p:cNvSpPr/>
          <p:nvPr/>
        </p:nvSpPr>
        <p:spPr>
          <a:xfrm>
            <a:off x="9866376" y="2834640"/>
            <a:ext cx="822960" cy="822960"/>
          </a:xfrm>
          <a:prstGeom prst="ellipse">
            <a:avLst/>
          </a:prstGeom>
          <a:solidFill>
            <a:srgbClr val="FFFFFF"/>
          </a:solidFill>
          <a:ln w="10160">
            <a:solidFill>
              <a:srgbClr val="C8B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adar-ring-0.85"/>
          <p:cNvSpPr/>
          <p:nvPr/>
        </p:nvSpPr>
        <p:spPr>
          <a:xfrm>
            <a:off x="9500616" y="2468880"/>
            <a:ext cx="1554480" cy="1554480"/>
          </a:xfrm>
          <a:prstGeom prst="ellipse">
            <a:avLst/>
          </a:prstGeom>
          <a:solidFill>
            <a:srgbClr val="FFFFFF"/>
          </a:solidFill>
          <a:ln w="10160">
            <a:solidFill>
              <a:srgbClr val="C8B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adar-ring-1.25"/>
          <p:cNvSpPr/>
          <p:nvPr/>
        </p:nvSpPr>
        <p:spPr>
          <a:xfrm>
            <a:off x="9134856" y="2103120"/>
            <a:ext cx="2286000" cy="2286000"/>
          </a:xfrm>
          <a:prstGeom prst="ellipse">
            <a:avLst/>
          </a:prstGeom>
          <a:solidFill>
            <a:srgbClr val="FFFFFF"/>
          </a:solidFill>
          <a:ln w="10160">
            <a:solidFill>
              <a:srgbClr val="C8B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radar-axis-0"/>
          <p:cNvCxnSpPr/>
          <p:nvPr/>
        </p:nvCxnSpPr>
        <p:spPr>
          <a:xfrm flipV="1">
            <a:off x="10277856" y="1828799"/>
            <a:ext cx="0" cy="1417321"/>
          </a:xfrm>
          <a:prstGeom prst="line">
            <a:avLst/>
          </a:prstGeom>
          <a:ln w="13970">
            <a:solidFill>
              <a:srgbClr val="C8B9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radar-axis-1"/>
          <p:cNvCxnSpPr/>
          <p:nvPr/>
        </p:nvCxnSpPr>
        <p:spPr>
          <a:xfrm flipV="1">
            <a:off x="10277856" y="2537460"/>
            <a:ext cx="1227435" cy="708660"/>
          </a:xfrm>
          <a:prstGeom prst="line">
            <a:avLst/>
          </a:prstGeom>
          <a:ln w="13970">
            <a:solidFill>
              <a:srgbClr val="C8B9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radar-axis-2"/>
          <p:cNvCxnSpPr/>
          <p:nvPr/>
        </p:nvCxnSpPr>
        <p:spPr>
          <a:xfrm>
            <a:off x="10277856" y="3246120"/>
            <a:ext cx="1227435" cy="708659"/>
          </a:xfrm>
          <a:prstGeom prst="line">
            <a:avLst/>
          </a:prstGeom>
          <a:ln w="13970">
            <a:solidFill>
              <a:srgbClr val="C8B9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radar-axis-3"/>
          <p:cNvCxnSpPr/>
          <p:nvPr/>
        </p:nvCxnSpPr>
        <p:spPr>
          <a:xfrm>
            <a:off x="10277856" y="3246120"/>
            <a:ext cx="0" cy="1417320"/>
          </a:xfrm>
          <a:prstGeom prst="line">
            <a:avLst/>
          </a:prstGeom>
          <a:ln w="13970">
            <a:solidFill>
              <a:srgbClr val="C8B9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radar-axis-4"/>
          <p:cNvCxnSpPr/>
          <p:nvPr/>
        </p:nvCxnSpPr>
        <p:spPr>
          <a:xfrm flipH="1">
            <a:off x="9050420" y="3246120"/>
            <a:ext cx="1227436" cy="708659"/>
          </a:xfrm>
          <a:prstGeom prst="line">
            <a:avLst/>
          </a:prstGeom>
          <a:ln w="13970">
            <a:solidFill>
              <a:srgbClr val="C8B9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radar-axis-5"/>
          <p:cNvCxnSpPr/>
          <p:nvPr/>
        </p:nvCxnSpPr>
        <p:spPr>
          <a:xfrm flipH="1" flipV="1">
            <a:off x="9050420" y="2537459"/>
            <a:ext cx="1227436" cy="708661"/>
          </a:xfrm>
          <a:prstGeom prst="line">
            <a:avLst/>
          </a:prstGeom>
          <a:ln w="13970">
            <a:solidFill>
              <a:srgbClr val="C8B9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flow-link-0"/>
          <p:cNvCxnSpPr/>
          <p:nvPr/>
        </p:nvCxnSpPr>
        <p:spPr>
          <a:xfrm>
            <a:off x="2066543" y="5934456"/>
            <a:ext cx="265177" cy="0"/>
          </a:xfrm>
          <a:prstGeom prst="line">
            <a:avLst/>
          </a:prstGeom>
          <a:ln w="13970">
            <a:solidFill>
              <a:srgbClr val="D72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flow-link-1"/>
          <p:cNvCxnSpPr/>
          <p:nvPr/>
        </p:nvCxnSpPr>
        <p:spPr>
          <a:xfrm>
            <a:off x="3959352" y="5934456"/>
            <a:ext cx="265175" cy="0"/>
          </a:xfrm>
          <a:prstGeom prst="line">
            <a:avLst/>
          </a:prstGeom>
          <a:ln w="13970">
            <a:solidFill>
              <a:srgbClr val="F5D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flow-link-2"/>
          <p:cNvCxnSpPr/>
          <p:nvPr/>
        </p:nvCxnSpPr>
        <p:spPr>
          <a:xfrm>
            <a:off x="5852159" y="5934456"/>
            <a:ext cx="265177" cy="0"/>
          </a:xfrm>
          <a:prstGeom prst="line">
            <a:avLst/>
          </a:prstGeom>
          <a:ln w="1397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flow-link-3"/>
          <p:cNvCxnSpPr/>
          <p:nvPr/>
        </p:nvCxnSpPr>
        <p:spPr>
          <a:xfrm>
            <a:off x="7744967" y="5934456"/>
            <a:ext cx="265176" cy="0"/>
          </a:xfrm>
          <a:prstGeom prst="line">
            <a:avLst/>
          </a:prstGeom>
          <a:ln w="13970">
            <a:solidFill>
              <a:srgbClr val="F5D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flow-link-4"/>
          <p:cNvCxnSpPr/>
          <p:nvPr/>
        </p:nvCxnSpPr>
        <p:spPr>
          <a:xfrm>
            <a:off x="9637776" y="5934456"/>
            <a:ext cx="265175" cy="0"/>
          </a:xfrm>
          <a:prstGeom prst="line">
            <a:avLst/>
          </a:prstGeom>
          <a:ln w="13970">
            <a:solidFill>
              <a:srgbClr val="D72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2" name="operating-table"/>
          <p:cNvGraphicFramePr>
            <a:graphicFrameLocks noGrp="1"/>
          </p:cNvGraphicFramePr>
          <p:nvPr/>
        </p:nvGraphicFramePr>
        <p:xfrm>
          <a:off x="457200" y="1143000"/>
          <a:ext cx="8092440" cy="44439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8740"/>
                <a:gridCol w="1348740"/>
                <a:gridCol w="1348740"/>
                <a:gridCol w="1348740"/>
                <a:gridCol w="1348740"/>
                <a:gridCol w="1348740"/>
              </a:tblGrid>
              <a:tr h="444398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FFFFFF"/>
                          </a:solidFill>
                          <a:latin typeface="Georgia"/>
                        </a:rPr>
                        <a:t>Workstream</a:t>
                      </a:r>
                    </a:p>
                  </a:txBody>
                  <a:tcPr marL="54864" marR="54864" marT="18288" marB="18288">
                    <a:solidFill>
                      <a:srgbClr val="D726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FFFFFF"/>
                          </a:solidFill>
                          <a:latin typeface="Georgia"/>
                        </a:rPr>
                        <a:t>Profile</a:t>
                      </a:r>
                    </a:p>
                  </a:txBody>
                  <a:tcPr marL="54864" marR="54864" marT="18288" marB="18288">
                    <a:solidFill>
                      <a:srgbClr val="D726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FFFFFF"/>
                          </a:solidFill>
                          <a:latin typeface="Georgia"/>
                        </a:rPr>
                        <a:t>Structure</a:t>
                      </a:r>
                    </a:p>
                  </a:txBody>
                  <a:tcPr marL="54864" marR="54864" marT="18288" marB="18288">
                    <a:solidFill>
                      <a:srgbClr val="D726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FFFFFF"/>
                          </a:solidFill>
                          <a:latin typeface="Georgia"/>
                        </a:rPr>
                        <a:t>Density</a:t>
                      </a:r>
                    </a:p>
                  </a:txBody>
                  <a:tcPr marL="54864" marR="54864" marT="18288" marB="18288">
                    <a:solidFill>
                      <a:srgbClr val="D726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FFFFFF"/>
                          </a:solidFill>
                          <a:latin typeface="Georgia"/>
                        </a:rPr>
                        <a:t>Gate</a:t>
                      </a:r>
                    </a:p>
                  </a:txBody>
                  <a:tcPr marL="54864" marR="54864" marT="18288" marB="18288">
                    <a:solidFill>
                      <a:srgbClr val="D726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FFFFFF"/>
                          </a:solidFill>
                          <a:latin typeface="Georgia"/>
                        </a:rPr>
                        <a:t>Owner</a:t>
                      </a:r>
                    </a:p>
                  </a:txBody>
                  <a:tcPr marL="54864" marR="54864" marT="18288" marB="18288">
                    <a:solidFill>
                      <a:srgbClr val="D72638"/>
                    </a:solidFill>
                  </a:tcPr>
                </a:tc>
              </a:tr>
              <a:tr h="444398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1A1A1A"/>
                          </a:solidFill>
                          <a:latin typeface="Georgia"/>
                        </a:rPr>
                        <a:t>W-01</a:t>
                      </a:r>
                    </a:p>
                  </a:txBody>
                  <a:tcPr marL="54864" marR="54864" marT="18288" marB="18288">
                    <a:solidFill>
                      <a:srgbClr val="F5D0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1A"/>
                          </a:solidFill>
                          <a:latin typeface="Georgia"/>
                        </a:rPr>
                        <a:t>Ember</a:t>
                      </a:r>
                    </a:p>
                  </a:txBody>
                  <a:tcPr marL="54864" marR="54864" marT="18288" marB="18288">
                    <a:solidFill>
                      <a:srgbClr val="F5D0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1A"/>
                          </a:solidFill>
                          <a:latin typeface="Georgia"/>
                        </a:rPr>
                        <a:t>Mesh</a:t>
                      </a:r>
                    </a:p>
                  </a:txBody>
                  <a:tcPr marL="54864" marR="54864" marT="18288" marB="18288">
                    <a:solidFill>
                      <a:srgbClr val="F5D0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1A"/>
                          </a:solidFill>
                          <a:latin typeface="Georgia"/>
                        </a:rPr>
                        <a:t>Dense</a:t>
                      </a:r>
                    </a:p>
                  </a:txBody>
                  <a:tcPr marL="54864" marR="54864" marT="18288" marB="18288">
                    <a:solidFill>
                      <a:srgbClr val="F5D0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1A"/>
                          </a:solidFill>
                          <a:latin typeface="Georgia"/>
                        </a:rPr>
                        <a:t>Watch</a:t>
                      </a:r>
                    </a:p>
                  </a:txBody>
                  <a:tcPr marL="54864" marR="54864" marT="18288" marB="18288">
                    <a:solidFill>
                      <a:srgbClr val="F5D0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1A"/>
                          </a:solidFill>
                          <a:latin typeface="Georgia"/>
                        </a:rPr>
                        <a:t>R</a:t>
                      </a:r>
                    </a:p>
                  </a:txBody>
                  <a:tcPr marL="54864" marR="54864" marT="18288" marB="18288">
                    <a:solidFill>
                      <a:srgbClr val="F5D020"/>
                    </a:solidFill>
                  </a:tcPr>
                </a:tc>
              </a:tr>
              <a:tr h="444398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1A1A1A"/>
                          </a:solidFill>
                          <a:latin typeface="Georgia"/>
                        </a:rPr>
                        <a:t>W-02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1A"/>
                          </a:solidFill>
                          <a:latin typeface="Georgia"/>
                        </a:rPr>
                        <a:t>Signal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1A"/>
                          </a:solidFill>
                          <a:latin typeface="Georgia"/>
                        </a:rPr>
                        <a:t>Matrix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1A"/>
                          </a:solidFill>
                          <a:latin typeface="Georgia"/>
                        </a:rPr>
                        <a:t>Layered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1A"/>
                          </a:solidFill>
                          <a:latin typeface="Georgia"/>
                        </a:rPr>
                        <a:t>Repair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1A"/>
                          </a:solidFill>
                          <a:latin typeface="Georgia"/>
                        </a:rPr>
                        <a:t>C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44398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1A1A1A"/>
                          </a:solidFill>
                          <a:latin typeface="Georgia"/>
                        </a:rPr>
                        <a:t>W-03</a:t>
                      </a:r>
                    </a:p>
                  </a:txBody>
                  <a:tcPr marL="54864" marR="54864" marT="18288" marB="18288">
                    <a:solidFill>
                      <a:srgbClr val="F5D0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1A"/>
                          </a:solidFill>
                          <a:latin typeface="Georgia"/>
                        </a:rPr>
                        <a:t>Grove</a:t>
                      </a:r>
                    </a:p>
                  </a:txBody>
                  <a:tcPr marL="54864" marR="54864" marT="18288" marB="18288">
                    <a:solidFill>
                      <a:srgbClr val="F5D0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1A"/>
                          </a:solidFill>
                          <a:latin typeface="Georgia"/>
                        </a:rPr>
                        <a:t>Board</a:t>
                      </a:r>
                    </a:p>
                  </a:txBody>
                  <a:tcPr marL="54864" marR="54864" marT="18288" marB="18288">
                    <a:solidFill>
                      <a:srgbClr val="F5D0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1A"/>
                          </a:solidFill>
                          <a:latin typeface="Georgia"/>
                        </a:rPr>
                        <a:t>Packed</a:t>
                      </a:r>
                    </a:p>
                  </a:txBody>
                  <a:tcPr marL="54864" marR="54864" marT="18288" marB="18288">
                    <a:solidFill>
                      <a:srgbClr val="F5D0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1A"/>
                          </a:solidFill>
                          <a:latin typeface="Georgia"/>
                        </a:rPr>
                        <a:t>Pass</a:t>
                      </a:r>
                    </a:p>
                  </a:txBody>
                  <a:tcPr marL="54864" marR="54864" marT="18288" marB="18288">
                    <a:solidFill>
                      <a:srgbClr val="F5D0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1A"/>
                          </a:solidFill>
                          <a:latin typeface="Georgia"/>
                        </a:rPr>
                        <a:t>I</a:t>
                      </a:r>
                    </a:p>
                  </a:txBody>
                  <a:tcPr marL="54864" marR="54864" marT="18288" marB="18288">
                    <a:solidFill>
                      <a:srgbClr val="F5D020"/>
                    </a:solidFill>
                  </a:tcPr>
                </a:tc>
              </a:tr>
              <a:tr h="444398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1A1A1A"/>
                          </a:solidFill>
                          <a:latin typeface="Georgia"/>
                        </a:rPr>
                        <a:t>W-04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1A"/>
                          </a:solidFill>
                          <a:latin typeface="Georgia"/>
                        </a:rPr>
                        <a:t>Atlas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1A"/>
                          </a:solidFill>
                          <a:latin typeface="Georgia"/>
                        </a:rPr>
                        <a:t>Cards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1A"/>
                          </a:solidFill>
                          <a:latin typeface="Georgia"/>
                        </a:rPr>
                        <a:t>High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1A"/>
                          </a:solidFill>
                          <a:latin typeface="Georgia"/>
                        </a:rPr>
                        <a:t>Pass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1A"/>
                          </a:solidFill>
                          <a:latin typeface="Georgia"/>
                        </a:rPr>
                        <a:t>A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44398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1A1A1A"/>
                          </a:solidFill>
                          <a:latin typeface="Georgia"/>
                        </a:rPr>
                        <a:t>W-05</a:t>
                      </a:r>
                    </a:p>
                  </a:txBody>
                  <a:tcPr marL="54864" marR="54864" marT="18288" marB="18288">
                    <a:solidFill>
                      <a:srgbClr val="F5D0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1A"/>
                          </a:solidFill>
                          <a:latin typeface="Georgia"/>
                        </a:rPr>
                        <a:t>Ember</a:t>
                      </a:r>
                    </a:p>
                  </a:txBody>
                  <a:tcPr marL="54864" marR="54864" marT="18288" marB="18288">
                    <a:solidFill>
                      <a:srgbClr val="F5D0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1A"/>
                          </a:solidFill>
                          <a:latin typeface="Georgia"/>
                        </a:rPr>
                        <a:t>Mesh</a:t>
                      </a:r>
                    </a:p>
                  </a:txBody>
                  <a:tcPr marL="54864" marR="54864" marT="18288" marB="18288">
                    <a:solidFill>
                      <a:srgbClr val="F5D0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1A"/>
                          </a:solidFill>
                          <a:latin typeface="Georgia"/>
                        </a:rPr>
                        <a:t>Dense</a:t>
                      </a:r>
                    </a:p>
                  </a:txBody>
                  <a:tcPr marL="54864" marR="54864" marT="18288" marB="18288">
                    <a:solidFill>
                      <a:srgbClr val="F5D0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1A"/>
                          </a:solidFill>
                          <a:latin typeface="Georgia"/>
                        </a:rPr>
                        <a:t>Watch</a:t>
                      </a:r>
                    </a:p>
                  </a:txBody>
                  <a:tcPr marL="54864" marR="54864" marT="18288" marB="18288">
                    <a:solidFill>
                      <a:srgbClr val="F5D0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1A"/>
                          </a:solidFill>
                          <a:latin typeface="Georgia"/>
                        </a:rPr>
                        <a:t>R</a:t>
                      </a:r>
                    </a:p>
                  </a:txBody>
                  <a:tcPr marL="54864" marR="54864" marT="18288" marB="18288">
                    <a:solidFill>
                      <a:srgbClr val="F5D020"/>
                    </a:solidFill>
                  </a:tcPr>
                </a:tc>
              </a:tr>
              <a:tr h="444398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1A1A1A"/>
                          </a:solidFill>
                          <a:latin typeface="Georgia"/>
                        </a:rPr>
                        <a:t>W-06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1A"/>
                          </a:solidFill>
                          <a:latin typeface="Georgia"/>
                        </a:rPr>
                        <a:t>Signal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1A"/>
                          </a:solidFill>
                          <a:latin typeface="Georgia"/>
                        </a:rPr>
                        <a:t>Matrix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1A"/>
                          </a:solidFill>
                          <a:latin typeface="Georgia"/>
                        </a:rPr>
                        <a:t>Layered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1A"/>
                          </a:solidFill>
                          <a:latin typeface="Georgia"/>
                        </a:rPr>
                        <a:t>Repair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1A"/>
                          </a:solidFill>
                          <a:latin typeface="Georgia"/>
                        </a:rPr>
                        <a:t>C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44398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1A1A1A"/>
                          </a:solidFill>
                          <a:latin typeface="Georgia"/>
                        </a:rPr>
                        <a:t>W-07</a:t>
                      </a:r>
                    </a:p>
                  </a:txBody>
                  <a:tcPr marL="54864" marR="54864" marT="18288" marB="18288">
                    <a:solidFill>
                      <a:srgbClr val="F5D0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1A"/>
                          </a:solidFill>
                          <a:latin typeface="Georgia"/>
                        </a:rPr>
                        <a:t>Grove</a:t>
                      </a:r>
                    </a:p>
                  </a:txBody>
                  <a:tcPr marL="54864" marR="54864" marT="18288" marB="18288">
                    <a:solidFill>
                      <a:srgbClr val="F5D0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1A"/>
                          </a:solidFill>
                          <a:latin typeface="Georgia"/>
                        </a:rPr>
                        <a:t>Board</a:t>
                      </a:r>
                    </a:p>
                  </a:txBody>
                  <a:tcPr marL="54864" marR="54864" marT="18288" marB="18288">
                    <a:solidFill>
                      <a:srgbClr val="F5D0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1A"/>
                          </a:solidFill>
                          <a:latin typeface="Georgia"/>
                        </a:rPr>
                        <a:t>Packed</a:t>
                      </a:r>
                    </a:p>
                  </a:txBody>
                  <a:tcPr marL="54864" marR="54864" marT="18288" marB="18288">
                    <a:solidFill>
                      <a:srgbClr val="F5D0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1A"/>
                          </a:solidFill>
                          <a:latin typeface="Georgia"/>
                        </a:rPr>
                        <a:t>Pass</a:t>
                      </a:r>
                    </a:p>
                  </a:txBody>
                  <a:tcPr marL="54864" marR="54864" marT="18288" marB="18288">
                    <a:solidFill>
                      <a:srgbClr val="F5D0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1A"/>
                          </a:solidFill>
                          <a:latin typeface="Georgia"/>
                        </a:rPr>
                        <a:t>I</a:t>
                      </a:r>
                    </a:p>
                  </a:txBody>
                  <a:tcPr marL="54864" marR="54864" marT="18288" marB="18288">
                    <a:solidFill>
                      <a:srgbClr val="F5D020"/>
                    </a:solidFill>
                  </a:tcPr>
                </a:tc>
              </a:tr>
              <a:tr h="444398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1A1A1A"/>
                          </a:solidFill>
                          <a:latin typeface="Georgia"/>
                        </a:rPr>
                        <a:t>W-08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1A"/>
                          </a:solidFill>
                          <a:latin typeface="Georgia"/>
                        </a:rPr>
                        <a:t>Atlas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1A"/>
                          </a:solidFill>
                          <a:latin typeface="Georgia"/>
                        </a:rPr>
                        <a:t>Cards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1A"/>
                          </a:solidFill>
                          <a:latin typeface="Georgia"/>
                        </a:rPr>
                        <a:t>High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1A"/>
                          </a:solidFill>
                          <a:latin typeface="Georgia"/>
                        </a:rPr>
                        <a:t>Pass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1A"/>
                          </a:solidFill>
                          <a:latin typeface="Georgia"/>
                        </a:rPr>
                        <a:t>A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44402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1A1A1A"/>
                          </a:solidFill>
                          <a:latin typeface="Georgia"/>
                        </a:rPr>
                        <a:t>W-09</a:t>
                      </a:r>
                    </a:p>
                  </a:txBody>
                  <a:tcPr marL="54864" marR="54864" marT="18288" marB="18288">
                    <a:solidFill>
                      <a:srgbClr val="F5D0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1A"/>
                          </a:solidFill>
                          <a:latin typeface="Georgia"/>
                        </a:rPr>
                        <a:t>Ember</a:t>
                      </a:r>
                    </a:p>
                  </a:txBody>
                  <a:tcPr marL="54864" marR="54864" marT="18288" marB="18288">
                    <a:solidFill>
                      <a:srgbClr val="F5D0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1A"/>
                          </a:solidFill>
                          <a:latin typeface="Georgia"/>
                        </a:rPr>
                        <a:t>Mesh</a:t>
                      </a:r>
                    </a:p>
                  </a:txBody>
                  <a:tcPr marL="54864" marR="54864" marT="18288" marB="18288">
                    <a:solidFill>
                      <a:srgbClr val="F5D0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1A"/>
                          </a:solidFill>
                          <a:latin typeface="Georgia"/>
                        </a:rPr>
                        <a:t>Dense</a:t>
                      </a:r>
                    </a:p>
                  </a:txBody>
                  <a:tcPr marL="54864" marR="54864" marT="18288" marB="18288">
                    <a:solidFill>
                      <a:srgbClr val="F5D0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1A"/>
                          </a:solidFill>
                          <a:latin typeface="Georgia"/>
                        </a:rPr>
                        <a:t>Watch</a:t>
                      </a:r>
                    </a:p>
                  </a:txBody>
                  <a:tcPr marL="54864" marR="54864" marT="18288" marB="18288">
                    <a:solidFill>
                      <a:srgbClr val="F5D0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1A1A1A"/>
                          </a:solidFill>
                          <a:latin typeface="Georgia"/>
                        </a:rPr>
                        <a:t>R</a:t>
                      </a:r>
                    </a:p>
                  </a:txBody>
                  <a:tcPr marL="54864" marR="54864" marT="18288" marB="18288">
                    <a:solidFill>
                      <a:srgbClr val="F5D020"/>
                    </a:solidFill>
                  </a:tcPr>
                </a:tc>
              </a:tr>
            </a:tbl>
          </a:graphicData>
        </a:graphic>
      </p:graphicFrame>
      <p:sp>
        <p:nvSpPr>
          <p:cNvPr id="23" name="flow-0"/>
          <p:cNvSpPr/>
          <p:nvPr/>
        </p:nvSpPr>
        <p:spPr>
          <a:xfrm>
            <a:off x="457200" y="5742432"/>
            <a:ext cx="1600200" cy="384048"/>
          </a:xfrm>
          <a:prstGeom prst="roundRect">
            <a:avLst/>
          </a:prstGeom>
          <a:solidFill>
            <a:srgbClr val="F5D020"/>
          </a:solidFill>
          <a:ln w="10160">
            <a:solidFill>
              <a:srgbClr val="D726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flow-1"/>
          <p:cNvSpPr/>
          <p:nvPr/>
        </p:nvSpPr>
        <p:spPr>
          <a:xfrm>
            <a:off x="2350008" y="5742432"/>
            <a:ext cx="1600200" cy="384048"/>
          </a:xfrm>
          <a:prstGeom prst="roundRect">
            <a:avLst/>
          </a:prstGeom>
          <a:solidFill>
            <a:srgbClr val="F5D020"/>
          </a:solidFill>
          <a:ln w="10160">
            <a:solidFill>
              <a:srgbClr val="F5D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low-2"/>
          <p:cNvSpPr/>
          <p:nvPr/>
        </p:nvSpPr>
        <p:spPr>
          <a:xfrm>
            <a:off x="4242816" y="5742432"/>
            <a:ext cx="1600200" cy="384048"/>
          </a:xfrm>
          <a:prstGeom prst="roundRect">
            <a:avLst/>
          </a:prstGeom>
          <a:solidFill>
            <a:srgbClr val="F5D020"/>
          </a:solidFill>
          <a:ln w="1016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low-3"/>
          <p:cNvSpPr/>
          <p:nvPr/>
        </p:nvSpPr>
        <p:spPr>
          <a:xfrm>
            <a:off x="6135624" y="5742432"/>
            <a:ext cx="1600200" cy="384048"/>
          </a:xfrm>
          <a:prstGeom prst="roundRect">
            <a:avLst/>
          </a:prstGeom>
          <a:solidFill>
            <a:srgbClr val="F5D020"/>
          </a:solidFill>
          <a:ln w="10160">
            <a:solidFill>
              <a:srgbClr val="F5D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low-4"/>
          <p:cNvSpPr/>
          <p:nvPr/>
        </p:nvSpPr>
        <p:spPr>
          <a:xfrm>
            <a:off x="8028431" y="5742432"/>
            <a:ext cx="1600200" cy="384048"/>
          </a:xfrm>
          <a:prstGeom prst="roundRect">
            <a:avLst/>
          </a:prstGeom>
          <a:solidFill>
            <a:srgbClr val="F5D020"/>
          </a:solidFill>
          <a:ln w="10160">
            <a:solidFill>
              <a:srgbClr val="D726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low-5"/>
          <p:cNvSpPr/>
          <p:nvPr/>
        </p:nvSpPr>
        <p:spPr>
          <a:xfrm>
            <a:off x="9921240" y="5742432"/>
            <a:ext cx="1600200" cy="384048"/>
          </a:xfrm>
          <a:prstGeom prst="roundRect">
            <a:avLst/>
          </a:prstGeom>
          <a:solidFill>
            <a:srgbClr val="F5D020"/>
          </a:solidFill>
          <a:ln w="10160">
            <a:solidFill>
              <a:srgbClr val="D726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collage-number"/>
          <p:cNvSpPr txBox="1"/>
          <p:nvPr/>
        </p:nvSpPr>
        <p:spPr>
          <a:xfrm>
            <a:off x="9189720" y="1600200"/>
            <a:ext cx="2057400" cy="9601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5400" b="1" lang="en-US">
                <a:solidFill>
                  <a:srgbClr val="D72638"/>
                </a:solidFill>
                <a:latin typeface="Arial Black"/>
              </a:rPr>
              <a:t>60</a:t>
            </a:r>
          </a:p>
        </p:txBody>
      </p:sp>
      <p:sp>
        <p:nvSpPr>
          <p:cNvPr id="30" name="profile-tag"/>
          <p:cNvSpPr txBox="1"/>
          <p:nvPr/>
        </p:nvSpPr>
        <p:spPr>
          <a:xfrm>
            <a:off x="457200" y="201168"/>
            <a:ext cx="768096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1" lang="en-US">
                <a:solidFill>
                  <a:srgbClr val="D72638"/>
                </a:solidFill>
                <a:latin typeface="Georgia"/>
              </a:rPr>
              <a:t>V3 STRESS SUITE  ·  MAXIMALIST COLLAGE  ·  OPERATING MATRIX</a:t>
            </a:r>
          </a:p>
        </p:txBody>
      </p:sp>
      <p:sp>
        <p:nvSpPr>
          <p:cNvPr id="31" name="slide-index"/>
          <p:cNvSpPr txBox="1"/>
          <p:nvPr/>
        </p:nvSpPr>
        <p:spPr>
          <a:xfrm>
            <a:off x="10808208" y="201168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00" b="1" lang="en-US">
                <a:solidFill>
                  <a:srgbClr val="4A423A"/>
                </a:solidFill>
                <a:latin typeface="Georgia"/>
              </a:rPr>
              <a:t>53/60</a:t>
            </a:r>
          </a:p>
        </p:txBody>
      </p:sp>
      <p:sp>
        <p:nvSpPr>
          <p:cNvPr id="32" name="title"/>
          <p:cNvSpPr txBox="1"/>
          <p:nvPr/>
        </p:nvSpPr>
        <p:spPr>
          <a:xfrm>
            <a:off x="457200" y="484632"/>
            <a:ext cx="11274552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200" b="1" lang="en-US">
                <a:solidFill>
                  <a:srgbClr val="1A1A1A"/>
                </a:solidFill>
                <a:latin typeface="Arial Black"/>
              </a:rPr>
              <a:t>Operating matrices make quality ownership visible at a glance</a:t>
            </a:r>
          </a:p>
        </p:txBody>
      </p:sp>
      <p:sp>
        <p:nvSpPr>
          <p:cNvPr id="33" name="footer"/>
          <p:cNvSpPr txBox="1"/>
          <p:nvPr/>
        </p:nvSpPr>
        <p:spPr>
          <a:xfrm>
            <a:off x="457200" y="6473952"/>
            <a:ext cx="1051560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0" lang="en-US">
                <a:solidFill>
                  <a:srgbClr val="4A423A"/>
                </a:solidFill>
                <a:latin typeface="Georgia"/>
              </a:rPr>
              <a:t>Native-object stress fixture · overlapping red-black-yellow blocks, ghost numbers, and rotated collage energy · editable geometry and recorded style lock</a:t>
            </a:r>
          </a:p>
        </p:txBody>
      </p:sp>
      <p:sp>
        <p:nvSpPr>
          <p:cNvPr id="34" name="matrix-rail-title"/>
          <p:cNvSpPr txBox="1"/>
          <p:nvPr/>
        </p:nvSpPr>
        <p:spPr>
          <a:xfrm>
            <a:off x="9089136" y="1371600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1" lang="en-US">
                <a:solidFill>
                  <a:srgbClr val="D72638"/>
                </a:solidFill>
                <a:latin typeface="Georgia"/>
              </a:rPr>
              <a:t>QUALITY RADAR</a:t>
            </a:r>
          </a:p>
        </p:txBody>
      </p:sp>
      <p:sp>
        <p:nvSpPr>
          <p:cNvPr id="35" name="radar-label-0"/>
          <p:cNvSpPr txBox="1"/>
          <p:nvPr/>
        </p:nvSpPr>
        <p:spPr>
          <a:xfrm>
            <a:off x="9893808" y="1737360"/>
            <a:ext cx="768096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4A423A"/>
                </a:solidFill>
                <a:latin typeface="Georgia"/>
              </a:rPr>
              <a:t>Bounds</a:t>
            </a:r>
          </a:p>
        </p:txBody>
      </p:sp>
      <p:sp>
        <p:nvSpPr>
          <p:cNvPr id="36" name="radar-label-1"/>
          <p:cNvSpPr txBox="1"/>
          <p:nvPr/>
        </p:nvSpPr>
        <p:spPr>
          <a:xfrm>
            <a:off x="11120932" y="2446020"/>
            <a:ext cx="768096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4A423A"/>
                </a:solidFill>
                <a:latin typeface="Georgia"/>
              </a:rPr>
              <a:t>Fonts</a:t>
            </a:r>
          </a:p>
        </p:txBody>
      </p:sp>
      <p:sp>
        <p:nvSpPr>
          <p:cNvPr id="37" name="radar-label-2"/>
          <p:cNvSpPr txBox="1"/>
          <p:nvPr/>
        </p:nvSpPr>
        <p:spPr>
          <a:xfrm>
            <a:off x="11120932" y="3863339"/>
            <a:ext cx="768096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4A423A"/>
                </a:solidFill>
                <a:latin typeface="Georgia"/>
              </a:rPr>
              <a:t>Tables</a:t>
            </a:r>
          </a:p>
        </p:txBody>
      </p:sp>
      <p:sp>
        <p:nvSpPr>
          <p:cNvPr id="38" name="radar-label-3"/>
          <p:cNvSpPr txBox="1"/>
          <p:nvPr/>
        </p:nvSpPr>
        <p:spPr>
          <a:xfrm>
            <a:off x="9893808" y="4572000"/>
            <a:ext cx="768096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4A423A"/>
                </a:solidFill>
                <a:latin typeface="Georgia"/>
              </a:rPr>
              <a:t>Contrast</a:t>
            </a:r>
          </a:p>
        </p:txBody>
      </p:sp>
      <p:sp>
        <p:nvSpPr>
          <p:cNvPr id="39" name="radar-label-4"/>
          <p:cNvSpPr txBox="1"/>
          <p:nvPr/>
        </p:nvSpPr>
        <p:spPr>
          <a:xfrm>
            <a:off x="8666683" y="3863339"/>
            <a:ext cx="768096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4A423A"/>
                </a:solidFill>
                <a:latin typeface="Georgia"/>
              </a:rPr>
              <a:t>Order</a:t>
            </a:r>
          </a:p>
        </p:txBody>
      </p:sp>
      <p:sp>
        <p:nvSpPr>
          <p:cNvPr id="40" name="radar-label-5"/>
          <p:cNvSpPr txBox="1"/>
          <p:nvPr/>
        </p:nvSpPr>
        <p:spPr>
          <a:xfrm>
            <a:off x="8666683" y="2446020"/>
            <a:ext cx="768096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4A423A"/>
                </a:solidFill>
                <a:latin typeface="Georgia"/>
              </a:rPr>
              <a:t>Style</a:t>
            </a:r>
          </a:p>
        </p:txBody>
      </p:sp>
      <p:sp>
        <p:nvSpPr>
          <p:cNvPr id="41" name="radar-point-0"/>
          <p:cNvSpPr/>
          <p:nvPr/>
        </p:nvSpPr>
        <p:spPr>
          <a:xfrm>
            <a:off x="10204704" y="2258568"/>
            <a:ext cx="146304" cy="146304"/>
          </a:xfrm>
          <a:prstGeom prst="ellipse">
            <a:avLst/>
          </a:prstGeom>
          <a:solidFill>
            <a:srgbClr val="1A1A1A"/>
          </a:solidFill>
          <a:ln w="1016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adar-point-1"/>
          <p:cNvSpPr/>
          <p:nvPr/>
        </p:nvSpPr>
        <p:spPr>
          <a:xfrm>
            <a:off x="10806379" y="2825496"/>
            <a:ext cx="146304" cy="146304"/>
          </a:xfrm>
          <a:prstGeom prst="ellipse">
            <a:avLst/>
          </a:prstGeom>
          <a:solidFill>
            <a:srgbClr val="1A1A1A"/>
          </a:solidFill>
          <a:ln w="1016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adar-point-2"/>
          <p:cNvSpPr/>
          <p:nvPr/>
        </p:nvSpPr>
        <p:spPr>
          <a:xfrm>
            <a:off x="11139220" y="3712463"/>
            <a:ext cx="146304" cy="146304"/>
          </a:xfrm>
          <a:prstGeom prst="ellipse">
            <a:avLst/>
          </a:prstGeom>
          <a:solidFill>
            <a:srgbClr val="1A1A1A"/>
          </a:solidFill>
          <a:ln w="1016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adar-point-3"/>
          <p:cNvSpPr/>
          <p:nvPr/>
        </p:nvSpPr>
        <p:spPr>
          <a:xfrm>
            <a:off x="10204704" y="3995928"/>
            <a:ext cx="146304" cy="146304"/>
          </a:xfrm>
          <a:prstGeom prst="ellipse">
            <a:avLst/>
          </a:prstGeom>
          <a:solidFill>
            <a:srgbClr val="1A1A1A"/>
          </a:solidFill>
          <a:ln w="1016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adar-point-4"/>
          <p:cNvSpPr/>
          <p:nvPr/>
        </p:nvSpPr>
        <p:spPr>
          <a:xfrm>
            <a:off x="9317736" y="3685032"/>
            <a:ext cx="146304" cy="146304"/>
          </a:xfrm>
          <a:prstGeom prst="ellipse">
            <a:avLst/>
          </a:prstGeom>
          <a:solidFill>
            <a:srgbClr val="1A1A1A"/>
          </a:solidFill>
          <a:ln w="1016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adar-point-5"/>
          <p:cNvSpPr/>
          <p:nvPr/>
        </p:nvSpPr>
        <p:spPr>
          <a:xfrm>
            <a:off x="9650577" y="2852928"/>
            <a:ext cx="146304" cy="146304"/>
          </a:xfrm>
          <a:prstGeom prst="ellipse">
            <a:avLst/>
          </a:prstGeom>
          <a:solidFill>
            <a:srgbClr val="1A1A1A"/>
          </a:solidFill>
          <a:ln w="1016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matrix-note"/>
          <p:cNvSpPr txBox="1"/>
          <p:nvPr/>
        </p:nvSpPr>
        <p:spPr>
          <a:xfrm>
            <a:off x="9089136" y="4800600"/>
            <a:ext cx="2267712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00" b="0" lang="en-US">
                <a:solidFill>
                  <a:srgbClr val="4A423A"/>
                </a:solidFill>
                <a:latin typeface="Georgia"/>
              </a:rPr>
              <a:t>Editable table and quality geometry share one governed frame.</a:t>
            </a:r>
          </a:p>
        </p:txBody>
      </p:sp>
      <p:sp>
        <p:nvSpPr>
          <p:cNvPr id="48" name="flow-label-0"/>
          <p:cNvSpPr txBox="1"/>
          <p:nvPr/>
        </p:nvSpPr>
        <p:spPr>
          <a:xfrm>
            <a:off x="566928" y="5852160"/>
            <a:ext cx="137160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50" b="1" lang="en-US">
                <a:solidFill>
                  <a:srgbClr val="D72638"/>
                </a:solidFill>
                <a:latin typeface="Georgia"/>
              </a:rPr>
              <a:t>Lock</a:t>
            </a:r>
          </a:p>
        </p:txBody>
      </p:sp>
      <p:sp>
        <p:nvSpPr>
          <p:cNvPr id="49" name="flow-label-1"/>
          <p:cNvSpPr txBox="1"/>
          <p:nvPr/>
        </p:nvSpPr>
        <p:spPr>
          <a:xfrm>
            <a:off x="2459736" y="5852160"/>
            <a:ext cx="137160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50" b="1" lang="en-US">
                <a:solidFill>
                  <a:srgbClr val="F5D020"/>
                </a:solidFill>
                <a:latin typeface="Georgia"/>
              </a:rPr>
              <a:t>Compose</a:t>
            </a:r>
          </a:p>
        </p:txBody>
      </p:sp>
      <p:sp>
        <p:nvSpPr>
          <p:cNvPr id="50" name="flow-label-2"/>
          <p:cNvSpPr txBox="1"/>
          <p:nvPr/>
        </p:nvSpPr>
        <p:spPr>
          <a:xfrm>
            <a:off x="4352544" y="5852160"/>
            <a:ext cx="137160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50" b="1" lang="en-US">
                <a:solidFill>
                  <a:srgbClr val="1A1A1A"/>
                </a:solidFill>
                <a:latin typeface="Georgia"/>
              </a:rPr>
              <a:t>Validate</a:t>
            </a:r>
          </a:p>
        </p:txBody>
      </p:sp>
      <p:sp>
        <p:nvSpPr>
          <p:cNvPr id="51" name="flow-label-3"/>
          <p:cNvSpPr txBox="1"/>
          <p:nvPr/>
        </p:nvSpPr>
        <p:spPr>
          <a:xfrm>
            <a:off x="6245352" y="5852160"/>
            <a:ext cx="137160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50" b="1" lang="en-US">
                <a:solidFill>
                  <a:srgbClr val="F5D020"/>
                </a:solidFill>
                <a:latin typeface="Georgia"/>
              </a:rPr>
              <a:t>Render</a:t>
            </a:r>
          </a:p>
        </p:txBody>
      </p:sp>
      <p:sp>
        <p:nvSpPr>
          <p:cNvPr id="52" name="flow-label-4"/>
          <p:cNvSpPr txBox="1"/>
          <p:nvPr/>
        </p:nvSpPr>
        <p:spPr>
          <a:xfrm>
            <a:off x="8138160" y="5852160"/>
            <a:ext cx="137160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50" b="1" lang="en-US">
                <a:solidFill>
                  <a:srgbClr val="D72638"/>
                </a:solidFill>
                <a:latin typeface="Georgia"/>
              </a:rPr>
              <a:t>Inspect</a:t>
            </a:r>
          </a:p>
        </p:txBody>
      </p:sp>
      <p:sp>
        <p:nvSpPr>
          <p:cNvPr id="53" name="flow-label-5"/>
          <p:cNvSpPr txBox="1"/>
          <p:nvPr/>
        </p:nvSpPr>
        <p:spPr>
          <a:xfrm>
            <a:off x="10030968" y="5852160"/>
            <a:ext cx="137160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50" b="1" lang="en-US">
                <a:solidFill>
                  <a:srgbClr val="D72638"/>
                </a:solidFill>
                <a:latin typeface="Georgia"/>
              </a:rPr>
              <a:t>Publish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DDD0"/>
          </a:solidFill>
          <a:ln w="10160">
            <a:solidFill>
              <a:srgbClr val="E8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ollage-red-block"/>
          <p:cNvSpPr/>
          <p:nvPr/>
        </p:nvSpPr>
        <p:spPr>
          <a:xfrm>
            <a:off x="8595360" y="411480"/>
            <a:ext cx="2468880" cy="1234440"/>
          </a:xfrm>
          <a:prstGeom prst="rect">
            <a:avLst/>
          </a:prstGeom>
          <a:solidFill>
            <a:srgbClr val="D72638"/>
          </a:solidFill>
          <a:ln w="10160">
            <a:solidFill>
              <a:srgbClr val="D726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ollage-black-block"/>
          <p:cNvSpPr/>
          <p:nvPr/>
        </p:nvSpPr>
        <p:spPr>
          <a:xfrm>
            <a:off x="9464040" y="4983480"/>
            <a:ext cx="2267712" cy="1078992"/>
          </a:xfrm>
          <a:prstGeom prst="rect">
            <a:avLst/>
          </a:prstGeom>
          <a:solidFill>
            <a:srgbClr val="1A1A1A"/>
          </a:solidFill>
          <a:ln w="1016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op-band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D72638"/>
          </a:solidFill>
          <a:ln w="10160">
            <a:solidFill>
              <a:srgbClr val="D726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ortfolio-0-shell"/>
          <p:cNvSpPr/>
          <p:nvPr/>
        </p:nvSpPr>
        <p:spPr>
          <a:xfrm>
            <a:off x="457200" y="1097280"/>
            <a:ext cx="2395728" cy="2057400"/>
          </a:xfrm>
          <a:prstGeom prst="rect">
            <a:avLst/>
          </a:prstGeom>
          <a:solidFill>
            <a:srgbClr val="F5D020"/>
          </a:solidFill>
          <a:ln w="10160">
            <a:solidFill>
              <a:srgbClr val="C8B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ortfolio-1-shell"/>
          <p:cNvSpPr/>
          <p:nvPr/>
        </p:nvSpPr>
        <p:spPr>
          <a:xfrm>
            <a:off x="3054096" y="1097280"/>
            <a:ext cx="2395728" cy="2057400"/>
          </a:xfrm>
          <a:prstGeom prst="rect">
            <a:avLst/>
          </a:prstGeom>
          <a:solidFill>
            <a:srgbClr val="F5D020"/>
          </a:solidFill>
          <a:ln w="10160">
            <a:solidFill>
              <a:srgbClr val="C8B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ortfolio-2-shell"/>
          <p:cNvSpPr/>
          <p:nvPr/>
        </p:nvSpPr>
        <p:spPr>
          <a:xfrm>
            <a:off x="5650992" y="1097280"/>
            <a:ext cx="2395728" cy="2057400"/>
          </a:xfrm>
          <a:prstGeom prst="rect">
            <a:avLst/>
          </a:prstGeom>
          <a:solidFill>
            <a:srgbClr val="F5D020"/>
          </a:solidFill>
          <a:ln w="10160">
            <a:solidFill>
              <a:srgbClr val="C8B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ortfolio-3-shell"/>
          <p:cNvSpPr/>
          <p:nvPr/>
        </p:nvSpPr>
        <p:spPr>
          <a:xfrm>
            <a:off x="457200" y="3429000"/>
            <a:ext cx="2395728" cy="2057400"/>
          </a:xfrm>
          <a:prstGeom prst="rect">
            <a:avLst/>
          </a:prstGeom>
          <a:solidFill>
            <a:srgbClr val="F5D020"/>
          </a:solidFill>
          <a:ln w="10160">
            <a:solidFill>
              <a:srgbClr val="C8B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ortfolio-4-shell"/>
          <p:cNvSpPr/>
          <p:nvPr/>
        </p:nvSpPr>
        <p:spPr>
          <a:xfrm>
            <a:off x="3054096" y="3429000"/>
            <a:ext cx="2395728" cy="2057400"/>
          </a:xfrm>
          <a:prstGeom prst="rect">
            <a:avLst/>
          </a:prstGeom>
          <a:solidFill>
            <a:srgbClr val="F5D020"/>
          </a:solidFill>
          <a:ln w="10160">
            <a:solidFill>
              <a:srgbClr val="C8B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portfolio-5-shell"/>
          <p:cNvSpPr/>
          <p:nvPr/>
        </p:nvSpPr>
        <p:spPr>
          <a:xfrm>
            <a:off x="5650992" y="3429000"/>
            <a:ext cx="2395728" cy="2057400"/>
          </a:xfrm>
          <a:prstGeom prst="rect">
            <a:avLst/>
          </a:prstGeom>
          <a:solidFill>
            <a:srgbClr val="F5D020"/>
          </a:solidFill>
          <a:ln w="10160">
            <a:solidFill>
              <a:srgbClr val="C8B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portfolio-rail-shell"/>
          <p:cNvSpPr/>
          <p:nvPr/>
        </p:nvSpPr>
        <p:spPr>
          <a:xfrm>
            <a:off x="8458200" y="1097280"/>
            <a:ext cx="3273552" cy="4892040"/>
          </a:xfrm>
          <a:prstGeom prst="rect">
            <a:avLst/>
          </a:prstGeom>
          <a:solidFill>
            <a:srgbClr val="FFFFFF"/>
          </a:solidFill>
          <a:ln w="10160">
            <a:solidFill>
              <a:srgbClr val="C8B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ortfolio-0-accent"/>
          <p:cNvSpPr/>
          <p:nvPr/>
        </p:nvSpPr>
        <p:spPr>
          <a:xfrm>
            <a:off x="457200" y="1097280"/>
            <a:ext cx="73152" cy="2057400"/>
          </a:xfrm>
          <a:prstGeom prst="rect">
            <a:avLst/>
          </a:prstGeom>
          <a:solidFill>
            <a:srgbClr val="D72638"/>
          </a:solidFill>
          <a:ln w="10160">
            <a:solidFill>
              <a:srgbClr val="D726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ortfolio-1-accent"/>
          <p:cNvSpPr/>
          <p:nvPr/>
        </p:nvSpPr>
        <p:spPr>
          <a:xfrm>
            <a:off x="3054096" y="1097280"/>
            <a:ext cx="73152" cy="2057400"/>
          </a:xfrm>
          <a:prstGeom prst="rect">
            <a:avLst/>
          </a:prstGeom>
          <a:solidFill>
            <a:srgbClr val="D72638"/>
          </a:solidFill>
          <a:ln w="10160">
            <a:solidFill>
              <a:srgbClr val="D726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portfolio-2-accent"/>
          <p:cNvSpPr/>
          <p:nvPr/>
        </p:nvSpPr>
        <p:spPr>
          <a:xfrm>
            <a:off x="5650992" y="1097280"/>
            <a:ext cx="73152" cy="2057400"/>
          </a:xfrm>
          <a:prstGeom prst="rect">
            <a:avLst/>
          </a:prstGeom>
          <a:solidFill>
            <a:srgbClr val="D72638"/>
          </a:solidFill>
          <a:ln w="10160">
            <a:solidFill>
              <a:srgbClr val="D726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portfolio-3-accent"/>
          <p:cNvSpPr/>
          <p:nvPr/>
        </p:nvSpPr>
        <p:spPr>
          <a:xfrm>
            <a:off x="457200" y="3429000"/>
            <a:ext cx="73152" cy="2057400"/>
          </a:xfrm>
          <a:prstGeom prst="rect">
            <a:avLst/>
          </a:prstGeom>
          <a:solidFill>
            <a:srgbClr val="D72638"/>
          </a:solidFill>
          <a:ln w="10160">
            <a:solidFill>
              <a:srgbClr val="D726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portfolio-4-accent"/>
          <p:cNvSpPr/>
          <p:nvPr/>
        </p:nvSpPr>
        <p:spPr>
          <a:xfrm>
            <a:off x="3054096" y="3429000"/>
            <a:ext cx="73152" cy="2057400"/>
          </a:xfrm>
          <a:prstGeom prst="rect">
            <a:avLst/>
          </a:prstGeom>
          <a:solidFill>
            <a:srgbClr val="D72638"/>
          </a:solidFill>
          <a:ln w="10160">
            <a:solidFill>
              <a:srgbClr val="D726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portfolio-5-accent"/>
          <p:cNvSpPr/>
          <p:nvPr/>
        </p:nvSpPr>
        <p:spPr>
          <a:xfrm>
            <a:off x="5650992" y="3429000"/>
            <a:ext cx="73152" cy="2057400"/>
          </a:xfrm>
          <a:prstGeom prst="rect">
            <a:avLst/>
          </a:prstGeom>
          <a:solidFill>
            <a:srgbClr val="D72638"/>
          </a:solidFill>
          <a:ln w="10160">
            <a:solidFill>
              <a:srgbClr val="D726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portfolio-rail-accent"/>
          <p:cNvSpPr/>
          <p:nvPr/>
        </p:nvSpPr>
        <p:spPr>
          <a:xfrm>
            <a:off x="8458200" y="1097280"/>
            <a:ext cx="73152" cy="4892040"/>
          </a:xfrm>
          <a:prstGeom prst="rect">
            <a:avLst/>
          </a:prstGeom>
          <a:solidFill>
            <a:srgbClr val="D72638"/>
          </a:solidFill>
          <a:ln w="10160">
            <a:solidFill>
              <a:srgbClr val="D726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portfolio-micro-0-0"/>
          <p:cNvSpPr/>
          <p:nvPr/>
        </p:nvSpPr>
        <p:spPr>
          <a:xfrm>
            <a:off x="676656" y="2139696"/>
            <a:ext cx="859536" cy="2560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26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portfolio-micro-0-1"/>
          <p:cNvSpPr/>
          <p:nvPr/>
        </p:nvSpPr>
        <p:spPr>
          <a:xfrm>
            <a:off x="1664208" y="2139696"/>
            <a:ext cx="859536" cy="2560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26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portfolio-micro-0-2"/>
          <p:cNvSpPr/>
          <p:nvPr/>
        </p:nvSpPr>
        <p:spPr>
          <a:xfrm>
            <a:off x="676656" y="2523744"/>
            <a:ext cx="859536" cy="2560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26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portfolio-micro-0-3"/>
          <p:cNvSpPr/>
          <p:nvPr/>
        </p:nvSpPr>
        <p:spPr>
          <a:xfrm>
            <a:off x="1664208" y="2523744"/>
            <a:ext cx="859536" cy="2560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26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portfolio-micro-1-0"/>
          <p:cNvSpPr/>
          <p:nvPr/>
        </p:nvSpPr>
        <p:spPr>
          <a:xfrm>
            <a:off x="3273552" y="2139696"/>
            <a:ext cx="859536" cy="2560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5D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portfolio-micro-1-1"/>
          <p:cNvSpPr/>
          <p:nvPr/>
        </p:nvSpPr>
        <p:spPr>
          <a:xfrm>
            <a:off x="4261104" y="2139696"/>
            <a:ext cx="859536" cy="2560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5D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portfolio-micro-1-2"/>
          <p:cNvSpPr/>
          <p:nvPr/>
        </p:nvSpPr>
        <p:spPr>
          <a:xfrm>
            <a:off x="3273552" y="2523744"/>
            <a:ext cx="859536" cy="2560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5D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portfolio-micro-1-3"/>
          <p:cNvSpPr/>
          <p:nvPr/>
        </p:nvSpPr>
        <p:spPr>
          <a:xfrm>
            <a:off x="4261104" y="2523744"/>
            <a:ext cx="859536" cy="2560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5D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portfolio-micro-2-0"/>
          <p:cNvSpPr/>
          <p:nvPr/>
        </p:nvSpPr>
        <p:spPr>
          <a:xfrm>
            <a:off x="5870448" y="2139696"/>
            <a:ext cx="859536" cy="2560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portfolio-micro-2-1"/>
          <p:cNvSpPr/>
          <p:nvPr/>
        </p:nvSpPr>
        <p:spPr>
          <a:xfrm>
            <a:off x="6858000" y="2139696"/>
            <a:ext cx="859536" cy="2560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portfolio-micro-2-2"/>
          <p:cNvSpPr/>
          <p:nvPr/>
        </p:nvSpPr>
        <p:spPr>
          <a:xfrm>
            <a:off x="5870448" y="2523744"/>
            <a:ext cx="859536" cy="2560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portfolio-micro-2-3"/>
          <p:cNvSpPr/>
          <p:nvPr/>
        </p:nvSpPr>
        <p:spPr>
          <a:xfrm>
            <a:off x="6858000" y="2523744"/>
            <a:ext cx="859536" cy="2560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portfolio-micro-3-0"/>
          <p:cNvSpPr/>
          <p:nvPr/>
        </p:nvSpPr>
        <p:spPr>
          <a:xfrm>
            <a:off x="676656" y="4471416"/>
            <a:ext cx="859536" cy="2560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26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portfolio-micro-3-1"/>
          <p:cNvSpPr/>
          <p:nvPr/>
        </p:nvSpPr>
        <p:spPr>
          <a:xfrm>
            <a:off x="1664208" y="4471416"/>
            <a:ext cx="859536" cy="2560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26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portfolio-micro-3-2"/>
          <p:cNvSpPr/>
          <p:nvPr/>
        </p:nvSpPr>
        <p:spPr>
          <a:xfrm>
            <a:off x="676656" y="4855464"/>
            <a:ext cx="859536" cy="2560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26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portfolio-micro-3-3"/>
          <p:cNvSpPr/>
          <p:nvPr/>
        </p:nvSpPr>
        <p:spPr>
          <a:xfrm>
            <a:off x="1664208" y="4855464"/>
            <a:ext cx="859536" cy="2560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26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portfolio-micro-4-0"/>
          <p:cNvSpPr/>
          <p:nvPr/>
        </p:nvSpPr>
        <p:spPr>
          <a:xfrm>
            <a:off x="3273552" y="4471416"/>
            <a:ext cx="859536" cy="2560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5D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portfolio-micro-4-1"/>
          <p:cNvSpPr/>
          <p:nvPr/>
        </p:nvSpPr>
        <p:spPr>
          <a:xfrm>
            <a:off x="4261104" y="4471416"/>
            <a:ext cx="859536" cy="2560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5D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portfolio-micro-4-2"/>
          <p:cNvSpPr/>
          <p:nvPr/>
        </p:nvSpPr>
        <p:spPr>
          <a:xfrm>
            <a:off x="3273552" y="4855464"/>
            <a:ext cx="859536" cy="2560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5D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portfolio-micro-4-3"/>
          <p:cNvSpPr/>
          <p:nvPr/>
        </p:nvSpPr>
        <p:spPr>
          <a:xfrm>
            <a:off x="4261104" y="4855464"/>
            <a:ext cx="859536" cy="2560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5D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portfolio-micro-5-0"/>
          <p:cNvSpPr/>
          <p:nvPr/>
        </p:nvSpPr>
        <p:spPr>
          <a:xfrm>
            <a:off x="5870448" y="4471416"/>
            <a:ext cx="859536" cy="2560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26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portfolio-micro-5-1"/>
          <p:cNvSpPr/>
          <p:nvPr/>
        </p:nvSpPr>
        <p:spPr>
          <a:xfrm>
            <a:off x="6858000" y="4471416"/>
            <a:ext cx="859536" cy="2560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26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portfolio-micro-5-2"/>
          <p:cNvSpPr/>
          <p:nvPr/>
        </p:nvSpPr>
        <p:spPr>
          <a:xfrm>
            <a:off x="5870448" y="4855464"/>
            <a:ext cx="859536" cy="2560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26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portfolio-micro-5-3"/>
          <p:cNvSpPr/>
          <p:nvPr/>
        </p:nvSpPr>
        <p:spPr>
          <a:xfrm>
            <a:off x="6858000" y="4855464"/>
            <a:ext cx="859536" cy="2560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26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lease-cell-0"/>
          <p:cNvSpPr/>
          <p:nvPr/>
        </p:nvSpPr>
        <p:spPr>
          <a:xfrm>
            <a:off x="8723376" y="1737360"/>
            <a:ext cx="2697480" cy="512064"/>
          </a:xfrm>
          <a:prstGeom prst="roundRect">
            <a:avLst/>
          </a:prstGeom>
          <a:solidFill>
            <a:srgbClr val="F5D020"/>
          </a:solidFill>
          <a:ln w="10160">
            <a:solidFill>
              <a:srgbClr val="C8B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lease-cell-1"/>
          <p:cNvSpPr/>
          <p:nvPr/>
        </p:nvSpPr>
        <p:spPr>
          <a:xfrm>
            <a:off x="8723376" y="2432304"/>
            <a:ext cx="2697480" cy="512064"/>
          </a:xfrm>
          <a:prstGeom prst="roundRect">
            <a:avLst/>
          </a:prstGeom>
          <a:solidFill>
            <a:srgbClr val="F5D020"/>
          </a:solidFill>
          <a:ln w="10160">
            <a:solidFill>
              <a:srgbClr val="C8B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lease-cell-2"/>
          <p:cNvSpPr/>
          <p:nvPr/>
        </p:nvSpPr>
        <p:spPr>
          <a:xfrm>
            <a:off x="8723376" y="3127248"/>
            <a:ext cx="2697480" cy="512064"/>
          </a:xfrm>
          <a:prstGeom prst="roundRect">
            <a:avLst/>
          </a:prstGeom>
          <a:solidFill>
            <a:srgbClr val="F5D020"/>
          </a:solidFill>
          <a:ln w="10160">
            <a:solidFill>
              <a:srgbClr val="C8B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lease-cell-3"/>
          <p:cNvSpPr/>
          <p:nvPr/>
        </p:nvSpPr>
        <p:spPr>
          <a:xfrm>
            <a:off x="8723376" y="3822191"/>
            <a:ext cx="2697480" cy="512064"/>
          </a:xfrm>
          <a:prstGeom prst="roundRect">
            <a:avLst/>
          </a:prstGeom>
          <a:solidFill>
            <a:srgbClr val="F5D020"/>
          </a:solidFill>
          <a:ln w="10160">
            <a:solidFill>
              <a:srgbClr val="C8B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lease-cell-4"/>
          <p:cNvSpPr/>
          <p:nvPr/>
        </p:nvSpPr>
        <p:spPr>
          <a:xfrm>
            <a:off x="8723376" y="4517136"/>
            <a:ext cx="2697480" cy="512064"/>
          </a:xfrm>
          <a:prstGeom prst="roundRect">
            <a:avLst/>
          </a:prstGeom>
          <a:solidFill>
            <a:srgbClr val="F5D020"/>
          </a:solidFill>
          <a:ln w="10160">
            <a:solidFill>
              <a:srgbClr val="C8B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portfolio-banner"/>
          <p:cNvSpPr/>
          <p:nvPr/>
        </p:nvSpPr>
        <p:spPr>
          <a:xfrm>
            <a:off x="457200" y="5559552"/>
            <a:ext cx="7882127" cy="438912"/>
          </a:xfrm>
          <a:prstGeom prst="roundRect">
            <a:avLst/>
          </a:prstGeom>
          <a:solidFill>
            <a:srgbClr val="D72638"/>
          </a:solidFill>
          <a:ln w="10160">
            <a:solidFill>
              <a:srgbClr val="D726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collage-number"/>
          <p:cNvSpPr txBox="1"/>
          <p:nvPr/>
        </p:nvSpPr>
        <p:spPr>
          <a:xfrm>
            <a:off x="9189720" y="1600200"/>
            <a:ext cx="2057400" cy="9601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5400" b="1" lang="en-US">
                <a:solidFill>
                  <a:srgbClr val="D72638"/>
                </a:solidFill>
                <a:latin typeface="Arial Black"/>
              </a:rPr>
              <a:t>60</a:t>
            </a:r>
          </a:p>
        </p:txBody>
      </p:sp>
      <p:sp>
        <p:nvSpPr>
          <p:cNvPr id="51" name="profile-tag"/>
          <p:cNvSpPr txBox="1"/>
          <p:nvPr/>
        </p:nvSpPr>
        <p:spPr>
          <a:xfrm>
            <a:off x="457200" y="201168"/>
            <a:ext cx="768096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1" lang="en-US">
                <a:solidFill>
                  <a:srgbClr val="D72638"/>
                </a:solidFill>
                <a:latin typeface="Georgia"/>
              </a:rPr>
              <a:t>V3 STRESS SUITE  ·  MAXIMALIST COLLAGE  ·  PORTFOLIO GRID</a:t>
            </a:r>
          </a:p>
        </p:txBody>
      </p:sp>
      <p:sp>
        <p:nvSpPr>
          <p:cNvPr id="52" name="slide-index"/>
          <p:cNvSpPr txBox="1"/>
          <p:nvPr/>
        </p:nvSpPr>
        <p:spPr>
          <a:xfrm>
            <a:off x="10808208" y="201168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00" b="1" lang="en-US">
                <a:solidFill>
                  <a:srgbClr val="4A423A"/>
                </a:solidFill>
                <a:latin typeface="Georgia"/>
              </a:rPr>
              <a:t>54/60</a:t>
            </a:r>
          </a:p>
        </p:txBody>
      </p:sp>
      <p:sp>
        <p:nvSpPr>
          <p:cNvPr id="53" name="title"/>
          <p:cNvSpPr txBox="1"/>
          <p:nvPr/>
        </p:nvSpPr>
        <p:spPr>
          <a:xfrm>
            <a:off x="457200" y="484632"/>
            <a:ext cx="11274552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200" b="1" lang="en-US">
                <a:solidFill>
                  <a:srgbClr val="1A1A1A"/>
                </a:solidFill>
                <a:latin typeface="Arial Black"/>
              </a:rPr>
              <a:t>Portfolio grids compress six validated capability views into one scan</a:t>
            </a:r>
          </a:p>
        </p:txBody>
      </p:sp>
      <p:sp>
        <p:nvSpPr>
          <p:cNvPr id="54" name="footer"/>
          <p:cNvSpPr txBox="1"/>
          <p:nvPr/>
        </p:nvSpPr>
        <p:spPr>
          <a:xfrm>
            <a:off x="457200" y="6473952"/>
            <a:ext cx="1051560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0" lang="en-US">
                <a:solidFill>
                  <a:srgbClr val="4A423A"/>
                </a:solidFill>
                <a:latin typeface="Georgia"/>
              </a:rPr>
              <a:t>Native-object stress fixture · overlapping red-black-yellow blocks, ghost numbers, and rotated collage energy · editable geometry and recorded style lock</a:t>
            </a:r>
          </a:p>
        </p:txBody>
      </p:sp>
      <p:sp>
        <p:nvSpPr>
          <p:cNvPr id="55" name="portfolio-num-0"/>
          <p:cNvSpPr txBox="1"/>
          <p:nvPr/>
        </p:nvSpPr>
        <p:spPr>
          <a:xfrm>
            <a:off x="676656" y="1298448"/>
            <a:ext cx="566928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1" lang="en-US">
                <a:solidFill>
                  <a:srgbClr val="D72638"/>
                </a:solidFill>
                <a:latin typeface="Arial Black"/>
              </a:rPr>
              <a:t>01</a:t>
            </a:r>
          </a:p>
        </p:txBody>
      </p:sp>
      <p:sp>
        <p:nvSpPr>
          <p:cNvPr id="56" name="portfolio-name-0"/>
          <p:cNvSpPr txBox="1"/>
          <p:nvPr/>
        </p:nvSpPr>
        <p:spPr>
          <a:xfrm>
            <a:off x="676656" y="1719072"/>
            <a:ext cx="192024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50" b="1" lang="en-US">
                <a:solidFill>
                  <a:srgbClr val="1A1A1A"/>
                </a:solidFill>
                <a:latin typeface="Georgia"/>
              </a:rPr>
              <a:t>Profile lock</a:t>
            </a:r>
          </a:p>
        </p:txBody>
      </p:sp>
      <p:sp>
        <p:nvSpPr>
          <p:cNvPr id="57" name="portfolio-micro-label-0-0"/>
          <p:cNvSpPr txBox="1"/>
          <p:nvPr/>
        </p:nvSpPr>
        <p:spPr>
          <a:xfrm>
            <a:off x="722376" y="2208276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D72638"/>
                </a:solidFill>
                <a:latin typeface="Georgia"/>
              </a:rPr>
              <a:t>spec</a:t>
            </a:r>
          </a:p>
        </p:txBody>
      </p:sp>
      <p:sp>
        <p:nvSpPr>
          <p:cNvPr id="58" name="portfolio-micro-label-0-1"/>
          <p:cNvSpPr txBox="1"/>
          <p:nvPr/>
        </p:nvSpPr>
        <p:spPr>
          <a:xfrm>
            <a:off x="1709928" y="2208276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D72638"/>
                </a:solidFill>
                <a:latin typeface="Georgia"/>
              </a:rPr>
              <a:t>audit</a:t>
            </a:r>
          </a:p>
        </p:txBody>
      </p:sp>
      <p:sp>
        <p:nvSpPr>
          <p:cNvPr id="59" name="portfolio-micro-label-0-2"/>
          <p:cNvSpPr txBox="1"/>
          <p:nvPr/>
        </p:nvSpPr>
        <p:spPr>
          <a:xfrm>
            <a:off x="722376" y="2592324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D72638"/>
                </a:solidFill>
                <a:latin typeface="Georgia"/>
              </a:rPr>
              <a:t>trace</a:t>
            </a:r>
          </a:p>
        </p:txBody>
      </p:sp>
      <p:sp>
        <p:nvSpPr>
          <p:cNvPr id="60" name="portfolio-micro-label-0-3"/>
          <p:cNvSpPr txBox="1"/>
          <p:nvPr/>
        </p:nvSpPr>
        <p:spPr>
          <a:xfrm>
            <a:off x="1709928" y="2592324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D72638"/>
                </a:solidFill>
                <a:latin typeface="Georgia"/>
              </a:rPr>
              <a:t>pass</a:t>
            </a:r>
          </a:p>
        </p:txBody>
      </p:sp>
      <p:sp>
        <p:nvSpPr>
          <p:cNvPr id="61" name="portfolio-num-1"/>
          <p:cNvSpPr txBox="1"/>
          <p:nvPr/>
        </p:nvSpPr>
        <p:spPr>
          <a:xfrm>
            <a:off x="3273552" y="1298448"/>
            <a:ext cx="566928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1" lang="en-US">
                <a:solidFill>
                  <a:srgbClr val="F5D020"/>
                </a:solidFill>
                <a:latin typeface="Arial Black"/>
              </a:rPr>
              <a:t>02</a:t>
            </a:r>
          </a:p>
        </p:txBody>
      </p:sp>
      <p:sp>
        <p:nvSpPr>
          <p:cNvPr id="62" name="portfolio-name-1"/>
          <p:cNvSpPr txBox="1"/>
          <p:nvPr/>
        </p:nvSpPr>
        <p:spPr>
          <a:xfrm>
            <a:off x="3273552" y="1719072"/>
            <a:ext cx="192024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50" b="1" lang="en-US">
                <a:solidFill>
                  <a:srgbClr val="1A1A1A"/>
                </a:solidFill>
                <a:latin typeface="Georgia"/>
              </a:rPr>
              <a:t>Narrative</a:t>
            </a:r>
          </a:p>
        </p:txBody>
      </p:sp>
      <p:sp>
        <p:nvSpPr>
          <p:cNvPr id="63" name="portfolio-micro-label-1-0"/>
          <p:cNvSpPr txBox="1"/>
          <p:nvPr/>
        </p:nvSpPr>
        <p:spPr>
          <a:xfrm>
            <a:off x="3319272" y="2208276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F5D020"/>
                </a:solidFill>
                <a:latin typeface="Georgia"/>
              </a:rPr>
              <a:t>spec</a:t>
            </a:r>
          </a:p>
        </p:txBody>
      </p:sp>
      <p:sp>
        <p:nvSpPr>
          <p:cNvPr id="64" name="portfolio-micro-label-1-1"/>
          <p:cNvSpPr txBox="1"/>
          <p:nvPr/>
        </p:nvSpPr>
        <p:spPr>
          <a:xfrm>
            <a:off x="4306824" y="2208276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F5D020"/>
                </a:solidFill>
                <a:latin typeface="Georgia"/>
              </a:rPr>
              <a:t>audit</a:t>
            </a:r>
          </a:p>
        </p:txBody>
      </p:sp>
      <p:sp>
        <p:nvSpPr>
          <p:cNvPr id="65" name="portfolio-micro-label-1-2"/>
          <p:cNvSpPr txBox="1"/>
          <p:nvPr/>
        </p:nvSpPr>
        <p:spPr>
          <a:xfrm>
            <a:off x="3319272" y="2592324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F5D020"/>
                </a:solidFill>
                <a:latin typeface="Georgia"/>
              </a:rPr>
              <a:t>trace</a:t>
            </a:r>
          </a:p>
        </p:txBody>
      </p:sp>
      <p:sp>
        <p:nvSpPr>
          <p:cNvPr id="66" name="portfolio-micro-label-1-3"/>
          <p:cNvSpPr txBox="1"/>
          <p:nvPr/>
        </p:nvSpPr>
        <p:spPr>
          <a:xfrm>
            <a:off x="4306824" y="2592324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F5D020"/>
                </a:solidFill>
                <a:latin typeface="Georgia"/>
              </a:rPr>
              <a:t>pass</a:t>
            </a:r>
          </a:p>
        </p:txBody>
      </p:sp>
      <p:sp>
        <p:nvSpPr>
          <p:cNvPr id="67" name="portfolio-num-2"/>
          <p:cNvSpPr txBox="1"/>
          <p:nvPr/>
        </p:nvSpPr>
        <p:spPr>
          <a:xfrm>
            <a:off x="5870448" y="1298448"/>
            <a:ext cx="566928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1" lang="en-US">
                <a:solidFill>
                  <a:srgbClr val="1A1A1A"/>
                </a:solidFill>
                <a:latin typeface="Arial Black"/>
              </a:rPr>
              <a:t>03</a:t>
            </a:r>
          </a:p>
        </p:txBody>
      </p:sp>
      <p:sp>
        <p:nvSpPr>
          <p:cNvPr id="68" name="portfolio-name-2"/>
          <p:cNvSpPr txBox="1"/>
          <p:nvPr/>
        </p:nvSpPr>
        <p:spPr>
          <a:xfrm>
            <a:off x="5870448" y="1719072"/>
            <a:ext cx="192024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50" b="1" lang="en-US">
                <a:solidFill>
                  <a:srgbClr val="1A1A1A"/>
                </a:solidFill>
                <a:latin typeface="Georgia"/>
              </a:rPr>
              <a:t>Geometry</a:t>
            </a:r>
          </a:p>
        </p:txBody>
      </p:sp>
      <p:sp>
        <p:nvSpPr>
          <p:cNvPr id="69" name="portfolio-micro-label-2-0"/>
          <p:cNvSpPr txBox="1"/>
          <p:nvPr/>
        </p:nvSpPr>
        <p:spPr>
          <a:xfrm>
            <a:off x="5916168" y="2208276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1A1A1A"/>
                </a:solidFill>
                <a:latin typeface="Georgia"/>
              </a:rPr>
              <a:t>spec</a:t>
            </a:r>
          </a:p>
        </p:txBody>
      </p:sp>
      <p:sp>
        <p:nvSpPr>
          <p:cNvPr id="70" name="portfolio-micro-label-2-1"/>
          <p:cNvSpPr txBox="1"/>
          <p:nvPr/>
        </p:nvSpPr>
        <p:spPr>
          <a:xfrm>
            <a:off x="6903720" y="2208276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1A1A1A"/>
                </a:solidFill>
                <a:latin typeface="Georgia"/>
              </a:rPr>
              <a:t>audit</a:t>
            </a:r>
          </a:p>
        </p:txBody>
      </p:sp>
      <p:sp>
        <p:nvSpPr>
          <p:cNvPr id="71" name="portfolio-micro-label-2-2"/>
          <p:cNvSpPr txBox="1"/>
          <p:nvPr/>
        </p:nvSpPr>
        <p:spPr>
          <a:xfrm>
            <a:off x="5916168" y="2592324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1A1A1A"/>
                </a:solidFill>
                <a:latin typeface="Georgia"/>
              </a:rPr>
              <a:t>trace</a:t>
            </a:r>
          </a:p>
        </p:txBody>
      </p:sp>
      <p:sp>
        <p:nvSpPr>
          <p:cNvPr id="72" name="portfolio-micro-label-2-3"/>
          <p:cNvSpPr txBox="1"/>
          <p:nvPr/>
        </p:nvSpPr>
        <p:spPr>
          <a:xfrm>
            <a:off x="6903720" y="2592324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1A1A1A"/>
                </a:solidFill>
                <a:latin typeface="Georgia"/>
              </a:rPr>
              <a:t>pass</a:t>
            </a:r>
          </a:p>
        </p:txBody>
      </p:sp>
      <p:sp>
        <p:nvSpPr>
          <p:cNvPr id="73" name="portfolio-num-3"/>
          <p:cNvSpPr txBox="1"/>
          <p:nvPr/>
        </p:nvSpPr>
        <p:spPr>
          <a:xfrm>
            <a:off x="676656" y="3630168"/>
            <a:ext cx="566928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1" lang="en-US">
                <a:solidFill>
                  <a:srgbClr val="D72638"/>
                </a:solidFill>
                <a:latin typeface="Arial Black"/>
              </a:rPr>
              <a:t>04</a:t>
            </a:r>
          </a:p>
        </p:txBody>
      </p:sp>
      <p:sp>
        <p:nvSpPr>
          <p:cNvPr id="74" name="portfolio-name-3"/>
          <p:cNvSpPr txBox="1"/>
          <p:nvPr/>
        </p:nvSpPr>
        <p:spPr>
          <a:xfrm>
            <a:off x="676656" y="4050791"/>
            <a:ext cx="192024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50" b="1" lang="en-US">
                <a:solidFill>
                  <a:srgbClr val="1A1A1A"/>
                </a:solidFill>
                <a:latin typeface="Georgia"/>
              </a:rPr>
              <a:t>Visuals</a:t>
            </a:r>
          </a:p>
        </p:txBody>
      </p:sp>
      <p:sp>
        <p:nvSpPr>
          <p:cNvPr id="75" name="portfolio-micro-label-3-0"/>
          <p:cNvSpPr txBox="1"/>
          <p:nvPr/>
        </p:nvSpPr>
        <p:spPr>
          <a:xfrm>
            <a:off x="722376" y="4539996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D72638"/>
                </a:solidFill>
                <a:latin typeface="Georgia"/>
              </a:rPr>
              <a:t>spec</a:t>
            </a:r>
          </a:p>
        </p:txBody>
      </p:sp>
      <p:sp>
        <p:nvSpPr>
          <p:cNvPr id="76" name="portfolio-micro-label-3-1"/>
          <p:cNvSpPr txBox="1"/>
          <p:nvPr/>
        </p:nvSpPr>
        <p:spPr>
          <a:xfrm>
            <a:off x="1709928" y="4539996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D72638"/>
                </a:solidFill>
                <a:latin typeface="Georgia"/>
              </a:rPr>
              <a:t>audit</a:t>
            </a:r>
          </a:p>
        </p:txBody>
      </p:sp>
      <p:sp>
        <p:nvSpPr>
          <p:cNvPr id="77" name="portfolio-micro-label-3-2"/>
          <p:cNvSpPr txBox="1"/>
          <p:nvPr/>
        </p:nvSpPr>
        <p:spPr>
          <a:xfrm>
            <a:off x="722376" y="4924044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D72638"/>
                </a:solidFill>
                <a:latin typeface="Georgia"/>
              </a:rPr>
              <a:t>trace</a:t>
            </a:r>
          </a:p>
        </p:txBody>
      </p:sp>
      <p:sp>
        <p:nvSpPr>
          <p:cNvPr id="78" name="portfolio-micro-label-3-3"/>
          <p:cNvSpPr txBox="1"/>
          <p:nvPr/>
        </p:nvSpPr>
        <p:spPr>
          <a:xfrm>
            <a:off x="1709928" y="4924044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D72638"/>
                </a:solidFill>
                <a:latin typeface="Georgia"/>
              </a:rPr>
              <a:t>pass</a:t>
            </a:r>
          </a:p>
        </p:txBody>
      </p:sp>
      <p:sp>
        <p:nvSpPr>
          <p:cNvPr id="79" name="portfolio-num-4"/>
          <p:cNvSpPr txBox="1"/>
          <p:nvPr/>
        </p:nvSpPr>
        <p:spPr>
          <a:xfrm>
            <a:off x="3273552" y="3630168"/>
            <a:ext cx="566928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1" lang="en-US">
                <a:solidFill>
                  <a:srgbClr val="F5D020"/>
                </a:solidFill>
                <a:latin typeface="Arial Black"/>
              </a:rPr>
              <a:t>05</a:t>
            </a:r>
          </a:p>
        </p:txBody>
      </p:sp>
      <p:sp>
        <p:nvSpPr>
          <p:cNvPr id="80" name="portfolio-name-4"/>
          <p:cNvSpPr txBox="1"/>
          <p:nvPr/>
        </p:nvSpPr>
        <p:spPr>
          <a:xfrm>
            <a:off x="3273552" y="4050791"/>
            <a:ext cx="192024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50" b="1" lang="en-US">
                <a:solidFill>
                  <a:srgbClr val="1A1A1A"/>
                </a:solidFill>
                <a:latin typeface="Georgia"/>
              </a:rPr>
              <a:t>Accessibility</a:t>
            </a:r>
          </a:p>
        </p:txBody>
      </p:sp>
      <p:sp>
        <p:nvSpPr>
          <p:cNvPr id="81" name="portfolio-micro-label-4-0"/>
          <p:cNvSpPr txBox="1"/>
          <p:nvPr/>
        </p:nvSpPr>
        <p:spPr>
          <a:xfrm>
            <a:off x="3319272" y="4539996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F5D020"/>
                </a:solidFill>
                <a:latin typeface="Georgia"/>
              </a:rPr>
              <a:t>spec</a:t>
            </a:r>
          </a:p>
        </p:txBody>
      </p:sp>
      <p:sp>
        <p:nvSpPr>
          <p:cNvPr id="82" name="portfolio-micro-label-4-1"/>
          <p:cNvSpPr txBox="1"/>
          <p:nvPr/>
        </p:nvSpPr>
        <p:spPr>
          <a:xfrm>
            <a:off x="4306824" y="4539996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F5D020"/>
                </a:solidFill>
                <a:latin typeface="Georgia"/>
              </a:rPr>
              <a:t>audit</a:t>
            </a:r>
          </a:p>
        </p:txBody>
      </p:sp>
      <p:sp>
        <p:nvSpPr>
          <p:cNvPr id="83" name="portfolio-micro-label-4-2"/>
          <p:cNvSpPr txBox="1"/>
          <p:nvPr/>
        </p:nvSpPr>
        <p:spPr>
          <a:xfrm>
            <a:off x="3319272" y="4924044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F5D020"/>
                </a:solidFill>
                <a:latin typeface="Georgia"/>
              </a:rPr>
              <a:t>trace</a:t>
            </a:r>
          </a:p>
        </p:txBody>
      </p:sp>
      <p:sp>
        <p:nvSpPr>
          <p:cNvPr id="84" name="portfolio-micro-label-4-3"/>
          <p:cNvSpPr txBox="1"/>
          <p:nvPr/>
        </p:nvSpPr>
        <p:spPr>
          <a:xfrm>
            <a:off x="4306824" y="4924044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F5D020"/>
                </a:solidFill>
                <a:latin typeface="Georgia"/>
              </a:rPr>
              <a:t>pass</a:t>
            </a:r>
          </a:p>
        </p:txBody>
      </p:sp>
      <p:sp>
        <p:nvSpPr>
          <p:cNvPr id="85" name="portfolio-num-5"/>
          <p:cNvSpPr txBox="1"/>
          <p:nvPr/>
        </p:nvSpPr>
        <p:spPr>
          <a:xfrm>
            <a:off x="5870448" y="3630168"/>
            <a:ext cx="566928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1" lang="en-US">
                <a:solidFill>
                  <a:srgbClr val="D72638"/>
                </a:solidFill>
                <a:latin typeface="Arial Black"/>
              </a:rPr>
              <a:t>06</a:t>
            </a:r>
          </a:p>
        </p:txBody>
      </p:sp>
      <p:sp>
        <p:nvSpPr>
          <p:cNvPr id="86" name="portfolio-name-5"/>
          <p:cNvSpPr txBox="1"/>
          <p:nvPr/>
        </p:nvSpPr>
        <p:spPr>
          <a:xfrm>
            <a:off x="5870448" y="4050791"/>
            <a:ext cx="192024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50" b="1" lang="en-US">
                <a:solidFill>
                  <a:srgbClr val="1A1A1A"/>
                </a:solidFill>
                <a:latin typeface="Georgia"/>
              </a:rPr>
              <a:t>Package</a:t>
            </a:r>
          </a:p>
        </p:txBody>
      </p:sp>
      <p:sp>
        <p:nvSpPr>
          <p:cNvPr id="87" name="portfolio-micro-label-5-0"/>
          <p:cNvSpPr txBox="1"/>
          <p:nvPr/>
        </p:nvSpPr>
        <p:spPr>
          <a:xfrm>
            <a:off x="5916168" y="4539996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D72638"/>
                </a:solidFill>
                <a:latin typeface="Georgia"/>
              </a:rPr>
              <a:t>spec</a:t>
            </a:r>
          </a:p>
        </p:txBody>
      </p:sp>
      <p:sp>
        <p:nvSpPr>
          <p:cNvPr id="88" name="portfolio-micro-label-5-1"/>
          <p:cNvSpPr txBox="1"/>
          <p:nvPr/>
        </p:nvSpPr>
        <p:spPr>
          <a:xfrm>
            <a:off x="6903720" y="4539996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D72638"/>
                </a:solidFill>
                <a:latin typeface="Georgia"/>
              </a:rPr>
              <a:t>audit</a:t>
            </a:r>
          </a:p>
        </p:txBody>
      </p:sp>
      <p:sp>
        <p:nvSpPr>
          <p:cNvPr id="89" name="portfolio-micro-label-5-2"/>
          <p:cNvSpPr txBox="1"/>
          <p:nvPr/>
        </p:nvSpPr>
        <p:spPr>
          <a:xfrm>
            <a:off x="5916168" y="4924044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D72638"/>
                </a:solidFill>
                <a:latin typeface="Georgia"/>
              </a:rPr>
              <a:t>trace</a:t>
            </a:r>
          </a:p>
        </p:txBody>
      </p:sp>
      <p:sp>
        <p:nvSpPr>
          <p:cNvPr id="90" name="portfolio-micro-label-5-3"/>
          <p:cNvSpPr txBox="1"/>
          <p:nvPr/>
        </p:nvSpPr>
        <p:spPr>
          <a:xfrm>
            <a:off x="6903720" y="4924044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D72638"/>
                </a:solidFill>
                <a:latin typeface="Georgia"/>
              </a:rPr>
              <a:t>pass</a:t>
            </a:r>
          </a:p>
        </p:txBody>
      </p:sp>
      <p:sp>
        <p:nvSpPr>
          <p:cNvPr id="91" name="portfolio-rail-title"/>
          <p:cNvSpPr txBox="1"/>
          <p:nvPr/>
        </p:nvSpPr>
        <p:spPr>
          <a:xfrm>
            <a:off x="8723376" y="1325880"/>
            <a:ext cx="246888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1" lang="en-US">
                <a:solidFill>
                  <a:srgbClr val="D72638"/>
                </a:solidFill>
                <a:latin typeface="Georgia"/>
              </a:rPr>
              <a:t>RELEASE BOARD</a:t>
            </a:r>
          </a:p>
        </p:txBody>
      </p:sp>
      <p:sp>
        <p:nvSpPr>
          <p:cNvPr id="92" name="release-label-0"/>
          <p:cNvSpPr txBox="1"/>
          <p:nvPr/>
        </p:nvSpPr>
        <p:spPr>
          <a:xfrm>
            <a:off x="8906256" y="1847088"/>
            <a:ext cx="137160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50" b="1" lang="en-US">
                <a:solidFill>
                  <a:srgbClr val="4A423A"/>
                </a:solidFill>
                <a:latin typeface="Georgia"/>
              </a:rPr>
              <a:t>Layouts</a:t>
            </a:r>
          </a:p>
        </p:txBody>
      </p:sp>
      <p:sp>
        <p:nvSpPr>
          <p:cNvPr id="93" name="release-value-0"/>
          <p:cNvSpPr txBox="1"/>
          <p:nvPr/>
        </p:nvSpPr>
        <p:spPr>
          <a:xfrm>
            <a:off x="10378440" y="1828800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1100" b="1" lang="en-US">
                <a:solidFill>
                  <a:srgbClr val="D72638"/>
                </a:solidFill>
                <a:latin typeface="Georgia"/>
              </a:rPr>
              <a:t>60</a:t>
            </a:r>
          </a:p>
        </p:txBody>
      </p:sp>
      <p:sp>
        <p:nvSpPr>
          <p:cNvPr id="94" name="release-label-1"/>
          <p:cNvSpPr txBox="1"/>
          <p:nvPr/>
        </p:nvSpPr>
        <p:spPr>
          <a:xfrm>
            <a:off x="8906256" y="2542032"/>
            <a:ext cx="137160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50" b="1" lang="en-US">
                <a:solidFill>
                  <a:srgbClr val="4A423A"/>
                </a:solidFill>
                <a:latin typeface="Georgia"/>
              </a:rPr>
              <a:t>Profiles</a:t>
            </a:r>
          </a:p>
        </p:txBody>
      </p:sp>
      <p:sp>
        <p:nvSpPr>
          <p:cNvPr id="95" name="release-value-1"/>
          <p:cNvSpPr txBox="1"/>
          <p:nvPr/>
        </p:nvSpPr>
        <p:spPr>
          <a:xfrm>
            <a:off x="10378440" y="2523744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1100" b="1" lang="en-US">
                <a:solidFill>
                  <a:srgbClr val="F5D020"/>
                </a:solidFill>
                <a:latin typeface="Georgia"/>
              </a:rPr>
              <a:t>12</a:t>
            </a:r>
          </a:p>
        </p:txBody>
      </p:sp>
      <p:sp>
        <p:nvSpPr>
          <p:cNvPr id="96" name="release-label-2"/>
          <p:cNvSpPr txBox="1"/>
          <p:nvPr/>
        </p:nvSpPr>
        <p:spPr>
          <a:xfrm>
            <a:off x="8906256" y="3236976"/>
            <a:ext cx="137160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50" b="1" lang="en-US">
                <a:solidFill>
                  <a:srgbClr val="4A423A"/>
                </a:solidFill>
                <a:latin typeface="Georgia"/>
              </a:rPr>
              <a:t>Gate checks</a:t>
            </a:r>
          </a:p>
        </p:txBody>
      </p:sp>
      <p:sp>
        <p:nvSpPr>
          <p:cNvPr id="97" name="release-value-2"/>
          <p:cNvSpPr txBox="1"/>
          <p:nvPr/>
        </p:nvSpPr>
        <p:spPr>
          <a:xfrm>
            <a:off x="10378440" y="3218688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1100" b="1" lang="en-US">
                <a:solidFill>
                  <a:srgbClr val="1A1A1A"/>
                </a:solidFill>
                <a:latin typeface="Georgia"/>
              </a:rPr>
              <a:t>11</a:t>
            </a:r>
          </a:p>
        </p:txBody>
      </p:sp>
      <p:sp>
        <p:nvSpPr>
          <p:cNvPr id="98" name="release-label-3"/>
          <p:cNvSpPr txBox="1"/>
          <p:nvPr/>
        </p:nvSpPr>
        <p:spPr>
          <a:xfrm>
            <a:off x="8906256" y="3931920"/>
            <a:ext cx="137160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50" b="1" lang="en-US">
                <a:solidFill>
                  <a:srgbClr val="4A423A"/>
                </a:solidFill>
                <a:latin typeface="Georgia"/>
              </a:rPr>
              <a:t>Defects</a:t>
            </a:r>
          </a:p>
        </p:txBody>
      </p:sp>
      <p:sp>
        <p:nvSpPr>
          <p:cNvPr id="99" name="release-value-3"/>
          <p:cNvSpPr txBox="1"/>
          <p:nvPr/>
        </p:nvSpPr>
        <p:spPr>
          <a:xfrm>
            <a:off x="10378440" y="3913632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1100" b="1" lang="en-US">
                <a:solidFill>
                  <a:srgbClr val="D72638"/>
                </a:solidFill>
                <a:latin typeface="Georgia"/>
              </a:rPr>
              <a:t>00</a:t>
            </a:r>
          </a:p>
        </p:txBody>
      </p:sp>
      <p:sp>
        <p:nvSpPr>
          <p:cNvPr id="100" name="release-label-4"/>
          <p:cNvSpPr txBox="1"/>
          <p:nvPr/>
        </p:nvSpPr>
        <p:spPr>
          <a:xfrm>
            <a:off x="8906256" y="4626864"/>
            <a:ext cx="137160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50" b="1" lang="en-US">
                <a:solidFill>
                  <a:srgbClr val="4A423A"/>
                </a:solidFill>
                <a:latin typeface="Georgia"/>
              </a:rPr>
              <a:t>Evidence</a:t>
            </a:r>
          </a:p>
        </p:txBody>
      </p:sp>
      <p:sp>
        <p:nvSpPr>
          <p:cNvPr id="101" name="release-value-4"/>
          <p:cNvSpPr txBox="1"/>
          <p:nvPr/>
        </p:nvSpPr>
        <p:spPr>
          <a:xfrm>
            <a:off x="10378440" y="4608576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1100" b="1" lang="en-US">
                <a:solidFill>
                  <a:srgbClr val="F5D020"/>
                </a:solidFill>
                <a:latin typeface="Georgia"/>
              </a:rPr>
              <a:t>native</a:t>
            </a:r>
          </a:p>
        </p:txBody>
      </p:sp>
      <p:sp>
        <p:nvSpPr>
          <p:cNvPr id="102" name="portfolio-banner-label"/>
          <p:cNvSpPr txBox="1"/>
          <p:nvPr/>
        </p:nvSpPr>
        <p:spPr>
          <a:xfrm>
            <a:off x="713232" y="5687568"/>
            <a:ext cx="740664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50" b="1" lang="en-US">
                <a:solidFill>
                  <a:srgbClr val="FFFFFF"/>
                </a:solidFill>
                <a:latin typeface="Georgia"/>
              </a:rPr>
              <a:t>Six dense tiles test nested cards, micro-labels, hierarchy, and high-information scanning.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DDD0"/>
          </a:solidFill>
          <a:ln w="10160">
            <a:solidFill>
              <a:srgbClr val="E8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ollage-red-block"/>
          <p:cNvSpPr/>
          <p:nvPr/>
        </p:nvSpPr>
        <p:spPr>
          <a:xfrm>
            <a:off x="8595360" y="411480"/>
            <a:ext cx="2468880" cy="1234440"/>
          </a:xfrm>
          <a:prstGeom prst="rect">
            <a:avLst/>
          </a:prstGeom>
          <a:solidFill>
            <a:srgbClr val="D72638"/>
          </a:solidFill>
          <a:ln w="10160">
            <a:solidFill>
              <a:srgbClr val="D726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ollage-black-block"/>
          <p:cNvSpPr/>
          <p:nvPr/>
        </p:nvSpPr>
        <p:spPr>
          <a:xfrm>
            <a:off x="9464040" y="4983480"/>
            <a:ext cx="2267712" cy="1078992"/>
          </a:xfrm>
          <a:prstGeom prst="rect">
            <a:avLst/>
          </a:prstGeom>
          <a:solidFill>
            <a:srgbClr val="1A1A1A"/>
          </a:solidFill>
          <a:ln w="1016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op-band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D72638"/>
          </a:solidFill>
          <a:ln w="10160">
            <a:solidFill>
              <a:srgbClr val="D726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lane-0"/>
          <p:cNvSpPr/>
          <p:nvPr/>
        </p:nvSpPr>
        <p:spPr>
          <a:xfrm>
            <a:off x="457200" y="1097280"/>
            <a:ext cx="845820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8B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lane-1"/>
          <p:cNvSpPr/>
          <p:nvPr/>
        </p:nvSpPr>
        <p:spPr>
          <a:xfrm>
            <a:off x="457200" y="2267712"/>
            <a:ext cx="845820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8B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lane-2"/>
          <p:cNvSpPr/>
          <p:nvPr/>
        </p:nvSpPr>
        <p:spPr>
          <a:xfrm>
            <a:off x="457200" y="3438144"/>
            <a:ext cx="845820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8B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lane-3"/>
          <p:cNvSpPr/>
          <p:nvPr/>
        </p:nvSpPr>
        <p:spPr>
          <a:xfrm>
            <a:off x="457200" y="4608576"/>
            <a:ext cx="845820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8B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workbench-rail-shell"/>
          <p:cNvSpPr/>
          <p:nvPr/>
        </p:nvSpPr>
        <p:spPr>
          <a:xfrm>
            <a:off x="9189720" y="1097280"/>
            <a:ext cx="2542032" cy="4892040"/>
          </a:xfrm>
          <a:prstGeom prst="rect">
            <a:avLst/>
          </a:prstGeom>
          <a:solidFill>
            <a:srgbClr val="F5D020"/>
          </a:solidFill>
          <a:ln w="10160">
            <a:solidFill>
              <a:srgbClr val="C8B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lane-label-0"/>
          <p:cNvSpPr/>
          <p:nvPr/>
        </p:nvSpPr>
        <p:spPr>
          <a:xfrm>
            <a:off x="457200" y="1097280"/>
            <a:ext cx="1097280" cy="914400"/>
          </a:xfrm>
          <a:prstGeom prst="rect">
            <a:avLst/>
          </a:prstGeom>
          <a:solidFill>
            <a:srgbClr val="D72638"/>
          </a:solidFill>
          <a:ln w="10160">
            <a:solidFill>
              <a:srgbClr val="D726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lane-label-1"/>
          <p:cNvSpPr/>
          <p:nvPr/>
        </p:nvSpPr>
        <p:spPr>
          <a:xfrm>
            <a:off x="457200" y="2267712"/>
            <a:ext cx="1097280" cy="914400"/>
          </a:xfrm>
          <a:prstGeom prst="rect">
            <a:avLst/>
          </a:prstGeom>
          <a:solidFill>
            <a:srgbClr val="F5D020"/>
          </a:solidFill>
          <a:ln w="10160">
            <a:solidFill>
              <a:srgbClr val="F5D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lane-label-2"/>
          <p:cNvSpPr/>
          <p:nvPr/>
        </p:nvSpPr>
        <p:spPr>
          <a:xfrm>
            <a:off x="457200" y="3438144"/>
            <a:ext cx="1097280" cy="914400"/>
          </a:xfrm>
          <a:prstGeom prst="rect">
            <a:avLst/>
          </a:prstGeom>
          <a:solidFill>
            <a:srgbClr val="1A1A1A"/>
          </a:solidFill>
          <a:ln w="1016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lane-label-3"/>
          <p:cNvSpPr/>
          <p:nvPr/>
        </p:nvSpPr>
        <p:spPr>
          <a:xfrm>
            <a:off x="457200" y="4608576"/>
            <a:ext cx="1097280" cy="914400"/>
          </a:xfrm>
          <a:prstGeom prst="rect">
            <a:avLst/>
          </a:prstGeom>
          <a:solidFill>
            <a:srgbClr val="D72638"/>
          </a:solidFill>
          <a:ln w="10160">
            <a:solidFill>
              <a:srgbClr val="D726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workbench-rail-accent"/>
          <p:cNvSpPr/>
          <p:nvPr/>
        </p:nvSpPr>
        <p:spPr>
          <a:xfrm>
            <a:off x="9189720" y="1097280"/>
            <a:ext cx="73152" cy="4892040"/>
          </a:xfrm>
          <a:prstGeom prst="rect">
            <a:avLst/>
          </a:prstGeom>
          <a:solidFill>
            <a:srgbClr val="D72638"/>
          </a:solidFill>
          <a:ln w="10160">
            <a:solidFill>
              <a:srgbClr val="D726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hart-axis"/>
          <p:cNvCxnSpPr/>
          <p:nvPr/>
        </p:nvCxnSpPr>
        <p:spPr>
          <a:xfrm>
            <a:off x="9400032" y="4718304"/>
            <a:ext cx="2048256" cy="0"/>
          </a:xfrm>
          <a:prstGeom prst="line">
            <a:avLst/>
          </a:prstGeom>
          <a:ln w="13970">
            <a:solidFill>
              <a:srgbClr val="C8B9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ask-0-0"/>
          <p:cNvSpPr/>
          <p:nvPr/>
        </p:nvSpPr>
        <p:spPr>
          <a:xfrm>
            <a:off x="1773936" y="1234440"/>
            <a:ext cx="1161288" cy="621792"/>
          </a:xfrm>
          <a:prstGeom prst="roundRect">
            <a:avLst/>
          </a:prstGeom>
          <a:solidFill>
            <a:srgbClr val="F5D020"/>
          </a:solidFill>
          <a:ln w="10160">
            <a:solidFill>
              <a:srgbClr val="D726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ask-0-1"/>
          <p:cNvSpPr/>
          <p:nvPr/>
        </p:nvSpPr>
        <p:spPr>
          <a:xfrm>
            <a:off x="3127248" y="1234440"/>
            <a:ext cx="1161288" cy="621792"/>
          </a:xfrm>
          <a:prstGeom prst="roundRect">
            <a:avLst/>
          </a:prstGeom>
          <a:solidFill>
            <a:srgbClr val="F5D020"/>
          </a:solidFill>
          <a:ln w="10160">
            <a:solidFill>
              <a:srgbClr val="D726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ask-0-2"/>
          <p:cNvSpPr/>
          <p:nvPr/>
        </p:nvSpPr>
        <p:spPr>
          <a:xfrm>
            <a:off x="4480560" y="1234440"/>
            <a:ext cx="1161288" cy="621792"/>
          </a:xfrm>
          <a:prstGeom prst="roundRect">
            <a:avLst/>
          </a:prstGeom>
          <a:solidFill>
            <a:srgbClr val="F5D020"/>
          </a:solidFill>
          <a:ln w="10160">
            <a:solidFill>
              <a:srgbClr val="D726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ask-0-3"/>
          <p:cNvSpPr/>
          <p:nvPr/>
        </p:nvSpPr>
        <p:spPr>
          <a:xfrm>
            <a:off x="5833872" y="1234440"/>
            <a:ext cx="1161288" cy="621792"/>
          </a:xfrm>
          <a:prstGeom prst="roundRect">
            <a:avLst/>
          </a:prstGeom>
          <a:solidFill>
            <a:srgbClr val="F5D020"/>
          </a:solidFill>
          <a:ln w="10160">
            <a:solidFill>
              <a:srgbClr val="D726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ask-0-4"/>
          <p:cNvSpPr/>
          <p:nvPr/>
        </p:nvSpPr>
        <p:spPr>
          <a:xfrm>
            <a:off x="7187184" y="1234440"/>
            <a:ext cx="1161288" cy="621792"/>
          </a:xfrm>
          <a:prstGeom prst="roundRect">
            <a:avLst/>
          </a:prstGeom>
          <a:solidFill>
            <a:srgbClr val="F5D020"/>
          </a:solidFill>
          <a:ln w="10160">
            <a:solidFill>
              <a:srgbClr val="D726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ask-1-0"/>
          <p:cNvSpPr/>
          <p:nvPr/>
        </p:nvSpPr>
        <p:spPr>
          <a:xfrm>
            <a:off x="1773936" y="2404872"/>
            <a:ext cx="1161288" cy="621792"/>
          </a:xfrm>
          <a:prstGeom prst="roundRect">
            <a:avLst/>
          </a:prstGeom>
          <a:solidFill>
            <a:srgbClr val="F5D020"/>
          </a:solidFill>
          <a:ln w="10160">
            <a:solidFill>
              <a:srgbClr val="F5D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ask-1-1"/>
          <p:cNvSpPr/>
          <p:nvPr/>
        </p:nvSpPr>
        <p:spPr>
          <a:xfrm>
            <a:off x="3127248" y="2404872"/>
            <a:ext cx="1161288" cy="621792"/>
          </a:xfrm>
          <a:prstGeom prst="roundRect">
            <a:avLst/>
          </a:prstGeom>
          <a:solidFill>
            <a:srgbClr val="F5D020"/>
          </a:solidFill>
          <a:ln w="10160">
            <a:solidFill>
              <a:srgbClr val="F5D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ask-1-2"/>
          <p:cNvSpPr/>
          <p:nvPr/>
        </p:nvSpPr>
        <p:spPr>
          <a:xfrm>
            <a:off x="4480560" y="2404872"/>
            <a:ext cx="1161288" cy="621792"/>
          </a:xfrm>
          <a:prstGeom prst="roundRect">
            <a:avLst/>
          </a:prstGeom>
          <a:solidFill>
            <a:srgbClr val="F5D020"/>
          </a:solidFill>
          <a:ln w="10160">
            <a:solidFill>
              <a:srgbClr val="F5D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ask-1-3"/>
          <p:cNvSpPr/>
          <p:nvPr/>
        </p:nvSpPr>
        <p:spPr>
          <a:xfrm>
            <a:off x="5833872" y="2404872"/>
            <a:ext cx="1161288" cy="621792"/>
          </a:xfrm>
          <a:prstGeom prst="roundRect">
            <a:avLst/>
          </a:prstGeom>
          <a:solidFill>
            <a:srgbClr val="F5D020"/>
          </a:solidFill>
          <a:ln w="10160">
            <a:solidFill>
              <a:srgbClr val="F5D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ask-1-4"/>
          <p:cNvSpPr/>
          <p:nvPr/>
        </p:nvSpPr>
        <p:spPr>
          <a:xfrm>
            <a:off x="7187184" y="2404872"/>
            <a:ext cx="1161288" cy="621792"/>
          </a:xfrm>
          <a:prstGeom prst="roundRect">
            <a:avLst/>
          </a:prstGeom>
          <a:solidFill>
            <a:srgbClr val="F5D020"/>
          </a:solidFill>
          <a:ln w="10160">
            <a:solidFill>
              <a:srgbClr val="F5D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ask-2-0"/>
          <p:cNvSpPr/>
          <p:nvPr/>
        </p:nvSpPr>
        <p:spPr>
          <a:xfrm>
            <a:off x="1773936" y="3575304"/>
            <a:ext cx="1161288" cy="621792"/>
          </a:xfrm>
          <a:prstGeom prst="roundRect">
            <a:avLst/>
          </a:prstGeom>
          <a:solidFill>
            <a:srgbClr val="F5D020"/>
          </a:solidFill>
          <a:ln w="1016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ask-2-1"/>
          <p:cNvSpPr/>
          <p:nvPr/>
        </p:nvSpPr>
        <p:spPr>
          <a:xfrm>
            <a:off x="3127248" y="3575304"/>
            <a:ext cx="1161288" cy="621792"/>
          </a:xfrm>
          <a:prstGeom prst="roundRect">
            <a:avLst/>
          </a:prstGeom>
          <a:solidFill>
            <a:srgbClr val="F5D020"/>
          </a:solidFill>
          <a:ln w="1016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ask-2-2"/>
          <p:cNvSpPr/>
          <p:nvPr/>
        </p:nvSpPr>
        <p:spPr>
          <a:xfrm>
            <a:off x="4480560" y="3575304"/>
            <a:ext cx="1161288" cy="621792"/>
          </a:xfrm>
          <a:prstGeom prst="roundRect">
            <a:avLst/>
          </a:prstGeom>
          <a:solidFill>
            <a:srgbClr val="F5D020"/>
          </a:solidFill>
          <a:ln w="1016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ask-2-3"/>
          <p:cNvSpPr/>
          <p:nvPr/>
        </p:nvSpPr>
        <p:spPr>
          <a:xfrm>
            <a:off x="5833872" y="3575304"/>
            <a:ext cx="1161288" cy="621792"/>
          </a:xfrm>
          <a:prstGeom prst="roundRect">
            <a:avLst/>
          </a:prstGeom>
          <a:solidFill>
            <a:srgbClr val="F5D020"/>
          </a:solidFill>
          <a:ln w="1016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ask-2-4"/>
          <p:cNvSpPr/>
          <p:nvPr/>
        </p:nvSpPr>
        <p:spPr>
          <a:xfrm>
            <a:off x="7187184" y="3575304"/>
            <a:ext cx="1161288" cy="621792"/>
          </a:xfrm>
          <a:prstGeom prst="roundRect">
            <a:avLst/>
          </a:prstGeom>
          <a:solidFill>
            <a:srgbClr val="F5D020"/>
          </a:solidFill>
          <a:ln w="1016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ask-3-0"/>
          <p:cNvSpPr/>
          <p:nvPr/>
        </p:nvSpPr>
        <p:spPr>
          <a:xfrm>
            <a:off x="1773936" y="4745736"/>
            <a:ext cx="1161288" cy="621792"/>
          </a:xfrm>
          <a:prstGeom prst="roundRect">
            <a:avLst/>
          </a:prstGeom>
          <a:solidFill>
            <a:srgbClr val="F5D020"/>
          </a:solidFill>
          <a:ln w="10160">
            <a:solidFill>
              <a:srgbClr val="D726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ask-3-1"/>
          <p:cNvSpPr/>
          <p:nvPr/>
        </p:nvSpPr>
        <p:spPr>
          <a:xfrm>
            <a:off x="3127248" y="4745736"/>
            <a:ext cx="1161288" cy="621792"/>
          </a:xfrm>
          <a:prstGeom prst="roundRect">
            <a:avLst/>
          </a:prstGeom>
          <a:solidFill>
            <a:srgbClr val="F5D020"/>
          </a:solidFill>
          <a:ln w="10160">
            <a:solidFill>
              <a:srgbClr val="D726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ask-3-2"/>
          <p:cNvSpPr/>
          <p:nvPr/>
        </p:nvSpPr>
        <p:spPr>
          <a:xfrm>
            <a:off x="4480560" y="4745736"/>
            <a:ext cx="1161288" cy="621792"/>
          </a:xfrm>
          <a:prstGeom prst="roundRect">
            <a:avLst/>
          </a:prstGeom>
          <a:solidFill>
            <a:srgbClr val="F5D020"/>
          </a:solidFill>
          <a:ln w="10160">
            <a:solidFill>
              <a:srgbClr val="D726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ask-3-3"/>
          <p:cNvSpPr/>
          <p:nvPr/>
        </p:nvSpPr>
        <p:spPr>
          <a:xfrm>
            <a:off x="5833872" y="4745736"/>
            <a:ext cx="1161288" cy="621792"/>
          </a:xfrm>
          <a:prstGeom prst="roundRect">
            <a:avLst/>
          </a:prstGeom>
          <a:solidFill>
            <a:srgbClr val="F5D020"/>
          </a:solidFill>
          <a:ln w="10160">
            <a:solidFill>
              <a:srgbClr val="D726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ask-3-4"/>
          <p:cNvSpPr/>
          <p:nvPr/>
        </p:nvSpPr>
        <p:spPr>
          <a:xfrm>
            <a:off x="7187184" y="4745736"/>
            <a:ext cx="1161288" cy="621792"/>
          </a:xfrm>
          <a:prstGeom prst="roundRect">
            <a:avLst/>
          </a:prstGeom>
          <a:solidFill>
            <a:srgbClr val="F5D020"/>
          </a:solidFill>
          <a:ln w="10160">
            <a:solidFill>
              <a:srgbClr val="D726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bar-0"/>
          <p:cNvSpPr/>
          <p:nvPr/>
        </p:nvSpPr>
        <p:spPr>
          <a:xfrm>
            <a:off x="9454896" y="3771900"/>
            <a:ext cx="155448" cy="946403"/>
          </a:xfrm>
          <a:prstGeom prst="roundRect">
            <a:avLst/>
          </a:prstGeom>
          <a:solidFill>
            <a:srgbClr val="D72638"/>
          </a:solidFill>
          <a:ln w="10160">
            <a:solidFill>
              <a:srgbClr val="D726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bar-1"/>
          <p:cNvSpPr/>
          <p:nvPr/>
        </p:nvSpPr>
        <p:spPr>
          <a:xfrm>
            <a:off x="9701784" y="3204057"/>
            <a:ext cx="155448" cy="1514246"/>
          </a:xfrm>
          <a:prstGeom prst="roundRect">
            <a:avLst/>
          </a:prstGeom>
          <a:solidFill>
            <a:srgbClr val="F5D020"/>
          </a:solidFill>
          <a:ln w="10160">
            <a:solidFill>
              <a:srgbClr val="F5D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bar-2"/>
          <p:cNvSpPr/>
          <p:nvPr/>
        </p:nvSpPr>
        <p:spPr>
          <a:xfrm>
            <a:off x="9948672" y="3498494"/>
            <a:ext cx="155448" cy="1219809"/>
          </a:xfrm>
          <a:prstGeom prst="roundRect">
            <a:avLst/>
          </a:prstGeom>
          <a:solidFill>
            <a:srgbClr val="1A1A1A"/>
          </a:solidFill>
          <a:ln w="1016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bar-3"/>
          <p:cNvSpPr/>
          <p:nvPr/>
        </p:nvSpPr>
        <p:spPr>
          <a:xfrm>
            <a:off x="10195560" y="2909620"/>
            <a:ext cx="155448" cy="1808683"/>
          </a:xfrm>
          <a:prstGeom prst="roundRect">
            <a:avLst/>
          </a:prstGeom>
          <a:solidFill>
            <a:srgbClr val="D72638"/>
          </a:solidFill>
          <a:ln w="10160">
            <a:solidFill>
              <a:srgbClr val="D726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bar-4"/>
          <p:cNvSpPr/>
          <p:nvPr/>
        </p:nvSpPr>
        <p:spPr>
          <a:xfrm>
            <a:off x="10442448" y="3330244"/>
            <a:ext cx="155448" cy="1388059"/>
          </a:xfrm>
          <a:prstGeom prst="roundRect">
            <a:avLst/>
          </a:prstGeom>
          <a:solidFill>
            <a:srgbClr val="D72638"/>
          </a:solidFill>
          <a:ln w="10160">
            <a:solidFill>
              <a:srgbClr val="D726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bar-5"/>
          <p:cNvSpPr/>
          <p:nvPr/>
        </p:nvSpPr>
        <p:spPr>
          <a:xfrm>
            <a:off x="10689336" y="2783433"/>
            <a:ext cx="155448" cy="1934870"/>
          </a:xfrm>
          <a:prstGeom prst="roundRect">
            <a:avLst/>
          </a:prstGeom>
          <a:solidFill>
            <a:srgbClr val="F5D020"/>
          </a:solidFill>
          <a:ln w="10160">
            <a:solidFill>
              <a:srgbClr val="F5D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bar-6"/>
          <p:cNvSpPr/>
          <p:nvPr/>
        </p:nvSpPr>
        <p:spPr>
          <a:xfrm>
            <a:off x="10936224" y="3119932"/>
            <a:ext cx="155448" cy="1598371"/>
          </a:xfrm>
          <a:prstGeom prst="roundRect">
            <a:avLst/>
          </a:prstGeom>
          <a:solidFill>
            <a:srgbClr val="1A1A1A"/>
          </a:solidFill>
          <a:ln w="1016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bar-7"/>
          <p:cNvSpPr/>
          <p:nvPr/>
        </p:nvSpPr>
        <p:spPr>
          <a:xfrm>
            <a:off x="11183112" y="3603650"/>
            <a:ext cx="155448" cy="1114653"/>
          </a:xfrm>
          <a:prstGeom prst="roundRect">
            <a:avLst/>
          </a:prstGeom>
          <a:solidFill>
            <a:srgbClr val="D72638"/>
          </a:solidFill>
          <a:ln w="10160">
            <a:solidFill>
              <a:srgbClr val="D726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check-dot-0"/>
          <p:cNvSpPr/>
          <p:nvPr/>
        </p:nvSpPr>
        <p:spPr>
          <a:xfrm>
            <a:off x="9436608" y="5321808"/>
            <a:ext cx="91440" cy="91440"/>
          </a:xfrm>
          <a:prstGeom prst="ellipse">
            <a:avLst/>
          </a:prstGeom>
          <a:solidFill>
            <a:srgbClr val="D72638"/>
          </a:solidFill>
          <a:ln w="10160">
            <a:solidFill>
              <a:srgbClr val="D726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check-dot-1"/>
          <p:cNvSpPr/>
          <p:nvPr/>
        </p:nvSpPr>
        <p:spPr>
          <a:xfrm>
            <a:off x="9436608" y="5486400"/>
            <a:ext cx="91440" cy="91440"/>
          </a:xfrm>
          <a:prstGeom prst="ellipse">
            <a:avLst/>
          </a:prstGeom>
          <a:solidFill>
            <a:srgbClr val="D72638"/>
          </a:solidFill>
          <a:ln w="10160">
            <a:solidFill>
              <a:srgbClr val="D726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check-dot-2"/>
          <p:cNvSpPr/>
          <p:nvPr/>
        </p:nvSpPr>
        <p:spPr>
          <a:xfrm>
            <a:off x="9436608" y="5650992"/>
            <a:ext cx="91440" cy="91440"/>
          </a:xfrm>
          <a:prstGeom prst="ellipse">
            <a:avLst/>
          </a:prstGeom>
          <a:solidFill>
            <a:srgbClr val="D72638"/>
          </a:solidFill>
          <a:ln w="10160">
            <a:solidFill>
              <a:srgbClr val="D726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check-dot-3"/>
          <p:cNvSpPr/>
          <p:nvPr/>
        </p:nvSpPr>
        <p:spPr>
          <a:xfrm>
            <a:off x="9436608" y="5815584"/>
            <a:ext cx="91440" cy="91440"/>
          </a:xfrm>
          <a:prstGeom prst="ellipse">
            <a:avLst/>
          </a:prstGeom>
          <a:solidFill>
            <a:srgbClr val="1A1A1A"/>
          </a:solidFill>
          <a:ln w="1016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collage-number"/>
          <p:cNvSpPr txBox="1"/>
          <p:nvPr/>
        </p:nvSpPr>
        <p:spPr>
          <a:xfrm>
            <a:off x="9189720" y="1600200"/>
            <a:ext cx="2057400" cy="9601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5400" b="1" lang="en-US">
                <a:solidFill>
                  <a:srgbClr val="D72638"/>
                </a:solidFill>
                <a:latin typeface="Arial Black"/>
              </a:rPr>
              <a:t>60</a:t>
            </a:r>
          </a:p>
        </p:txBody>
      </p:sp>
      <p:sp>
        <p:nvSpPr>
          <p:cNvPr id="50" name="profile-tag"/>
          <p:cNvSpPr txBox="1"/>
          <p:nvPr/>
        </p:nvSpPr>
        <p:spPr>
          <a:xfrm>
            <a:off x="457200" y="201168"/>
            <a:ext cx="768096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1" lang="en-US">
                <a:solidFill>
                  <a:srgbClr val="D72638"/>
                </a:solidFill>
                <a:latin typeface="Georgia"/>
              </a:rPr>
              <a:t>V3 STRESS SUITE  ·  MAXIMALIST COLLAGE  ·  DELIVERY WORKBENCH</a:t>
            </a:r>
          </a:p>
        </p:txBody>
      </p:sp>
      <p:sp>
        <p:nvSpPr>
          <p:cNvPr id="51" name="slide-index"/>
          <p:cNvSpPr txBox="1"/>
          <p:nvPr/>
        </p:nvSpPr>
        <p:spPr>
          <a:xfrm>
            <a:off x="10808208" y="201168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00" b="1" lang="en-US">
                <a:solidFill>
                  <a:srgbClr val="4A423A"/>
                </a:solidFill>
                <a:latin typeface="Georgia"/>
              </a:rPr>
              <a:t>55/60</a:t>
            </a:r>
          </a:p>
        </p:txBody>
      </p:sp>
      <p:sp>
        <p:nvSpPr>
          <p:cNvPr id="52" name="title"/>
          <p:cNvSpPr txBox="1"/>
          <p:nvPr/>
        </p:nvSpPr>
        <p:spPr>
          <a:xfrm>
            <a:off x="457200" y="484632"/>
            <a:ext cx="11274552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200" b="1" lang="en-US">
                <a:solidFill>
                  <a:srgbClr val="1A1A1A"/>
                </a:solidFill>
                <a:latin typeface="Arial Black"/>
              </a:rPr>
              <a:t>Delivery workbenches keep parallel work lanes legible under load</a:t>
            </a:r>
          </a:p>
        </p:txBody>
      </p:sp>
      <p:sp>
        <p:nvSpPr>
          <p:cNvPr id="53" name="footer"/>
          <p:cNvSpPr txBox="1"/>
          <p:nvPr/>
        </p:nvSpPr>
        <p:spPr>
          <a:xfrm>
            <a:off x="457200" y="6473952"/>
            <a:ext cx="1051560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0" lang="en-US">
                <a:solidFill>
                  <a:srgbClr val="4A423A"/>
                </a:solidFill>
                <a:latin typeface="Georgia"/>
              </a:rPr>
              <a:t>Native-object stress fixture · overlapping red-black-yellow blocks, ghost numbers, and rotated collage energy · editable geometry and recorded style lock</a:t>
            </a:r>
          </a:p>
        </p:txBody>
      </p:sp>
      <p:sp>
        <p:nvSpPr>
          <p:cNvPr id="54" name="lane-name-0"/>
          <p:cNvSpPr txBox="1"/>
          <p:nvPr/>
        </p:nvSpPr>
        <p:spPr>
          <a:xfrm>
            <a:off x="566928" y="1444752"/>
            <a:ext cx="868680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lang="en-US">
                <a:solidFill>
                  <a:srgbClr val="FFFFFF"/>
                </a:solidFill>
                <a:latin typeface="Georgia"/>
              </a:rPr>
              <a:t>INTAKE</a:t>
            </a:r>
          </a:p>
        </p:txBody>
      </p:sp>
      <p:sp>
        <p:nvSpPr>
          <p:cNvPr id="55" name="task-title-0-0"/>
          <p:cNvSpPr txBox="1"/>
          <p:nvPr/>
        </p:nvSpPr>
        <p:spPr>
          <a:xfrm>
            <a:off x="1847088" y="1362456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1A1A1A"/>
                </a:solidFill>
                <a:latin typeface="Georgia"/>
              </a:rPr>
              <a:t>Scope</a:t>
            </a:r>
          </a:p>
        </p:txBody>
      </p:sp>
      <p:sp>
        <p:nvSpPr>
          <p:cNvPr id="56" name="task-state-0-0"/>
          <p:cNvSpPr txBox="1"/>
          <p:nvPr/>
        </p:nvSpPr>
        <p:spPr>
          <a:xfrm>
            <a:off x="1847088" y="1545336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D72638"/>
                </a:solidFill>
                <a:latin typeface="Georgia"/>
              </a:rPr>
              <a:t>new</a:t>
            </a:r>
          </a:p>
        </p:txBody>
      </p:sp>
      <p:sp>
        <p:nvSpPr>
          <p:cNvPr id="57" name="task-title-0-1"/>
          <p:cNvSpPr txBox="1"/>
          <p:nvPr/>
        </p:nvSpPr>
        <p:spPr>
          <a:xfrm>
            <a:off x="3200400" y="1362456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1A1A1A"/>
                </a:solidFill>
                <a:latin typeface="Georgia"/>
              </a:rPr>
              <a:t>Profile</a:t>
            </a:r>
          </a:p>
        </p:txBody>
      </p:sp>
      <p:sp>
        <p:nvSpPr>
          <p:cNvPr id="58" name="task-state-0-1"/>
          <p:cNvSpPr txBox="1"/>
          <p:nvPr/>
        </p:nvSpPr>
        <p:spPr>
          <a:xfrm>
            <a:off x="3200400" y="1545336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D72638"/>
                </a:solidFill>
                <a:latin typeface="Georgia"/>
              </a:rPr>
              <a:t>locked</a:t>
            </a:r>
          </a:p>
        </p:txBody>
      </p:sp>
      <p:sp>
        <p:nvSpPr>
          <p:cNvPr id="59" name="task-title-0-2"/>
          <p:cNvSpPr txBox="1"/>
          <p:nvPr/>
        </p:nvSpPr>
        <p:spPr>
          <a:xfrm>
            <a:off x="4553712" y="1362456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1A1A1A"/>
                </a:solidFill>
                <a:latin typeface="Georgia"/>
              </a:rPr>
              <a:t>Spec</a:t>
            </a:r>
          </a:p>
        </p:txBody>
      </p:sp>
      <p:sp>
        <p:nvSpPr>
          <p:cNvPr id="60" name="task-state-0-2"/>
          <p:cNvSpPr txBox="1"/>
          <p:nvPr/>
        </p:nvSpPr>
        <p:spPr>
          <a:xfrm>
            <a:off x="4553712" y="1545336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D72638"/>
                </a:solidFill>
                <a:latin typeface="Georgia"/>
              </a:rPr>
              <a:t>ready</a:t>
            </a:r>
          </a:p>
        </p:txBody>
      </p:sp>
      <p:sp>
        <p:nvSpPr>
          <p:cNvPr id="61" name="task-title-0-3"/>
          <p:cNvSpPr txBox="1"/>
          <p:nvPr/>
        </p:nvSpPr>
        <p:spPr>
          <a:xfrm>
            <a:off x="5907024" y="1362456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1A1A1A"/>
                </a:solidFill>
                <a:latin typeface="Georgia"/>
              </a:rPr>
              <a:t>Audit</a:t>
            </a:r>
          </a:p>
        </p:txBody>
      </p:sp>
      <p:sp>
        <p:nvSpPr>
          <p:cNvPr id="62" name="task-state-0-3"/>
          <p:cNvSpPr txBox="1"/>
          <p:nvPr/>
        </p:nvSpPr>
        <p:spPr>
          <a:xfrm>
            <a:off x="5907024" y="1545336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D72638"/>
                </a:solidFill>
                <a:latin typeface="Georgia"/>
              </a:rPr>
              <a:t>pass</a:t>
            </a:r>
          </a:p>
        </p:txBody>
      </p:sp>
      <p:sp>
        <p:nvSpPr>
          <p:cNvPr id="63" name="task-title-0-4"/>
          <p:cNvSpPr txBox="1"/>
          <p:nvPr/>
        </p:nvSpPr>
        <p:spPr>
          <a:xfrm>
            <a:off x="7260336" y="1362456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1A1A1A"/>
                </a:solidFill>
                <a:latin typeface="Georgia"/>
              </a:rPr>
              <a:t>Owner</a:t>
            </a:r>
          </a:p>
        </p:txBody>
      </p:sp>
      <p:sp>
        <p:nvSpPr>
          <p:cNvPr id="64" name="task-state-0-4"/>
          <p:cNvSpPr txBox="1"/>
          <p:nvPr/>
        </p:nvSpPr>
        <p:spPr>
          <a:xfrm>
            <a:off x="7260336" y="1545336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D72638"/>
                </a:solidFill>
                <a:latin typeface="Georgia"/>
              </a:rPr>
              <a:t>assigned</a:t>
            </a:r>
          </a:p>
        </p:txBody>
      </p:sp>
      <p:sp>
        <p:nvSpPr>
          <p:cNvPr id="65" name="lane-name-1"/>
          <p:cNvSpPr txBox="1"/>
          <p:nvPr/>
        </p:nvSpPr>
        <p:spPr>
          <a:xfrm>
            <a:off x="566928" y="2615184"/>
            <a:ext cx="868680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lang="en-US">
                <a:solidFill>
                  <a:srgbClr val="111111"/>
                </a:solidFill>
                <a:latin typeface="Georgia"/>
              </a:rPr>
              <a:t>AUTHOR</a:t>
            </a:r>
          </a:p>
        </p:txBody>
      </p:sp>
      <p:sp>
        <p:nvSpPr>
          <p:cNvPr id="66" name="task-title-1-0"/>
          <p:cNvSpPr txBox="1"/>
          <p:nvPr/>
        </p:nvSpPr>
        <p:spPr>
          <a:xfrm>
            <a:off x="1847088" y="2532888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1A1A1A"/>
                </a:solidFill>
                <a:latin typeface="Georgia"/>
              </a:rPr>
              <a:t>Scope</a:t>
            </a:r>
          </a:p>
        </p:txBody>
      </p:sp>
      <p:sp>
        <p:nvSpPr>
          <p:cNvPr id="67" name="task-state-1-0"/>
          <p:cNvSpPr txBox="1"/>
          <p:nvPr/>
        </p:nvSpPr>
        <p:spPr>
          <a:xfrm>
            <a:off x="1847088" y="2715768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F5D020"/>
                </a:solidFill>
                <a:latin typeface="Georgia"/>
              </a:rPr>
              <a:t>locked</a:t>
            </a:r>
          </a:p>
        </p:txBody>
      </p:sp>
      <p:sp>
        <p:nvSpPr>
          <p:cNvPr id="68" name="task-title-1-1"/>
          <p:cNvSpPr txBox="1"/>
          <p:nvPr/>
        </p:nvSpPr>
        <p:spPr>
          <a:xfrm>
            <a:off x="3200400" y="2532888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1A1A1A"/>
                </a:solidFill>
                <a:latin typeface="Georgia"/>
              </a:rPr>
              <a:t>Profile</a:t>
            </a:r>
          </a:p>
        </p:txBody>
      </p:sp>
      <p:sp>
        <p:nvSpPr>
          <p:cNvPr id="69" name="task-state-1-1"/>
          <p:cNvSpPr txBox="1"/>
          <p:nvPr/>
        </p:nvSpPr>
        <p:spPr>
          <a:xfrm>
            <a:off x="3200400" y="2715768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F5D020"/>
                </a:solidFill>
                <a:latin typeface="Georgia"/>
              </a:rPr>
              <a:t>ready</a:t>
            </a:r>
          </a:p>
        </p:txBody>
      </p:sp>
      <p:sp>
        <p:nvSpPr>
          <p:cNvPr id="70" name="task-title-1-2"/>
          <p:cNvSpPr txBox="1"/>
          <p:nvPr/>
        </p:nvSpPr>
        <p:spPr>
          <a:xfrm>
            <a:off x="4553712" y="2532888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1A1A1A"/>
                </a:solidFill>
                <a:latin typeface="Georgia"/>
              </a:rPr>
              <a:t>Spec</a:t>
            </a:r>
          </a:p>
        </p:txBody>
      </p:sp>
      <p:sp>
        <p:nvSpPr>
          <p:cNvPr id="71" name="task-state-1-2"/>
          <p:cNvSpPr txBox="1"/>
          <p:nvPr/>
        </p:nvSpPr>
        <p:spPr>
          <a:xfrm>
            <a:off x="4553712" y="2715768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F5D020"/>
                </a:solidFill>
                <a:latin typeface="Georgia"/>
              </a:rPr>
              <a:t>pass</a:t>
            </a:r>
          </a:p>
        </p:txBody>
      </p:sp>
      <p:sp>
        <p:nvSpPr>
          <p:cNvPr id="72" name="task-title-1-3"/>
          <p:cNvSpPr txBox="1"/>
          <p:nvPr/>
        </p:nvSpPr>
        <p:spPr>
          <a:xfrm>
            <a:off x="5907024" y="2532888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1A1A1A"/>
                </a:solidFill>
                <a:latin typeface="Georgia"/>
              </a:rPr>
              <a:t>Audit</a:t>
            </a:r>
          </a:p>
        </p:txBody>
      </p:sp>
      <p:sp>
        <p:nvSpPr>
          <p:cNvPr id="73" name="task-state-1-3"/>
          <p:cNvSpPr txBox="1"/>
          <p:nvPr/>
        </p:nvSpPr>
        <p:spPr>
          <a:xfrm>
            <a:off x="5907024" y="2715768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F5D020"/>
                </a:solidFill>
                <a:latin typeface="Georgia"/>
              </a:rPr>
              <a:t>assigned</a:t>
            </a:r>
          </a:p>
        </p:txBody>
      </p:sp>
      <p:sp>
        <p:nvSpPr>
          <p:cNvPr id="74" name="task-title-1-4"/>
          <p:cNvSpPr txBox="1"/>
          <p:nvPr/>
        </p:nvSpPr>
        <p:spPr>
          <a:xfrm>
            <a:off x="7260336" y="2532888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1A1A1A"/>
                </a:solidFill>
                <a:latin typeface="Georgia"/>
              </a:rPr>
              <a:t>Owner</a:t>
            </a:r>
          </a:p>
        </p:txBody>
      </p:sp>
      <p:sp>
        <p:nvSpPr>
          <p:cNvPr id="75" name="task-state-1-4"/>
          <p:cNvSpPr txBox="1"/>
          <p:nvPr/>
        </p:nvSpPr>
        <p:spPr>
          <a:xfrm>
            <a:off x="7260336" y="2715768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F5D020"/>
                </a:solidFill>
                <a:latin typeface="Georgia"/>
              </a:rPr>
              <a:t>new</a:t>
            </a:r>
          </a:p>
        </p:txBody>
      </p:sp>
      <p:sp>
        <p:nvSpPr>
          <p:cNvPr id="76" name="lane-name-2"/>
          <p:cNvSpPr txBox="1"/>
          <p:nvPr/>
        </p:nvSpPr>
        <p:spPr>
          <a:xfrm>
            <a:off x="566928" y="3785615"/>
            <a:ext cx="868680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lang="en-US">
                <a:solidFill>
                  <a:srgbClr val="FFFFFF"/>
                </a:solidFill>
                <a:latin typeface="Georgia"/>
              </a:rPr>
              <a:t>VERIFY</a:t>
            </a:r>
          </a:p>
        </p:txBody>
      </p:sp>
      <p:sp>
        <p:nvSpPr>
          <p:cNvPr id="77" name="task-title-2-0"/>
          <p:cNvSpPr txBox="1"/>
          <p:nvPr/>
        </p:nvSpPr>
        <p:spPr>
          <a:xfrm>
            <a:off x="1847088" y="3703320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1A1A1A"/>
                </a:solidFill>
                <a:latin typeface="Georgia"/>
              </a:rPr>
              <a:t>Scope</a:t>
            </a:r>
          </a:p>
        </p:txBody>
      </p:sp>
      <p:sp>
        <p:nvSpPr>
          <p:cNvPr id="78" name="task-state-2-0"/>
          <p:cNvSpPr txBox="1"/>
          <p:nvPr/>
        </p:nvSpPr>
        <p:spPr>
          <a:xfrm>
            <a:off x="1847088" y="3886200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1A1A1A"/>
                </a:solidFill>
                <a:latin typeface="Georgia"/>
              </a:rPr>
              <a:t>ready</a:t>
            </a:r>
          </a:p>
        </p:txBody>
      </p:sp>
      <p:sp>
        <p:nvSpPr>
          <p:cNvPr id="79" name="task-title-2-1"/>
          <p:cNvSpPr txBox="1"/>
          <p:nvPr/>
        </p:nvSpPr>
        <p:spPr>
          <a:xfrm>
            <a:off x="3200400" y="3703320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1A1A1A"/>
                </a:solidFill>
                <a:latin typeface="Georgia"/>
              </a:rPr>
              <a:t>Profile</a:t>
            </a:r>
          </a:p>
        </p:txBody>
      </p:sp>
      <p:sp>
        <p:nvSpPr>
          <p:cNvPr id="80" name="task-state-2-1"/>
          <p:cNvSpPr txBox="1"/>
          <p:nvPr/>
        </p:nvSpPr>
        <p:spPr>
          <a:xfrm>
            <a:off x="3200400" y="3886200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1A1A1A"/>
                </a:solidFill>
                <a:latin typeface="Georgia"/>
              </a:rPr>
              <a:t>pass</a:t>
            </a:r>
          </a:p>
        </p:txBody>
      </p:sp>
      <p:sp>
        <p:nvSpPr>
          <p:cNvPr id="81" name="task-title-2-2"/>
          <p:cNvSpPr txBox="1"/>
          <p:nvPr/>
        </p:nvSpPr>
        <p:spPr>
          <a:xfrm>
            <a:off x="4553712" y="3703320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1A1A1A"/>
                </a:solidFill>
                <a:latin typeface="Georgia"/>
              </a:rPr>
              <a:t>Spec</a:t>
            </a:r>
          </a:p>
        </p:txBody>
      </p:sp>
      <p:sp>
        <p:nvSpPr>
          <p:cNvPr id="82" name="task-state-2-2"/>
          <p:cNvSpPr txBox="1"/>
          <p:nvPr/>
        </p:nvSpPr>
        <p:spPr>
          <a:xfrm>
            <a:off x="4553712" y="3886200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1A1A1A"/>
                </a:solidFill>
                <a:latin typeface="Georgia"/>
              </a:rPr>
              <a:t>assigned</a:t>
            </a:r>
          </a:p>
        </p:txBody>
      </p:sp>
      <p:sp>
        <p:nvSpPr>
          <p:cNvPr id="83" name="task-title-2-3"/>
          <p:cNvSpPr txBox="1"/>
          <p:nvPr/>
        </p:nvSpPr>
        <p:spPr>
          <a:xfrm>
            <a:off x="5907024" y="3703320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1A1A1A"/>
                </a:solidFill>
                <a:latin typeface="Georgia"/>
              </a:rPr>
              <a:t>Audit</a:t>
            </a:r>
          </a:p>
        </p:txBody>
      </p:sp>
      <p:sp>
        <p:nvSpPr>
          <p:cNvPr id="84" name="task-state-2-3"/>
          <p:cNvSpPr txBox="1"/>
          <p:nvPr/>
        </p:nvSpPr>
        <p:spPr>
          <a:xfrm>
            <a:off x="5907024" y="3886200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1A1A1A"/>
                </a:solidFill>
                <a:latin typeface="Georgia"/>
              </a:rPr>
              <a:t>new</a:t>
            </a:r>
          </a:p>
        </p:txBody>
      </p:sp>
      <p:sp>
        <p:nvSpPr>
          <p:cNvPr id="85" name="task-title-2-4"/>
          <p:cNvSpPr txBox="1"/>
          <p:nvPr/>
        </p:nvSpPr>
        <p:spPr>
          <a:xfrm>
            <a:off x="7260336" y="3703320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1A1A1A"/>
                </a:solidFill>
                <a:latin typeface="Georgia"/>
              </a:rPr>
              <a:t>Owner</a:t>
            </a:r>
          </a:p>
        </p:txBody>
      </p:sp>
      <p:sp>
        <p:nvSpPr>
          <p:cNvPr id="86" name="task-state-2-4"/>
          <p:cNvSpPr txBox="1"/>
          <p:nvPr/>
        </p:nvSpPr>
        <p:spPr>
          <a:xfrm>
            <a:off x="7260336" y="3886200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1A1A1A"/>
                </a:solidFill>
                <a:latin typeface="Georgia"/>
              </a:rPr>
              <a:t>locked</a:t>
            </a:r>
          </a:p>
        </p:txBody>
      </p:sp>
      <p:sp>
        <p:nvSpPr>
          <p:cNvPr id="87" name="lane-name-3"/>
          <p:cNvSpPr txBox="1"/>
          <p:nvPr/>
        </p:nvSpPr>
        <p:spPr>
          <a:xfrm>
            <a:off x="566928" y="4956048"/>
            <a:ext cx="868680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lang="en-US">
                <a:solidFill>
                  <a:srgbClr val="FFFFFF"/>
                </a:solidFill>
                <a:latin typeface="Georgia"/>
              </a:rPr>
              <a:t>SHIP</a:t>
            </a:r>
          </a:p>
        </p:txBody>
      </p:sp>
      <p:sp>
        <p:nvSpPr>
          <p:cNvPr id="88" name="task-title-3-0"/>
          <p:cNvSpPr txBox="1"/>
          <p:nvPr/>
        </p:nvSpPr>
        <p:spPr>
          <a:xfrm>
            <a:off x="1847088" y="4873752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1A1A1A"/>
                </a:solidFill>
                <a:latin typeface="Georgia"/>
              </a:rPr>
              <a:t>Scope</a:t>
            </a:r>
          </a:p>
        </p:txBody>
      </p:sp>
      <p:sp>
        <p:nvSpPr>
          <p:cNvPr id="89" name="task-state-3-0"/>
          <p:cNvSpPr txBox="1"/>
          <p:nvPr/>
        </p:nvSpPr>
        <p:spPr>
          <a:xfrm>
            <a:off x="1847088" y="5056632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D72638"/>
                </a:solidFill>
                <a:latin typeface="Georgia"/>
              </a:rPr>
              <a:t>pass</a:t>
            </a:r>
          </a:p>
        </p:txBody>
      </p:sp>
      <p:sp>
        <p:nvSpPr>
          <p:cNvPr id="90" name="task-title-3-1"/>
          <p:cNvSpPr txBox="1"/>
          <p:nvPr/>
        </p:nvSpPr>
        <p:spPr>
          <a:xfrm>
            <a:off x="3200400" y="4873752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1A1A1A"/>
                </a:solidFill>
                <a:latin typeface="Georgia"/>
              </a:rPr>
              <a:t>Profile</a:t>
            </a:r>
          </a:p>
        </p:txBody>
      </p:sp>
      <p:sp>
        <p:nvSpPr>
          <p:cNvPr id="91" name="task-state-3-1"/>
          <p:cNvSpPr txBox="1"/>
          <p:nvPr/>
        </p:nvSpPr>
        <p:spPr>
          <a:xfrm>
            <a:off x="3200400" y="5056632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D72638"/>
                </a:solidFill>
                <a:latin typeface="Georgia"/>
              </a:rPr>
              <a:t>assigned</a:t>
            </a:r>
          </a:p>
        </p:txBody>
      </p:sp>
      <p:sp>
        <p:nvSpPr>
          <p:cNvPr id="92" name="task-title-3-2"/>
          <p:cNvSpPr txBox="1"/>
          <p:nvPr/>
        </p:nvSpPr>
        <p:spPr>
          <a:xfrm>
            <a:off x="4553712" y="4873752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1A1A1A"/>
                </a:solidFill>
                <a:latin typeface="Georgia"/>
              </a:rPr>
              <a:t>Spec</a:t>
            </a:r>
          </a:p>
        </p:txBody>
      </p:sp>
      <p:sp>
        <p:nvSpPr>
          <p:cNvPr id="93" name="task-state-3-2"/>
          <p:cNvSpPr txBox="1"/>
          <p:nvPr/>
        </p:nvSpPr>
        <p:spPr>
          <a:xfrm>
            <a:off x="4553712" y="5056632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D72638"/>
                </a:solidFill>
                <a:latin typeface="Georgia"/>
              </a:rPr>
              <a:t>new</a:t>
            </a:r>
          </a:p>
        </p:txBody>
      </p:sp>
      <p:sp>
        <p:nvSpPr>
          <p:cNvPr id="94" name="task-title-3-3"/>
          <p:cNvSpPr txBox="1"/>
          <p:nvPr/>
        </p:nvSpPr>
        <p:spPr>
          <a:xfrm>
            <a:off x="5907024" y="4873752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1A1A1A"/>
                </a:solidFill>
                <a:latin typeface="Georgia"/>
              </a:rPr>
              <a:t>Audit</a:t>
            </a:r>
          </a:p>
        </p:txBody>
      </p:sp>
      <p:sp>
        <p:nvSpPr>
          <p:cNvPr id="95" name="task-state-3-3"/>
          <p:cNvSpPr txBox="1"/>
          <p:nvPr/>
        </p:nvSpPr>
        <p:spPr>
          <a:xfrm>
            <a:off x="5907024" y="5056632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D72638"/>
                </a:solidFill>
                <a:latin typeface="Georgia"/>
              </a:rPr>
              <a:t>locked</a:t>
            </a:r>
          </a:p>
        </p:txBody>
      </p:sp>
      <p:sp>
        <p:nvSpPr>
          <p:cNvPr id="96" name="task-title-3-4"/>
          <p:cNvSpPr txBox="1"/>
          <p:nvPr/>
        </p:nvSpPr>
        <p:spPr>
          <a:xfrm>
            <a:off x="7260336" y="4873752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1A1A1A"/>
                </a:solidFill>
                <a:latin typeface="Georgia"/>
              </a:rPr>
              <a:t>Owner</a:t>
            </a:r>
          </a:p>
        </p:txBody>
      </p:sp>
      <p:sp>
        <p:nvSpPr>
          <p:cNvPr id="97" name="task-state-3-4"/>
          <p:cNvSpPr txBox="1"/>
          <p:nvPr/>
        </p:nvSpPr>
        <p:spPr>
          <a:xfrm>
            <a:off x="7260336" y="5056632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D72638"/>
                </a:solidFill>
                <a:latin typeface="Georgia"/>
              </a:rPr>
              <a:t>ready</a:t>
            </a:r>
          </a:p>
        </p:txBody>
      </p:sp>
      <p:sp>
        <p:nvSpPr>
          <p:cNvPr id="98" name="workbench-rail-title"/>
          <p:cNvSpPr txBox="1"/>
          <p:nvPr/>
        </p:nvSpPr>
        <p:spPr>
          <a:xfrm>
            <a:off x="9436608" y="1325880"/>
            <a:ext cx="196596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1" lang="en-US">
                <a:solidFill>
                  <a:srgbClr val="D72638"/>
                </a:solidFill>
                <a:latin typeface="Georgia"/>
              </a:rPr>
              <a:t>BUILD SIGNALS</a:t>
            </a:r>
          </a:p>
        </p:txBody>
      </p:sp>
      <p:sp>
        <p:nvSpPr>
          <p:cNvPr id="99" name="chart-label"/>
          <p:cNvSpPr txBox="1"/>
          <p:nvPr/>
        </p:nvSpPr>
        <p:spPr>
          <a:xfrm>
            <a:off x="9436608" y="4956048"/>
            <a:ext cx="192024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0" lang="en-US">
                <a:solidFill>
                  <a:srgbClr val="4A423A"/>
                </a:solidFill>
                <a:latin typeface="Georgia"/>
              </a:rPr>
              <a:t>completion by work lane</a:t>
            </a:r>
          </a:p>
        </p:txBody>
      </p:sp>
      <p:sp>
        <p:nvSpPr>
          <p:cNvPr id="100" name="check-label-0"/>
          <p:cNvSpPr txBox="1"/>
          <p:nvPr/>
        </p:nvSpPr>
        <p:spPr>
          <a:xfrm>
            <a:off x="9619488" y="5303520"/>
            <a:ext cx="141732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1" lang="en-US">
                <a:solidFill>
                  <a:srgbClr val="1A1A1A"/>
                </a:solidFill>
                <a:latin typeface="Georgia"/>
              </a:rPr>
              <a:t>bounds</a:t>
            </a:r>
          </a:p>
        </p:txBody>
      </p:sp>
      <p:sp>
        <p:nvSpPr>
          <p:cNvPr id="101" name="check-label-1"/>
          <p:cNvSpPr txBox="1"/>
          <p:nvPr/>
        </p:nvSpPr>
        <p:spPr>
          <a:xfrm>
            <a:off x="9619488" y="5468112"/>
            <a:ext cx="141732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1" lang="en-US">
                <a:solidFill>
                  <a:srgbClr val="1A1A1A"/>
                </a:solidFill>
                <a:latin typeface="Georgia"/>
              </a:rPr>
              <a:t>content</a:t>
            </a:r>
          </a:p>
        </p:txBody>
      </p:sp>
      <p:sp>
        <p:nvSpPr>
          <p:cNvPr id="102" name="check-label-2"/>
          <p:cNvSpPr txBox="1"/>
          <p:nvPr/>
        </p:nvSpPr>
        <p:spPr>
          <a:xfrm>
            <a:off x="9619488" y="5632704"/>
            <a:ext cx="141732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1" lang="en-US">
                <a:solidFill>
                  <a:srgbClr val="1A1A1A"/>
                </a:solidFill>
                <a:latin typeface="Georgia"/>
              </a:rPr>
              <a:t>tables</a:t>
            </a:r>
          </a:p>
        </p:txBody>
      </p:sp>
      <p:sp>
        <p:nvSpPr>
          <p:cNvPr id="103" name="check-label-3"/>
          <p:cNvSpPr txBox="1"/>
          <p:nvPr/>
        </p:nvSpPr>
        <p:spPr>
          <a:xfrm>
            <a:off x="9619488" y="5797296"/>
            <a:ext cx="141732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1" lang="en-US">
                <a:solidFill>
                  <a:srgbClr val="1A1A1A"/>
                </a:solidFill>
                <a:latin typeface="Georgia"/>
              </a:rPr>
              <a:t>order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50D"/>
          </a:solidFill>
          <a:ln w="10160">
            <a:solidFill>
              <a:srgbClr val="0305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olo-ring-0"/>
          <p:cNvSpPr/>
          <p:nvPr/>
        </p:nvSpPr>
        <p:spPr>
          <a:xfrm>
            <a:off x="7863840" y="1874519"/>
            <a:ext cx="3291840" cy="3291840"/>
          </a:xfrm>
          <a:prstGeom prst="ellipse">
            <a:avLst/>
          </a:prstGeom>
          <a:solidFill>
            <a:srgbClr val="03050D"/>
          </a:solidFill>
          <a:ln w="1016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olo-ring-1"/>
          <p:cNvSpPr/>
          <p:nvPr/>
        </p:nvSpPr>
        <p:spPr>
          <a:xfrm>
            <a:off x="8366760" y="2377440"/>
            <a:ext cx="2286000" cy="2286000"/>
          </a:xfrm>
          <a:prstGeom prst="ellipse">
            <a:avLst/>
          </a:prstGeom>
          <a:solidFill>
            <a:srgbClr val="03050D"/>
          </a:solidFill>
          <a:ln w="1016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holo-ring-2"/>
          <p:cNvSpPr/>
          <p:nvPr/>
        </p:nvSpPr>
        <p:spPr>
          <a:xfrm>
            <a:off x="8869680" y="2880360"/>
            <a:ext cx="1280160" cy="1280160"/>
          </a:xfrm>
          <a:prstGeom prst="ellipse">
            <a:avLst/>
          </a:prstGeom>
          <a:solidFill>
            <a:srgbClr val="03050D"/>
          </a:solidFill>
          <a:ln w="1016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op-band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C8FF"/>
          </a:solidFill>
          <a:ln w="1016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nav-shell"/>
          <p:cNvSpPr/>
          <p:nvPr/>
        </p:nvSpPr>
        <p:spPr>
          <a:xfrm>
            <a:off x="457200" y="1078992"/>
            <a:ext cx="1572768" cy="5102352"/>
          </a:xfrm>
          <a:prstGeom prst="rect">
            <a:avLst/>
          </a:prstGeom>
          <a:solidFill>
            <a:srgbClr val="0A2236"/>
          </a:solidFill>
          <a:ln w="10160">
            <a:solidFill>
              <a:srgbClr val="1751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metric-0-shell"/>
          <p:cNvSpPr/>
          <p:nvPr/>
        </p:nvSpPr>
        <p:spPr>
          <a:xfrm>
            <a:off x="2249424" y="1078992"/>
            <a:ext cx="1161288" cy="768096"/>
          </a:xfrm>
          <a:prstGeom prst="rect">
            <a:avLst/>
          </a:prstGeom>
          <a:solidFill>
            <a:srgbClr val="071827"/>
          </a:solidFill>
          <a:ln w="10160">
            <a:solidFill>
              <a:srgbClr val="1751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metric-1-shell"/>
          <p:cNvSpPr/>
          <p:nvPr/>
        </p:nvSpPr>
        <p:spPr>
          <a:xfrm>
            <a:off x="3557016" y="1078992"/>
            <a:ext cx="1161288" cy="768096"/>
          </a:xfrm>
          <a:prstGeom prst="rect">
            <a:avLst/>
          </a:prstGeom>
          <a:solidFill>
            <a:srgbClr val="071827"/>
          </a:solidFill>
          <a:ln w="10160">
            <a:solidFill>
              <a:srgbClr val="1751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metric-2-shell"/>
          <p:cNvSpPr/>
          <p:nvPr/>
        </p:nvSpPr>
        <p:spPr>
          <a:xfrm>
            <a:off x="4864608" y="1078992"/>
            <a:ext cx="1161288" cy="768096"/>
          </a:xfrm>
          <a:prstGeom prst="rect">
            <a:avLst/>
          </a:prstGeom>
          <a:solidFill>
            <a:srgbClr val="071827"/>
          </a:solidFill>
          <a:ln w="10160">
            <a:solidFill>
              <a:srgbClr val="1751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metric-3-shell"/>
          <p:cNvSpPr/>
          <p:nvPr/>
        </p:nvSpPr>
        <p:spPr>
          <a:xfrm>
            <a:off x="6172200" y="1078992"/>
            <a:ext cx="1161288" cy="768096"/>
          </a:xfrm>
          <a:prstGeom prst="rect">
            <a:avLst/>
          </a:prstGeom>
          <a:solidFill>
            <a:srgbClr val="071827"/>
          </a:solidFill>
          <a:ln w="10160">
            <a:solidFill>
              <a:srgbClr val="1751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metric-4-shell"/>
          <p:cNvSpPr/>
          <p:nvPr/>
        </p:nvSpPr>
        <p:spPr>
          <a:xfrm>
            <a:off x="7479792" y="1078992"/>
            <a:ext cx="1161288" cy="768096"/>
          </a:xfrm>
          <a:prstGeom prst="rect">
            <a:avLst/>
          </a:prstGeom>
          <a:solidFill>
            <a:srgbClr val="071827"/>
          </a:solidFill>
          <a:ln w="10160">
            <a:solidFill>
              <a:srgbClr val="1751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isk-rail-shell"/>
          <p:cNvSpPr/>
          <p:nvPr/>
        </p:nvSpPr>
        <p:spPr>
          <a:xfrm>
            <a:off x="9052560" y="1078992"/>
            <a:ext cx="2679192" cy="4389120"/>
          </a:xfrm>
          <a:prstGeom prst="rect">
            <a:avLst/>
          </a:prstGeom>
          <a:solidFill>
            <a:srgbClr val="0A2236"/>
          </a:solidFill>
          <a:ln w="10160">
            <a:solidFill>
              <a:srgbClr val="1751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holo-scan"/>
          <p:cNvSpPr/>
          <p:nvPr/>
        </p:nvSpPr>
        <p:spPr>
          <a:xfrm>
            <a:off x="7818120" y="3511296"/>
            <a:ext cx="3840480" cy="22860"/>
          </a:xfrm>
          <a:prstGeom prst="rect">
            <a:avLst/>
          </a:prstGeom>
          <a:solidFill>
            <a:srgbClr val="00C8FF"/>
          </a:solidFill>
          <a:ln w="1016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nav-accent"/>
          <p:cNvSpPr/>
          <p:nvPr/>
        </p:nvSpPr>
        <p:spPr>
          <a:xfrm>
            <a:off x="457200" y="1078992"/>
            <a:ext cx="73152" cy="5102352"/>
          </a:xfrm>
          <a:prstGeom prst="rect">
            <a:avLst/>
          </a:prstGeom>
          <a:solidFill>
            <a:srgbClr val="00C8FF"/>
          </a:solidFill>
          <a:ln w="1016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nav-0"/>
          <p:cNvSpPr/>
          <p:nvPr/>
        </p:nvSpPr>
        <p:spPr>
          <a:xfrm>
            <a:off x="658368" y="1874519"/>
            <a:ext cx="1143000" cy="329184"/>
          </a:xfrm>
          <a:prstGeom prst="roundRect">
            <a:avLst/>
          </a:prstGeom>
          <a:solidFill>
            <a:srgbClr val="00C8FF"/>
          </a:solidFill>
          <a:ln w="10160">
            <a:solidFill>
              <a:srgbClr val="1751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nav-1"/>
          <p:cNvSpPr/>
          <p:nvPr/>
        </p:nvSpPr>
        <p:spPr>
          <a:xfrm>
            <a:off x="658368" y="2386584"/>
            <a:ext cx="1143000" cy="329184"/>
          </a:xfrm>
          <a:prstGeom prst="roundRect">
            <a:avLst/>
          </a:prstGeom>
          <a:solidFill>
            <a:srgbClr val="071827"/>
          </a:solidFill>
          <a:ln w="10160">
            <a:solidFill>
              <a:srgbClr val="1751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nav-2"/>
          <p:cNvSpPr/>
          <p:nvPr/>
        </p:nvSpPr>
        <p:spPr>
          <a:xfrm>
            <a:off x="658368" y="2898648"/>
            <a:ext cx="1143000" cy="329184"/>
          </a:xfrm>
          <a:prstGeom prst="roundRect">
            <a:avLst/>
          </a:prstGeom>
          <a:solidFill>
            <a:srgbClr val="071827"/>
          </a:solidFill>
          <a:ln w="10160">
            <a:solidFill>
              <a:srgbClr val="1751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nav-3"/>
          <p:cNvSpPr/>
          <p:nvPr/>
        </p:nvSpPr>
        <p:spPr>
          <a:xfrm>
            <a:off x="658368" y="3410712"/>
            <a:ext cx="1143000" cy="329184"/>
          </a:xfrm>
          <a:prstGeom prst="roundRect">
            <a:avLst/>
          </a:prstGeom>
          <a:solidFill>
            <a:srgbClr val="071827"/>
          </a:solidFill>
          <a:ln w="10160">
            <a:solidFill>
              <a:srgbClr val="1751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nav-4"/>
          <p:cNvSpPr/>
          <p:nvPr/>
        </p:nvSpPr>
        <p:spPr>
          <a:xfrm>
            <a:off x="658368" y="3922776"/>
            <a:ext cx="1143000" cy="329184"/>
          </a:xfrm>
          <a:prstGeom prst="roundRect">
            <a:avLst/>
          </a:prstGeom>
          <a:solidFill>
            <a:srgbClr val="071827"/>
          </a:solidFill>
          <a:ln w="10160">
            <a:solidFill>
              <a:srgbClr val="1751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nav-5"/>
          <p:cNvSpPr/>
          <p:nvPr/>
        </p:nvSpPr>
        <p:spPr>
          <a:xfrm>
            <a:off x="658368" y="4434840"/>
            <a:ext cx="1143000" cy="329184"/>
          </a:xfrm>
          <a:prstGeom prst="roundRect">
            <a:avLst/>
          </a:prstGeom>
          <a:solidFill>
            <a:srgbClr val="071827"/>
          </a:solidFill>
          <a:ln w="10160">
            <a:solidFill>
              <a:srgbClr val="1751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nav-6"/>
          <p:cNvSpPr/>
          <p:nvPr/>
        </p:nvSpPr>
        <p:spPr>
          <a:xfrm>
            <a:off x="658368" y="4946904"/>
            <a:ext cx="1143000" cy="329184"/>
          </a:xfrm>
          <a:prstGeom prst="roundRect">
            <a:avLst/>
          </a:prstGeom>
          <a:solidFill>
            <a:srgbClr val="071827"/>
          </a:solidFill>
          <a:ln w="10160">
            <a:solidFill>
              <a:srgbClr val="1751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metric-0-accent"/>
          <p:cNvSpPr/>
          <p:nvPr/>
        </p:nvSpPr>
        <p:spPr>
          <a:xfrm>
            <a:off x="2249424" y="1078992"/>
            <a:ext cx="73152" cy="768096"/>
          </a:xfrm>
          <a:prstGeom prst="rect">
            <a:avLst/>
          </a:prstGeom>
          <a:solidFill>
            <a:srgbClr val="00C8FF"/>
          </a:solidFill>
          <a:ln w="1016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metric-1-accent"/>
          <p:cNvSpPr/>
          <p:nvPr/>
        </p:nvSpPr>
        <p:spPr>
          <a:xfrm>
            <a:off x="3557016" y="1078992"/>
            <a:ext cx="73152" cy="768096"/>
          </a:xfrm>
          <a:prstGeom prst="rect">
            <a:avLst/>
          </a:prstGeom>
          <a:solidFill>
            <a:srgbClr val="00C8FF"/>
          </a:solidFill>
          <a:ln w="1016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metric-2-accent"/>
          <p:cNvSpPr/>
          <p:nvPr/>
        </p:nvSpPr>
        <p:spPr>
          <a:xfrm>
            <a:off x="4864608" y="1078992"/>
            <a:ext cx="73152" cy="768096"/>
          </a:xfrm>
          <a:prstGeom prst="rect">
            <a:avLst/>
          </a:prstGeom>
          <a:solidFill>
            <a:srgbClr val="00C8FF"/>
          </a:solidFill>
          <a:ln w="1016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metric-3-accent"/>
          <p:cNvSpPr/>
          <p:nvPr/>
        </p:nvSpPr>
        <p:spPr>
          <a:xfrm>
            <a:off x="6172200" y="1078992"/>
            <a:ext cx="73152" cy="768096"/>
          </a:xfrm>
          <a:prstGeom prst="rect">
            <a:avLst/>
          </a:prstGeom>
          <a:solidFill>
            <a:srgbClr val="00C8FF"/>
          </a:solidFill>
          <a:ln w="1016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metric-4-accent"/>
          <p:cNvSpPr/>
          <p:nvPr/>
        </p:nvSpPr>
        <p:spPr>
          <a:xfrm>
            <a:off x="7479792" y="1078992"/>
            <a:ext cx="73152" cy="768096"/>
          </a:xfrm>
          <a:prstGeom prst="rect">
            <a:avLst/>
          </a:prstGeom>
          <a:solidFill>
            <a:srgbClr val="00C8FF"/>
          </a:solidFill>
          <a:ln w="1016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isk-rail-accent"/>
          <p:cNvSpPr/>
          <p:nvPr/>
        </p:nvSpPr>
        <p:spPr>
          <a:xfrm>
            <a:off x="9052560" y="1078992"/>
            <a:ext cx="73152" cy="4389120"/>
          </a:xfrm>
          <a:prstGeom prst="rect">
            <a:avLst/>
          </a:prstGeom>
          <a:solidFill>
            <a:srgbClr val="00C8FF"/>
          </a:solidFill>
          <a:ln w="1016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progress-track"/>
          <p:cNvSpPr/>
          <p:nvPr/>
        </p:nvSpPr>
        <p:spPr>
          <a:xfrm>
            <a:off x="2249424" y="5687568"/>
            <a:ext cx="9482328" cy="384048"/>
          </a:xfrm>
          <a:prstGeom prst="roundRect">
            <a:avLst/>
          </a:prstGeom>
          <a:solidFill>
            <a:srgbClr val="0A2236"/>
          </a:solidFill>
          <a:ln w="10160">
            <a:solidFill>
              <a:srgbClr val="1751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0" name="signal-table"/>
          <p:cNvGraphicFramePr>
            <a:graphicFrameLocks noGrp="1"/>
          </p:cNvGraphicFramePr>
          <p:nvPr/>
        </p:nvGraphicFramePr>
        <p:xfrm>
          <a:off x="2249424" y="2066543"/>
          <a:ext cx="6537960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7592"/>
                <a:gridCol w="1307592"/>
                <a:gridCol w="1307592"/>
                <a:gridCol w="1307592"/>
                <a:gridCol w="1307592"/>
              </a:tblGrid>
              <a:tr h="425196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03050D"/>
                          </a:solidFill>
                          <a:latin typeface="Consolas"/>
                        </a:rPr>
                        <a:t>Signal</a:t>
                      </a:r>
                    </a:p>
                  </a:txBody>
                  <a:tcPr marL="54864" marR="54864" marT="18288" marB="18288">
                    <a:solidFill>
                      <a:srgbClr val="00C8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03050D"/>
                          </a:solidFill>
                          <a:latin typeface="Consolas"/>
                        </a:rPr>
                        <a:t>Owner</a:t>
                      </a:r>
                    </a:p>
                  </a:txBody>
                  <a:tcPr marL="54864" marR="54864" marT="18288" marB="18288">
                    <a:solidFill>
                      <a:srgbClr val="00C8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03050D"/>
                          </a:solidFill>
                          <a:latin typeface="Consolas"/>
                        </a:rPr>
                        <a:t>State</a:t>
                      </a:r>
                    </a:p>
                  </a:txBody>
                  <a:tcPr marL="54864" marR="54864" marT="18288" marB="18288">
                    <a:solidFill>
                      <a:srgbClr val="00C8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03050D"/>
                          </a:solidFill>
                          <a:latin typeface="Consolas"/>
                        </a:rPr>
                        <a:t>Gate</a:t>
                      </a:r>
                    </a:p>
                  </a:txBody>
                  <a:tcPr marL="54864" marR="54864" marT="18288" marB="18288">
                    <a:solidFill>
                      <a:srgbClr val="00C8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03050D"/>
                          </a:solidFill>
                          <a:latin typeface="Consolas"/>
                        </a:rPr>
                        <a:t>Next</a:t>
                      </a:r>
                    </a:p>
                  </a:txBody>
                  <a:tcPr marL="54864" marR="54864" marT="18288" marB="18288">
                    <a:solidFill>
                      <a:srgbClr val="00C8FF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00C8FF"/>
                          </a:solidFill>
                          <a:latin typeface="Consolas"/>
                        </a:rPr>
                        <a:t>S-01</a:t>
                      </a:r>
                    </a:p>
                  </a:txBody>
                  <a:tcPr marL="54864" marR="54864" marT="18288" marB="18288">
                    <a:solidFill>
                      <a:srgbClr val="0718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00C8FF"/>
                          </a:solidFill>
                          <a:latin typeface="Consolas"/>
                        </a:rPr>
                        <a:t>Reviewer</a:t>
                      </a:r>
                    </a:p>
                  </a:txBody>
                  <a:tcPr marL="54864" marR="54864" marT="18288" marB="18288">
                    <a:solidFill>
                      <a:srgbClr val="0718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00C8FF"/>
                          </a:solidFill>
                          <a:latin typeface="Consolas"/>
                        </a:rPr>
                        <a:t>Watch</a:t>
                      </a:r>
                    </a:p>
                  </a:txBody>
                  <a:tcPr marL="54864" marR="54864" marT="18288" marB="18288">
                    <a:solidFill>
                      <a:srgbClr val="0718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00C8FF"/>
                          </a:solidFill>
                          <a:latin typeface="Consolas"/>
                        </a:rPr>
                        <a:t>Review</a:t>
                      </a:r>
                    </a:p>
                  </a:txBody>
                  <a:tcPr marL="54864" marR="54864" marT="18288" marB="18288">
                    <a:solidFill>
                      <a:srgbClr val="0718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00C8FF"/>
                          </a:solidFill>
                          <a:latin typeface="Consolas"/>
                        </a:rPr>
                        <a:t>Check</a:t>
                      </a:r>
                    </a:p>
                  </a:txBody>
                  <a:tcPr marL="54864" marR="54864" marT="18288" marB="18288">
                    <a:solidFill>
                      <a:srgbClr val="071827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00C8FF"/>
                          </a:solidFill>
                          <a:latin typeface="Consolas"/>
                        </a:rPr>
                        <a:t>S-02</a:t>
                      </a:r>
                    </a:p>
                  </a:txBody>
                  <a:tcPr marL="54864" marR="54864" marT="18288" marB="18288">
                    <a:solidFill>
                      <a:srgbClr val="0A22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00C8FF"/>
                          </a:solidFill>
                          <a:latin typeface="Consolas"/>
                        </a:rPr>
                        <a:t>Auditor</a:t>
                      </a:r>
                    </a:p>
                  </a:txBody>
                  <a:tcPr marL="54864" marR="54864" marT="18288" marB="18288">
                    <a:solidFill>
                      <a:srgbClr val="0A22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00C8FF"/>
                          </a:solidFill>
                          <a:latin typeface="Consolas"/>
                        </a:rPr>
                        <a:t>Hold</a:t>
                      </a:r>
                    </a:p>
                  </a:txBody>
                  <a:tcPr marL="54864" marR="54864" marT="18288" marB="18288">
                    <a:solidFill>
                      <a:srgbClr val="0A22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00C8FF"/>
                          </a:solidFill>
                          <a:latin typeface="Consolas"/>
                        </a:rPr>
                        <a:t>Repair</a:t>
                      </a:r>
                    </a:p>
                  </a:txBody>
                  <a:tcPr marL="54864" marR="54864" marT="18288" marB="18288">
                    <a:solidFill>
                      <a:srgbClr val="0A22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00C8FF"/>
                          </a:solidFill>
                          <a:latin typeface="Consolas"/>
                        </a:rPr>
                        <a:t>Fix</a:t>
                      </a:r>
                    </a:p>
                  </a:txBody>
                  <a:tcPr marL="54864" marR="54864" marT="18288" marB="18288">
                    <a:solidFill>
                      <a:srgbClr val="0A2236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00C8FF"/>
                          </a:solidFill>
                          <a:latin typeface="Consolas"/>
                        </a:rPr>
                        <a:t>S-03</a:t>
                      </a:r>
                    </a:p>
                  </a:txBody>
                  <a:tcPr marL="54864" marR="54864" marT="18288" marB="18288">
                    <a:solidFill>
                      <a:srgbClr val="0718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00C8FF"/>
                          </a:solidFill>
                          <a:latin typeface="Consolas"/>
                        </a:rPr>
                        <a:t>Author</a:t>
                      </a:r>
                    </a:p>
                  </a:txBody>
                  <a:tcPr marL="54864" marR="54864" marT="18288" marB="18288">
                    <a:solidFill>
                      <a:srgbClr val="0718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00C8FF"/>
                          </a:solidFill>
                          <a:latin typeface="Consolas"/>
                        </a:rPr>
                        <a:t>Ready</a:t>
                      </a:r>
                    </a:p>
                  </a:txBody>
                  <a:tcPr marL="54864" marR="54864" marT="18288" marB="18288">
                    <a:solidFill>
                      <a:srgbClr val="0718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00C8FF"/>
                          </a:solidFill>
                          <a:latin typeface="Consolas"/>
                        </a:rPr>
                        <a:t>Pass</a:t>
                      </a:r>
                    </a:p>
                  </a:txBody>
                  <a:tcPr marL="54864" marR="54864" marT="18288" marB="18288">
                    <a:solidFill>
                      <a:srgbClr val="0718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00C8FF"/>
                          </a:solidFill>
                          <a:latin typeface="Consolas"/>
                        </a:rPr>
                        <a:t>Ship</a:t>
                      </a:r>
                    </a:p>
                  </a:txBody>
                  <a:tcPr marL="54864" marR="54864" marT="18288" marB="18288">
                    <a:solidFill>
                      <a:srgbClr val="071827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00C8FF"/>
                          </a:solidFill>
                          <a:latin typeface="Consolas"/>
                        </a:rPr>
                        <a:t>S-04</a:t>
                      </a:r>
                    </a:p>
                  </a:txBody>
                  <a:tcPr marL="54864" marR="54864" marT="18288" marB="18288">
                    <a:solidFill>
                      <a:srgbClr val="0A22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00C8FF"/>
                          </a:solidFill>
                          <a:latin typeface="Consolas"/>
                        </a:rPr>
                        <a:t>Reviewer</a:t>
                      </a:r>
                    </a:p>
                  </a:txBody>
                  <a:tcPr marL="54864" marR="54864" marT="18288" marB="18288">
                    <a:solidFill>
                      <a:srgbClr val="0A22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00C8FF"/>
                          </a:solidFill>
                          <a:latin typeface="Consolas"/>
                        </a:rPr>
                        <a:t>Watch</a:t>
                      </a:r>
                    </a:p>
                  </a:txBody>
                  <a:tcPr marL="54864" marR="54864" marT="18288" marB="18288">
                    <a:solidFill>
                      <a:srgbClr val="0A22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00C8FF"/>
                          </a:solidFill>
                          <a:latin typeface="Consolas"/>
                        </a:rPr>
                        <a:t>Review</a:t>
                      </a:r>
                    </a:p>
                  </a:txBody>
                  <a:tcPr marL="54864" marR="54864" marT="18288" marB="18288">
                    <a:solidFill>
                      <a:srgbClr val="0A22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00C8FF"/>
                          </a:solidFill>
                          <a:latin typeface="Consolas"/>
                        </a:rPr>
                        <a:t>Check</a:t>
                      </a:r>
                    </a:p>
                  </a:txBody>
                  <a:tcPr marL="54864" marR="54864" marT="18288" marB="18288">
                    <a:solidFill>
                      <a:srgbClr val="0A2236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00C8FF"/>
                          </a:solidFill>
                          <a:latin typeface="Consolas"/>
                        </a:rPr>
                        <a:t>S-05</a:t>
                      </a:r>
                    </a:p>
                  </a:txBody>
                  <a:tcPr marL="54864" marR="54864" marT="18288" marB="18288">
                    <a:solidFill>
                      <a:srgbClr val="0718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00C8FF"/>
                          </a:solidFill>
                          <a:latin typeface="Consolas"/>
                        </a:rPr>
                        <a:t>Auditor</a:t>
                      </a:r>
                    </a:p>
                  </a:txBody>
                  <a:tcPr marL="54864" marR="54864" marT="18288" marB="18288">
                    <a:solidFill>
                      <a:srgbClr val="0718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00C8FF"/>
                          </a:solidFill>
                          <a:latin typeface="Consolas"/>
                        </a:rPr>
                        <a:t>Hold</a:t>
                      </a:r>
                    </a:p>
                  </a:txBody>
                  <a:tcPr marL="54864" marR="54864" marT="18288" marB="18288">
                    <a:solidFill>
                      <a:srgbClr val="0718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00C8FF"/>
                          </a:solidFill>
                          <a:latin typeface="Consolas"/>
                        </a:rPr>
                        <a:t>Repair</a:t>
                      </a:r>
                    </a:p>
                  </a:txBody>
                  <a:tcPr marL="54864" marR="54864" marT="18288" marB="18288">
                    <a:solidFill>
                      <a:srgbClr val="0718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00C8FF"/>
                          </a:solidFill>
                          <a:latin typeface="Consolas"/>
                        </a:rPr>
                        <a:t>Fix</a:t>
                      </a:r>
                    </a:p>
                  </a:txBody>
                  <a:tcPr marL="54864" marR="54864" marT="18288" marB="18288">
                    <a:solidFill>
                      <a:srgbClr val="071827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00C8FF"/>
                          </a:solidFill>
                          <a:latin typeface="Consolas"/>
                        </a:rPr>
                        <a:t>S-06</a:t>
                      </a:r>
                    </a:p>
                  </a:txBody>
                  <a:tcPr marL="54864" marR="54864" marT="18288" marB="18288">
                    <a:solidFill>
                      <a:srgbClr val="0A22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00C8FF"/>
                          </a:solidFill>
                          <a:latin typeface="Consolas"/>
                        </a:rPr>
                        <a:t>Author</a:t>
                      </a:r>
                    </a:p>
                  </a:txBody>
                  <a:tcPr marL="54864" marR="54864" marT="18288" marB="18288">
                    <a:solidFill>
                      <a:srgbClr val="0A22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00C8FF"/>
                          </a:solidFill>
                          <a:latin typeface="Consolas"/>
                        </a:rPr>
                        <a:t>Ready</a:t>
                      </a:r>
                    </a:p>
                  </a:txBody>
                  <a:tcPr marL="54864" marR="54864" marT="18288" marB="18288">
                    <a:solidFill>
                      <a:srgbClr val="0A22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00C8FF"/>
                          </a:solidFill>
                          <a:latin typeface="Consolas"/>
                        </a:rPr>
                        <a:t>Pass</a:t>
                      </a:r>
                    </a:p>
                  </a:txBody>
                  <a:tcPr marL="54864" marR="54864" marT="18288" marB="18288">
                    <a:solidFill>
                      <a:srgbClr val="0A22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00C8FF"/>
                          </a:solidFill>
                          <a:latin typeface="Consolas"/>
                        </a:rPr>
                        <a:t>Ship</a:t>
                      </a:r>
                    </a:p>
                  </a:txBody>
                  <a:tcPr marL="54864" marR="54864" marT="18288" marB="18288">
                    <a:solidFill>
                      <a:srgbClr val="0A2236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00C8FF"/>
                          </a:solidFill>
                          <a:latin typeface="Consolas"/>
                        </a:rPr>
                        <a:t>S-07</a:t>
                      </a:r>
                    </a:p>
                  </a:txBody>
                  <a:tcPr marL="54864" marR="54864" marT="18288" marB="18288">
                    <a:solidFill>
                      <a:srgbClr val="0718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00C8FF"/>
                          </a:solidFill>
                          <a:latin typeface="Consolas"/>
                        </a:rPr>
                        <a:t>Reviewer</a:t>
                      </a:r>
                    </a:p>
                  </a:txBody>
                  <a:tcPr marL="54864" marR="54864" marT="18288" marB="18288">
                    <a:solidFill>
                      <a:srgbClr val="0718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00C8FF"/>
                          </a:solidFill>
                          <a:latin typeface="Consolas"/>
                        </a:rPr>
                        <a:t>Watch</a:t>
                      </a:r>
                    </a:p>
                  </a:txBody>
                  <a:tcPr marL="54864" marR="54864" marT="18288" marB="18288">
                    <a:solidFill>
                      <a:srgbClr val="0718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00C8FF"/>
                          </a:solidFill>
                          <a:latin typeface="Consolas"/>
                        </a:rPr>
                        <a:t>Review</a:t>
                      </a:r>
                    </a:p>
                  </a:txBody>
                  <a:tcPr marL="54864" marR="54864" marT="18288" marB="18288">
                    <a:solidFill>
                      <a:srgbClr val="0718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00C8FF"/>
                          </a:solidFill>
                          <a:latin typeface="Consolas"/>
                        </a:rPr>
                        <a:t>Check</a:t>
                      </a:r>
                    </a:p>
                  </a:txBody>
                  <a:tcPr marL="54864" marR="54864" marT="18288" marB="18288">
                    <a:solidFill>
                      <a:srgbClr val="071827"/>
                    </a:solidFill>
                  </a:tcPr>
                </a:tc>
              </a:tr>
            </a:tbl>
          </a:graphicData>
        </a:graphic>
      </p:graphicFrame>
      <p:sp>
        <p:nvSpPr>
          <p:cNvPr id="31" name="risk-dot-0"/>
          <p:cNvSpPr/>
          <p:nvPr/>
        </p:nvSpPr>
        <p:spPr>
          <a:xfrm>
            <a:off x="9308592" y="1746504"/>
            <a:ext cx="164592" cy="164592"/>
          </a:xfrm>
          <a:prstGeom prst="ellipse">
            <a:avLst/>
          </a:prstGeom>
          <a:solidFill>
            <a:srgbClr val="00C8FF"/>
          </a:solidFill>
          <a:ln w="1016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isk-dot-1"/>
          <p:cNvSpPr/>
          <p:nvPr/>
        </p:nvSpPr>
        <p:spPr>
          <a:xfrm>
            <a:off x="9308592" y="2276856"/>
            <a:ext cx="164592" cy="164592"/>
          </a:xfrm>
          <a:prstGeom prst="ellipse">
            <a:avLst/>
          </a:prstGeom>
          <a:solidFill>
            <a:srgbClr val="00C8FF"/>
          </a:solidFill>
          <a:ln w="1016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isk-dot-2"/>
          <p:cNvSpPr/>
          <p:nvPr/>
        </p:nvSpPr>
        <p:spPr>
          <a:xfrm>
            <a:off x="9308592" y="2807208"/>
            <a:ext cx="164592" cy="164592"/>
          </a:xfrm>
          <a:prstGeom prst="ellipse">
            <a:avLst/>
          </a:prstGeom>
          <a:solidFill>
            <a:srgbClr val="00C8FF"/>
          </a:solidFill>
          <a:ln w="1016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isk-dot-3"/>
          <p:cNvSpPr/>
          <p:nvPr/>
        </p:nvSpPr>
        <p:spPr>
          <a:xfrm>
            <a:off x="9308592" y="3337560"/>
            <a:ext cx="164592" cy="164592"/>
          </a:xfrm>
          <a:prstGeom prst="ellipse">
            <a:avLst/>
          </a:prstGeom>
          <a:solidFill>
            <a:srgbClr val="00C8FF"/>
          </a:solidFill>
          <a:ln w="1016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isk-dot-4"/>
          <p:cNvSpPr/>
          <p:nvPr/>
        </p:nvSpPr>
        <p:spPr>
          <a:xfrm>
            <a:off x="9308592" y="3867912"/>
            <a:ext cx="164592" cy="164592"/>
          </a:xfrm>
          <a:prstGeom prst="ellipse">
            <a:avLst/>
          </a:prstGeom>
          <a:solidFill>
            <a:srgbClr val="00C8FF"/>
          </a:solidFill>
          <a:ln w="1016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isk-dot-5"/>
          <p:cNvSpPr/>
          <p:nvPr/>
        </p:nvSpPr>
        <p:spPr>
          <a:xfrm>
            <a:off x="9308592" y="4398264"/>
            <a:ext cx="164592" cy="164592"/>
          </a:xfrm>
          <a:prstGeom prst="ellipse">
            <a:avLst/>
          </a:prstGeom>
          <a:solidFill>
            <a:srgbClr val="00C8FF"/>
          </a:solidFill>
          <a:ln w="1016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progress-fill"/>
          <p:cNvSpPr/>
          <p:nvPr/>
        </p:nvSpPr>
        <p:spPr>
          <a:xfrm>
            <a:off x="2249424" y="5687568"/>
            <a:ext cx="7406640" cy="384048"/>
          </a:xfrm>
          <a:prstGeom prst="roundRect">
            <a:avLst/>
          </a:prstGeom>
          <a:solidFill>
            <a:srgbClr val="00C8FF"/>
          </a:solidFill>
          <a:ln w="1016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profile-tag"/>
          <p:cNvSpPr txBox="1"/>
          <p:nvPr/>
        </p:nvSpPr>
        <p:spPr>
          <a:xfrm>
            <a:off x="457200" y="201168"/>
            <a:ext cx="768096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1" lang="en-US">
                <a:solidFill>
                  <a:srgbClr val="00C8FF"/>
                </a:solidFill>
                <a:latin typeface="Consolas"/>
              </a:rPr>
              <a:t>V3 STRESS SUITE  ·  SCIFI HOLOGRAPHIC DATA  ·  CONTROL ROOM</a:t>
            </a:r>
          </a:p>
        </p:txBody>
      </p:sp>
      <p:sp>
        <p:nvSpPr>
          <p:cNvPr id="39" name="slide-index"/>
          <p:cNvSpPr txBox="1"/>
          <p:nvPr/>
        </p:nvSpPr>
        <p:spPr>
          <a:xfrm>
            <a:off x="10808208" y="201168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00" b="1" lang="en-US">
                <a:solidFill>
                  <a:srgbClr val="7DCEEA"/>
                </a:solidFill>
                <a:latin typeface="Consolas"/>
              </a:rPr>
              <a:t>56/60</a:t>
            </a:r>
          </a:p>
        </p:txBody>
      </p:sp>
      <p:sp>
        <p:nvSpPr>
          <p:cNvPr id="40" name="title"/>
          <p:cNvSpPr txBox="1"/>
          <p:nvPr/>
        </p:nvSpPr>
        <p:spPr>
          <a:xfrm>
            <a:off x="457200" y="484632"/>
            <a:ext cx="11274552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200" b="1" lang="en-US">
                <a:solidFill>
                  <a:srgbClr val="00C8FF"/>
                </a:solidFill>
                <a:latin typeface="Consolas"/>
              </a:rPr>
              <a:t>Control room layouts keep dense delivery signals governable</a:t>
            </a:r>
          </a:p>
        </p:txBody>
      </p:sp>
      <p:sp>
        <p:nvSpPr>
          <p:cNvPr id="41" name="footer"/>
          <p:cNvSpPr txBox="1"/>
          <p:nvPr/>
        </p:nvSpPr>
        <p:spPr>
          <a:xfrm>
            <a:off x="457200" y="6473952"/>
            <a:ext cx="1051560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0" lang="en-US">
                <a:solidFill>
                  <a:srgbClr val="7DCEEA"/>
                </a:solidFill>
                <a:latin typeface="Consolas"/>
              </a:rPr>
              <a:t>Native-object stress fixture · monochromatic cyan rings, scan line, and precision data labels · editable geometry and recorded style lock</a:t>
            </a:r>
          </a:p>
        </p:txBody>
      </p:sp>
      <p:sp>
        <p:nvSpPr>
          <p:cNvPr id="42" name="nav-title"/>
          <p:cNvSpPr txBox="1"/>
          <p:nvPr/>
        </p:nvSpPr>
        <p:spPr>
          <a:xfrm>
            <a:off x="667512" y="1298448"/>
            <a:ext cx="1078992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1" lang="en-US">
                <a:solidFill>
                  <a:srgbClr val="00C8FF"/>
                </a:solidFill>
                <a:latin typeface="Consolas"/>
              </a:rPr>
              <a:t>CONTROL
PLANES</a:t>
            </a:r>
          </a:p>
        </p:txBody>
      </p:sp>
      <p:sp>
        <p:nvSpPr>
          <p:cNvPr id="43" name="nav-label-0"/>
          <p:cNvSpPr txBox="1"/>
          <p:nvPr/>
        </p:nvSpPr>
        <p:spPr>
          <a:xfrm>
            <a:off x="749808" y="1965960"/>
            <a:ext cx="932688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1" lang="en-US">
                <a:solidFill>
                  <a:srgbClr val="111111"/>
                </a:solidFill>
                <a:latin typeface="Consolas"/>
              </a:rPr>
              <a:t>INBOX</a:t>
            </a:r>
          </a:p>
        </p:txBody>
      </p:sp>
      <p:sp>
        <p:nvSpPr>
          <p:cNvPr id="44" name="nav-label-1"/>
          <p:cNvSpPr txBox="1"/>
          <p:nvPr/>
        </p:nvSpPr>
        <p:spPr>
          <a:xfrm>
            <a:off x="749808" y="2478024"/>
            <a:ext cx="932688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0" lang="en-US">
                <a:solidFill>
                  <a:srgbClr val="00C8FF"/>
                </a:solidFill>
                <a:latin typeface="Consolas"/>
              </a:rPr>
              <a:t>SIGNALS</a:t>
            </a:r>
          </a:p>
        </p:txBody>
      </p:sp>
      <p:sp>
        <p:nvSpPr>
          <p:cNvPr id="45" name="nav-label-2"/>
          <p:cNvSpPr txBox="1"/>
          <p:nvPr/>
        </p:nvSpPr>
        <p:spPr>
          <a:xfrm>
            <a:off x="749808" y="2990088"/>
            <a:ext cx="932688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0" lang="en-US">
                <a:solidFill>
                  <a:srgbClr val="00C8FF"/>
                </a:solidFill>
                <a:latin typeface="Consolas"/>
              </a:rPr>
              <a:t>EVIDENCE</a:t>
            </a:r>
          </a:p>
        </p:txBody>
      </p:sp>
      <p:sp>
        <p:nvSpPr>
          <p:cNvPr id="46" name="nav-label-3"/>
          <p:cNvSpPr txBox="1"/>
          <p:nvPr/>
        </p:nvSpPr>
        <p:spPr>
          <a:xfrm>
            <a:off x="749808" y="3502152"/>
            <a:ext cx="932688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0" lang="en-US">
                <a:solidFill>
                  <a:srgbClr val="00C8FF"/>
                </a:solidFill>
                <a:latin typeface="Consolas"/>
              </a:rPr>
              <a:t>POLICY</a:t>
            </a:r>
          </a:p>
        </p:txBody>
      </p:sp>
      <p:sp>
        <p:nvSpPr>
          <p:cNvPr id="47" name="nav-label-4"/>
          <p:cNvSpPr txBox="1"/>
          <p:nvPr/>
        </p:nvSpPr>
        <p:spPr>
          <a:xfrm>
            <a:off x="749808" y="4014215"/>
            <a:ext cx="932688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0" lang="en-US">
                <a:solidFill>
                  <a:srgbClr val="00C8FF"/>
                </a:solidFill>
                <a:latin typeface="Consolas"/>
              </a:rPr>
              <a:t>REPAIR</a:t>
            </a:r>
          </a:p>
        </p:txBody>
      </p:sp>
      <p:sp>
        <p:nvSpPr>
          <p:cNvPr id="48" name="nav-label-5"/>
          <p:cNvSpPr txBox="1"/>
          <p:nvPr/>
        </p:nvSpPr>
        <p:spPr>
          <a:xfrm>
            <a:off x="749808" y="4526280"/>
            <a:ext cx="932688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0" lang="en-US">
                <a:solidFill>
                  <a:srgbClr val="00C8FF"/>
                </a:solidFill>
                <a:latin typeface="Consolas"/>
              </a:rPr>
              <a:t>RELEASE</a:t>
            </a:r>
          </a:p>
        </p:txBody>
      </p:sp>
      <p:sp>
        <p:nvSpPr>
          <p:cNvPr id="49" name="nav-label-6"/>
          <p:cNvSpPr txBox="1"/>
          <p:nvPr/>
        </p:nvSpPr>
        <p:spPr>
          <a:xfrm>
            <a:off x="749808" y="5038344"/>
            <a:ext cx="932688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0" lang="en-US">
                <a:solidFill>
                  <a:srgbClr val="00C8FF"/>
                </a:solidFill>
                <a:latin typeface="Consolas"/>
              </a:rPr>
              <a:t>ARCHIVE</a:t>
            </a:r>
          </a:p>
        </p:txBody>
      </p:sp>
      <p:sp>
        <p:nvSpPr>
          <p:cNvPr id="50" name="metric-v-0"/>
          <p:cNvSpPr txBox="1"/>
          <p:nvPr/>
        </p:nvSpPr>
        <p:spPr>
          <a:xfrm>
            <a:off x="2432304" y="1234440"/>
            <a:ext cx="80467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lang="en-US">
                <a:solidFill>
                  <a:srgbClr val="00C8FF"/>
                </a:solidFill>
                <a:latin typeface="Consolas"/>
              </a:rPr>
              <a:t>48</a:t>
            </a:r>
          </a:p>
        </p:txBody>
      </p:sp>
      <p:sp>
        <p:nvSpPr>
          <p:cNvPr id="51" name="metric-l-0"/>
          <p:cNvSpPr txBox="1"/>
          <p:nvPr/>
        </p:nvSpPr>
        <p:spPr>
          <a:xfrm>
            <a:off x="2359152" y="1581912"/>
            <a:ext cx="932688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7DCEEA"/>
                </a:solidFill>
                <a:latin typeface="Consolas"/>
              </a:rPr>
              <a:t>WORK</a:t>
            </a:r>
          </a:p>
        </p:txBody>
      </p:sp>
      <p:sp>
        <p:nvSpPr>
          <p:cNvPr id="52" name="metric-v-1"/>
          <p:cNvSpPr txBox="1"/>
          <p:nvPr/>
        </p:nvSpPr>
        <p:spPr>
          <a:xfrm>
            <a:off x="3739896" y="1234440"/>
            <a:ext cx="80467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lang="en-US">
                <a:solidFill>
                  <a:srgbClr val="00C8FF"/>
                </a:solidFill>
                <a:latin typeface="Consolas"/>
              </a:rPr>
              <a:t>06</a:t>
            </a:r>
          </a:p>
        </p:txBody>
      </p:sp>
      <p:sp>
        <p:nvSpPr>
          <p:cNvPr id="53" name="metric-l-1"/>
          <p:cNvSpPr txBox="1"/>
          <p:nvPr/>
        </p:nvSpPr>
        <p:spPr>
          <a:xfrm>
            <a:off x="3666744" y="1581912"/>
            <a:ext cx="932688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7DCEEA"/>
                </a:solidFill>
                <a:latin typeface="Consolas"/>
              </a:rPr>
              <a:t>FLAGS</a:t>
            </a:r>
          </a:p>
        </p:txBody>
      </p:sp>
      <p:sp>
        <p:nvSpPr>
          <p:cNvPr id="54" name="metric-v-2"/>
          <p:cNvSpPr txBox="1"/>
          <p:nvPr/>
        </p:nvSpPr>
        <p:spPr>
          <a:xfrm>
            <a:off x="5047488" y="1234440"/>
            <a:ext cx="80467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lang="en-US">
                <a:solidFill>
                  <a:srgbClr val="00C8FF"/>
                </a:solidFill>
                <a:latin typeface="Consolas"/>
              </a:rPr>
              <a:t>31</a:t>
            </a:r>
          </a:p>
        </p:txBody>
      </p:sp>
      <p:sp>
        <p:nvSpPr>
          <p:cNvPr id="55" name="metric-l-2"/>
          <p:cNvSpPr txBox="1"/>
          <p:nvPr/>
        </p:nvSpPr>
        <p:spPr>
          <a:xfrm>
            <a:off x="4974336" y="1581912"/>
            <a:ext cx="932688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7DCEEA"/>
                </a:solidFill>
                <a:latin typeface="Consolas"/>
              </a:rPr>
              <a:t>READY</a:t>
            </a:r>
          </a:p>
        </p:txBody>
      </p:sp>
      <p:sp>
        <p:nvSpPr>
          <p:cNvPr id="56" name="metric-v-3"/>
          <p:cNvSpPr txBox="1"/>
          <p:nvPr/>
        </p:nvSpPr>
        <p:spPr>
          <a:xfrm>
            <a:off x="6355080" y="1234440"/>
            <a:ext cx="80467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lang="en-US">
                <a:solidFill>
                  <a:srgbClr val="00C8FF"/>
                </a:solidFill>
                <a:latin typeface="Consolas"/>
              </a:rPr>
              <a:t>04</a:t>
            </a:r>
          </a:p>
        </p:txBody>
      </p:sp>
      <p:sp>
        <p:nvSpPr>
          <p:cNvPr id="57" name="metric-l-3"/>
          <p:cNvSpPr txBox="1"/>
          <p:nvPr/>
        </p:nvSpPr>
        <p:spPr>
          <a:xfrm>
            <a:off x="6281928" y="1581912"/>
            <a:ext cx="932688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7DCEEA"/>
                </a:solidFill>
                <a:latin typeface="Consolas"/>
              </a:rPr>
              <a:t>HOLD</a:t>
            </a:r>
          </a:p>
        </p:txBody>
      </p:sp>
      <p:sp>
        <p:nvSpPr>
          <p:cNvPr id="58" name="metric-v-4"/>
          <p:cNvSpPr txBox="1"/>
          <p:nvPr/>
        </p:nvSpPr>
        <p:spPr>
          <a:xfrm>
            <a:off x="7662672" y="1234440"/>
            <a:ext cx="80467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lang="en-US">
                <a:solidFill>
                  <a:srgbClr val="00C8FF"/>
                </a:solidFill>
                <a:latin typeface="Consolas"/>
              </a:rPr>
              <a:t>12</a:t>
            </a:r>
          </a:p>
        </p:txBody>
      </p:sp>
      <p:sp>
        <p:nvSpPr>
          <p:cNvPr id="59" name="metric-l-4"/>
          <p:cNvSpPr txBox="1"/>
          <p:nvPr/>
        </p:nvSpPr>
        <p:spPr>
          <a:xfrm>
            <a:off x="7589520" y="1581912"/>
            <a:ext cx="932688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7DCEEA"/>
                </a:solidFill>
                <a:latin typeface="Consolas"/>
              </a:rPr>
              <a:t>STYLE</a:t>
            </a:r>
          </a:p>
        </p:txBody>
      </p:sp>
      <p:sp>
        <p:nvSpPr>
          <p:cNvPr id="60" name="risk-title"/>
          <p:cNvSpPr txBox="1"/>
          <p:nvPr/>
        </p:nvSpPr>
        <p:spPr>
          <a:xfrm>
            <a:off x="9308592" y="1298448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1" lang="en-US">
                <a:solidFill>
                  <a:srgbClr val="00C8FF"/>
                </a:solidFill>
                <a:latin typeface="Consolas"/>
              </a:rPr>
              <a:t>LIVE REVIEW QUEUE</a:t>
            </a:r>
          </a:p>
        </p:txBody>
      </p:sp>
      <p:sp>
        <p:nvSpPr>
          <p:cNvPr id="61" name="risk-label-0"/>
          <p:cNvSpPr txBox="1"/>
          <p:nvPr/>
        </p:nvSpPr>
        <p:spPr>
          <a:xfrm>
            <a:off x="9619488" y="1691640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50" b="1" lang="en-US">
                <a:solidFill>
                  <a:srgbClr val="00C8FF"/>
                </a:solidFill>
                <a:latin typeface="Consolas"/>
              </a:rPr>
              <a:t>Scope stable</a:t>
            </a:r>
          </a:p>
        </p:txBody>
      </p:sp>
      <p:sp>
        <p:nvSpPr>
          <p:cNvPr id="62" name="risk-state-0"/>
          <p:cNvSpPr txBox="1"/>
          <p:nvPr/>
        </p:nvSpPr>
        <p:spPr>
          <a:xfrm>
            <a:off x="10972800" y="169164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00" b="1" lang="en-US">
                <a:solidFill>
                  <a:srgbClr val="00C8FF"/>
                </a:solidFill>
                <a:latin typeface="Consolas"/>
              </a:rPr>
              <a:t>WATCH</a:t>
            </a:r>
          </a:p>
        </p:txBody>
      </p:sp>
      <p:sp>
        <p:nvSpPr>
          <p:cNvPr id="63" name="risk-label-1"/>
          <p:cNvSpPr txBox="1"/>
          <p:nvPr/>
        </p:nvSpPr>
        <p:spPr>
          <a:xfrm>
            <a:off x="9619488" y="2221992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50" b="1" lang="en-US">
                <a:solidFill>
                  <a:srgbClr val="00C8FF"/>
                </a:solidFill>
                <a:latin typeface="Consolas"/>
              </a:rPr>
              <a:t>Text capacity</a:t>
            </a:r>
          </a:p>
        </p:txBody>
      </p:sp>
      <p:sp>
        <p:nvSpPr>
          <p:cNvPr id="64" name="risk-state-1"/>
          <p:cNvSpPr txBox="1"/>
          <p:nvPr/>
        </p:nvSpPr>
        <p:spPr>
          <a:xfrm>
            <a:off x="10972800" y="2221992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00" b="1" lang="en-US">
                <a:solidFill>
                  <a:srgbClr val="00C8FF"/>
                </a:solidFill>
                <a:latin typeface="Consolas"/>
              </a:rPr>
              <a:t>WATCH</a:t>
            </a:r>
          </a:p>
        </p:txBody>
      </p:sp>
      <p:sp>
        <p:nvSpPr>
          <p:cNvPr id="65" name="risk-label-2"/>
          <p:cNvSpPr txBox="1"/>
          <p:nvPr/>
        </p:nvSpPr>
        <p:spPr>
          <a:xfrm>
            <a:off x="9619488" y="2752344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50" b="1" lang="en-US">
                <a:solidFill>
                  <a:srgbClr val="00C8FF"/>
                </a:solidFill>
                <a:latin typeface="Consolas"/>
              </a:rPr>
              <a:t>Contrast check</a:t>
            </a:r>
          </a:p>
        </p:txBody>
      </p:sp>
      <p:sp>
        <p:nvSpPr>
          <p:cNvPr id="66" name="risk-state-2"/>
          <p:cNvSpPr txBox="1"/>
          <p:nvPr/>
        </p:nvSpPr>
        <p:spPr>
          <a:xfrm>
            <a:off x="10972800" y="275234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00" b="1" lang="en-US">
                <a:solidFill>
                  <a:srgbClr val="00C8FF"/>
                </a:solidFill>
                <a:latin typeface="Consolas"/>
              </a:rPr>
              <a:t>WATCH</a:t>
            </a:r>
          </a:p>
        </p:txBody>
      </p:sp>
      <p:sp>
        <p:nvSpPr>
          <p:cNvPr id="67" name="risk-label-3"/>
          <p:cNvSpPr txBox="1"/>
          <p:nvPr/>
        </p:nvSpPr>
        <p:spPr>
          <a:xfrm>
            <a:off x="9619488" y="3282696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50" b="1" lang="en-US">
                <a:solidFill>
                  <a:srgbClr val="00C8FF"/>
                </a:solidFill>
                <a:latin typeface="Consolas"/>
              </a:rPr>
              <a:t>Table fit</a:t>
            </a:r>
          </a:p>
        </p:txBody>
      </p:sp>
      <p:sp>
        <p:nvSpPr>
          <p:cNvPr id="68" name="risk-state-3"/>
          <p:cNvSpPr txBox="1"/>
          <p:nvPr/>
        </p:nvSpPr>
        <p:spPr>
          <a:xfrm>
            <a:off x="10972800" y="3282696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00" b="1" lang="en-US">
                <a:solidFill>
                  <a:srgbClr val="00C8FF"/>
                </a:solidFill>
                <a:latin typeface="Consolas"/>
              </a:rPr>
              <a:t>WATCH</a:t>
            </a:r>
          </a:p>
        </p:txBody>
      </p:sp>
      <p:sp>
        <p:nvSpPr>
          <p:cNvPr id="69" name="risk-label-4"/>
          <p:cNvSpPr txBox="1"/>
          <p:nvPr/>
        </p:nvSpPr>
        <p:spPr>
          <a:xfrm>
            <a:off x="9619488" y="3813048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50" b="1" lang="en-US">
                <a:solidFill>
                  <a:srgbClr val="00C8FF"/>
                </a:solidFill>
                <a:latin typeface="Consolas"/>
              </a:rPr>
              <a:t>Read order</a:t>
            </a:r>
          </a:p>
        </p:txBody>
      </p:sp>
      <p:sp>
        <p:nvSpPr>
          <p:cNvPr id="70" name="risk-state-4"/>
          <p:cNvSpPr txBox="1"/>
          <p:nvPr/>
        </p:nvSpPr>
        <p:spPr>
          <a:xfrm>
            <a:off x="10972800" y="3813048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00" b="1" lang="en-US">
                <a:solidFill>
                  <a:srgbClr val="00C8FF"/>
                </a:solidFill>
                <a:latin typeface="Consolas"/>
              </a:rPr>
              <a:t>WATCH</a:t>
            </a:r>
          </a:p>
        </p:txBody>
      </p:sp>
      <p:sp>
        <p:nvSpPr>
          <p:cNvPr id="71" name="risk-label-5"/>
          <p:cNvSpPr txBox="1"/>
          <p:nvPr/>
        </p:nvSpPr>
        <p:spPr>
          <a:xfrm>
            <a:off x="9619488" y="4343400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50" b="1" lang="en-US">
                <a:solidFill>
                  <a:srgbClr val="00C8FF"/>
                </a:solidFill>
                <a:latin typeface="Consolas"/>
              </a:rPr>
              <a:t>Package</a:t>
            </a:r>
          </a:p>
        </p:txBody>
      </p:sp>
      <p:sp>
        <p:nvSpPr>
          <p:cNvPr id="72" name="risk-state-5"/>
          <p:cNvSpPr txBox="1"/>
          <p:nvPr/>
        </p:nvSpPr>
        <p:spPr>
          <a:xfrm>
            <a:off x="10972800" y="434340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00" b="1" lang="en-US">
                <a:solidFill>
                  <a:srgbClr val="00C8FF"/>
                </a:solidFill>
                <a:latin typeface="Consolas"/>
              </a:rPr>
              <a:t>WATCH</a:t>
            </a:r>
          </a:p>
        </p:txBody>
      </p:sp>
      <p:sp>
        <p:nvSpPr>
          <p:cNvPr id="73" name="progress-label"/>
          <p:cNvSpPr txBox="1"/>
          <p:nvPr/>
        </p:nvSpPr>
        <p:spPr>
          <a:xfrm>
            <a:off x="2468880" y="5788152"/>
            <a:ext cx="886968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50" b="1" lang="en-US">
                <a:solidFill>
                  <a:srgbClr val="111111"/>
                </a:solidFill>
                <a:latin typeface="Consolas"/>
              </a:rPr>
              <a:t>Stress workload: 78% complete · 12 profiles locked · 0 geometry regressions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50D"/>
          </a:solidFill>
          <a:ln w="10160">
            <a:solidFill>
              <a:srgbClr val="0305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olo-ring-0"/>
          <p:cNvSpPr/>
          <p:nvPr/>
        </p:nvSpPr>
        <p:spPr>
          <a:xfrm>
            <a:off x="7863840" y="1874519"/>
            <a:ext cx="3291840" cy="3291840"/>
          </a:xfrm>
          <a:prstGeom prst="ellipse">
            <a:avLst/>
          </a:prstGeom>
          <a:solidFill>
            <a:srgbClr val="03050D"/>
          </a:solidFill>
          <a:ln w="1016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olo-ring-1"/>
          <p:cNvSpPr/>
          <p:nvPr/>
        </p:nvSpPr>
        <p:spPr>
          <a:xfrm>
            <a:off x="8366760" y="2377440"/>
            <a:ext cx="2286000" cy="2286000"/>
          </a:xfrm>
          <a:prstGeom prst="ellipse">
            <a:avLst/>
          </a:prstGeom>
          <a:solidFill>
            <a:srgbClr val="03050D"/>
          </a:solidFill>
          <a:ln w="1016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holo-ring-2"/>
          <p:cNvSpPr/>
          <p:nvPr/>
        </p:nvSpPr>
        <p:spPr>
          <a:xfrm>
            <a:off x="8869680" y="2880360"/>
            <a:ext cx="1280160" cy="1280160"/>
          </a:xfrm>
          <a:prstGeom prst="ellipse">
            <a:avLst/>
          </a:prstGeom>
          <a:solidFill>
            <a:srgbClr val="03050D"/>
          </a:solidFill>
          <a:ln w="1016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op-band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C8FF"/>
          </a:solidFill>
          <a:ln w="1016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mesh-shell"/>
          <p:cNvSpPr/>
          <p:nvPr/>
        </p:nvSpPr>
        <p:spPr>
          <a:xfrm>
            <a:off x="457200" y="1078992"/>
            <a:ext cx="7360920" cy="5029200"/>
          </a:xfrm>
          <a:prstGeom prst="rect">
            <a:avLst/>
          </a:prstGeom>
          <a:solidFill>
            <a:srgbClr val="0A2236"/>
          </a:solidFill>
          <a:ln w="10160">
            <a:solidFill>
              <a:srgbClr val="1751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mesh-rail-shell"/>
          <p:cNvSpPr/>
          <p:nvPr/>
        </p:nvSpPr>
        <p:spPr>
          <a:xfrm>
            <a:off x="8092440" y="1078992"/>
            <a:ext cx="3639312" cy="5029200"/>
          </a:xfrm>
          <a:prstGeom prst="rect">
            <a:avLst/>
          </a:prstGeom>
          <a:solidFill>
            <a:srgbClr val="071827"/>
          </a:solidFill>
          <a:ln w="10160">
            <a:solidFill>
              <a:srgbClr val="1751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holo-scan"/>
          <p:cNvSpPr/>
          <p:nvPr/>
        </p:nvSpPr>
        <p:spPr>
          <a:xfrm>
            <a:off x="7818120" y="3511296"/>
            <a:ext cx="3840480" cy="22860"/>
          </a:xfrm>
          <a:prstGeom prst="rect">
            <a:avLst/>
          </a:prstGeom>
          <a:solidFill>
            <a:srgbClr val="00C8FF"/>
          </a:solidFill>
          <a:ln w="1016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mesh-accent"/>
          <p:cNvSpPr/>
          <p:nvPr/>
        </p:nvSpPr>
        <p:spPr>
          <a:xfrm>
            <a:off x="457200" y="1078992"/>
            <a:ext cx="73152" cy="5029200"/>
          </a:xfrm>
          <a:prstGeom prst="rect">
            <a:avLst/>
          </a:prstGeom>
          <a:solidFill>
            <a:srgbClr val="00C8FF"/>
          </a:solidFill>
          <a:ln w="1016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mesh-edge-0"/>
          <p:cNvCxnSpPr/>
          <p:nvPr/>
        </p:nvCxnSpPr>
        <p:spPr>
          <a:xfrm flipV="1">
            <a:off x="1618488" y="1920240"/>
            <a:ext cx="1828800" cy="320040"/>
          </a:xfrm>
          <a:prstGeom prst="line">
            <a:avLst/>
          </a:prstGeom>
          <a:ln w="13970">
            <a:solidFill>
              <a:srgbClr val="1751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mesh-edge-1"/>
          <p:cNvCxnSpPr/>
          <p:nvPr/>
        </p:nvCxnSpPr>
        <p:spPr>
          <a:xfrm>
            <a:off x="3447288" y="1920240"/>
            <a:ext cx="1920240" cy="320040"/>
          </a:xfrm>
          <a:prstGeom prst="line">
            <a:avLst/>
          </a:prstGeom>
          <a:ln w="13970">
            <a:solidFill>
              <a:srgbClr val="1751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mesh-edge-2"/>
          <p:cNvCxnSpPr/>
          <p:nvPr/>
        </p:nvCxnSpPr>
        <p:spPr>
          <a:xfrm>
            <a:off x="1618488" y="2240280"/>
            <a:ext cx="868680" cy="1325880"/>
          </a:xfrm>
          <a:prstGeom prst="line">
            <a:avLst/>
          </a:prstGeom>
          <a:ln w="13970">
            <a:solidFill>
              <a:srgbClr val="1751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mesh-edge-3"/>
          <p:cNvCxnSpPr/>
          <p:nvPr/>
        </p:nvCxnSpPr>
        <p:spPr>
          <a:xfrm flipH="1">
            <a:off x="2487168" y="1920240"/>
            <a:ext cx="960120" cy="1645920"/>
          </a:xfrm>
          <a:prstGeom prst="line">
            <a:avLst/>
          </a:prstGeom>
          <a:ln w="13970">
            <a:solidFill>
              <a:srgbClr val="1751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mesh-edge-4"/>
          <p:cNvCxnSpPr/>
          <p:nvPr/>
        </p:nvCxnSpPr>
        <p:spPr>
          <a:xfrm>
            <a:off x="3447288" y="1920240"/>
            <a:ext cx="1005840" cy="1307592"/>
          </a:xfrm>
          <a:prstGeom prst="line">
            <a:avLst/>
          </a:prstGeom>
          <a:ln w="13970">
            <a:solidFill>
              <a:srgbClr val="1751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mesh-edge-5"/>
          <p:cNvCxnSpPr/>
          <p:nvPr/>
        </p:nvCxnSpPr>
        <p:spPr>
          <a:xfrm flipH="1">
            <a:off x="4453128" y="2240280"/>
            <a:ext cx="914400" cy="987552"/>
          </a:xfrm>
          <a:prstGeom prst="line">
            <a:avLst/>
          </a:prstGeom>
          <a:ln w="13970">
            <a:solidFill>
              <a:srgbClr val="1751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mesh-edge-6"/>
          <p:cNvCxnSpPr/>
          <p:nvPr/>
        </p:nvCxnSpPr>
        <p:spPr>
          <a:xfrm>
            <a:off x="5367528" y="2240280"/>
            <a:ext cx="1005840" cy="1325880"/>
          </a:xfrm>
          <a:prstGeom prst="line">
            <a:avLst/>
          </a:prstGeom>
          <a:ln w="13970">
            <a:solidFill>
              <a:srgbClr val="1751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mesh-edge-7"/>
          <p:cNvCxnSpPr/>
          <p:nvPr/>
        </p:nvCxnSpPr>
        <p:spPr>
          <a:xfrm flipV="1">
            <a:off x="2487168" y="3227832"/>
            <a:ext cx="1965960" cy="338328"/>
          </a:xfrm>
          <a:prstGeom prst="line">
            <a:avLst/>
          </a:prstGeom>
          <a:ln w="13970">
            <a:solidFill>
              <a:srgbClr val="1751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mesh-edge-8"/>
          <p:cNvCxnSpPr/>
          <p:nvPr/>
        </p:nvCxnSpPr>
        <p:spPr>
          <a:xfrm>
            <a:off x="4453128" y="3227832"/>
            <a:ext cx="1920240" cy="338328"/>
          </a:xfrm>
          <a:prstGeom prst="line">
            <a:avLst/>
          </a:prstGeom>
          <a:ln w="13970">
            <a:solidFill>
              <a:srgbClr val="1751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mesh-edge-9"/>
          <p:cNvCxnSpPr/>
          <p:nvPr/>
        </p:nvCxnSpPr>
        <p:spPr>
          <a:xfrm>
            <a:off x="2487168" y="3566160"/>
            <a:ext cx="960120" cy="1325880"/>
          </a:xfrm>
          <a:prstGeom prst="line">
            <a:avLst/>
          </a:prstGeom>
          <a:ln w="13970">
            <a:solidFill>
              <a:srgbClr val="1751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mesh-edge-10"/>
          <p:cNvCxnSpPr/>
          <p:nvPr/>
        </p:nvCxnSpPr>
        <p:spPr>
          <a:xfrm flipH="1">
            <a:off x="3447288" y="3227832"/>
            <a:ext cx="1005840" cy="1664208"/>
          </a:xfrm>
          <a:prstGeom prst="line">
            <a:avLst/>
          </a:prstGeom>
          <a:ln w="13970">
            <a:solidFill>
              <a:srgbClr val="1751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mesh-edge-11"/>
          <p:cNvCxnSpPr/>
          <p:nvPr/>
        </p:nvCxnSpPr>
        <p:spPr>
          <a:xfrm>
            <a:off x="4453128" y="3227832"/>
            <a:ext cx="914400" cy="1664208"/>
          </a:xfrm>
          <a:prstGeom prst="line">
            <a:avLst/>
          </a:prstGeom>
          <a:ln w="13970">
            <a:solidFill>
              <a:srgbClr val="1751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mesh-edge-12"/>
          <p:cNvCxnSpPr/>
          <p:nvPr/>
        </p:nvCxnSpPr>
        <p:spPr>
          <a:xfrm flipH="1">
            <a:off x="5367528" y="3566160"/>
            <a:ext cx="1005840" cy="1325880"/>
          </a:xfrm>
          <a:prstGeom prst="line">
            <a:avLst/>
          </a:prstGeom>
          <a:ln w="13970">
            <a:solidFill>
              <a:srgbClr val="1751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mesh-edge-13"/>
          <p:cNvCxnSpPr/>
          <p:nvPr/>
        </p:nvCxnSpPr>
        <p:spPr>
          <a:xfrm>
            <a:off x="3447288" y="4892040"/>
            <a:ext cx="1920240" cy="0"/>
          </a:xfrm>
          <a:prstGeom prst="line">
            <a:avLst/>
          </a:prstGeom>
          <a:ln w="13970">
            <a:solidFill>
              <a:srgbClr val="1751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mesh-rail-accent"/>
          <p:cNvSpPr/>
          <p:nvPr/>
        </p:nvSpPr>
        <p:spPr>
          <a:xfrm>
            <a:off x="8092440" y="1078992"/>
            <a:ext cx="73152" cy="5029200"/>
          </a:xfrm>
          <a:prstGeom prst="rect">
            <a:avLst/>
          </a:prstGeom>
          <a:solidFill>
            <a:srgbClr val="00C8FF"/>
          </a:solidFill>
          <a:ln w="1016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trace-line-0"/>
          <p:cNvCxnSpPr/>
          <p:nvPr/>
        </p:nvCxnSpPr>
        <p:spPr>
          <a:xfrm>
            <a:off x="8577072" y="2029968"/>
            <a:ext cx="0" cy="164592"/>
          </a:xfrm>
          <a:prstGeom prst="line">
            <a:avLst/>
          </a:prstGeom>
          <a:ln w="1397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trace-line-1"/>
          <p:cNvCxnSpPr/>
          <p:nvPr/>
        </p:nvCxnSpPr>
        <p:spPr>
          <a:xfrm>
            <a:off x="8577072" y="2596896"/>
            <a:ext cx="0" cy="164592"/>
          </a:xfrm>
          <a:prstGeom prst="line">
            <a:avLst/>
          </a:prstGeom>
          <a:ln w="1397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trace-line-2"/>
          <p:cNvCxnSpPr/>
          <p:nvPr/>
        </p:nvCxnSpPr>
        <p:spPr>
          <a:xfrm>
            <a:off x="8577072" y="3163824"/>
            <a:ext cx="0" cy="164592"/>
          </a:xfrm>
          <a:prstGeom prst="line">
            <a:avLst/>
          </a:prstGeom>
          <a:ln w="1397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trace-line-3"/>
          <p:cNvCxnSpPr/>
          <p:nvPr/>
        </p:nvCxnSpPr>
        <p:spPr>
          <a:xfrm>
            <a:off x="8577072" y="3730752"/>
            <a:ext cx="0" cy="164592"/>
          </a:xfrm>
          <a:prstGeom prst="line">
            <a:avLst/>
          </a:prstGeom>
          <a:ln w="1397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trace-line-4"/>
          <p:cNvCxnSpPr/>
          <p:nvPr/>
        </p:nvCxnSpPr>
        <p:spPr>
          <a:xfrm>
            <a:off x="8577072" y="4297680"/>
            <a:ext cx="0" cy="164592"/>
          </a:xfrm>
          <a:prstGeom prst="line">
            <a:avLst/>
          </a:prstGeom>
          <a:ln w="1397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trace-line-5"/>
          <p:cNvCxnSpPr/>
          <p:nvPr/>
        </p:nvCxnSpPr>
        <p:spPr>
          <a:xfrm>
            <a:off x="8577072" y="4864608"/>
            <a:ext cx="0" cy="164592"/>
          </a:xfrm>
          <a:prstGeom prst="line">
            <a:avLst/>
          </a:prstGeom>
          <a:ln w="1397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mesh-node-0"/>
          <p:cNvSpPr/>
          <p:nvPr/>
        </p:nvSpPr>
        <p:spPr>
          <a:xfrm>
            <a:off x="1051560" y="1920240"/>
            <a:ext cx="1143000" cy="640080"/>
          </a:xfrm>
          <a:prstGeom prst="roundRect">
            <a:avLst/>
          </a:prstGeom>
          <a:solidFill>
            <a:srgbClr val="00C8FF"/>
          </a:solidFill>
          <a:ln w="1016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mesh-node-1"/>
          <p:cNvSpPr/>
          <p:nvPr/>
        </p:nvSpPr>
        <p:spPr>
          <a:xfrm>
            <a:off x="2880360" y="1600200"/>
            <a:ext cx="1143000" cy="640080"/>
          </a:xfrm>
          <a:prstGeom prst="roundRect">
            <a:avLst/>
          </a:prstGeom>
          <a:solidFill>
            <a:srgbClr val="00C8FF"/>
          </a:solidFill>
          <a:ln w="1016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mesh-node-2"/>
          <p:cNvSpPr/>
          <p:nvPr/>
        </p:nvSpPr>
        <p:spPr>
          <a:xfrm>
            <a:off x="4800600" y="1920240"/>
            <a:ext cx="1143000" cy="640080"/>
          </a:xfrm>
          <a:prstGeom prst="roundRect">
            <a:avLst/>
          </a:prstGeom>
          <a:solidFill>
            <a:srgbClr val="00C8FF"/>
          </a:solidFill>
          <a:ln w="1016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mesh-node-3"/>
          <p:cNvSpPr/>
          <p:nvPr/>
        </p:nvSpPr>
        <p:spPr>
          <a:xfrm>
            <a:off x="1920240" y="3246120"/>
            <a:ext cx="1143000" cy="640080"/>
          </a:xfrm>
          <a:prstGeom prst="roundRect">
            <a:avLst/>
          </a:prstGeom>
          <a:solidFill>
            <a:srgbClr val="00C8FF"/>
          </a:solidFill>
          <a:ln w="1016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mesh-node-4"/>
          <p:cNvSpPr/>
          <p:nvPr/>
        </p:nvSpPr>
        <p:spPr>
          <a:xfrm>
            <a:off x="3886200" y="2907792"/>
            <a:ext cx="1143000" cy="640080"/>
          </a:xfrm>
          <a:prstGeom prst="roundRect">
            <a:avLst/>
          </a:prstGeom>
          <a:solidFill>
            <a:srgbClr val="00C8FF"/>
          </a:solidFill>
          <a:ln w="1016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mesh-node-5"/>
          <p:cNvSpPr/>
          <p:nvPr/>
        </p:nvSpPr>
        <p:spPr>
          <a:xfrm>
            <a:off x="5806440" y="3246120"/>
            <a:ext cx="1143000" cy="640080"/>
          </a:xfrm>
          <a:prstGeom prst="roundRect">
            <a:avLst/>
          </a:prstGeom>
          <a:solidFill>
            <a:srgbClr val="00C8FF"/>
          </a:solidFill>
          <a:ln w="1016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mesh-node-6"/>
          <p:cNvSpPr/>
          <p:nvPr/>
        </p:nvSpPr>
        <p:spPr>
          <a:xfrm>
            <a:off x="2880360" y="4572000"/>
            <a:ext cx="1143000" cy="640080"/>
          </a:xfrm>
          <a:prstGeom prst="roundRect">
            <a:avLst/>
          </a:prstGeom>
          <a:solidFill>
            <a:srgbClr val="00C8FF"/>
          </a:solidFill>
          <a:ln w="1016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mesh-node-7"/>
          <p:cNvSpPr/>
          <p:nvPr/>
        </p:nvSpPr>
        <p:spPr>
          <a:xfrm>
            <a:off x="4800600" y="4572000"/>
            <a:ext cx="1143000" cy="640080"/>
          </a:xfrm>
          <a:prstGeom prst="roundRect">
            <a:avLst/>
          </a:prstGeom>
          <a:solidFill>
            <a:srgbClr val="00C8FF"/>
          </a:solidFill>
          <a:ln w="1016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race-badge-0"/>
          <p:cNvSpPr/>
          <p:nvPr/>
        </p:nvSpPr>
        <p:spPr>
          <a:xfrm>
            <a:off x="8357616" y="1682496"/>
            <a:ext cx="438912" cy="347472"/>
          </a:xfrm>
          <a:prstGeom prst="roundRect">
            <a:avLst/>
          </a:prstGeom>
          <a:solidFill>
            <a:srgbClr val="00C8FF"/>
          </a:solidFill>
          <a:ln w="1016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race-badge-1"/>
          <p:cNvSpPr/>
          <p:nvPr/>
        </p:nvSpPr>
        <p:spPr>
          <a:xfrm>
            <a:off x="8357616" y="2249424"/>
            <a:ext cx="438912" cy="347472"/>
          </a:xfrm>
          <a:prstGeom prst="roundRect">
            <a:avLst/>
          </a:prstGeom>
          <a:solidFill>
            <a:srgbClr val="00C8FF"/>
          </a:solidFill>
          <a:ln w="1016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race-badge-2"/>
          <p:cNvSpPr/>
          <p:nvPr/>
        </p:nvSpPr>
        <p:spPr>
          <a:xfrm>
            <a:off x="8357616" y="2816352"/>
            <a:ext cx="438912" cy="347472"/>
          </a:xfrm>
          <a:prstGeom prst="roundRect">
            <a:avLst/>
          </a:prstGeom>
          <a:solidFill>
            <a:srgbClr val="00C8FF"/>
          </a:solidFill>
          <a:ln w="1016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race-badge-3"/>
          <p:cNvSpPr/>
          <p:nvPr/>
        </p:nvSpPr>
        <p:spPr>
          <a:xfrm>
            <a:off x="8357616" y="3383280"/>
            <a:ext cx="438912" cy="347472"/>
          </a:xfrm>
          <a:prstGeom prst="roundRect">
            <a:avLst/>
          </a:prstGeom>
          <a:solidFill>
            <a:srgbClr val="00C8FF"/>
          </a:solidFill>
          <a:ln w="1016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race-badge-4"/>
          <p:cNvSpPr/>
          <p:nvPr/>
        </p:nvSpPr>
        <p:spPr>
          <a:xfrm>
            <a:off x="8357616" y="3950208"/>
            <a:ext cx="438912" cy="347472"/>
          </a:xfrm>
          <a:prstGeom prst="roundRect">
            <a:avLst/>
          </a:prstGeom>
          <a:solidFill>
            <a:srgbClr val="00C8FF"/>
          </a:solidFill>
          <a:ln w="1016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race-badge-5"/>
          <p:cNvSpPr/>
          <p:nvPr/>
        </p:nvSpPr>
        <p:spPr>
          <a:xfrm>
            <a:off x="8357616" y="4517136"/>
            <a:ext cx="438912" cy="347472"/>
          </a:xfrm>
          <a:prstGeom prst="roundRect">
            <a:avLst/>
          </a:prstGeom>
          <a:solidFill>
            <a:srgbClr val="00C8FF"/>
          </a:solidFill>
          <a:ln w="1016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profile-tag"/>
          <p:cNvSpPr txBox="1"/>
          <p:nvPr/>
        </p:nvSpPr>
        <p:spPr>
          <a:xfrm>
            <a:off x="457200" y="201168"/>
            <a:ext cx="768096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1" lang="en-US">
                <a:solidFill>
                  <a:srgbClr val="00C8FF"/>
                </a:solidFill>
                <a:latin typeface="Consolas"/>
              </a:rPr>
              <a:t>V3 STRESS SUITE  ·  SCIFI HOLOGRAPHIC DATA  ·  EVIDENCE MESH</a:t>
            </a:r>
          </a:p>
        </p:txBody>
      </p:sp>
      <p:sp>
        <p:nvSpPr>
          <p:cNvPr id="47" name="slide-index"/>
          <p:cNvSpPr txBox="1"/>
          <p:nvPr/>
        </p:nvSpPr>
        <p:spPr>
          <a:xfrm>
            <a:off x="10808208" y="201168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00" b="1" lang="en-US">
                <a:solidFill>
                  <a:srgbClr val="7DCEEA"/>
                </a:solidFill>
                <a:latin typeface="Consolas"/>
              </a:rPr>
              <a:t>57/60</a:t>
            </a:r>
          </a:p>
        </p:txBody>
      </p:sp>
      <p:sp>
        <p:nvSpPr>
          <p:cNvPr id="48" name="title"/>
          <p:cNvSpPr txBox="1"/>
          <p:nvPr/>
        </p:nvSpPr>
        <p:spPr>
          <a:xfrm>
            <a:off x="457200" y="484632"/>
            <a:ext cx="11274552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200" b="1" lang="en-US">
                <a:solidFill>
                  <a:srgbClr val="00C8FF"/>
                </a:solidFill>
                <a:latin typeface="Consolas"/>
              </a:rPr>
              <a:t>Evidence meshes preserve traceability across a dense editable graph</a:t>
            </a:r>
          </a:p>
        </p:txBody>
      </p:sp>
      <p:sp>
        <p:nvSpPr>
          <p:cNvPr id="49" name="footer"/>
          <p:cNvSpPr txBox="1"/>
          <p:nvPr/>
        </p:nvSpPr>
        <p:spPr>
          <a:xfrm>
            <a:off x="457200" y="6473952"/>
            <a:ext cx="1051560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0" lang="en-US">
                <a:solidFill>
                  <a:srgbClr val="7DCEEA"/>
                </a:solidFill>
                <a:latin typeface="Consolas"/>
              </a:rPr>
              <a:t>Native-object stress fixture · monochromatic cyan rings, scan line, and precision data labels · editable geometry and recorded style lock</a:t>
            </a:r>
          </a:p>
        </p:txBody>
      </p:sp>
      <p:sp>
        <p:nvSpPr>
          <p:cNvPr id="50" name="mesh-title"/>
          <p:cNvSpPr txBox="1"/>
          <p:nvPr/>
        </p:nvSpPr>
        <p:spPr>
          <a:xfrm>
            <a:off x="713232" y="1298448"/>
            <a:ext cx="320040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1" lang="en-US">
                <a:solidFill>
                  <a:srgbClr val="00C8FF"/>
                </a:solidFill>
                <a:latin typeface="Consolas"/>
              </a:rPr>
              <a:t>EVIDENCE ROUTING MESH</a:t>
            </a:r>
          </a:p>
        </p:txBody>
      </p:sp>
      <p:sp>
        <p:nvSpPr>
          <p:cNvPr id="51" name="mesh-label-0"/>
          <p:cNvSpPr txBox="1"/>
          <p:nvPr/>
        </p:nvSpPr>
        <p:spPr>
          <a:xfrm>
            <a:off x="1143000" y="2139696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lang="en-US">
                <a:solidFill>
                  <a:srgbClr val="111111"/>
                </a:solidFill>
                <a:latin typeface="Consolas"/>
              </a:rPr>
              <a:t>Request</a:t>
            </a:r>
          </a:p>
        </p:txBody>
      </p:sp>
      <p:sp>
        <p:nvSpPr>
          <p:cNvPr id="52" name="mesh-label-1"/>
          <p:cNvSpPr txBox="1"/>
          <p:nvPr/>
        </p:nvSpPr>
        <p:spPr>
          <a:xfrm>
            <a:off x="2971800" y="1819656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lang="en-US">
                <a:solidFill>
                  <a:srgbClr val="111111"/>
                </a:solidFill>
                <a:latin typeface="Consolas"/>
              </a:rPr>
              <a:t>Profile</a:t>
            </a:r>
          </a:p>
        </p:txBody>
      </p:sp>
      <p:sp>
        <p:nvSpPr>
          <p:cNvPr id="53" name="mesh-label-2"/>
          <p:cNvSpPr txBox="1"/>
          <p:nvPr/>
        </p:nvSpPr>
        <p:spPr>
          <a:xfrm>
            <a:off x="4892040" y="2139696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lang="en-US">
                <a:solidFill>
                  <a:srgbClr val="111111"/>
                </a:solidFill>
                <a:latin typeface="Consolas"/>
              </a:rPr>
              <a:t>Source</a:t>
            </a:r>
          </a:p>
        </p:txBody>
      </p:sp>
      <p:sp>
        <p:nvSpPr>
          <p:cNvPr id="54" name="mesh-label-3"/>
          <p:cNvSpPr txBox="1"/>
          <p:nvPr/>
        </p:nvSpPr>
        <p:spPr>
          <a:xfrm>
            <a:off x="2011680" y="3465576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lang="en-US">
                <a:solidFill>
                  <a:srgbClr val="111111"/>
                </a:solidFill>
                <a:latin typeface="Consolas"/>
              </a:rPr>
              <a:t>Spec</a:t>
            </a:r>
          </a:p>
        </p:txBody>
      </p:sp>
      <p:sp>
        <p:nvSpPr>
          <p:cNvPr id="55" name="mesh-label-4"/>
          <p:cNvSpPr txBox="1"/>
          <p:nvPr/>
        </p:nvSpPr>
        <p:spPr>
          <a:xfrm>
            <a:off x="3977639" y="3127248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lang="en-US">
                <a:solidFill>
                  <a:srgbClr val="111111"/>
                </a:solidFill>
                <a:latin typeface="Consolas"/>
              </a:rPr>
              <a:t>Audit</a:t>
            </a:r>
          </a:p>
        </p:txBody>
      </p:sp>
      <p:sp>
        <p:nvSpPr>
          <p:cNvPr id="56" name="mesh-label-5"/>
          <p:cNvSpPr txBox="1"/>
          <p:nvPr/>
        </p:nvSpPr>
        <p:spPr>
          <a:xfrm>
            <a:off x="5897880" y="3465576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lang="en-US">
                <a:solidFill>
                  <a:srgbClr val="111111"/>
                </a:solidFill>
                <a:latin typeface="Consolas"/>
              </a:rPr>
              <a:t>Render</a:t>
            </a:r>
          </a:p>
        </p:txBody>
      </p:sp>
      <p:sp>
        <p:nvSpPr>
          <p:cNvPr id="57" name="mesh-label-6"/>
          <p:cNvSpPr txBox="1"/>
          <p:nvPr/>
        </p:nvSpPr>
        <p:spPr>
          <a:xfrm>
            <a:off x="2971800" y="4791456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lang="en-US">
                <a:solidFill>
                  <a:srgbClr val="111111"/>
                </a:solidFill>
                <a:latin typeface="Consolas"/>
              </a:rPr>
              <a:t>Repair</a:t>
            </a:r>
          </a:p>
        </p:txBody>
      </p:sp>
      <p:sp>
        <p:nvSpPr>
          <p:cNvPr id="58" name="mesh-label-7"/>
          <p:cNvSpPr txBox="1"/>
          <p:nvPr/>
        </p:nvSpPr>
        <p:spPr>
          <a:xfrm>
            <a:off x="4892040" y="4791456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lang="en-US">
                <a:solidFill>
                  <a:srgbClr val="111111"/>
                </a:solidFill>
                <a:latin typeface="Consolas"/>
              </a:rPr>
              <a:t>Ship</a:t>
            </a:r>
          </a:p>
        </p:txBody>
      </p:sp>
      <p:sp>
        <p:nvSpPr>
          <p:cNvPr id="59" name="mesh-rail-title"/>
          <p:cNvSpPr txBox="1"/>
          <p:nvPr/>
        </p:nvSpPr>
        <p:spPr>
          <a:xfrm>
            <a:off x="8357616" y="1298448"/>
            <a:ext cx="265176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1" lang="en-US">
                <a:solidFill>
                  <a:srgbClr val="00C8FF"/>
                </a:solidFill>
                <a:latin typeface="Consolas"/>
              </a:rPr>
              <a:t>TRACEABILITY</a:t>
            </a:r>
          </a:p>
        </p:txBody>
      </p:sp>
      <p:sp>
        <p:nvSpPr>
          <p:cNvPr id="60" name="trace-number-0"/>
          <p:cNvSpPr txBox="1"/>
          <p:nvPr/>
        </p:nvSpPr>
        <p:spPr>
          <a:xfrm>
            <a:off x="8375904" y="1783080"/>
            <a:ext cx="402336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111111"/>
                </a:solidFill>
                <a:latin typeface="Consolas"/>
              </a:rPr>
              <a:t>01</a:t>
            </a:r>
          </a:p>
        </p:txBody>
      </p:sp>
      <p:sp>
        <p:nvSpPr>
          <p:cNvPr id="61" name="trace-label-0"/>
          <p:cNvSpPr txBox="1"/>
          <p:nvPr/>
        </p:nvSpPr>
        <p:spPr>
          <a:xfrm>
            <a:off x="8979408" y="173736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1" lang="en-US">
                <a:solidFill>
                  <a:srgbClr val="00C8FF"/>
                </a:solidFill>
                <a:latin typeface="Consolas"/>
              </a:rPr>
              <a:t>Intent</a:t>
            </a:r>
          </a:p>
        </p:txBody>
      </p:sp>
      <p:sp>
        <p:nvSpPr>
          <p:cNvPr id="62" name="trace-number-1"/>
          <p:cNvSpPr txBox="1"/>
          <p:nvPr/>
        </p:nvSpPr>
        <p:spPr>
          <a:xfrm>
            <a:off x="8375904" y="2350008"/>
            <a:ext cx="402336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111111"/>
                </a:solidFill>
                <a:latin typeface="Consolas"/>
              </a:rPr>
              <a:t>02</a:t>
            </a:r>
          </a:p>
        </p:txBody>
      </p:sp>
      <p:sp>
        <p:nvSpPr>
          <p:cNvPr id="63" name="trace-label-1"/>
          <p:cNvSpPr txBox="1"/>
          <p:nvPr/>
        </p:nvSpPr>
        <p:spPr>
          <a:xfrm>
            <a:off x="8979408" y="2304288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1" lang="en-US">
                <a:solidFill>
                  <a:srgbClr val="00C8FF"/>
                </a:solidFill>
                <a:latin typeface="Consolas"/>
              </a:rPr>
              <a:t>Profile lock</a:t>
            </a:r>
          </a:p>
        </p:txBody>
      </p:sp>
      <p:sp>
        <p:nvSpPr>
          <p:cNvPr id="64" name="trace-number-2"/>
          <p:cNvSpPr txBox="1"/>
          <p:nvPr/>
        </p:nvSpPr>
        <p:spPr>
          <a:xfrm>
            <a:off x="8375904" y="2916936"/>
            <a:ext cx="402336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111111"/>
                </a:solidFill>
                <a:latin typeface="Consolas"/>
              </a:rPr>
              <a:t>03</a:t>
            </a:r>
          </a:p>
        </p:txBody>
      </p:sp>
      <p:sp>
        <p:nvSpPr>
          <p:cNvPr id="65" name="trace-label-2"/>
          <p:cNvSpPr txBox="1"/>
          <p:nvPr/>
        </p:nvSpPr>
        <p:spPr>
          <a:xfrm>
            <a:off x="8979408" y="2871216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1" lang="en-US">
                <a:solidFill>
                  <a:srgbClr val="00C8FF"/>
                </a:solidFill>
                <a:latin typeface="Consolas"/>
              </a:rPr>
              <a:t>Object spec</a:t>
            </a:r>
          </a:p>
        </p:txBody>
      </p:sp>
      <p:sp>
        <p:nvSpPr>
          <p:cNvPr id="66" name="trace-number-3"/>
          <p:cNvSpPr txBox="1"/>
          <p:nvPr/>
        </p:nvSpPr>
        <p:spPr>
          <a:xfrm>
            <a:off x="8375904" y="3483864"/>
            <a:ext cx="402336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111111"/>
                </a:solidFill>
                <a:latin typeface="Consolas"/>
              </a:rPr>
              <a:t>04</a:t>
            </a:r>
          </a:p>
        </p:txBody>
      </p:sp>
      <p:sp>
        <p:nvSpPr>
          <p:cNvPr id="67" name="trace-label-3"/>
          <p:cNvSpPr txBox="1"/>
          <p:nvPr/>
        </p:nvSpPr>
        <p:spPr>
          <a:xfrm>
            <a:off x="8979408" y="3438144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1" lang="en-US">
                <a:solidFill>
                  <a:srgbClr val="00C8FF"/>
                </a:solidFill>
                <a:latin typeface="Consolas"/>
              </a:rPr>
              <a:t>Quality gate</a:t>
            </a:r>
          </a:p>
        </p:txBody>
      </p:sp>
      <p:sp>
        <p:nvSpPr>
          <p:cNvPr id="68" name="trace-number-4"/>
          <p:cNvSpPr txBox="1"/>
          <p:nvPr/>
        </p:nvSpPr>
        <p:spPr>
          <a:xfrm>
            <a:off x="8375904" y="4050791"/>
            <a:ext cx="402336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111111"/>
                </a:solidFill>
                <a:latin typeface="Consolas"/>
              </a:rPr>
              <a:t>05</a:t>
            </a:r>
          </a:p>
        </p:txBody>
      </p:sp>
      <p:sp>
        <p:nvSpPr>
          <p:cNvPr id="69" name="trace-label-4"/>
          <p:cNvSpPr txBox="1"/>
          <p:nvPr/>
        </p:nvSpPr>
        <p:spPr>
          <a:xfrm>
            <a:off x="8979408" y="400507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1" lang="en-US">
                <a:solidFill>
                  <a:srgbClr val="00C8FF"/>
                </a:solidFill>
                <a:latin typeface="Consolas"/>
              </a:rPr>
              <a:t>Repair trace</a:t>
            </a:r>
          </a:p>
        </p:txBody>
      </p:sp>
      <p:sp>
        <p:nvSpPr>
          <p:cNvPr id="70" name="trace-number-5"/>
          <p:cNvSpPr txBox="1"/>
          <p:nvPr/>
        </p:nvSpPr>
        <p:spPr>
          <a:xfrm>
            <a:off x="8375904" y="4617720"/>
            <a:ext cx="402336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111111"/>
                </a:solidFill>
                <a:latin typeface="Consolas"/>
              </a:rPr>
              <a:t>06</a:t>
            </a:r>
          </a:p>
        </p:txBody>
      </p:sp>
      <p:sp>
        <p:nvSpPr>
          <p:cNvPr id="71" name="trace-label-5"/>
          <p:cNvSpPr txBox="1"/>
          <p:nvPr/>
        </p:nvSpPr>
        <p:spPr>
          <a:xfrm>
            <a:off x="8979408" y="457200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1" lang="en-US">
                <a:solidFill>
                  <a:srgbClr val="00C8FF"/>
                </a:solidFill>
                <a:latin typeface="Consolas"/>
              </a:rPr>
              <a:t>Artifact</a:t>
            </a:r>
          </a:p>
        </p:txBody>
      </p:sp>
      <p:sp>
        <p:nvSpPr>
          <p:cNvPr id="72" name="mesh-note"/>
          <p:cNvSpPr txBox="1"/>
          <p:nvPr/>
        </p:nvSpPr>
        <p:spPr>
          <a:xfrm>
            <a:off x="8357616" y="5321808"/>
            <a:ext cx="2834640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00" b="0" lang="en-US">
                <a:solidFill>
                  <a:srgbClr val="7DCEEA"/>
                </a:solidFill>
                <a:latin typeface="Consolas"/>
              </a:rPr>
              <a:t>Fourteen editable links prove dense graph routing and layering.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50D"/>
          </a:solidFill>
          <a:ln w="10160">
            <a:solidFill>
              <a:srgbClr val="0305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olo-ring-0"/>
          <p:cNvSpPr/>
          <p:nvPr/>
        </p:nvSpPr>
        <p:spPr>
          <a:xfrm>
            <a:off x="7863840" y="1874519"/>
            <a:ext cx="3291840" cy="3291840"/>
          </a:xfrm>
          <a:prstGeom prst="ellipse">
            <a:avLst/>
          </a:prstGeom>
          <a:solidFill>
            <a:srgbClr val="03050D"/>
          </a:solidFill>
          <a:ln w="1016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olo-ring-1"/>
          <p:cNvSpPr/>
          <p:nvPr/>
        </p:nvSpPr>
        <p:spPr>
          <a:xfrm>
            <a:off x="8366760" y="2377440"/>
            <a:ext cx="2286000" cy="2286000"/>
          </a:xfrm>
          <a:prstGeom prst="ellipse">
            <a:avLst/>
          </a:prstGeom>
          <a:solidFill>
            <a:srgbClr val="03050D"/>
          </a:solidFill>
          <a:ln w="1016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holo-ring-2"/>
          <p:cNvSpPr/>
          <p:nvPr/>
        </p:nvSpPr>
        <p:spPr>
          <a:xfrm>
            <a:off x="8869680" y="2880360"/>
            <a:ext cx="1280160" cy="1280160"/>
          </a:xfrm>
          <a:prstGeom prst="ellipse">
            <a:avLst/>
          </a:prstGeom>
          <a:solidFill>
            <a:srgbClr val="03050D"/>
          </a:solidFill>
          <a:ln w="1016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op-band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C8FF"/>
          </a:solidFill>
          <a:ln w="1016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matrix-rail-shell"/>
          <p:cNvSpPr/>
          <p:nvPr/>
        </p:nvSpPr>
        <p:spPr>
          <a:xfrm>
            <a:off x="8823960" y="1143000"/>
            <a:ext cx="2907792" cy="4443984"/>
          </a:xfrm>
          <a:prstGeom prst="rect">
            <a:avLst/>
          </a:prstGeom>
          <a:solidFill>
            <a:srgbClr val="0A2236"/>
          </a:solidFill>
          <a:ln w="10160">
            <a:solidFill>
              <a:srgbClr val="1751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olo-scan"/>
          <p:cNvSpPr/>
          <p:nvPr/>
        </p:nvSpPr>
        <p:spPr>
          <a:xfrm>
            <a:off x="7818120" y="3511296"/>
            <a:ext cx="3840480" cy="22860"/>
          </a:xfrm>
          <a:prstGeom prst="rect">
            <a:avLst/>
          </a:prstGeom>
          <a:solidFill>
            <a:srgbClr val="00C8FF"/>
          </a:solidFill>
          <a:ln w="1016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matrix-rail-accent"/>
          <p:cNvSpPr/>
          <p:nvPr/>
        </p:nvSpPr>
        <p:spPr>
          <a:xfrm>
            <a:off x="8823960" y="1143000"/>
            <a:ext cx="73152" cy="4443984"/>
          </a:xfrm>
          <a:prstGeom prst="rect">
            <a:avLst/>
          </a:prstGeom>
          <a:solidFill>
            <a:srgbClr val="00C8FF"/>
          </a:solidFill>
          <a:ln w="1016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adar-ring-0.45"/>
          <p:cNvSpPr/>
          <p:nvPr/>
        </p:nvSpPr>
        <p:spPr>
          <a:xfrm>
            <a:off x="9866376" y="2834640"/>
            <a:ext cx="822960" cy="822960"/>
          </a:xfrm>
          <a:prstGeom prst="ellipse">
            <a:avLst/>
          </a:prstGeom>
          <a:solidFill>
            <a:srgbClr val="0A2236"/>
          </a:solidFill>
          <a:ln w="10160">
            <a:solidFill>
              <a:srgbClr val="1751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adar-ring-0.85"/>
          <p:cNvSpPr/>
          <p:nvPr/>
        </p:nvSpPr>
        <p:spPr>
          <a:xfrm>
            <a:off x="9500616" y="2468880"/>
            <a:ext cx="1554480" cy="1554480"/>
          </a:xfrm>
          <a:prstGeom prst="ellipse">
            <a:avLst/>
          </a:prstGeom>
          <a:solidFill>
            <a:srgbClr val="0A2236"/>
          </a:solidFill>
          <a:ln w="10160">
            <a:solidFill>
              <a:srgbClr val="1751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adar-ring-1.25"/>
          <p:cNvSpPr/>
          <p:nvPr/>
        </p:nvSpPr>
        <p:spPr>
          <a:xfrm>
            <a:off x="9134856" y="2103120"/>
            <a:ext cx="2286000" cy="2286000"/>
          </a:xfrm>
          <a:prstGeom prst="ellipse">
            <a:avLst/>
          </a:prstGeom>
          <a:solidFill>
            <a:srgbClr val="0A2236"/>
          </a:solidFill>
          <a:ln w="10160">
            <a:solidFill>
              <a:srgbClr val="1751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radar-axis-0"/>
          <p:cNvCxnSpPr/>
          <p:nvPr/>
        </p:nvCxnSpPr>
        <p:spPr>
          <a:xfrm flipV="1">
            <a:off x="10277856" y="1828799"/>
            <a:ext cx="0" cy="1417321"/>
          </a:xfrm>
          <a:prstGeom prst="line">
            <a:avLst/>
          </a:prstGeom>
          <a:ln w="13970">
            <a:solidFill>
              <a:srgbClr val="1751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radar-axis-1"/>
          <p:cNvCxnSpPr/>
          <p:nvPr/>
        </p:nvCxnSpPr>
        <p:spPr>
          <a:xfrm flipV="1">
            <a:off x="10277856" y="2537460"/>
            <a:ext cx="1227435" cy="708660"/>
          </a:xfrm>
          <a:prstGeom prst="line">
            <a:avLst/>
          </a:prstGeom>
          <a:ln w="13970">
            <a:solidFill>
              <a:srgbClr val="1751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radar-axis-2"/>
          <p:cNvCxnSpPr/>
          <p:nvPr/>
        </p:nvCxnSpPr>
        <p:spPr>
          <a:xfrm>
            <a:off x="10277856" y="3246120"/>
            <a:ext cx="1227435" cy="708659"/>
          </a:xfrm>
          <a:prstGeom prst="line">
            <a:avLst/>
          </a:prstGeom>
          <a:ln w="13970">
            <a:solidFill>
              <a:srgbClr val="1751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radar-axis-3"/>
          <p:cNvCxnSpPr/>
          <p:nvPr/>
        </p:nvCxnSpPr>
        <p:spPr>
          <a:xfrm>
            <a:off x="10277856" y="3246120"/>
            <a:ext cx="0" cy="1417320"/>
          </a:xfrm>
          <a:prstGeom prst="line">
            <a:avLst/>
          </a:prstGeom>
          <a:ln w="13970">
            <a:solidFill>
              <a:srgbClr val="1751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radar-axis-4"/>
          <p:cNvCxnSpPr/>
          <p:nvPr/>
        </p:nvCxnSpPr>
        <p:spPr>
          <a:xfrm flipH="1">
            <a:off x="9050420" y="3246120"/>
            <a:ext cx="1227436" cy="708659"/>
          </a:xfrm>
          <a:prstGeom prst="line">
            <a:avLst/>
          </a:prstGeom>
          <a:ln w="13970">
            <a:solidFill>
              <a:srgbClr val="1751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radar-axis-5"/>
          <p:cNvCxnSpPr/>
          <p:nvPr/>
        </p:nvCxnSpPr>
        <p:spPr>
          <a:xfrm flipH="1" flipV="1">
            <a:off x="9050420" y="2537459"/>
            <a:ext cx="1227436" cy="708661"/>
          </a:xfrm>
          <a:prstGeom prst="line">
            <a:avLst/>
          </a:prstGeom>
          <a:ln w="13970">
            <a:solidFill>
              <a:srgbClr val="1751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flow-link-0"/>
          <p:cNvCxnSpPr/>
          <p:nvPr/>
        </p:nvCxnSpPr>
        <p:spPr>
          <a:xfrm>
            <a:off x="2066543" y="5934456"/>
            <a:ext cx="265177" cy="0"/>
          </a:xfrm>
          <a:prstGeom prst="line">
            <a:avLst/>
          </a:prstGeom>
          <a:ln w="1397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flow-link-1"/>
          <p:cNvCxnSpPr/>
          <p:nvPr/>
        </p:nvCxnSpPr>
        <p:spPr>
          <a:xfrm>
            <a:off x="3959352" y="5934456"/>
            <a:ext cx="265175" cy="0"/>
          </a:xfrm>
          <a:prstGeom prst="line">
            <a:avLst/>
          </a:prstGeom>
          <a:ln w="1397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flow-link-2"/>
          <p:cNvCxnSpPr/>
          <p:nvPr/>
        </p:nvCxnSpPr>
        <p:spPr>
          <a:xfrm>
            <a:off x="5852159" y="5934456"/>
            <a:ext cx="265177" cy="0"/>
          </a:xfrm>
          <a:prstGeom prst="line">
            <a:avLst/>
          </a:prstGeom>
          <a:ln w="1397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flow-link-3"/>
          <p:cNvCxnSpPr/>
          <p:nvPr/>
        </p:nvCxnSpPr>
        <p:spPr>
          <a:xfrm>
            <a:off x="7744967" y="5934456"/>
            <a:ext cx="265176" cy="0"/>
          </a:xfrm>
          <a:prstGeom prst="line">
            <a:avLst/>
          </a:prstGeom>
          <a:ln w="1397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flow-link-4"/>
          <p:cNvCxnSpPr/>
          <p:nvPr/>
        </p:nvCxnSpPr>
        <p:spPr>
          <a:xfrm>
            <a:off x="9637776" y="5934456"/>
            <a:ext cx="265175" cy="0"/>
          </a:xfrm>
          <a:prstGeom prst="line">
            <a:avLst/>
          </a:prstGeom>
          <a:ln w="1397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4" name="operating-table"/>
          <p:cNvGraphicFramePr>
            <a:graphicFrameLocks noGrp="1"/>
          </p:cNvGraphicFramePr>
          <p:nvPr/>
        </p:nvGraphicFramePr>
        <p:xfrm>
          <a:off x="457200" y="1143000"/>
          <a:ext cx="8092440" cy="44439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8740"/>
                <a:gridCol w="1348740"/>
                <a:gridCol w="1348740"/>
                <a:gridCol w="1348740"/>
                <a:gridCol w="1348740"/>
                <a:gridCol w="1348740"/>
              </a:tblGrid>
              <a:tr h="444398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03050D"/>
                          </a:solidFill>
                          <a:latin typeface="Consolas"/>
                        </a:rPr>
                        <a:t>Workstream</a:t>
                      </a:r>
                    </a:p>
                  </a:txBody>
                  <a:tcPr marL="54864" marR="54864" marT="18288" marB="18288">
                    <a:solidFill>
                      <a:srgbClr val="00C8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03050D"/>
                          </a:solidFill>
                          <a:latin typeface="Consolas"/>
                        </a:rPr>
                        <a:t>Profile</a:t>
                      </a:r>
                    </a:p>
                  </a:txBody>
                  <a:tcPr marL="54864" marR="54864" marT="18288" marB="18288">
                    <a:solidFill>
                      <a:srgbClr val="00C8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03050D"/>
                          </a:solidFill>
                          <a:latin typeface="Consolas"/>
                        </a:rPr>
                        <a:t>Structure</a:t>
                      </a:r>
                    </a:p>
                  </a:txBody>
                  <a:tcPr marL="54864" marR="54864" marT="18288" marB="18288">
                    <a:solidFill>
                      <a:srgbClr val="00C8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03050D"/>
                          </a:solidFill>
                          <a:latin typeface="Consolas"/>
                        </a:rPr>
                        <a:t>Density</a:t>
                      </a:r>
                    </a:p>
                  </a:txBody>
                  <a:tcPr marL="54864" marR="54864" marT="18288" marB="18288">
                    <a:solidFill>
                      <a:srgbClr val="00C8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03050D"/>
                          </a:solidFill>
                          <a:latin typeface="Consolas"/>
                        </a:rPr>
                        <a:t>Gate</a:t>
                      </a:r>
                    </a:p>
                  </a:txBody>
                  <a:tcPr marL="54864" marR="54864" marT="18288" marB="18288">
                    <a:solidFill>
                      <a:srgbClr val="00C8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03050D"/>
                          </a:solidFill>
                          <a:latin typeface="Consolas"/>
                        </a:rPr>
                        <a:t>Owner</a:t>
                      </a:r>
                    </a:p>
                  </a:txBody>
                  <a:tcPr marL="54864" marR="54864" marT="18288" marB="18288">
                    <a:solidFill>
                      <a:srgbClr val="00C8FF"/>
                    </a:solidFill>
                  </a:tcPr>
                </a:tc>
              </a:tr>
              <a:tr h="444398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00C8FF"/>
                          </a:solidFill>
                          <a:latin typeface="Consolas"/>
                        </a:rPr>
                        <a:t>W-01</a:t>
                      </a:r>
                    </a:p>
                  </a:txBody>
                  <a:tcPr marL="54864" marR="54864" marT="18288" marB="18288">
                    <a:solidFill>
                      <a:srgbClr val="0718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00C8FF"/>
                          </a:solidFill>
                          <a:latin typeface="Consolas"/>
                        </a:rPr>
                        <a:t>Ember</a:t>
                      </a:r>
                    </a:p>
                  </a:txBody>
                  <a:tcPr marL="54864" marR="54864" marT="18288" marB="18288">
                    <a:solidFill>
                      <a:srgbClr val="0718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00C8FF"/>
                          </a:solidFill>
                          <a:latin typeface="Consolas"/>
                        </a:rPr>
                        <a:t>Mesh</a:t>
                      </a:r>
                    </a:p>
                  </a:txBody>
                  <a:tcPr marL="54864" marR="54864" marT="18288" marB="18288">
                    <a:solidFill>
                      <a:srgbClr val="0718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00C8FF"/>
                          </a:solidFill>
                          <a:latin typeface="Consolas"/>
                        </a:rPr>
                        <a:t>Dense</a:t>
                      </a:r>
                    </a:p>
                  </a:txBody>
                  <a:tcPr marL="54864" marR="54864" marT="18288" marB="18288">
                    <a:solidFill>
                      <a:srgbClr val="0718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00C8FF"/>
                          </a:solidFill>
                          <a:latin typeface="Consolas"/>
                        </a:rPr>
                        <a:t>Watch</a:t>
                      </a:r>
                    </a:p>
                  </a:txBody>
                  <a:tcPr marL="54864" marR="54864" marT="18288" marB="18288">
                    <a:solidFill>
                      <a:srgbClr val="0718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00C8FF"/>
                          </a:solidFill>
                          <a:latin typeface="Consolas"/>
                        </a:rPr>
                        <a:t>R</a:t>
                      </a:r>
                    </a:p>
                  </a:txBody>
                  <a:tcPr marL="54864" marR="54864" marT="18288" marB="18288">
                    <a:solidFill>
                      <a:srgbClr val="071827"/>
                    </a:solidFill>
                  </a:tcPr>
                </a:tc>
              </a:tr>
              <a:tr h="444398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00C8FF"/>
                          </a:solidFill>
                          <a:latin typeface="Consolas"/>
                        </a:rPr>
                        <a:t>W-02</a:t>
                      </a:r>
                    </a:p>
                  </a:txBody>
                  <a:tcPr marL="54864" marR="54864" marT="18288" marB="18288">
                    <a:solidFill>
                      <a:srgbClr val="0A22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00C8FF"/>
                          </a:solidFill>
                          <a:latin typeface="Consolas"/>
                        </a:rPr>
                        <a:t>Signal</a:t>
                      </a:r>
                    </a:p>
                  </a:txBody>
                  <a:tcPr marL="54864" marR="54864" marT="18288" marB="18288">
                    <a:solidFill>
                      <a:srgbClr val="0A22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00C8FF"/>
                          </a:solidFill>
                          <a:latin typeface="Consolas"/>
                        </a:rPr>
                        <a:t>Matrix</a:t>
                      </a:r>
                    </a:p>
                  </a:txBody>
                  <a:tcPr marL="54864" marR="54864" marT="18288" marB="18288">
                    <a:solidFill>
                      <a:srgbClr val="0A22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00C8FF"/>
                          </a:solidFill>
                          <a:latin typeface="Consolas"/>
                        </a:rPr>
                        <a:t>Layered</a:t>
                      </a:r>
                    </a:p>
                  </a:txBody>
                  <a:tcPr marL="54864" marR="54864" marT="18288" marB="18288">
                    <a:solidFill>
                      <a:srgbClr val="0A22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00C8FF"/>
                          </a:solidFill>
                          <a:latin typeface="Consolas"/>
                        </a:rPr>
                        <a:t>Repair</a:t>
                      </a:r>
                    </a:p>
                  </a:txBody>
                  <a:tcPr marL="54864" marR="54864" marT="18288" marB="18288">
                    <a:solidFill>
                      <a:srgbClr val="0A22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00C8FF"/>
                          </a:solidFill>
                          <a:latin typeface="Consolas"/>
                        </a:rPr>
                        <a:t>C</a:t>
                      </a:r>
                    </a:p>
                  </a:txBody>
                  <a:tcPr marL="54864" marR="54864" marT="18288" marB="18288">
                    <a:solidFill>
                      <a:srgbClr val="0A2236"/>
                    </a:solidFill>
                  </a:tcPr>
                </a:tc>
              </a:tr>
              <a:tr h="444398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00C8FF"/>
                          </a:solidFill>
                          <a:latin typeface="Consolas"/>
                        </a:rPr>
                        <a:t>W-03</a:t>
                      </a:r>
                    </a:p>
                  </a:txBody>
                  <a:tcPr marL="54864" marR="54864" marT="18288" marB="18288">
                    <a:solidFill>
                      <a:srgbClr val="0718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00C8FF"/>
                          </a:solidFill>
                          <a:latin typeface="Consolas"/>
                        </a:rPr>
                        <a:t>Grove</a:t>
                      </a:r>
                    </a:p>
                  </a:txBody>
                  <a:tcPr marL="54864" marR="54864" marT="18288" marB="18288">
                    <a:solidFill>
                      <a:srgbClr val="0718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00C8FF"/>
                          </a:solidFill>
                          <a:latin typeface="Consolas"/>
                        </a:rPr>
                        <a:t>Board</a:t>
                      </a:r>
                    </a:p>
                  </a:txBody>
                  <a:tcPr marL="54864" marR="54864" marT="18288" marB="18288">
                    <a:solidFill>
                      <a:srgbClr val="0718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00C8FF"/>
                          </a:solidFill>
                          <a:latin typeface="Consolas"/>
                        </a:rPr>
                        <a:t>Packed</a:t>
                      </a:r>
                    </a:p>
                  </a:txBody>
                  <a:tcPr marL="54864" marR="54864" marT="18288" marB="18288">
                    <a:solidFill>
                      <a:srgbClr val="0718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00C8FF"/>
                          </a:solidFill>
                          <a:latin typeface="Consolas"/>
                        </a:rPr>
                        <a:t>Pass</a:t>
                      </a:r>
                    </a:p>
                  </a:txBody>
                  <a:tcPr marL="54864" marR="54864" marT="18288" marB="18288">
                    <a:solidFill>
                      <a:srgbClr val="0718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00C8FF"/>
                          </a:solidFill>
                          <a:latin typeface="Consolas"/>
                        </a:rPr>
                        <a:t>I</a:t>
                      </a:r>
                    </a:p>
                  </a:txBody>
                  <a:tcPr marL="54864" marR="54864" marT="18288" marB="18288">
                    <a:solidFill>
                      <a:srgbClr val="071827"/>
                    </a:solidFill>
                  </a:tcPr>
                </a:tc>
              </a:tr>
              <a:tr h="444398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00C8FF"/>
                          </a:solidFill>
                          <a:latin typeface="Consolas"/>
                        </a:rPr>
                        <a:t>W-04</a:t>
                      </a:r>
                    </a:p>
                  </a:txBody>
                  <a:tcPr marL="54864" marR="54864" marT="18288" marB="18288">
                    <a:solidFill>
                      <a:srgbClr val="0A22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00C8FF"/>
                          </a:solidFill>
                          <a:latin typeface="Consolas"/>
                        </a:rPr>
                        <a:t>Atlas</a:t>
                      </a:r>
                    </a:p>
                  </a:txBody>
                  <a:tcPr marL="54864" marR="54864" marT="18288" marB="18288">
                    <a:solidFill>
                      <a:srgbClr val="0A22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00C8FF"/>
                          </a:solidFill>
                          <a:latin typeface="Consolas"/>
                        </a:rPr>
                        <a:t>Cards</a:t>
                      </a:r>
                    </a:p>
                  </a:txBody>
                  <a:tcPr marL="54864" marR="54864" marT="18288" marB="18288">
                    <a:solidFill>
                      <a:srgbClr val="0A22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00C8FF"/>
                          </a:solidFill>
                          <a:latin typeface="Consolas"/>
                        </a:rPr>
                        <a:t>High</a:t>
                      </a:r>
                    </a:p>
                  </a:txBody>
                  <a:tcPr marL="54864" marR="54864" marT="18288" marB="18288">
                    <a:solidFill>
                      <a:srgbClr val="0A22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00C8FF"/>
                          </a:solidFill>
                          <a:latin typeface="Consolas"/>
                        </a:rPr>
                        <a:t>Pass</a:t>
                      </a:r>
                    </a:p>
                  </a:txBody>
                  <a:tcPr marL="54864" marR="54864" marT="18288" marB="18288">
                    <a:solidFill>
                      <a:srgbClr val="0A22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00C8FF"/>
                          </a:solidFill>
                          <a:latin typeface="Consolas"/>
                        </a:rPr>
                        <a:t>A</a:t>
                      </a:r>
                    </a:p>
                  </a:txBody>
                  <a:tcPr marL="54864" marR="54864" marT="18288" marB="18288">
                    <a:solidFill>
                      <a:srgbClr val="0A2236"/>
                    </a:solidFill>
                  </a:tcPr>
                </a:tc>
              </a:tr>
              <a:tr h="444398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00C8FF"/>
                          </a:solidFill>
                          <a:latin typeface="Consolas"/>
                        </a:rPr>
                        <a:t>W-05</a:t>
                      </a:r>
                    </a:p>
                  </a:txBody>
                  <a:tcPr marL="54864" marR="54864" marT="18288" marB="18288">
                    <a:solidFill>
                      <a:srgbClr val="0718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00C8FF"/>
                          </a:solidFill>
                          <a:latin typeface="Consolas"/>
                        </a:rPr>
                        <a:t>Ember</a:t>
                      </a:r>
                    </a:p>
                  </a:txBody>
                  <a:tcPr marL="54864" marR="54864" marT="18288" marB="18288">
                    <a:solidFill>
                      <a:srgbClr val="0718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00C8FF"/>
                          </a:solidFill>
                          <a:latin typeface="Consolas"/>
                        </a:rPr>
                        <a:t>Mesh</a:t>
                      </a:r>
                    </a:p>
                  </a:txBody>
                  <a:tcPr marL="54864" marR="54864" marT="18288" marB="18288">
                    <a:solidFill>
                      <a:srgbClr val="0718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00C8FF"/>
                          </a:solidFill>
                          <a:latin typeface="Consolas"/>
                        </a:rPr>
                        <a:t>Dense</a:t>
                      </a:r>
                    </a:p>
                  </a:txBody>
                  <a:tcPr marL="54864" marR="54864" marT="18288" marB="18288">
                    <a:solidFill>
                      <a:srgbClr val="0718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00C8FF"/>
                          </a:solidFill>
                          <a:latin typeface="Consolas"/>
                        </a:rPr>
                        <a:t>Watch</a:t>
                      </a:r>
                    </a:p>
                  </a:txBody>
                  <a:tcPr marL="54864" marR="54864" marT="18288" marB="18288">
                    <a:solidFill>
                      <a:srgbClr val="0718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00C8FF"/>
                          </a:solidFill>
                          <a:latin typeface="Consolas"/>
                        </a:rPr>
                        <a:t>R</a:t>
                      </a:r>
                    </a:p>
                  </a:txBody>
                  <a:tcPr marL="54864" marR="54864" marT="18288" marB="18288">
                    <a:solidFill>
                      <a:srgbClr val="071827"/>
                    </a:solidFill>
                  </a:tcPr>
                </a:tc>
              </a:tr>
              <a:tr h="444398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00C8FF"/>
                          </a:solidFill>
                          <a:latin typeface="Consolas"/>
                        </a:rPr>
                        <a:t>W-06</a:t>
                      </a:r>
                    </a:p>
                  </a:txBody>
                  <a:tcPr marL="54864" marR="54864" marT="18288" marB="18288">
                    <a:solidFill>
                      <a:srgbClr val="0A22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00C8FF"/>
                          </a:solidFill>
                          <a:latin typeface="Consolas"/>
                        </a:rPr>
                        <a:t>Signal</a:t>
                      </a:r>
                    </a:p>
                  </a:txBody>
                  <a:tcPr marL="54864" marR="54864" marT="18288" marB="18288">
                    <a:solidFill>
                      <a:srgbClr val="0A22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00C8FF"/>
                          </a:solidFill>
                          <a:latin typeface="Consolas"/>
                        </a:rPr>
                        <a:t>Matrix</a:t>
                      </a:r>
                    </a:p>
                  </a:txBody>
                  <a:tcPr marL="54864" marR="54864" marT="18288" marB="18288">
                    <a:solidFill>
                      <a:srgbClr val="0A22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00C8FF"/>
                          </a:solidFill>
                          <a:latin typeface="Consolas"/>
                        </a:rPr>
                        <a:t>Layered</a:t>
                      </a:r>
                    </a:p>
                  </a:txBody>
                  <a:tcPr marL="54864" marR="54864" marT="18288" marB="18288">
                    <a:solidFill>
                      <a:srgbClr val="0A22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00C8FF"/>
                          </a:solidFill>
                          <a:latin typeface="Consolas"/>
                        </a:rPr>
                        <a:t>Repair</a:t>
                      </a:r>
                    </a:p>
                  </a:txBody>
                  <a:tcPr marL="54864" marR="54864" marT="18288" marB="18288">
                    <a:solidFill>
                      <a:srgbClr val="0A22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00C8FF"/>
                          </a:solidFill>
                          <a:latin typeface="Consolas"/>
                        </a:rPr>
                        <a:t>C</a:t>
                      </a:r>
                    </a:p>
                  </a:txBody>
                  <a:tcPr marL="54864" marR="54864" marT="18288" marB="18288">
                    <a:solidFill>
                      <a:srgbClr val="0A2236"/>
                    </a:solidFill>
                  </a:tcPr>
                </a:tc>
              </a:tr>
              <a:tr h="444398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00C8FF"/>
                          </a:solidFill>
                          <a:latin typeface="Consolas"/>
                        </a:rPr>
                        <a:t>W-07</a:t>
                      </a:r>
                    </a:p>
                  </a:txBody>
                  <a:tcPr marL="54864" marR="54864" marT="18288" marB="18288">
                    <a:solidFill>
                      <a:srgbClr val="0718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00C8FF"/>
                          </a:solidFill>
                          <a:latin typeface="Consolas"/>
                        </a:rPr>
                        <a:t>Grove</a:t>
                      </a:r>
                    </a:p>
                  </a:txBody>
                  <a:tcPr marL="54864" marR="54864" marT="18288" marB="18288">
                    <a:solidFill>
                      <a:srgbClr val="0718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00C8FF"/>
                          </a:solidFill>
                          <a:latin typeface="Consolas"/>
                        </a:rPr>
                        <a:t>Board</a:t>
                      </a:r>
                    </a:p>
                  </a:txBody>
                  <a:tcPr marL="54864" marR="54864" marT="18288" marB="18288">
                    <a:solidFill>
                      <a:srgbClr val="0718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00C8FF"/>
                          </a:solidFill>
                          <a:latin typeface="Consolas"/>
                        </a:rPr>
                        <a:t>Packed</a:t>
                      </a:r>
                    </a:p>
                  </a:txBody>
                  <a:tcPr marL="54864" marR="54864" marT="18288" marB="18288">
                    <a:solidFill>
                      <a:srgbClr val="0718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00C8FF"/>
                          </a:solidFill>
                          <a:latin typeface="Consolas"/>
                        </a:rPr>
                        <a:t>Pass</a:t>
                      </a:r>
                    </a:p>
                  </a:txBody>
                  <a:tcPr marL="54864" marR="54864" marT="18288" marB="18288">
                    <a:solidFill>
                      <a:srgbClr val="0718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00C8FF"/>
                          </a:solidFill>
                          <a:latin typeface="Consolas"/>
                        </a:rPr>
                        <a:t>I</a:t>
                      </a:r>
                    </a:p>
                  </a:txBody>
                  <a:tcPr marL="54864" marR="54864" marT="18288" marB="18288">
                    <a:solidFill>
                      <a:srgbClr val="071827"/>
                    </a:solidFill>
                  </a:tcPr>
                </a:tc>
              </a:tr>
              <a:tr h="444398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00C8FF"/>
                          </a:solidFill>
                          <a:latin typeface="Consolas"/>
                        </a:rPr>
                        <a:t>W-08</a:t>
                      </a:r>
                    </a:p>
                  </a:txBody>
                  <a:tcPr marL="54864" marR="54864" marT="18288" marB="18288">
                    <a:solidFill>
                      <a:srgbClr val="0A22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00C8FF"/>
                          </a:solidFill>
                          <a:latin typeface="Consolas"/>
                        </a:rPr>
                        <a:t>Atlas</a:t>
                      </a:r>
                    </a:p>
                  </a:txBody>
                  <a:tcPr marL="54864" marR="54864" marT="18288" marB="18288">
                    <a:solidFill>
                      <a:srgbClr val="0A22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00C8FF"/>
                          </a:solidFill>
                          <a:latin typeface="Consolas"/>
                        </a:rPr>
                        <a:t>Cards</a:t>
                      </a:r>
                    </a:p>
                  </a:txBody>
                  <a:tcPr marL="54864" marR="54864" marT="18288" marB="18288">
                    <a:solidFill>
                      <a:srgbClr val="0A22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00C8FF"/>
                          </a:solidFill>
                          <a:latin typeface="Consolas"/>
                        </a:rPr>
                        <a:t>High</a:t>
                      </a:r>
                    </a:p>
                  </a:txBody>
                  <a:tcPr marL="54864" marR="54864" marT="18288" marB="18288">
                    <a:solidFill>
                      <a:srgbClr val="0A22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00C8FF"/>
                          </a:solidFill>
                          <a:latin typeface="Consolas"/>
                        </a:rPr>
                        <a:t>Pass</a:t>
                      </a:r>
                    </a:p>
                  </a:txBody>
                  <a:tcPr marL="54864" marR="54864" marT="18288" marB="18288">
                    <a:solidFill>
                      <a:srgbClr val="0A22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00C8FF"/>
                          </a:solidFill>
                          <a:latin typeface="Consolas"/>
                        </a:rPr>
                        <a:t>A</a:t>
                      </a:r>
                    </a:p>
                  </a:txBody>
                  <a:tcPr marL="54864" marR="54864" marT="18288" marB="18288">
                    <a:solidFill>
                      <a:srgbClr val="0A2236"/>
                    </a:solidFill>
                  </a:tcPr>
                </a:tc>
              </a:tr>
              <a:tr h="444402">
                <a:tc>
                  <a:txBody>
                    <a:bodyPr/>
                    <a:lstStyle/>
                    <a:p>
                      <a:pPr algn="l"/>
                      <a:r>
                        <a:rPr sz="900" b="1" lang="en-US">
                          <a:solidFill>
                            <a:srgbClr val="00C8FF"/>
                          </a:solidFill>
                          <a:latin typeface="Consolas"/>
                        </a:rPr>
                        <a:t>W-09</a:t>
                      </a:r>
                    </a:p>
                  </a:txBody>
                  <a:tcPr marL="54864" marR="54864" marT="18288" marB="18288">
                    <a:solidFill>
                      <a:srgbClr val="0718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00C8FF"/>
                          </a:solidFill>
                          <a:latin typeface="Consolas"/>
                        </a:rPr>
                        <a:t>Ember</a:t>
                      </a:r>
                    </a:p>
                  </a:txBody>
                  <a:tcPr marL="54864" marR="54864" marT="18288" marB="18288">
                    <a:solidFill>
                      <a:srgbClr val="0718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00C8FF"/>
                          </a:solidFill>
                          <a:latin typeface="Consolas"/>
                        </a:rPr>
                        <a:t>Mesh</a:t>
                      </a:r>
                    </a:p>
                  </a:txBody>
                  <a:tcPr marL="54864" marR="54864" marT="18288" marB="18288">
                    <a:solidFill>
                      <a:srgbClr val="0718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00C8FF"/>
                          </a:solidFill>
                          <a:latin typeface="Consolas"/>
                        </a:rPr>
                        <a:t>Dense</a:t>
                      </a:r>
                    </a:p>
                  </a:txBody>
                  <a:tcPr marL="54864" marR="54864" marT="18288" marB="18288">
                    <a:solidFill>
                      <a:srgbClr val="0718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00C8FF"/>
                          </a:solidFill>
                          <a:latin typeface="Consolas"/>
                        </a:rPr>
                        <a:t>Watch</a:t>
                      </a:r>
                    </a:p>
                  </a:txBody>
                  <a:tcPr marL="54864" marR="54864" marT="18288" marB="18288">
                    <a:solidFill>
                      <a:srgbClr val="0718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lang="en-US">
                          <a:solidFill>
                            <a:srgbClr val="00C8FF"/>
                          </a:solidFill>
                          <a:latin typeface="Consolas"/>
                        </a:rPr>
                        <a:t>R</a:t>
                      </a:r>
                    </a:p>
                  </a:txBody>
                  <a:tcPr marL="54864" marR="54864" marT="18288" marB="18288">
                    <a:solidFill>
                      <a:srgbClr val="071827"/>
                    </a:solidFill>
                  </a:tcPr>
                </a:tc>
              </a:tr>
            </a:tbl>
          </a:graphicData>
        </a:graphic>
      </p:graphicFrame>
      <p:sp>
        <p:nvSpPr>
          <p:cNvPr id="25" name="flow-0"/>
          <p:cNvSpPr/>
          <p:nvPr/>
        </p:nvSpPr>
        <p:spPr>
          <a:xfrm>
            <a:off x="457200" y="5742432"/>
            <a:ext cx="1600200" cy="384048"/>
          </a:xfrm>
          <a:prstGeom prst="roundRect">
            <a:avLst/>
          </a:prstGeom>
          <a:solidFill>
            <a:srgbClr val="071827"/>
          </a:solidFill>
          <a:ln w="1016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low-1"/>
          <p:cNvSpPr/>
          <p:nvPr/>
        </p:nvSpPr>
        <p:spPr>
          <a:xfrm>
            <a:off x="2350008" y="5742432"/>
            <a:ext cx="1600200" cy="384048"/>
          </a:xfrm>
          <a:prstGeom prst="roundRect">
            <a:avLst/>
          </a:prstGeom>
          <a:solidFill>
            <a:srgbClr val="071827"/>
          </a:solidFill>
          <a:ln w="1016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low-2"/>
          <p:cNvSpPr/>
          <p:nvPr/>
        </p:nvSpPr>
        <p:spPr>
          <a:xfrm>
            <a:off x="4242816" y="5742432"/>
            <a:ext cx="1600200" cy="384048"/>
          </a:xfrm>
          <a:prstGeom prst="roundRect">
            <a:avLst/>
          </a:prstGeom>
          <a:solidFill>
            <a:srgbClr val="071827"/>
          </a:solidFill>
          <a:ln w="1016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low-3"/>
          <p:cNvSpPr/>
          <p:nvPr/>
        </p:nvSpPr>
        <p:spPr>
          <a:xfrm>
            <a:off x="6135624" y="5742432"/>
            <a:ext cx="1600200" cy="384048"/>
          </a:xfrm>
          <a:prstGeom prst="roundRect">
            <a:avLst/>
          </a:prstGeom>
          <a:solidFill>
            <a:srgbClr val="071827"/>
          </a:solidFill>
          <a:ln w="1016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low-4"/>
          <p:cNvSpPr/>
          <p:nvPr/>
        </p:nvSpPr>
        <p:spPr>
          <a:xfrm>
            <a:off x="8028431" y="5742432"/>
            <a:ext cx="1600200" cy="384048"/>
          </a:xfrm>
          <a:prstGeom prst="roundRect">
            <a:avLst/>
          </a:prstGeom>
          <a:solidFill>
            <a:srgbClr val="071827"/>
          </a:solidFill>
          <a:ln w="1016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flow-5"/>
          <p:cNvSpPr/>
          <p:nvPr/>
        </p:nvSpPr>
        <p:spPr>
          <a:xfrm>
            <a:off x="9921240" y="5742432"/>
            <a:ext cx="1600200" cy="384048"/>
          </a:xfrm>
          <a:prstGeom prst="roundRect">
            <a:avLst/>
          </a:prstGeom>
          <a:solidFill>
            <a:srgbClr val="071827"/>
          </a:solidFill>
          <a:ln w="1016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profile-tag"/>
          <p:cNvSpPr txBox="1"/>
          <p:nvPr/>
        </p:nvSpPr>
        <p:spPr>
          <a:xfrm>
            <a:off x="457200" y="201168"/>
            <a:ext cx="768096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1" lang="en-US">
                <a:solidFill>
                  <a:srgbClr val="00C8FF"/>
                </a:solidFill>
                <a:latin typeface="Consolas"/>
              </a:rPr>
              <a:t>V3 STRESS SUITE  ·  SCIFI HOLOGRAPHIC DATA  ·  OPERATING MATRIX</a:t>
            </a:r>
          </a:p>
        </p:txBody>
      </p:sp>
      <p:sp>
        <p:nvSpPr>
          <p:cNvPr id="32" name="slide-index"/>
          <p:cNvSpPr txBox="1"/>
          <p:nvPr/>
        </p:nvSpPr>
        <p:spPr>
          <a:xfrm>
            <a:off x="10808208" y="201168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00" b="1" lang="en-US">
                <a:solidFill>
                  <a:srgbClr val="7DCEEA"/>
                </a:solidFill>
                <a:latin typeface="Consolas"/>
              </a:rPr>
              <a:t>58/60</a:t>
            </a:r>
          </a:p>
        </p:txBody>
      </p:sp>
      <p:sp>
        <p:nvSpPr>
          <p:cNvPr id="33" name="title"/>
          <p:cNvSpPr txBox="1"/>
          <p:nvPr/>
        </p:nvSpPr>
        <p:spPr>
          <a:xfrm>
            <a:off x="457200" y="484632"/>
            <a:ext cx="11274552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200" b="1" lang="en-US">
                <a:solidFill>
                  <a:srgbClr val="00C8FF"/>
                </a:solidFill>
                <a:latin typeface="Consolas"/>
              </a:rPr>
              <a:t>Operating matrices make quality ownership visible at a glance</a:t>
            </a:r>
          </a:p>
        </p:txBody>
      </p:sp>
      <p:sp>
        <p:nvSpPr>
          <p:cNvPr id="34" name="footer"/>
          <p:cNvSpPr txBox="1"/>
          <p:nvPr/>
        </p:nvSpPr>
        <p:spPr>
          <a:xfrm>
            <a:off x="457200" y="6473952"/>
            <a:ext cx="1051560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0" lang="en-US">
                <a:solidFill>
                  <a:srgbClr val="7DCEEA"/>
                </a:solidFill>
                <a:latin typeface="Consolas"/>
              </a:rPr>
              <a:t>Native-object stress fixture · monochromatic cyan rings, scan line, and precision data labels · editable geometry and recorded style lock</a:t>
            </a:r>
          </a:p>
        </p:txBody>
      </p:sp>
      <p:sp>
        <p:nvSpPr>
          <p:cNvPr id="35" name="matrix-rail-title"/>
          <p:cNvSpPr txBox="1"/>
          <p:nvPr/>
        </p:nvSpPr>
        <p:spPr>
          <a:xfrm>
            <a:off x="9089136" y="1371600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1" lang="en-US">
                <a:solidFill>
                  <a:srgbClr val="00C8FF"/>
                </a:solidFill>
                <a:latin typeface="Consolas"/>
              </a:rPr>
              <a:t>QUALITY RADAR</a:t>
            </a:r>
          </a:p>
        </p:txBody>
      </p:sp>
      <p:sp>
        <p:nvSpPr>
          <p:cNvPr id="36" name="radar-label-0"/>
          <p:cNvSpPr txBox="1"/>
          <p:nvPr/>
        </p:nvSpPr>
        <p:spPr>
          <a:xfrm>
            <a:off x="9893808" y="1737360"/>
            <a:ext cx="768096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7DCEEA"/>
                </a:solidFill>
                <a:latin typeface="Consolas"/>
              </a:rPr>
              <a:t>Bounds</a:t>
            </a:r>
          </a:p>
        </p:txBody>
      </p:sp>
      <p:sp>
        <p:nvSpPr>
          <p:cNvPr id="37" name="radar-label-1"/>
          <p:cNvSpPr txBox="1"/>
          <p:nvPr/>
        </p:nvSpPr>
        <p:spPr>
          <a:xfrm>
            <a:off x="11120932" y="2446020"/>
            <a:ext cx="768096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7DCEEA"/>
                </a:solidFill>
                <a:latin typeface="Consolas"/>
              </a:rPr>
              <a:t>Fonts</a:t>
            </a:r>
          </a:p>
        </p:txBody>
      </p:sp>
      <p:sp>
        <p:nvSpPr>
          <p:cNvPr id="38" name="radar-label-2"/>
          <p:cNvSpPr txBox="1"/>
          <p:nvPr/>
        </p:nvSpPr>
        <p:spPr>
          <a:xfrm>
            <a:off x="11120932" y="3863339"/>
            <a:ext cx="768096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7DCEEA"/>
                </a:solidFill>
                <a:latin typeface="Consolas"/>
              </a:rPr>
              <a:t>Tables</a:t>
            </a:r>
          </a:p>
        </p:txBody>
      </p:sp>
      <p:sp>
        <p:nvSpPr>
          <p:cNvPr id="39" name="radar-label-3"/>
          <p:cNvSpPr txBox="1"/>
          <p:nvPr/>
        </p:nvSpPr>
        <p:spPr>
          <a:xfrm>
            <a:off x="9893808" y="4572000"/>
            <a:ext cx="768096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7DCEEA"/>
                </a:solidFill>
                <a:latin typeface="Consolas"/>
              </a:rPr>
              <a:t>Contrast</a:t>
            </a:r>
          </a:p>
        </p:txBody>
      </p:sp>
      <p:sp>
        <p:nvSpPr>
          <p:cNvPr id="40" name="radar-label-4"/>
          <p:cNvSpPr txBox="1"/>
          <p:nvPr/>
        </p:nvSpPr>
        <p:spPr>
          <a:xfrm>
            <a:off x="8666683" y="3863339"/>
            <a:ext cx="768096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7DCEEA"/>
                </a:solidFill>
                <a:latin typeface="Consolas"/>
              </a:rPr>
              <a:t>Order</a:t>
            </a:r>
          </a:p>
        </p:txBody>
      </p:sp>
      <p:sp>
        <p:nvSpPr>
          <p:cNvPr id="41" name="radar-label-5"/>
          <p:cNvSpPr txBox="1"/>
          <p:nvPr/>
        </p:nvSpPr>
        <p:spPr>
          <a:xfrm>
            <a:off x="8666683" y="2446020"/>
            <a:ext cx="768096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7DCEEA"/>
                </a:solidFill>
                <a:latin typeface="Consolas"/>
              </a:rPr>
              <a:t>Style</a:t>
            </a:r>
          </a:p>
        </p:txBody>
      </p:sp>
      <p:sp>
        <p:nvSpPr>
          <p:cNvPr id="42" name="radar-point-0"/>
          <p:cNvSpPr/>
          <p:nvPr/>
        </p:nvSpPr>
        <p:spPr>
          <a:xfrm>
            <a:off x="10204704" y="2258568"/>
            <a:ext cx="146304" cy="146304"/>
          </a:xfrm>
          <a:prstGeom prst="ellipse">
            <a:avLst/>
          </a:prstGeom>
          <a:solidFill>
            <a:srgbClr val="00C8FF"/>
          </a:solidFill>
          <a:ln w="1016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adar-point-1"/>
          <p:cNvSpPr/>
          <p:nvPr/>
        </p:nvSpPr>
        <p:spPr>
          <a:xfrm>
            <a:off x="10806379" y="2825496"/>
            <a:ext cx="146304" cy="146304"/>
          </a:xfrm>
          <a:prstGeom prst="ellipse">
            <a:avLst/>
          </a:prstGeom>
          <a:solidFill>
            <a:srgbClr val="00C8FF"/>
          </a:solidFill>
          <a:ln w="1016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adar-point-2"/>
          <p:cNvSpPr/>
          <p:nvPr/>
        </p:nvSpPr>
        <p:spPr>
          <a:xfrm>
            <a:off x="11139220" y="3712463"/>
            <a:ext cx="146304" cy="146304"/>
          </a:xfrm>
          <a:prstGeom prst="ellipse">
            <a:avLst/>
          </a:prstGeom>
          <a:solidFill>
            <a:srgbClr val="00C8FF"/>
          </a:solidFill>
          <a:ln w="1016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adar-point-3"/>
          <p:cNvSpPr/>
          <p:nvPr/>
        </p:nvSpPr>
        <p:spPr>
          <a:xfrm>
            <a:off x="10204704" y="3995928"/>
            <a:ext cx="146304" cy="146304"/>
          </a:xfrm>
          <a:prstGeom prst="ellipse">
            <a:avLst/>
          </a:prstGeom>
          <a:solidFill>
            <a:srgbClr val="00C8FF"/>
          </a:solidFill>
          <a:ln w="1016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adar-point-4"/>
          <p:cNvSpPr/>
          <p:nvPr/>
        </p:nvSpPr>
        <p:spPr>
          <a:xfrm>
            <a:off x="9317736" y="3685032"/>
            <a:ext cx="146304" cy="146304"/>
          </a:xfrm>
          <a:prstGeom prst="ellipse">
            <a:avLst/>
          </a:prstGeom>
          <a:solidFill>
            <a:srgbClr val="00C8FF"/>
          </a:solidFill>
          <a:ln w="1016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adar-point-5"/>
          <p:cNvSpPr/>
          <p:nvPr/>
        </p:nvSpPr>
        <p:spPr>
          <a:xfrm>
            <a:off x="9650577" y="2852928"/>
            <a:ext cx="146304" cy="146304"/>
          </a:xfrm>
          <a:prstGeom prst="ellipse">
            <a:avLst/>
          </a:prstGeom>
          <a:solidFill>
            <a:srgbClr val="00C8FF"/>
          </a:solidFill>
          <a:ln w="1016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matrix-note"/>
          <p:cNvSpPr txBox="1"/>
          <p:nvPr/>
        </p:nvSpPr>
        <p:spPr>
          <a:xfrm>
            <a:off x="9089136" y="4800600"/>
            <a:ext cx="2267712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00" b="0" lang="en-US">
                <a:solidFill>
                  <a:srgbClr val="7DCEEA"/>
                </a:solidFill>
                <a:latin typeface="Consolas"/>
              </a:rPr>
              <a:t>Editable table and quality geometry share one governed frame.</a:t>
            </a:r>
          </a:p>
        </p:txBody>
      </p:sp>
      <p:sp>
        <p:nvSpPr>
          <p:cNvPr id="49" name="flow-label-0"/>
          <p:cNvSpPr txBox="1"/>
          <p:nvPr/>
        </p:nvSpPr>
        <p:spPr>
          <a:xfrm>
            <a:off x="566928" y="5852160"/>
            <a:ext cx="137160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50" b="1" lang="en-US">
                <a:solidFill>
                  <a:srgbClr val="00C8FF"/>
                </a:solidFill>
                <a:latin typeface="Consolas"/>
              </a:rPr>
              <a:t>Lock</a:t>
            </a:r>
          </a:p>
        </p:txBody>
      </p:sp>
      <p:sp>
        <p:nvSpPr>
          <p:cNvPr id="50" name="flow-label-1"/>
          <p:cNvSpPr txBox="1"/>
          <p:nvPr/>
        </p:nvSpPr>
        <p:spPr>
          <a:xfrm>
            <a:off x="2459736" y="5852160"/>
            <a:ext cx="137160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50" b="1" lang="en-US">
                <a:solidFill>
                  <a:srgbClr val="00C8FF"/>
                </a:solidFill>
                <a:latin typeface="Consolas"/>
              </a:rPr>
              <a:t>Compose</a:t>
            </a:r>
          </a:p>
        </p:txBody>
      </p:sp>
      <p:sp>
        <p:nvSpPr>
          <p:cNvPr id="51" name="flow-label-2"/>
          <p:cNvSpPr txBox="1"/>
          <p:nvPr/>
        </p:nvSpPr>
        <p:spPr>
          <a:xfrm>
            <a:off x="4352544" y="5852160"/>
            <a:ext cx="137160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50" b="1" lang="en-US">
                <a:solidFill>
                  <a:srgbClr val="00C8FF"/>
                </a:solidFill>
                <a:latin typeface="Consolas"/>
              </a:rPr>
              <a:t>Validate</a:t>
            </a:r>
          </a:p>
        </p:txBody>
      </p:sp>
      <p:sp>
        <p:nvSpPr>
          <p:cNvPr id="52" name="flow-label-3"/>
          <p:cNvSpPr txBox="1"/>
          <p:nvPr/>
        </p:nvSpPr>
        <p:spPr>
          <a:xfrm>
            <a:off x="6245352" y="5852160"/>
            <a:ext cx="137160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50" b="1" lang="en-US">
                <a:solidFill>
                  <a:srgbClr val="00C8FF"/>
                </a:solidFill>
                <a:latin typeface="Consolas"/>
              </a:rPr>
              <a:t>Render</a:t>
            </a:r>
          </a:p>
        </p:txBody>
      </p:sp>
      <p:sp>
        <p:nvSpPr>
          <p:cNvPr id="53" name="flow-label-4"/>
          <p:cNvSpPr txBox="1"/>
          <p:nvPr/>
        </p:nvSpPr>
        <p:spPr>
          <a:xfrm>
            <a:off x="8138160" y="5852160"/>
            <a:ext cx="137160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50" b="1" lang="en-US">
                <a:solidFill>
                  <a:srgbClr val="00C8FF"/>
                </a:solidFill>
                <a:latin typeface="Consolas"/>
              </a:rPr>
              <a:t>Inspect</a:t>
            </a:r>
          </a:p>
        </p:txBody>
      </p:sp>
      <p:sp>
        <p:nvSpPr>
          <p:cNvPr id="54" name="flow-label-5"/>
          <p:cNvSpPr txBox="1"/>
          <p:nvPr/>
        </p:nvSpPr>
        <p:spPr>
          <a:xfrm>
            <a:off x="10030968" y="5852160"/>
            <a:ext cx="137160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50" b="1" lang="en-US">
                <a:solidFill>
                  <a:srgbClr val="00C8FF"/>
                </a:solidFill>
                <a:latin typeface="Consolas"/>
              </a:rPr>
              <a:t>Publish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50D"/>
          </a:solidFill>
          <a:ln w="10160">
            <a:solidFill>
              <a:srgbClr val="0305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olo-ring-0"/>
          <p:cNvSpPr/>
          <p:nvPr/>
        </p:nvSpPr>
        <p:spPr>
          <a:xfrm>
            <a:off x="7863840" y="1874519"/>
            <a:ext cx="3291840" cy="3291840"/>
          </a:xfrm>
          <a:prstGeom prst="ellipse">
            <a:avLst/>
          </a:prstGeom>
          <a:solidFill>
            <a:srgbClr val="03050D"/>
          </a:solidFill>
          <a:ln w="1016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olo-ring-1"/>
          <p:cNvSpPr/>
          <p:nvPr/>
        </p:nvSpPr>
        <p:spPr>
          <a:xfrm>
            <a:off x="8366760" y="2377440"/>
            <a:ext cx="2286000" cy="2286000"/>
          </a:xfrm>
          <a:prstGeom prst="ellipse">
            <a:avLst/>
          </a:prstGeom>
          <a:solidFill>
            <a:srgbClr val="03050D"/>
          </a:solidFill>
          <a:ln w="1016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holo-ring-2"/>
          <p:cNvSpPr/>
          <p:nvPr/>
        </p:nvSpPr>
        <p:spPr>
          <a:xfrm>
            <a:off x="8869680" y="2880360"/>
            <a:ext cx="1280160" cy="1280160"/>
          </a:xfrm>
          <a:prstGeom prst="ellipse">
            <a:avLst/>
          </a:prstGeom>
          <a:solidFill>
            <a:srgbClr val="03050D"/>
          </a:solidFill>
          <a:ln w="1016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op-band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C8FF"/>
          </a:solidFill>
          <a:ln w="1016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ortfolio-0-shell"/>
          <p:cNvSpPr/>
          <p:nvPr/>
        </p:nvSpPr>
        <p:spPr>
          <a:xfrm>
            <a:off x="457200" y="1097280"/>
            <a:ext cx="2395728" cy="2057400"/>
          </a:xfrm>
          <a:prstGeom prst="rect">
            <a:avLst/>
          </a:prstGeom>
          <a:solidFill>
            <a:srgbClr val="071827"/>
          </a:solidFill>
          <a:ln w="10160">
            <a:solidFill>
              <a:srgbClr val="1751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ortfolio-1-shell"/>
          <p:cNvSpPr/>
          <p:nvPr/>
        </p:nvSpPr>
        <p:spPr>
          <a:xfrm>
            <a:off x="3054096" y="1097280"/>
            <a:ext cx="2395728" cy="2057400"/>
          </a:xfrm>
          <a:prstGeom prst="rect">
            <a:avLst/>
          </a:prstGeom>
          <a:solidFill>
            <a:srgbClr val="071827"/>
          </a:solidFill>
          <a:ln w="10160">
            <a:solidFill>
              <a:srgbClr val="1751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ortfolio-2-shell"/>
          <p:cNvSpPr/>
          <p:nvPr/>
        </p:nvSpPr>
        <p:spPr>
          <a:xfrm>
            <a:off x="5650992" y="1097280"/>
            <a:ext cx="2395728" cy="2057400"/>
          </a:xfrm>
          <a:prstGeom prst="rect">
            <a:avLst/>
          </a:prstGeom>
          <a:solidFill>
            <a:srgbClr val="071827"/>
          </a:solidFill>
          <a:ln w="10160">
            <a:solidFill>
              <a:srgbClr val="1751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ortfolio-3-shell"/>
          <p:cNvSpPr/>
          <p:nvPr/>
        </p:nvSpPr>
        <p:spPr>
          <a:xfrm>
            <a:off x="457200" y="3429000"/>
            <a:ext cx="2395728" cy="2057400"/>
          </a:xfrm>
          <a:prstGeom prst="rect">
            <a:avLst/>
          </a:prstGeom>
          <a:solidFill>
            <a:srgbClr val="071827"/>
          </a:solidFill>
          <a:ln w="10160">
            <a:solidFill>
              <a:srgbClr val="1751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portfolio-4-shell"/>
          <p:cNvSpPr/>
          <p:nvPr/>
        </p:nvSpPr>
        <p:spPr>
          <a:xfrm>
            <a:off x="3054096" y="3429000"/>
            <a:ext cx="2395728" cy="2057400"/>
          </a:xfrm>
          <a:prstGeom prst="rect">
            <a:avLst/>
          </a:prstGeom>
          <a:solidFill>
            <a:srgbClr val="071827"/>
          </a:solidFill>
          <a:ln w="10160">
            <a:solidFill>
              <a:srgbClr val="1751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portfolio-5-shell"/>
          <p:cNvSpPr/>
          <p:nvPr/>
        </p:nvSpPr>
        <p:spPr>
          <a:xfrm>
            <a:off x="5650992" y="3429000"/>
            <a:ext cx="2395728" cy="2057400"/>
          </a:xfrm>
          <a:prstGeom prst="rect">
            <a:avLst/>
          </a:prstGeom>
          <a:solidFill>
            <a:srgbClr val="071827"/>
          </a:solidFill>
          <a:ln w="10160">
            <a:solidFill>
              <a:srgbClr val="1751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ortfolio-rail-shell"/>
          <p:cNvSpPr/>
          <p:nvPr/>
        </p:nvSpPr>
        <p:spPr>
          <a:xfrm>
            <a:off x="8458200" y="1097280"/>
            <a:ext cx="3273552" cy="4892040"/>
          </a:xfrm>
          <a:prstGeom prst="rect">
            <a:avLst/>
          </a:prstGeom>
          <a:solidFill>
            <a:srgbClr val="0A2236"/>
          </a:solidFill>
          <a:ln w="10160">
            <a:solidFill>
              <a:srgbClr val="1751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holo-scan"/>
          <p:cNvSpPr/>
          <p:nvPr/>
        </p:nvSpPr>
        <p:spPr>
          <a:xfrm>
            <a:off x="7818120" y="3511296"/>
            <a:ext cx="3840480" cy="22860"/>
          </a:xfrm>
          <a:prstGeom prst="rect">
            <a:avLst/>
          </a:prstGeom>
          <a:solidFill>
            <a:srgbClr val="00C8FF"/>
          </a:solidFill>
          <a:ln w="1016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portfolio-0-accent"/>
          <p:cNvSpPr/>
          <p:nvPr/>
        </p:nvSpPr>
        <p:spPr>
          <a:xfrm>
            <a:off x="457200" y="1097280"/>
            <a:ext cx="73152" cy="2057400"/>
          </a:xfrm>
          <a:prstGeom prst="rect">
            <a:avLst/>
          </a:prstGeom>
          <a:solidFill>
            <a:srgbClr val="00C8FF"/>
          </a:solidFill>
          <a:ln w="1016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portfolio-1-accent"/>
          <p:cNvSpPr/>
          <p:nvPr/>
        </p:nvSpPr>
        <p:spPr>
          <a:xfrm>
            <a:off x="3054096" y="1097280"/>
            <a:ext cx="73152" cy="2057400"/>
          </a:xfrm>
          <a:prstGeom prst="rect">
            <a:avLst/>
          </a:prstGeom>
          <a:solidFill>
            <a:srgbClr val="00C8FF"/>
          </a:solidFill>
          <a:ln w="1016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portfolio-2-accent"/>
          <p:cNvSpPr/>
          <p:nvPr/>
        </p:nvSpPr>
        <p:spPr>
          <a:xfrm>
            <a:off x="5650992" y="1097280"/>
            <a:ext cx="73152" cy="2057400"/>
          </a:xfrm>
          <a:prstGeom prst="rect">
            <a:avLst/>
          </a:prstGeom>
          <a:solidFill>
            <a:srgbClr val="00C8FF"/>
          </a:solidFill>
          <a:ln w="1016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portfolio-3-accent"/>
          <p:cNvSpPr/>
          <p:nvPr/>
        </p:nvSpPr>
        <p:spPr>
          <a:xfrm>
            <a:off x="457200" y="3429000"/>
            <a:ext cx="73152" cy="2057400"/>
          </a:xfrm>
          <a:prstGeom prst="rect">
            <a:avLst/>
          </a:prstGeom>
          <a:solidFill>
            <a:srgbClr val="00C8FF"/>
          </a:solidFill>
          <a:ln w="1016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portfolio-4-accent"/>
          <p:cNvSpPr/>
          <p:nvPr/>
        </p:nvSpPr>
        <p:spPr>
          <a:xfrm>
            <a:off x="3054096" y="3429000"/>
            <a:ext cx="73152" cy="2057400"/>
          </a:xfrm>
          <a:prstGeom prst="rect">
            <a:avLst/>
          </a:prstGeom>
          <a:solidFill>
            <a:srgbClr val="00C8FF"/>
          </a:solidFill>
          <a:ln w="1016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portfolio-5-accent"/>
          <p:cNvSpPr/>
          <p:nvPr/>
        </p:nvSpPr>
        <p:spPr>
          <a:xfrm>
            <a:off x="5650992" y="3429000"/>
            <a:ext cx="73152" cy="2057400"/>
          </a:xfrm>
          <a:prstGeom prst="rect">
            <a:avLst/>
          </a:prstGeom>
          <a:solidFill>
            <a:srgbClr val="00C8FF"/>
          </a:solidFill>
          <a:ln w="1016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portfolio-rail-accent"/>
          <p:cNvSpPr/>
          <p:nvPr/>
        </p:nvSpPr>
        <p:spPr>
          <a:xfrm>
            <a:off x="8458200" y="1097280"/>
            <a:ext cx="73152" cy="4892040"/>
          </a:xfrm>
          <a:prstGeom prst="rect">
            <a:avLst/>
          </a:prstGeom>
          <a:solidFill>
            <a:srgbClr val="00C8FF"/>
          </a:solidFill>
          <a:ln w="1016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portfolio-micro-0-0"/>
          <p:cNvSpPr/>
          <p:nvPr/>
        </p:nvSpPr>
        <p:spPr>
          <a:xfrm>
            <a:off x="676656" y="2139696"/>
            <a:ext cx="859536" cy="256032"/>
          </a:xfrm>
          <a:prstGeom prst="roundRect">
            <a:avLst/>
          </a:prstGeom>
          <a:solidFill>
            <a:srgbClr val="0A2236"/>
          </a:solidFill>
          <a:ln w="1016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portfolio-micro-0-1"/>
          <p:cNvSpPr/>
          <p:nvPr/>
        </p:nvSpPr>
        <p:spPr>
          <a:xfrm>
            <a:off x="1664208" y="2139696"/>
            <a:ext cx="859536" cy="256032"/>
          </a:xfrm>
          <a:prstGeom prst="roundRect">
            <a:avLst/>
          </a:prstGeom>
          <a:solidFill>
            <a:srgbClr val="0A2236"/>
          </a:solidFill>
          <a:ln w="1016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portfolio-micro-0-2"/>
          <p:cNvSpPr/>
          <p:nvPr/>
        </p:nvSpPr>
        <p:spPr>
          <a:xfrm>
            <a:off x="676656" y="2523744"/>
            <a:ext cx="859536" cy="256032"/>
          </a:xfrm>
          <a:prstGeom prst="roundRect">
            <a:avLst/>
          </a:prstGeom>
          <a:solidFill>
            <a:srgbClr val="0A2236"/>
          </a:solidFill>
          <a:ln w="1016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portfolio-micro-0-3"/>
          <p:cNvSpPr/>
          <p:nvPr/>
        </p:nvSpPr>
        <p:spPr>
          <a:xfrm>
            <a:off x="1664208" y="2523744"/>
            <a:ext cx="859536" cy="256032"/>
          </a:xfrm>
          <a:prstGeom prst="roundRect">
            <a:avLst/>
          </a:prstGeom>
          <a:solidFill>
            <a:srgbClr val="0A2236"/>
          </a:solidFill>
          <a:ln w="1016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portfolio-micro-1-0"/>
          <p:cNvSpPr/>
          <p:nvPr/>
        </p:nvSpPr>
        <p:spPr>
          <a:xfrm>
            <a:off x="3273552" y="2139696"/>
            <a:ext cx="859536" cy="256032"/>
          </a:xfrm>
          <a:prstGeom prst="roundRect">
            <a:avLst/>
          </a:prstGeom>
          <a:solidFill>
            <a:srgbClr val="0A2236"/>
          </a:solidFill>
          <a:ln w="1016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portfolio-micro-1-1"/>
          <p:cNvSpPr/>
          <p:nvPr/>
        </p:nvSpPr>
        <p:spPr>
          <a:xfrm>
            <a:off x="4261104" y="2139696"/>
            <a:ext cx="859536" cy="256032"/>
          </a:xfrm>
          <a:prstGeom prst="roundRect">
            <a:avLst/>
          </a:prstGeom>
          <a:solidFill>
            <a:srgbClr val="0A2236"/>
          </a:solidFill>
          <a:ln w="1016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portfolio-micro-1-2"/>
          <p:cNvSpPr/>
          <p:nvPr/>
        </p:nvSpPr>
        <p:spPr>
          <a:xfrm>
            <a:off x="3273552" y="2523744"/>
            <a:ext cx="859536" cy="256032"/>
          </a:xfrm>
          <a:prstGeom prst="roundRect">
            <a:avLst/>
          </a:prstGeom>
          <a:solidFill>
            <a:srgbClr val="0A2236"/>
          </a:solidFill>
          <a:ln w="1016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portfolio-micro-1-3"/>
          <p:cNvSpPr/>
          <p:nvPr/>
        </p:nvSpPr>
        <p:spPr>
          <a:xfrm>
            <a:off x="4261104" y="2523744"/>
            <a:ext cx="859536" cy="256032"/>
          </a:xfrm>
          <a:prstGeom prst="roundRect">
            <a:avLst/>
          </a:prstGeom>
          <a:solidFill>
            <a:srgbClr val="0A2236"/>
          </a:solidFill>
          <a:ln w="1016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portfolio-micro-2-0"/>
          <p:cNvSpPr/>
          <p:nvPr/>
        </p:nvSpPr>
        <p:spPr>
          <a:xfrm>
            <a:off x="5870448" y="2139696"/>
            <a:ext cx="859536" cy="256032"/>
          </a:xfrm>
          <a:prstGeom prst="roundRect">
            <a:avLst/>
          </a:prstGeom>
          <a:solidFill>
            <a:srgbClr val="0A2236"/>
          </a:solidFill>
          <a:ln w="1016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portfolio-micro-2-1"/>
          <p:cNvSpPr/>
          <p:nvPr/>
        </p:nvSpPr>
        <p:spPr>
          <a:xfrm>
            <a:off x="6858000" y="2139696"/>
            <a:ext cx="859536" cy="256032"/>
          </a:xfrm>
          <a:prstGeom prst="roundRect">
            <a:avLst/>
          </a:prstGeom>
          <a:solidFill>
            <a:srgbClr val="0A2236"/>
          </a:solidFill>
          <a:ln w="1016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portfolio-micro-2-2"/>
          <p:cNvSpPr/>
          <p:nvPr/>
        </p:nvSpPr>
        <p:spPr>
          <a:xfrm>
            <a:off x="5870448" y="2523744"/>
            <a:ext cx="859536" cy="256032"/>
          </a:xfrm>
          <a:prstGeom prst="roundRect">
            <a:avLst/>
          </a:prstGeom>
          <a:solidFill>
            <a:srgbClr val="0A2236"/>
          </a:solidFill>
          <a:ln w="1016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portfolio-micro-2-3"/>
          <p:cNvSpPr/>
          <p:nvPr/>
        </p:nvSpPr>
        <p:spPr>
          <a:xfrm>
            <a:off x="6858000" y="2523744"/>
            <a:ext cx="859536" cy="256032"/>
          </a:xfrm>
          <a:prstGeom prst="roundRect">
            <a:avLst/>
          </a:prstGeom>
          <a:solidFill>
            <a:srgbClr val="0A2236"/>
          </a:solidFill>
          <a:ln w="1016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portfolio-micro-3-0"/>
          <p:cNvSpPr/>
          <p:nvPr/>
        </p:nvSpPr>
        <p:spPr>
          <a:xfrm>
            <a:off x="676656" y="4471416"/>
            <a:ext cx="859536" cy="256032"/>
          </a:xfrm>
          <a:prstGeom prst="roundRect">
            <a:avLst/>
          </a:prstGeom>
          <a:solidFill>
            <a:srgbClr val="0A2236"/>
          </a:solidFill>
          <a:ln w="1016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portfolio-micro-3-1"/>
          <p:cNvSpPr/>
          <p:nvPr/>
        </p:nvSpPr>
        <p:spPr>
          <a:xfrm>
            <a:off x="1664208" y="4471416"/>
            <a:ext cx="859536" cy="256032"/>
          </a:xfrm>
          <a:prstGeom prst="roundRect">
            <a:avLst/>
          </a:prstGeom>
          <a:solidFill>
            <a:srgbClr val="0A2236"/>
          </a:solidFill>
          <a:ln w="1016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portfolio-micro-3-2"/>
          <p:cNvSpPr/>
          <p:nvPr/>
        </p:nvSpPr>
        <p:spPr>
          <a:xfrm>
            <a:off x="676656" y="4855464"/>
            <a:ext cx="859536" cy="256032"/>
          </a:xfrm>
          <a:prstGeom prst="roundRect">
            <a:avLst/>
          </a:prstGeom>
          <a:solidFill>
            <a:srgbClr val="0A2236"/>
          </a:solidFill>
          <a:ln w="1016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portfolio-micro-3-3"/>
          <p:cNvSpPr/>
          <p:nvPr/>
        </p:nvSpPr>
        <p:spPr>
          <a:xfrm>
            <a:off x="1664208" y="4855464"/>
            <a:ext cx="859536" cy="256032"/>
          </a:xfrm>
          <a:prstGeom prst="roundRect">
            <a:avLst/>
          </a:prstGeom>
          <a:solidFill>
            <a:srgbClr val="0A2236"/>
          </a:solidFill>
          <a:ln w="1016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portfolio-micro-4-0"/>
          <p:cNvSpPr/>
          <p:nvPr/>
        </p:nvSpPr>
        <p:spPr>
          <a:xfrm>
            <a:off x="3273552" y="4471416"/>
            <a:ext cx="859536" cy="256032"/>
          </a:xfrm>
          <a:prstGeom prst="roundRect">
            <a:avLst/>
          </a:prstGeom>
          <a:solidFill>
            <a:srgbClr val="0A2236"/>
          </a:solidFill>
          <a:ln w="1016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portfolio-micro-4-1"/>
          <p:cNvSpPr/>
          <p:nvPr/>
        </p:nvSpPr>
        <p:spPr>
          <a:xfrm>
            <a:off x="4261104" y="4471416"/>
            <a:ext cx="859536" cy="256032"/>
          </a:xfrm>
          <a:prstGeom prst="roundRect">
            <a:avLst/>
          </a:prstGeom>
          <a:solidFill>
            <a:srgbClr val="0A2236"/>
          </a:solidFill>
          <a:ln w="1016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portfolio-micro-4-2"/>
          <p:cNvSpPr/>
          <p:nvPr/>
        </p:nvSpPr>
        <p:spPr>
          <a:xfrm>
            <a:off x="3273552" y="4855464"/>
            <a:ext cx="859536" cy="256032"/>
          </a:xfrm>
          <a:prstGeom prst="roundRect">
            <a:avLst/>
          </a:prstGeom>
          <a:solidFill>
            <a:srgbClr val="0A2236"/>
          </a:solidFill>
          <a:ln w="1016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portfolio-micro-4-3"/>
          <p:cNvSpPr/>
          <p:nvPr/>
        </p:nvSpPr>
        <p:spPr>
          <a:xfrm>
            <a:off x="4261104" y="4855464"/>
            <a:ext cx="859536" cy="256032"/>
          </a:xfrm>
          <a:prstGeom prst="roundRect">
            <a:avLst/>
          </a:prstGeom>
          <a:solidFill>
            <a:srgbClr val="0A2236"/>
          </a:solidFill>
          <a:ln w="1016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portfolio-micro-5-0"/>
          <p:cNvSpPr/>
          <p:nvPr/>
        </p:nvSpPr>
        <p:spPr>
          <a:xfrm>
            <a:off x="5870448" y="4471416"/>
            <a:ext cx="859536" cy="256032"/>
          </a:xfrm>
          <a:prstGeom prst="roundRect">
            <a:avLst/>
          </a:prstGeom>
          <a:solidFill>
            <a:srgbClr val="0A2236"/>
          </a:solidFill>
          <a:ln w="1016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portfolio-micro-5-1"/>
          <p:cNvSpPr/>
          <p:nvPr/>
        </p:nvSpPr>
        <p:spPr>
          <a:xfrm>
            <a:off x="6858000" y="4471416"/>
            <a:ext cx="859536" cy="256032"/>
          </a:xfrm>
          <a:prstGeom prst="roundRect">
            <a:avLst/>
          </a:prstGeom>
          <a:solidFill>
            <a:srgbClr val="0A2236"/>
          </a:solidFill>
          <a:ln w="1016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portfolio-micro-5-2"/>
          <p:cNvSpPr/>
          <p:nvPr/>
        </p:nvSpPr>
        <p:spPr>
          <a:xfrm>
            <a:off x="5870448" y="4855464"/>
            <a:ext cx="859536" cy="256032"/>
          </a:xfrm>
          <a:prstGeom prst="roundRect">
            <a:avLst/>
          </a:prstGeom>
          <a:solidFill>
            <a:srgbClr val="0A2236"/>
          </a:solidFill>
          <a:ln w="1016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portfolio-micro-5-3"/>
          <p:cNvSpPr/>
          <p:nvPr/>
        </p:nvSpPr>
        <p:spPr>
          <a:xfrm>
            <a:off x="6858000" y="4855464"/>
            <a:ext cx="859536" cy="256032"/>
          </a:xfrm>
          <a:prstGeom prst="roundRect">
            <a:avLst/>
          </a:prstGeom>
          <a:solidFill>
            <a:srgbClr val="0A2236"/>
          </a:solidFill>
          <a:ln w="1016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lease-cell-0"/>
          <p:cNvSpPr/>
          <p:nvPr/>
        </p:nvSpPr>
        <p:spPr>
          <a:xfrm>
            <a:off x="8723376" y="1737360"/>
            <a:ext cx="2697480" cy="512064"/>
          </a:xfrm>
          <a:prstGeom prst="roundRect">
            <a:avLst/>
          </a:prstGeom>
          <a:solidFill>
            <a:srgbClr val="071827"/>
          </a:solidFill>
          <a:ln w="10160">
            <a:solidFill>
              <a:srgbClr val="1751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lease-cell-1"/>
          <p:cNvSpPr/>
          <p:nvPr/>
        </p:nvSpPr>
        <p:spPr>
          <a:xfrm>
            <a:off x="8723376" y="2432304"/>
            <a:ext cx="2697480" cy="512064"/>
          </a:xfrm>
          <a:prstGeom prst="roundRect">
            <a:avLst/>
          </a:prstGeom>
          <a:solidFill>
            <a:srgbClr val="071827"/>
          </a:solidFill>
          <a:ln w="10160">
            <a:solidFill>
              <a:srgbClr val="1751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lease-cell-2"/>
          <p:cNvSpPr/>
          <p:nvPr/>
        </p:nvSpPr>
        <p:spPr>
          <a:xfrm>
            <a:off x="8723376" y="3127248"/>
            <a:ext cx="2697480" cy="512064"/>
          </a:xfrm>
          <a:prstGeom prst="roundRect">
            <a:avLst/>
          </a:prstGeom>
          <a:solidFill>
            <a:srgbClr val="071827"/>
          </a:solidFill>
          <a:ln w="10160">
            <a:solidFill>
              <a:srgbClr val="1751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lease-cell-3"/>
          <p:cNvSpPr/>
          <p:nvPr/>
        </p:nvSpPr>
        <p:spPr>
          <a:xfrm>
            <a:off x="8723376" y="3822191"/>
            <a:ext cx="2697480" cy="512064"/>
          </a:xfrm>
          <a:prstGeom prst="roundRect">
            <a:avLst/>
          </a:prstGeom>
          <a:solidFill>
            <a:srgbClr val="071827"/>
          </a:solidFill>
          <a:ln w="10160">
            <a:solidFill>
              <a:srgbClr val="1751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lease-cell-4"/>
          <p:cNvSpPr/>
          <p:nvPr/>
        </p:nvSpPr>
        <p:spPr>
          <a:xfrm>
            <a:off x="8723376" y="4517136"/>
            <a:ext cx="2697480" cy="512064"/>
          </a:xfrm>
          <a:prstGeom prst="roundRect">
            <a:avLst/>
          </a:prstGeom>
          <a:solidFill>
            <a:srgbClr val="071827"/>
          </a:solidFill>
          <a:ln w="10160">
            <a:solidFill>
              <a:srgbClr val="1751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portfolio-banner"/>
          <p:cNvSpPr/>
          <p:nvPr/>
        </p:nvSpPr>
        <p:spPr>
          <a:xfrm>
            <a:off x="457200" y="5559552"/>
            <a:ext cx="7882127" cy="438912"/>
          </a:xfrm>
          <a:prstGeom prst="roundRect">
            <a:avLst/>
          </a:prstGeom>
          <a:solidFill>
            <a:srgbClr val="00C8FF"/>
          </a:solidFill>
          <a:ln w="1016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profile-tag"/>
          <p:cNvSpPr txBox="1"/>
          <p:nvPr/>
        </p:nvSpPr>
        <p:spPr>
          <a:xfrm>
            <a:off x="457200" y="201168"/>
            <a:ext cx="768096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1" lang="en-US">
                <a:solidFill>
                  <a:srgbClr val="00C8FF"/>
                </a:solidFill>
                <a:latin typeface="Consolas"/>
              </a:rPr>
              <a:t>V3 STRESS SUITE  ·  SCIFI HOLOGRAPHIC DATA  ·  PORTFOLIO GRID</a:t>
            </a:r>
          </a:p>
        </p:txBody>
      </p:sp>
      <p:sp>
        <p:nvSpPr>
          <p:cNvPr id="53" name="slide-index"/>
          <p:cNvSpPr txBox="1"/>
          <p:nvPr/>
        </p:nvSpPr>
        <p:spPr>
          <a:xfrm>
            <a:off x="10808208" y="201168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00" b="1" lang="en-US">
                <a:solidFill>
                  <a:srgbClr val="7DCEEA"/>
                </a:solidFill>
                <a:latin typeface="Consolas"/>
              </a:rPr>
              <a:t>59/60</a:t>
            </a:r>
          </a:p>
        </p:txBody>
      </p:sp>
      <p:sp>
        <p:nvSpPr>
          <p:cNvPr id="54" name="title"/>
          <p:cNvSpPr txBox="1"/>
          <p:nvPr/>
        </p:nvSpPr>
        <p:spPr>
          <a:xfrm>
            <a:off x="457200" y="484632"/>
            <a:ext cx="11274552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200" b="1" lang="en-US">
                <a:solidFill>
                  <a:srgbClr val="00C8FF"/>
                </a:solidFill>
                <a:latin typeface="Consolas"/>
              </a:rPr>
              <a:t>Portfolio grids compress six validated capability views into one scan</a:t>
            </a:r>
          </a:p>
        </p:txBody>
      </p:sp>
      <p:sp>
        <p:nvSpPr>
          <p:cNvPr id="55" name="footer"/>
          <p:cNvSpPr txBox="1"/>
          <p:nvPr/>
        </p:nvSpPr>
        <p:spPr>
          <a:xfrm>
            <a:off x="457200" y="6473952"/>
            <a:ext cx="1051560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0" lang="en-US">
                <a:solidFill>
                  <a:srgbClr val="7DCEEA"/>
                </a:solidFill>
                <a:latin typeface="Consolas"/>
              </a:rPr>
              <a:t>Native-object stress fixture · monochromatic cyan rings, scan line, and precision data labels · editable geometry and recorded style lock</a:t>
            </a:r>
          </a:p>
        </p:txBody>
      </p:sp>
      <p:sp>
        <p:nvSpPr>
          <p:cNvPr id="56" name="portfolio-num-0"/>
          <p:cNvSpPr txBox="1"/>
          <p:nvPr/>
        </p:nvSpPr>
        <p:spPr>
          <a:xfrm>
            <a:off x="676656" y="1298448"/>
            <a:ext cx="566928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1" lang="en-US">
                <a:solidFill>
                  <a:srgbClr val="00C8FF"/>
                </a:solidFill>
                <a:latin typeface="Consolas"/>
              </a:rPr>
              <a:t>01</a:t>
            </a:r>
          </a:p>
        </p:txBody>
      </p:sp>
      <p:sp>
        <p:nvSpPr>
          <p:cNvPr id="57" name="portfolio-name-0"/>
          <p:cNvSpPr txBox="1"/>
          <p:nvPr/>
        </p:nvSpPr>
        <p:spPr>
          <a:xfrm>
            <a:off x="676656" y="1719072"/>
            <a:ext cx="192024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50" b="1" lang="en-US">
                <a:solidFill>
                  <a:srgbClr val="00C8FF"/>
                </a:solidFill>
                <a:latin typeface="Consolas"/>
              </a:rPr>
              <a:t>Profile lock</a:t>
            </a:r>
          </a:p>
        </p:txBody>
      </p:sp>
      <p:sp>
        <p:nvSpPr>
          <p:cNvPr id="58" name="portfolio-micro-label-0-0"/>
          <p:cNvSpPr txBox="1"/>
          <p:nvPr/>
        </p:nvSpPr>
        <p:spPr>
          <a:xfrm>
            <a:off x="722376" y="2208276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00C8FF"/>
                </a:solidFill>
                <a:latin typeface="Consolas"/>
              </a:rPr>
              <a:t>spec</a:t>
            </a:r>
          </a:p>
        </p:txBody>
      </p:sp>
      <p:sp>
        <p:nvSpPr>
          <p:cNvPr id="59" name="portfolio-micro-label-0-1"/>
          <p:cNvSpPr txBox="1"/>
          <p:nvPr/>
        </p:nvSpPr>
        <p:spPr>
          <a:xfrm>
            <a:off x="1709928" y="2208276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00C8FF"/>
                </a:solidFill>
                <a:latin typeface="Consolas"/>
              </a:rPr>
              <a:t>audit</a:t>
            </a:r>
          </a:p>
        </p:txBody>
      </p:sp>
      <p:sp>
        <p:nvSpPr>
          <p:cNvPr id="60" name="portfolio-micro-label-0-2"/>
          <p:cNvSpPr txBox="1"/>
          <p:nvPr/>
        </p:nvSpPr>
        <p:spPr>
          <a:xfrm>
            <a:off x="722376" y="2592324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00C8FF"/>
                </a:solidFill>
                <a:latin typeface="Consolas"/>
              </a:rPr>
              <a:t>trace</a:t>
            </a:r>
          </a:p>
        </p:txBody>
      </p:sp>
      <p:sp>
        <p:nvSpPr>
          <p:cNvPr id="61" name="portfolio-micro-label-0-3"/>
          <p:cNvSpPr txBox="1"/>
          <p:nvPr/>
        </p:nvSpPr>
        <p:spPr>
          <a:xfrm>
            <a:off x="1709928" y="2592324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00C8FF"/>
                </a:solidFill>
                <a:latin typeface="Consolas"/>
              </a:rPr>
              <a:t>pass</a:t>
            </a:r>
          </a:p>
        </p:txBody>
      </p:sp>
      <p:sp>
        <p:nvSpPr>
          <p:cNvPr id="62" name="portfolio-num-1"/>
          <p:cNvSpPr txBox="1"/>
          <p:nvPr/>
        </p:nvSpPr>
        <p:spPr>
          <a:xfrm>
            <a:off x="3273552" y="1298448"/>
            <a:ext cx="566928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1" lang="en-US">
                <a:solidFill>
                  <a:srgbClr val="00C8FF"/>
                </a:solidFill>
                <a:latin typeface="Consolas"/>
              </a:rPr>
              <a:t>02</a:t>
            </a:r>
          </a:p>
        </p:txBody>
      </p:sp>
      <p:sp>
        <p:nvSpPr>
          <p:cNvPr id="63" name="portfolio-name-1"/>
          <p:cNvSpPr txBox="1"/>
          <p:nvPr/>
        </p:nvSpPr>
        <p:spPr>
          <a:xfrm>
            <a:off x="3273552" y="1719072"/>
            <a:ext cx="192024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50" b="1" lang="en-US">
                <a:solidFill>
                  <a:srgbClr val="00C8FF"/>
                </a:solidFill>
                <a:latin typeface="Consolas"/>
              </a:rPr>
              <a:t>Narrative</a:t>
            </a:r>
          </a:p>
        </p:txBody>
      </p:sp>
      <p:sp>
        <p:nvSpPr>
          <p:cNvPr id="64" name="portfolio-micro-label-1-0"/>
          <p:cNvSpPr txBox="1"/>
          <p:nvPr/>
        </p:nvSpPr>
        <p:spPr>
          <a:xfrm>
            <a:off x="3319272" y="2208276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00C8FF"/>
                </a:solidFill>
                <a:latin typeface="Consolas"/>
              </a:rPr>
              <a:t>spec</a:t>
            </a:r>
          </a:p>
        </p:txBody>
      </p:sp>
      <p:sp>
        <p:nvSpPr>
          <p:cNvPr id="65" name="portfolio-micro-label-1-1"/>
          <p:cNvSpPr txBox="1"/>
          <p:nvPr/>
        </p:nvSpPr>
        <p:spPr>
          <a:xfrm>
            <a:off x="4306824" y="2208276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00C8FF"/>
                </a:solidFill>
                <a:latin typeface="Consolas"/>
              </a:rPr>
              <a:t>audit</a:t>
            </a:r>
          </a:p>
        </p:txBody>
      </p:sp>
      <p:sp>
        <p:nvSpPr>
          <p:cNvPr id="66" name="portfolio-micro-label-1-2"/>
          <p:cNvSpPr txBox="1"/>
          <p:nvPr/>
        </p:nvSpPr>
        <p:spPr>
          <a:xfrm>
            <a:off x="3319272" y="2592324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00C8FF"/>
                </a:solidFill>
                <a:latin typeface="Consolas"/>
              </a:rPr>
              <a:t>trace</a:t>
            </a:r>
          </a:p>
        </p:txBody>
      </p:sp>
      <p:sp>
        <p:nvSpPr>
          <p:cNvPr id="67" name="portfolio-micro-label-1-3"/>
          <p:cNvSpPr txBox="1"/>
          <p:nvPr/>
        </p:nvSpPr>
        <p:spPr>
          <a:xfrm>
            <a:off x="4306824" y="2592324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00C8FF"/>
                </a:solidFill>
                <a:latin typeface="Consolas"/>
              </a:rPr>
              <a:t>pass</a:t>
            </a:r>
          </a:p>
        </p:txBody>
      </p:sp>
      <p:sp>
        <p:nvSpPr>
          <p:cNvPr id="68" name="portfolio-num-2"/>
          <p:cNvSpPr txBox="1"/>
          <p:nvPr/>
        </p:nvSpPr>
        <p:spPr>
          <a:xfrm>
            <a:off x="5870448" y="1298448"/>
            <a:ext cx="566928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1" lang="en-US">
                <a:solidFill>
                  <a:srgbClr val="00C8FF"/>
                </a:solidFill>
                <a:latin typeface="Consolas"/>
              </a:rPr>
              <a:t>03</a:t>
            </a:r>
          </a:p>
        </p:txBody>
      </p:sp>
      <p:sp>
        <p:nvSpPr>
          <p:cNvPr id="69" name="portfolio-name-2"/>
          <p:cNvSpPr txBox="1"/>
          <p:nvPr/>
        </p:nvSpPr>
        <p:spPr>
          <a:xfrm>
            <a:off x="5870448" y="1719072"/>
            <a:ext cx="192024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50" b="1" lang="en-US">
                <a:solidFill>
                  <a:srgbClr val="00C8FF"/>
                </a:solidFill>
                <a:latin typeface="Consolas"/>
              </a:rPr>
              <a:t>Geometry</a:t>
            </a:r>
          </a:p>
        </p:txBody>
      </p:sp>
      <p:sp>
        <p:nvSpPr>
          <p:cNvPr id="70" name="portfolio-micro-label-2-0"/>
          <p:cNvSpPr txBox="1"/>
          <p:nvPr/>
        </p:nvSpPr>
        <p:spPr>
          <a:xfrm>
            <a:off x="5916168" y="2208276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00C8FF"/>
                </a:solidFill>
                <a:latin typeface="Consolas"/>
              </a:rPr>
              <a:t>spec</a:t>
            </a:r>
          </a:p>
        </p:txBody>
      </p:sp>
      <p:sp>
        <p:nvSpPr>
          <p:cNvPr id="71" name="portfolio-micro-label-2-1"/>
          <p:cNvSpPr txBox="1"/>
          <p:nvPr/>
        </p:nvSpPr>
        <p:spPr>
          <a:xfrm>
            <a:off x="6903720" y="2208276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00C8FF"/>
                </a:solidFill>
                <a:latin typeface="Consolas"/>
              </a:rPr>
              <a:t>audit</a:t>
            </a:r>
          </a:p>
        </p:txBody>
      </p:sp>
      <p:sp>
        <p:nvSpPr>
          <p:cNvPr id="72" name="portfolio-micro-label-2-2"/>
          <p:cNvSpPr txBox="1"/>
          <p:nvPr/>
        </p:nvSpPr>
        <p:spPr>
          <a:xfrm>
            <a:off x="5916168" y="2592324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00C8FF"/>
                </a:solidFill>
                <a:latin typeface="Consolas"/>
              </a:rPr>
              <a:t>trace</a:t>
            </a:r>
          </a:p>
        </p:txBody>
      </p:sp>
      <p:sp>
        <p:nvSpPr>
          <p:cNvPr id="73" name="portfolio-micro-label-2-3"/>
          <p:cNvSpPr txBox="1"/>
          <p:nvPr/>
        </p:nvSpPr>
        <p:spPr>
          <a:xfrm>
            <a:off x="6903720" y="2592324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00C8FF"/>
                </a:solidFill>
                <a:latin typeface="Consolas"/>
              </a:rPr>
              <a:t>pass</a:t>
            </a:r>
          </a:p>
        </p:txBody>
      </p:sp>
      <p:sp>
        <p:nvSpPr>
          <p:cNvPr id="74" name="portfolio-num-3"/>
          <p:cNvSpPr txBox="1"/>
          <p:nvPr/>
        </p:nvSpPr>
        <p:spPr>
          <a:xfrm>
            <a:off x="676656" y="3630168"/>
            <a:ext cx="566928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1" lang="en-US">
                <a:solidFill>
                  <a:srgbClr val="00C8FF"/>
                </a:solidFill>
                <a:latin typeface="Consolas"/>
              </a:rPr>
              <a:t>04</a:t>
            </a:r>
          </a:p>
        </p:txBody>
      </p:sp>
      <p:sp>
        <p:nvSpPr>
          <p:cNvPr id="75" name="portfolio-name-3"/>
          <p:cNvSpPr txBox="1"/>
          <p:nvPr/>
        </p:nvSpPr>
        <p:spPr>
          <a:xfrm>
            <a:off x="676656" y="4050791"/>
            <a:ext cx="192024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50" b="1" lang="en-US">
                <a:solidFill>
                  <a:srgbClr val="00C8FF"/>
                </a:solidFill>
                <a:latin typeface="Consolas"/>
              </a:rPr>
              <a:t>Visuals</a:t>
            </a:r>
          </a:p>
        </p:txBody>
      </p:sp>
      <p:sp>
        <p:nvSpPr>
          <p:cNvPr id="76" name="portfolio-micro-label-3-0"/>
          <p:cNvSpPr txBox="1"/>
          <p:nvPr/>
        </p:nvSpPr>
        <p:spPr>
          <a:xfrm>
            <a:off x="722376" y="4539996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00C8FF"/>
                </a:solidFill>
                <a:latin typeface="Consolas"/>
              </a:rPr>
              <a:t>spec</a:t>
            </a:r>
          </a:p>
        </p:txBody>
      </p:sp>
      <p:sp>
        <p:nvSpPr>
          <p:cNvPr id="77" name="portfolio-micro-label-3-1"/>
          <p:cNvSpPr txBox="1"/>
          <p:nvPr/>
        </p:nvSpPr>
        <p:spPr>
          <a:xfrm>
            <a:off x="1709928" y="4539996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00C8FF"/>
                </a:solidFill>
                <a:latin typeface="Consolas"/>
              </a:rPr>
              <a:t>audit</a:t>
            </a:r>
          </a:p>
        </p:txBody>
      </p:sp>
      <p:sp>
        <p:nvSpPr>
          <p:cNvPr id="78" name="portfolio-micro-label-3-2"/>
          <p:cNvSpPr txBox="1"/>
          <p:nvPr/>
        </p:nvSpPr>
        <p:spPr>
          <a:xfrm>
            <a:off x="722376" y="4924044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00C8FF"/>
                </a:solidFill>
                <a:latin typeface="Consolas"/>
              </a:rPr>
              <a:t>trace</a:t>
            </a:r>
          </a:p>
        </p:txBody>
      </p:sp>
      <p:sp>
        <p:nvSpPr>
          <p:cNvPr id="79" name="portfolio-micro-label-3-3"/>
          <p:cNvSpPr txBox="1"/>
          <p:nvPr/>
        </p:nvSpPr>
        <p:spPr>
          <a:xfrm>
            <a:off x="1709928" y="4924044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00C8FF"/>
                </a:solidFill>
                <a:latin typeface="Consolas"/>
              </a:rPr>
              <a:t>pass</a:t>
            </a:r>
          </a:p>
        </p:txBody>
      </p:sp>
      <p:sp>
        <p:nvSpPr>
          <p:cNvPr id="80" name="portfolio-num-4"/>
          <p:cNvSpPr txBox="1"/>
          <p:nvPr/>
        </p:nvSpPr>
        <p:spPr>
          <a:xfrm>
            <a:off x="3273552" y="3630168"/>
            <a:ext cx="566928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1" lang="en-US">
                <a:solidFill>
                  <a:srgbClr val="00C8FF"/>
                </a:solidFill>
                <a:latin typeface="Consolas"/>
              </a:rPr>
              <a:t>05</a:t>
            </a:r>
          </a:p>
        </p:txBody>
      </p:sp>
      <p:sp>
        <p:nvSpPr>
          <p:cNvPr id="81" name="portfolio-name-4"/>
          <p:cNvSpPr txBox="1"/>
          <p:nvPr/>
        </p:nvSpPr>
        <p:spPr>
          <a:xfrm>
            <a:off x="3273552" y="4050791"/>
            <a:ext cx="192024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50" b="1" lang="en-US">
                <a:solidFill>
                  <a:srgbClr val="00C8FF"/>
                </a:solidFill>
                <a:latin typeface="Consolas"/>
              </a:rPr>
              <a:t>Accessibility</a:t>
            </a:r>
          </a:p>
        </p:txBody>
      </p:sp>
      <p:sp>
        <p:nvSpPr>
          <p:cNvPr id="82" name="portfolio-micro-label-4-0"/>
          <p:cNvSpPr txBox="1"/>
          <p:nvPr/>
        </p:nvSpPr>
        <p:spPr>
          <a:xfrm>
            <a:off x="3319272" y="4539996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00C8FF"/>
                </a:solidFill>
                <a:latin typeface="Consolas"/>
              </a:rPr>
              <a:t>spec</a:t>
            </a:r>
          </a:p>
        </p:txBody>
      </p:sp>
      <p:sp>
        <p:nvSpPr>
          <p:cNvPr id="83" name="portfolio-micro-label-4-1"/>
          <p:cNvSpPr txBox="1"/>
          <p:nvPr/>
        </p:nvSpPr>
        <p:spPr>
          <a:xfrm>
            <a:off x="4306824" y="4539996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00C8FF"/>
                </a:solidFill>
                <a:latin typeface="Consolas"/>
              </a:rPr>
              <a:t>audit</a:t>
            </a:r>
          </a:p>
        </p:txBody>
      </p:sp>
      <p:sp>
        <p:nvSpPr>
          <p:cNvPr id="84" name="portfolio-micro-label-4-2"/>
          <p:cNvSpPr txBox="1"/>
          <p:nvPr/>
        </p:nvSpPr>
        <p:spPr>
          <a:xfrm>
            <a:off x="3319272" y="4924044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00C8FF"/>
                </a:solidFill>
                <a:latin typeface="Consolas"/>
              </a:rPr>
              <a:t>trace</a:t>
            </a:r>
          </a:p>
        </p:txBody>
      </p:sp>
      <p:sp>
        <p:nvSpPr>
          <p:cNvPr id="85" name="portfolio-micro-label-4-3"/>
          <p:cNvSpPr txBox="1"/>
          <p:nvPr/>
        </p:nvSpPr>
        <p:spPr>
          <a:xfrm>
            <a:off x="4306824" y="4924044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00C8FF"/>
                </a:solidFill>
                <a:latin typeface="Consolas"/>
              </a:rPr>
              <a:t>pass</a:t>
            </a:r>
          </a:p>
        </p:txBody>
      </p:sp>
      <p:sp>
        <p:nvSpPr>
          <p:cNvPr id="86" name="portfolio-num-5"/>
          <p:cNvSpPr txBox="1"/>
          <p:nvPr/>
        </p:nvSpPr>
        <p:spPr>
          <a:xfrm>
            <a:off x="5870448" y="3630168"/>
            <a:ext cx="566928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1" lang="en-US">
                <a:solidFill>
                  <a:srgbClr val="00C8FF"/>
                </a:solidFill>
                <a:latin typeface="Consolas"/>
              </a:rPr>
              <a:t>06</a:t>
            </a:r>
          </a:p>
        </p:txBody>
      </p:sp>
      <p:sp>
        <p:nvSpPr>
          <p:cNvPr id="87" name="portfolio-name-5"/>
          <p:cNvSpPr txBox="1"/>
          <p:nvPr/>
        </p:nvSpPr>
        <p:spPr>
          <a:xfrm>
            <a:off x="5870448" y="4050791"/>
            <a:ext cx="192024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50" b="1" lang="en-US">
                <a:solidFill>
                  <a:srgbClr val="00C8FF"/>
                </a:solidFill>
                <a:latin typeface="Consolas"/>
              </a:rPr>
              <a:t>Package</a:t>
            </a:r>
          </a:p>
        </p:txBody>
      </p:sp>
      <p:sp>
        <p:nvSpPr>
          <p:cNvPr id="88" name="portfolio-micro-label-5-0"/>
          <p:cNvSpPr txBox="1"/>
          <p:nvPr/>
        </p:nvSpPr>
        <p:spPr>
          <a:xfrm>
            <a:off x="5916168" y="4539996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00C8FF"/>
                </a:solidFill>
                <a:latin typeface="Consolas"/>
              </a:rPr>
              <a:t>spec</a:t>
            </a:r>
          </a:p>
        </p:txBody>
      </p:sp>
      <p:sp>
        <p:nvSpPr>
          <p:cNvPr id="89" name="portfolio-micro-label-5-1"/>
          <p:cNvSpPr txBox="1"/>
          <p:nvPr/>
        </p:nvSpPr>
        <p:spPr>
          <a:xfrm>
            <a:off x="6903720" y="4539996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00C8FF"/>
                </a:solidFill>
                <a:latin typeface="Consolas"/>
              </a:rPr>
              <a:t>audit</a:t>
            </a:r>
          </a:p>
        </p:txBody>
      </p:sp>
      <p:sp>
        <p:nvSpPr>
          <p:cNvPr id="90" name="portfolio-micro-label-5-2"/>
          <p:cNvSpPr txBox="1"/>
          <p:nvPr/>
        </p:nvSpPr>
        <p:spPr>
          <a:xfrm>
            <a:off x="5916168" y="4924044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00C8FF"/>
                </a:solidFill>
                <a:latin typeface="Consolas"/>
              </a:rPr>
              <a:t>trace</a:t>
            </a:r>
          </a:p>
        </p:txBody>
      </p:sp>
      <p:sp>
        <p:nvSpPr>
          <p:cNvPr id="91" name="portfolio-micro-label-5-3"/>
          <p:cNvSpPr txBox="1"/>
          <p:nvPr/>
        </p:nvSpPr>
        <p:spPr>
          <a:xfrm>
            <a:off x="6903720" y="4924044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00C8FF"/>
                </a:solidFill>
                <a:latin typeface="Consolas"/>
              </a:rPr>
              <a:t>pass</a:t>
            </a:r>
          </a:p>
        </p:txBody>
      </p:sp>
      <p:sp>
        <p:nvSpPr>
          <p:cNvPr id="92" name="portfolio-rail-title"/>
          <p:cNvSpPr txBox="1"/>
          <p:nvPr/>
        </p:nvSpPr>
        <p:spPr>
          <a:xfrm>
            <a:off x="8723376" y="1325880"/>
            <a:ext cx="246888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1" lang="en-US">
                <a:solidFill>
                  <a:srgbClr val="00C8FF"/>
                </a:solidFill>
                <a:latin typeface="Consolas"/>
              </a:rPr>
              <a:t>RELEASE BOARD</a:t>
            </a:r>
          </a:p>
        </p:txBody>
      </p:sp>
      <p:sp>
        <p:nvSpPr>
          <p:cNvPr id="93" name="release-label-0"/>
          <p:cNvSpPr txBox="1"/>
          <p:nvPr/>
        </p:nvSpPr>
        <p:spPr>
          <a:xfrm>
            <a:off x="8906256" y="1847088"/>
            <a:ext cx="137160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50" b="1" lang="en-US">
                <a:solidFill>
                  <a:srgbClr val="7DCEEA"/>
                </a:solidFill>
                <a:latin typeface="Consolas"/>
              </a:rPr>
              <a:t>Layouts</a:t>
            </a:r>
          </a:p>
        </p:txBody>
      </p:sp>
      <p:sp>
        <p:nvSpPr>
          <p:cNvPr id="94" name="release-value-0"/>
          <p:cNvSpPr txBox="1"/>
          <p:nvPr/>
        </p:nvSpPr>
        <p:spPr>
          <a:xfrm>
            <a:off x="10378440" y="1828800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1100" b="1" lang="en-US">
                <a:solidFill>
                  <a:srgbClr val="00C8FF"/>
                </a:solidFill>
                <a:latin typeface="Consolas"/>
              </a:rPr>
              <a:t>60</a:t>
            </a:r>
          </a:p>
        </p:txBody>
      </p:sp>
      <p:sp>
        <p:nvSpPr>
          <p:cNvPr id="95" name="release-label-1"/>
          <p:cNvSpPr txBox="1"/>
          <p:nvPr/>
        </p:nvSpPr>
        <p:spPr>
          <a:xfrm>
            <a:off x="8906256" y="2542032"/>
            <a:ext cx="137160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50" b="1" lang="en-US">
                <a:solidFill>
                  <a:srgbClr val="7DCEEA"/>
                </a:solidFill>
                <a:latin typeface="Consolas"/>
              </a:rPr>
              <a:t>Profiles</a:t>
            </a:r>
          </a:p>
        </p:txBody>
      </p:sp>
      <p:sp>
        <p:nvSpPr>
          <p:cNvPr id="96" name="release-value-1"/>
          <p:cNvSpPr txBox="1"/>
          <p:nvPr/>
        </p:nvSpPr>
        <p:spPr>
          <a:xfrm>
            <a:off x="10378440" y="2523744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1100" b="1" lang="en-US">
                <a:solidFill>
                  <a:srgbClr val="00C8FF"/>
                </a:solidFill>
                <a:latin typeface="Consolas"/>
              </a:rPr>
              <a:t>12</a:t>
            </a:r>
          </a:p>
        </p:txBody>
      </p:sp>
      <p:sp>
        <p:nvSpPr>
          <p:cNvPr id="97" name="release-label-2"/>
          <p:cNvSpPr txBox="1"/>
          <p:nvPr/>
        </p:nvSpPr>
        <p:spPr>
          <a:xfrm>
            <a:off x="8906256" y="3236976"/>
            <a:ext cx="137160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50" b="1" lang="en-US">
                <a:solidFill>
                  <a:srgbClr val="7DCEEA"/>
                </a:solidFill>
                <a:latin typeface="Consolas"/>
              </a:rPr>
              <a:t>Gate checks</a:t>
            </a:r>
          </a:p>
        </p:txBody>
      </p:sp>
      <p:sp>
        <p:nvSpPr>
          <p:cNvPr id="98" name="release-value-2"/>
          <p:cNvSpPr txBox="1"/>
          <p:nvPr/>
        </p:nvSpPr>
        <p:spPr>
          <a:xfrm>
            <a:off x="10378440" y="3218688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1100" b="1" lang="en-US">
                <a:solidFill>
                  <a:srgbClr val="00C8FF"/>
                </a:solidFill>
                <a:latin typeface="Consolas"/>
              </a:rPr>
              <a:t>11</a:t>
            </a:r>
          </a:p>
        </p:txBody>
      </p:sp>
      <p:sp>
        <p:nvSpPr>
          <p:cNvPr id="99" name="release-label-3"/>
          <p:cNvSpPr txBox="1"/>
          <p:nvPr/>
        </p:nvSpPr>
        <p:spPr>
          <a:xfrm>
            <a:off x="8906256" y="3931920"/>
            <a:ext cx="137160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50" b="1" lang="en-US">
                <a:solidFill>
                  <a:srgbClr val="7DCEEA"/>
                </a:solidFill>
                <a:latin typeface="Consolas"/>
              </a:rPr>
              <a:t>Defects</a:t>
            </a:r>
          </a:p>
        </p:txBody>
      </p:sp>
      <p:sp>
        <p:nvSpPr>
          <p:cNvPr id="100" name="release-value-3"/>
          <p:cNvSpPr txBox="1"/>
          <p:nvPr/>
        </p:nvSpPr>
        <p:spPr>
          <a:xfrm>
            <a:off x="10378440" y="3913632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1100" b="1" lang="en-US">
                <a:solidFill>
                  <a:srgbClr val="00C8FF"/>
                </a:solidFill>
                <a:latin typeface="Consolas"/>
              </a:rPr>
              <a:t>00</a:t>
            </a:r>
          </a:p>
        </p:txBody>
      </p:sp>
      <p:sp>
        <p:nvSpPr>
          <p:cNvPr id="101" name="release-label-4"/>
          <p:cNvSpPr txBox="1"/>
          <p:nvPr/>
        </p:nvSpPr>
        <p:spPr>
          <a:xfrm>
            <a:off x="8906256" y="4626864"/>
            <a:ext cx="137160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50" b="1" lang="en-US">
                <a:solidFill>
                  <a:srgbClr val="7DCEEA"/>
                </a:solidFill>
                <a:latin typeface="Consolas"/>
              </a:rPr>
              <a:t>Evidence</a:t>
            </a:r>
          </a:p>
        </p:txBody>
      </p:sp>
      <p:sp>
        <p:nvSpPr>
          <p:cNvPr id="102" name="release-value-4"/>
          <p:cNvSpPr txBox="1"/>
          <p:nvPr/>
        </p:nvSpPr>
        <p:spPr>
          <a:xfrm>
            <a:off x="10378440" y="4608576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1100" b="1" lang="en-US">
                <a:solidFill>
                  <a:srgbClr val="00C8FF"/>
                </a:solidFill>
                <a:latin typeface="Consolas"/>
              </a:rPr>
              <a:t>native</a:t>
            </a:r>
          </a:p>
        </p:txBody>
      </p:sp>
      <p:sp>
        <p:nvSpPr>
          <p:cNvPr id="103" name="portfolio-banner-label"/>
          <p:cNvSpPr txBox="1"/>
          <p:nvPr/>
        </p:nvSpPr>
        <p:spPr>
          <a:xfrm>
            <a:off x="713232" y="5687568"/>
            <a:ext cx="740664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50" b="1" lang="en-US">
                <a:solidFill>
                  <a:srgbClr val="111111"/>
                </a:solidFill>
                <a:latin typeface="Consolas"/>
              </a:rPr>
              <a:t>Six dense tiles test nested cards, micro-labels, hierarchy, and high-information scanning.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50D"/>
          </a:solidFill>
          <a:ln w="10160">
            <a:solidFill>
              <a:srgbClr val="0305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olo-ring-0"/>
          <p:cNvSpPr/>
          <p:nvPr/>
        </p:nvSpPr>
        <p:spPr>
          <a:xfrm>
            <a:off x="7863840" y="1874519"/>
            <a:ext cx="3291840" cy="3291840"/>
          </a:xfrm>
          <a:prstGeom prst="ellipse">
            <a:avLst/>
          </a:prstGeom>
          <a:solidFill>
            <a:srgbClr val="03050D"/>
          </a:solidFill>
          <a:ln w="1016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olo-ring-1"/>
          <p:cNvSpPr/>
          <p:nvPr/>
        </p:nvSpPr>
        <p:spPr>
          <a:xfrm>
            <a:off x="8366760" y="2377440"/>
            <a:ext cx="2286000" cy="2286000"/>
          </a:xfrm>
          <a:prstGeom prst="ellipse">
            <a:avLst/>
          </a:prstGeom>
          <a:solidFill>
            <a:srgbClr val="03050D"/>
          </a:solidFill>
          <a:ln w="1016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holo-ring-2"/>
          <p:cNvSpPr/>
          <p:nvPr/>
        </p:nvSpPr>
        <p:spPr>
          <a:xfrm>
            <a:off x="8869680" y="2880360"/>
            <a:ext cx="1280160" cy="1280160"/>
          </a:xfrm>
          <a:prstGeom prst="ellipse">
            <a:avLst/>
          </a:prstGeom>
          <a:solidFill>
            <a:srgbClr val="03050D"/>
          </a:solidFill>
          <a:ln w="1016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op-band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C8FF"/>
          </a:solidFill>
          <a:ln w="1016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lane-0"/>
          <p:cNvSpPr/>
          <p:nvPr/>
        </p:nvSpPr>
        <p:spPr>
          <a:xfrm>
            <a:off x="457200" y="1097280"/>
            <a:ext cx="8458200" cy="914400"/>
          </a:xfrm>
          <a:prstGeom prst="roundRect">
            <a:avLst/>
          </a:prstGeom>
          <a:solidFill>
            <a:srgbClr val="0A2236"/>
          </a:solidFill>
          <a:ln w="10160">
            <a:solidFill>
              <a:srgbClr val="1751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lane-1"/>
          <p:cNvSpPr/>
          <p:nvPr/>
        </p:nvSpPr>
        <p:spPr>
          <a:xfrm>
            <a:off x="457200" y="2267712"/>
            <a:ext cx="8458200" cy="914400"/>
          </a:xfrm>
          <a:prstGeom prst="roundRect">
            <a:avLst/>
          </a:prstGeom>
          <a:solidFill>
            <a:srgbClr val="0A2236"/>
          </a:solidFill>
          <a:ln w="10160">
            <a:solidFill>
              <a:srgbClr val="1751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lane-2"/>
          <p:cNvSpPr/>
          <p:nvPr/>
        </p:nvSpPr>
        <p:spPr>
          <a:xfrm>
            <a:off x="457200" y="3438144"/>
            <a:ext cx="8458200" cy="914400"/>
          </a:xfrm>
          <a:prstGeom prst="roundRect">
            <a:avLst/>
          </a:prstGeom>
          <a:solidFill>
            <a:srgbClr val="0A2236"/>
          </a:solidFill>
          <a:ln w="10160">
            <a:solidFill>
              <a:srgbClr val="1751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lane-3"/>
          <p:cNvSpPr/>
          <p:nvPr/>
        </p:nvSpPr>
        <p:spPr>
          <a:xfrm>
            <a:off x="457200" y="4608576"/>
            <a:ext cx="8458200" cy="914400"/>
          </a:xfrm>
          <a:prstGeom prst="roundRect">
            <a:avLst/>
          </a:prstGeom>
          <a:solidFill>
            <a:srgbClr val="0A2236"/>
          </a:solidFill>
          <a:ln w="10160">
            <a:solidFill>
              <a:srgbClr val="1751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workbench-rail-shell"/>
          <p:cNvSpPr/>
          <p:nvPr/>
        </p:nvSpPr>
        <p:spPr>
          <a:xfrm>
            <a:off x="9189720" y="1097280"/>
            <a:ext cx="2542032" cy="4892040"/>
          </a:xfrm>
          <a:prstGeom prst="rect">
            <a:avLst/>
          </a:prstGeom>
          <a:solidFill>
            <a:srgbClr val="071827"/>
          </a:solidFill>
          <a:ln w="10160">
            <a:solidFill>
              <a:srgbClr val="1751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holo-scan"/>
          <p:cNvSpPr/>
          <p:nvPr/>
        </p:nvSpPr>
        <p:spPr>
          <a:xfrm>
            <a:off x="7818120" y="3511296"/>
            <a:ext cx="3840480" cy="22860"/>
          </a:xfrm>
          <a:prstGeom prst="rect">
            <a:avLst/>
          </a:prstGeom>
          <a:solidFill>
            <a:srgbClr val="00C8FF"/>
          </a:solidFill>
          <a:ln w="1016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lane-label-0"/>
          <p:cNvSpPr/>
          <p:nvPr/>
        </p:nvSpPr>
        <p:spPr>
          <a:xfrm>
            <a:off x="457200" y="1097280"/>
            <a:ext cx="1097280" cy="914400"/>
          </a:xfrm>
          <a:prstGeom prst="rect">
            <a:avLst/>
          </a:prstGeom>
          <a:solidFill>
            <a:srgbClr val="00C8FF"/>
          </a:solidFill>
          <a:ln w="1016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lane-label-1"/>
          <p:cNvSpPr/>
          <p:nvPr/>
        </p:nvSpPr>
        <p:spPr>
          <a:xfrm>
            <a:off x="457200" y="2267712"/>
            <a:ext cx="1097280" cy="914400"/>
          </a:xfrm>
          <a:prstGeom prst="rect">
            <a:avLst/>
          </a:prstGeom>
          <a:solidFill>
            <a:srgbClr val="00C8FF"/>
          </a:solidFill>
          <a:ln w="1016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lane-label-2"/>
          <p:cNvSpPr/>
          <p:nvPr/>
        </p:nvSpPr>
        <p:spPr>
          <a:xfrm>
            <a:off x="457200" y="3438144"/>
            <a:ext cx="1097280" cy="914400"/>
          </a:xfrm>
          <a:prstGeom prst="rect">
            <a:avLst/>
          </a:prstGeom>
          <a:solidFill>
            <a:srgbClr val="00C8FF"/>
          </a:solidFill>
          <a:ln w="1016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lane-label-3"/>
          <p:cNvSpPr/>
          <p:nvPr/>
        </p:nvSpPr>
        <p:spPr>
          <a:xfrm>
            <a:off x="457200" y="4608576"/>
            <a:ext cx="1097280" cy="914400"/>
          </a:xfrm>
          <a:prstGeom prst="rect">
            <a:avLst/>
          </a:prstGeom>
          <a:solidFill>
            <a:srgbClr val="00C8FF"/>
          </a:solidFill>
          <a:ln w="1016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workbench-rail-accent"/>
          <p:cNvSpPr/>
          <p:nvPr/>
        </p:nvSpPr>
        <p:spPr>
          <a:xfrm>
            <a:off x="9189720" y="1097280"/>
            <a:ext cx="73152" cy="4892040"/>
          </a:xfrm>
          <a:prstGeom prst="rect">
            <a:avLst/>
          </a:prstGeom>
          <a:solidFill>
            <a:srgbClr val="00C8FF"/>
          </a:solidFill>
          <a:ln w="1016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hart-axis"/>
          <p:cNvCxnSpPr/>
          <p:nvPr/>
        </p:nvCxnSpPr>
        <p:spPr>
          <a:xfrm>
            <a:off x="9400032" y="4718304"/>
            <a:ext cx="2048256" cy="0"/>
          </a:xfrm>
          <a:prstGeom prst="line">
            <a:avLst/>
          </a:prstGeom>
          <a:ln w="13970">
            <a:solidFill>
              <a:srgbClr val="1751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ask-0-0"/>
          <p:cNvSpPr/>
          <p:nvPr/>
        </p:nvSpPr>
        <p:spPr>
          <a:xfrm>
            <a:off x="1773936" y="1234440"/>
            <a:ext cx="1161288" cy="621792"/>
          </a:xfrm>
          <a:prstGeom prst="roundRect">
            <a:avLst/>
          </a:prstGeom>
          <a:solidFill>
            <a:srgbClr val="071827"/>
          </a:solidFill>
          <a:ln w="1016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ask-0-1"/>
          <p:cNvSpPr/>
          <p:nvPr/>
        </p:nvSpPr>
        <p:spPr>
          <a:xfrm>
            <a:off x="3127248" y="1234440"/>
            <a:ext cx="1161288" cy="621792"/>
          </a:xfrm>
          <a:prstGeom prst="roundRect">
            <a:avLst/>
          </a:prstGeom>
          <a:solidFill>
            <a:srgbClr val="071827"/>
          </a:solidFill>
          <a:ln w="1016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ask-0-2"/>
          <p:cNvSpPr/>
          <p:nvPr/>
        </p:nvSpPr>
        <p:spPr>
          <a:xfrm>
            <a:off x="4480560" y="1234440"/>
            <a:ext cx="1161288" cy="621792"/>
          </a:xfrm>
          <a:prstGeom prst="roundRect">
            <a:avLst/>
          </a:prstGeom>
          <a:solidFill>
            <a:srgbClr val="071827"/>
          </a:solidFill>
          <a:ln w="1016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ask-0-3"/>
          <p:cNvSpPr/>
          <p:nvPr/>
        </p:nvSpPr>
        <p:spPr>
          <a:xfrm>
            <a:off x="5833872" y="1234440"/>
            <a:ext cx="1161288" cy="621792"/>
          </a:xfrm>
          <a:prstGeom prst="roundRect">
            <a:avLst/>
          </a:prstGeom>
          <a:solidFill>
            <a:srgbClr val="071827"/>
          </a:solidFill>
          <a:ln w="1016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ask-0-4"/>
          <p:cNvSpPr/>
          <p:nvPr/>
        </p:nvSpPr>
        <p:spPr>
          <a:xfrm>
            <a:off x="7187184" y="1234440"/>
            <a:ext cx="1161288" cy="621792"/>
          </a:xfrm>
          <a:prstGeom prst="roundRect">
            <a:avLst/>
          </a:prstGeom>
          <a:solidFill>
            <a:srgbClr val="071827"/>
          </a:solidFill>
          <a:ln w="1016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ask-1-0"/>
          <p:cNvSpPr/>
          <p:nvPr/>
        </p:nvSpPr>
        <p:spPr>
          <a:xfrm>
            <a:off x="1773936" y="2404872"/>
            <a:ext cx="1161288" cy="621792"/>
          </a:xfrm>
          <a:prstGeom prst="roundRect">
            <a:avLst/>
          </a:prstGeom>
          <a:solidFill>
            <a:srgbClr val="071827"/>
          </a:solidFill>
          <a:ln w="1016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ask-1-1"/>
          <p:cNvSpPr/>
          <p:nvPr/>
        </p:nvSpPr>
        <p:spPr>
          <a:xfrm>
            <a:off x="3127248" y="2404872"/>
            <a:ext cx="1161288" cy="621792"/>
          </a:xfrm>
          <a:prstGeom prst="roundRect">
            <a:avLst/>
          </a:prstGeom>
          <a:solidFill>
            <a:srgbClr val="071827"/>
          </a:solidFill>
          <a:ln w="1016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ask-1-2"/>
          <p:cNvSpPr/>
          <p:nvPr/>
        </p:nvSpPr>
        <p:spPr>
          <a:xfrm>
            <a:off x="4480560" y="2404872"/>
            <a:ext cx="1161288" cy="621792"/>
          </a:xfrm>
          <a:prstGeom prst="roundRect">
            <a:avLst/>
          </a:prstGeom>
          <a:solidFill>
            <a:srgbClr val="071827"/>
          </a:solidFill>
          <a:ln w="1016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ask-1-3"/>
          <p:cNvSpPr/>
          <p:nvPr/>
        </p:nvSpPr>
        <p:spPr>
          <a:xfrm>
            <a:off x="5833872" y="2404872"/>
            <a:ext cx="1161288" cy="621792"/>
          </a:xfrm>
          <a:prstGeom prst="roundRect">
            <a:avLst/>
          </a:prstGeom>
          <a:solidFill>
            <a:srgbClr val="071827"/>
          </a:solidFill>
          <a:ln w="1016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ask-1-4"/>
          <p:cNvSpPr/>
          <p:nvPr/>
        </p:nvSpPr>
        <p:spPr>
          <a:xfrm>
            <a:off x="7187184" y="2404872"/>
            <a:ext cx="1161288" cy="621792"/>
          </a:xfrm>
          <a:prstGeom prst="roundRect">
            <a:avLst/>
          </a:prstGeom>
          <a:solidFill>
            <a:srgbClr val="071827"/>
          </a:solidFill>
          <a:ln w="1016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ask-2-0"/>
          <p:cNvSpPr/>
          <p:nvPr/>
        </p:nvSpPr>
        <p:spPr>
          <a:xfrm>
            <a:off x="1773936" y="3575304"/>
            <a:ext cx="1161288" cy="621792"/>
          </a:xfrm>
          <a:prstGeom prst="roundRect">
            <a:avLst/>
          </a:prstGeom>
          <a:solidFill>
            <a:srgbClr val="071827"/>
          </a:solidFill>
          <a:ln w="1016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ask-2-1"/>
          <p:cNvSpPr/>
          <p:nvPr/>
        </p:nvSpPr>
        <p:spPr>
          <a:xfrm>
            <a:off x="3127248" y="3575304"/>
            <a:ext cx="1161288" cy="621792"/>
          </a:xfrm>
          <a:prstGeom prst="roundRect">
            <a:avLst/>
          </a:prstGeom>
          <a:solidFill>
            <a:srgbClr val="071827"/>
          </a:solidFill>
          <a:ln w="1016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ask-2-2"/>
          <p:cNvSpPr/>
          <p:nvPr/>
        </p:nvSpPr>
        <p:spPr>
          <a:xfrm>
            <a:off x="4480560" y="3575304"/>
            <a:ext cx="1161288" cy="621792"/>
          </a:xfrm>
          <a:prstGeom prst="roundRect">
            <a:avLst/>
          </a:prstGeom>
          <a:solidFill>
            <a:srgbClr val="071827"/>
          </a:solidFill>
          <a:ln w="1016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ask-2-3"/>
          <p:cNvSpPr/>
          <p:nvPr/>
        </p:nvSpPr>
        <p:spPr>
          <a:xfrm>
            <a:off x="5833872" y="3575304"/>
            <a:ext cx="1161288" cy="621792"/>
          </a:xfrm>
          <a:prstGeom prst="roundRect">
            <a:avLst/>
          </a:prstGeom>
          <a:solidFill>
            <a:srgbClr val="071827"/>
          </a:solidFill>
          <a:ln w="1016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ask-2-4"/>
          <p:cNvSpPr/>
          <p:nvPr/>
        </p:nvSpPr>
        <p:spPr>
          <a:xfrm>
            <a:off x="7187184" y="3575304"/>
            <a:ext cx="1161288" cy="621792"/>
          </a:xfrm>
          <a:prstGeom prst="roundRect">
            <a:avLst/>
          </a:prstGeom>
          <a:solidFill>
            <a:srgbClr val="071827"/>
          </a:solidFill>
          <a:ln w="1016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ask-3-0"/>
          <p:cNvSpPr/>
          <p:nvPr/>
        </p:nvSpPr>
        <p:spPr>
          <a:xfrm>
            <a:off x="1773936" y="4745736"/>
            <a:ext cx="1161288" cy="621792"/>
          </a:xfrm>
          <a:prstGeom prst="roundRect">
            <a:avLst/>
          </a:prstGeom>
          <a:solidFill>
            <a:srgbClr val="071827"/>
          </a:solidFill>
          <a:ln w="1016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ask-3-1"/>
          <p:cNvSpPr/>
          <p:nvPr/>
        </p:nvSpPr>
        <p:spPr>
          <a:xfrm>
            <a:off x="3127248" y="4745736"/>
            <a:ext cx="1161288" cy="621792"/>
          </a:xfrm>
          <a:prstGeom prst="roundRect">
            <a:avLst/>
          </a:prstGeom>
          <a:solidFill>
            <a:srgbClr val="071827"/>
          </a:solidFill>
          <a:ln w="1016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ask-3-2"/>
          <p:cNvSpPr/>
          <p:nvPr/>
        </p:nvSpPr>
        <p:spPr>
          <a:xfrm>
            <a:off x="4480560" y="4745736"/>
            <a:ext cx="1161288" cy="621792"/>
          </a:xfrm>
          <a:prstGeom prst="roundRect">
            <a:avLst/>
          </a:prstGeom>
          <a:solidFill>
            <a:srgbClr val="071827"/>
          </a:solidFill>
          <a:ln w="1016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ask-3-3"/>
          <p:cNvSpPr/>
          <p:nvPr/>
        </p:nvSpPr>
        <p:spPr>
          <a:xfrm>
            <a:off x="5833872" y="4745736"/>
            <a:ext cx="1161288" cy="621792"/>
          </a:xfrm>
          <a:prstGeom prst="roundRect">
            <a:avLst/>
          </a:prstGeom>
          <a:solidFill>
            <a:srgbClr val="071827"/>
          </a:solidFill>
          <a:ln w="1016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ask-3-4"/>
          <p:cNvSpPr/>
          <p:nvPr/>
        </p:nvSpPr>
        <p:spPr>
          <a:xfrm>
            <a:off x="7187184" y="4745736"/>
            <a:ext cx="1161288" cy="621792"/>
          </a:xfrm>
          <a:prstGeom prst="roundRect">
            <a:avLst/>
          </a:prstGeom>
          <a:solidFill>
            <a:srgbClr val="071827"/>
          </a:solidFill>
          <a:ln w="1016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bar-0"/>
          <p:cNvSpPr/>
          <p:nvPr/>
        </p:nvSpPr>
        <p:spPr>
          <a:xfrm>
            <a:off x="9454896" y="3771900"/>
            <a:ext cx="155448" cy="946403"/>
          </a:xfrm>
          <a:prstGeom prst="roundRect">
            <a:avLst/>
          </a:prstGeom>
          <a:solidFill>
            <a:srgbClr val="00C8FF"/>
          </a:solidFill>
          <a:ln w="1016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bar-1"/>
          <p:cNvSpPr/>
          <p:nvPr/>
        </p:nvSpPr>
        <p:spPr>
          <a:xfrm>
            <a:off x="9701784" y="3204057"/>
            <a:ext cx="155448" cy="1514246"/>
          </a:xfrm>
          <a:prstGeom prst="roundRect">
            <a:avLst/>
          </a:prstGeom>
          <a:solidFill>
            <a:srgbClr val="00C8FF"/>
          </a:solidFill>
          <a:ln w="1016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bar-2"/>
          <p:cNvSpPr/>
          <p:nvPr/>
        </p:nvSpPr>
        <p:spPr>
          <a:xfrm>
            <a:off x="9948672" y="3498494"/>
            <a:ext cx="155448" cy="1219809"/>
          </a:xfrm>
          <a:prstGeom prst="roundRect">
            <a:avLst/>
          </a:prstGeom>
          <a:solidFill>
            <a:srgbClr val="00C8FF"/>
          </a:solidFill>
          <a:ln w="1016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bar-3"/>
          <p:cNvSpPr/>
          <p:nvPr/>
        </p:nvSpPr>
        <p:spPr>
          <a:xfrm>
            <a:off x="10195560" y="2909620"/>
            <a:ext cx="155448" cy="1808683"/>
          </a:xfrm>
          <a:prstGeom prst="roundRect">
            <a:avLst/>
          </a:prstGeom>
          <a:solidFill>
            <a:srgbClr val="00C8FF"/>
          </a:solidFill>
          <a:ln w="1016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bar-4"/>
          <p:cNvSpPr/>
          <p:nvPr/>
        </p:nvSpPr>
        <p:spPr>
          <a:xfrm>
            <a:off x="10442448" y="3330244"/>
            <a:ext cx="155448" cy="1388059"/>
          </a:xfrm>
          <a:prstGeom prst="roundRect">
            <a:avLst/>
          </a:prstGeom>
          <a:solidFill>
            <a:srgbClr val="00C8FF"/>
          </a:solidFill>
          <a:ln w="1016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bar-5"/>
          <p:cNvSpPr/>
          <p:nvPr/>
        </p:nvSpPr>
        <p:spPr>
          <a:xfrm>
            <a:off x="10689336" y="2783433"/>
            <a:ext cx="155448" cy="1934870"/>
          </a:xfrm>
          <a:prstGeom prst="roundRect">
            <a:avLst/>
          </a:prstGeom>
          <a:solidFill>
            <a:srgbClr val="00C8FF"/>
          </a:solidFill>
          <a:ln w="1016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bar-6"/>
          <p:cNvSpPr/>
          <p:nvPr/>
        </p:nvSpPr>
        <p:spPr>
          <a:xfrm>
            <a:off x="10936224" y="3119932"/>
            <a:ext cx="155448" cy="1598371"/>
          </a:xfrm>
          <a:prstGeom prst="roundRect">
            <a:avLst/>
          </a:prstGeom>
          <a:solidFill>
            <a:srgbClr val="00C8FF"/>
          </a:solidFill>
          <a:ln w="1016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bar-7"/>
          <p:cNvSpPr/>
          <p:nvPr/>
        </p:nvSpPr>
        <p:spPr>
          <a:xfrm>
            <a:off x="11183112" y="3603650"/>
            <a:ext cx="155448" cy="1114653"/>
          </a:xfrm>
          <a:prstGeom prst="roundRect">
            <a:avLst/>
          </a:prstGeom>
          <a:solidFill>
            <a:srgbClr val="00C8FF"/>
          </a:solidFill>
          <a:ln w="1016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check-dot-0"/>
          <p:cNvSpPr/>
          <p:nvPr/>
        </p:nvSpPr>
        <p:spPr>
          <a:xfrm>
            <a:off x="9436608" y="5321808"/>
            <a:ext cx="91440" cy="91440"/>
          </a:xfrm>
          <a:prstGeom prst="ellipse">
            <a:avLst/>
          </a:prstGeom>
          <a:solidFill>
            <a:srgbClr val="00C8FF"/>
          </a:solidFill>
          <a:ln w="1016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check-dot-1"/>
          <p:cNvSpPr/>
          <p:nvPr/>
        </p:nvSpPr>
        <p:spPr>
          <a:xfrm>
            <a:off x="9436608" y="5486400"/>
            <a:ext cx="91440" cy="91440"/>
          </a:xfrm>
          <a:prstGeom prst="ellipse">
            <a:avLst/>
          </a:prstGeom>
          <a:solidFill>
            <a:srgbClr val="00C8FF"/>
          </a:solidFill>
          <a:ln w="1016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check-dot-2"/>
          <p:cNvSpPr/>
          <p:nvPr/>
        </p:nvSpPr>
        <p:spPr>
          <a:xfrm>
            <a:off x="9436608" y="5650992"/>
            <a:ext cx="91440" cy="91440"/>
          </a:xfrm>
          <a:prstGeom prst="ellipse">
            <a:avLst/>
          </a:prstGeom>
          <a:solidFill>
            <a:srgbClr val="00C8FF"/>
          </a:solidFill>
          <a:ln w="1016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check-dot-3"/>
          <p:cNvSpPr/>
          <p:nvPr/>
        </p:nvSpPr>
        <p:spPr>
          <a:xfrm>
            <a:off x="9436608" y="5815584"/>
            <a:ext cx="91440" cy="91440"/>
          </a:xfrm>
          <a:prstGeom prst="ellipse">
            <a:avLst/>
          </a:prstGeom>
          <a:solidFill>
            <a:srgbClr val="00C8FF"/>
          </a:solidFill>
          <a:ln w="1016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profile-tag"/>
          <p:cNvSpPr txBox="1"/>
          <p:nvPr/>
        </p:nvSpPr>
        <p:spPr>
          <a:xfrm>
            <a:off x="457200" y="201168"/>
            <a:ext cx="768096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1" lang="en-US">
                <a:solidFill>
                  <a:srgbClr val="00C8FF"/>
                </a:solidFill>
                <a:latin typeface="Consolas"/>
              </a:rPr>
              <a:t>V3 STRESS SUITE  ·  SCIFI HOLOGRAPHIC DATA  ·  DELIVERY WORKBENCH</a:t>
            </a:r>
          </a:p>
        </p:txBody>
      </p:sp>
      <p:sp>
        <p:nvSpPr>
          <p:cNvPr id="52" name="slide-index"/>
          <p:cNvSpPr txBox="1"/>
          <p:nvPr/>
        </p:nvSpPr>
        <p:spPr>
          <a:xfrm>
            <a:off x="10808208" y="201168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00" b="1" lang="en-US">
                <a:solidFill>
                  <a:srgbClr val="7DCEEA"/>
                </a:solidFill>
                <a:latin typeface="Consolas"/>
              </a:rPr>
              <a:t>60/60</a:t>
            </a:r>
          </a:p>
        </p:txBody>
      </p:sp>
      <p:sp>
        <p:nvSpPr>
          <p:cNvPr id="53" name="title"/>
          <p:cNvSpPr txBox="1"/>
          <p:nvPr/>
        </p:nvSpPr>
        <p:spPr>
          <a:xfrm>
            <a:off x="457200" y="484632"/>
            <a:ext cx="11274552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200" b="1" lang="en-US">
                <a:solidFill>
                  <a:srgbClr val="00C8FF"/>
                </a:solidFill>
                <a:latin typeface="Consolas"/>
              </a:rPr>
              <a:t>Delivery workbenches keep parallel work lanes legible under load</a:t>
            </a:r>
          </a:p>
        </p:txBody>
      </p:sp>
      <p:sp>
        <p:nvSpPr>
          <p:cNvPr id="54" name="footer"/>
          <p:cNvSpPr txBox="1"/>
          <p:nvPr/>
        </p:nvSpPr>
        <p:spPr>
          <a:xfrm>
            <a:off x="457200" y="6473952"/>
            <a:ext cx="1051560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0" lang="en-US">
                <a:solidFill>
                  <a:srgbClr val="7DCEEA"/>
                </a:solidFill>
                <a:latin typeface="Consolas"/>
              </a:rPr>
              <a:t>Native-object stress fixture · monochromatic cyan rings, scan line, and precision data labels · editable geometry and recorded style lock</a:t>
            </a:r>
          </a:p>
        </p:txBody>
      </p:sp>
      <p:sp>
        <p:nvSpPr>
          <p:cNvPr id="55" name="lane-name-0"/>
          <p:cNvSpPr txBox="1"/>
          <p:nvPr/>
        </p:nvSpPr>
        <p:spPr>
          <a:xfrm>
            <a:off x="566928" y="1444752"/>
            <a:ext cx="868680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lang="en-US">
                <a:solidFill>
                  <a:srgbClr val="111111"/>
                </a:solidFill>
                <a:latin typeface="Consolas"/>
              </a:rPr>
              <a:t>INTAKE</a:t>
            </a:r>
          </a:p>
        </p:txBody>
      </p:sp>
      <p:sp>
        <p:nvSpPr>
          <p:cNvPr id="56" name="task-title-0-0"/>
          <p:cNvSpPr txBox="1"/>
          <p:nvPr/>
        </p:nvSpPr>
        <p:spPr>
          <a:xfrm>
            <a:off x="1847088" y="1362456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00C8FF"/>
                </a:solidFill>
                <a:latin typeface="Consolas"/>
              </a:rPr>
              <a:t>Scope</a:t>
            </a:r>
          </a:p>
        </p:txBody>
      </p:sp>
      <p:sp>
        <p:nvSpPr>
          <p:cNvPr id="57" name="task-state-0-0"/>
          <p:cNvSpPr txBox="1"/>
          <p:nvPr/>
        </p:nvSpPr>
        <p:spPr>
          <a:xfrm>
            <a:off x="1847088" y="1545336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00C8FF"/>
                </a:solidFill>
                <a:latin typeface="Consolas"/>
              </a:rPr>
              <a:t>new</a:t>
            </a:r>
          </a:p>
        </p:txBody>
      </p:sp>
      <p:sp>
        <p:nvSpPr>
          <p:cNvPr id="58" name="task-title-0-1"/>
          <p:cNvSpPr txBox="1"/>
          <p:nvPr/>
        </p:nvSpPr>
        <p:spPr>
          <a:xfrm>
            <a:off x="3200400" y="1362456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00C8FF"/>
                </a:solidFill>
                <a:latin typeface="Consolas"/>
              </a:rPr>
              <a:t>Profile</a:t>
            </a:r>
          </a:p>
        </p:txBody>
      </p:sp>
      <p:sp>
        <p:nvSpPr>
          <p:cNvPr id="59" name="task-state-0-1"/>
          <p:cNvSpPr txBox="1"/>
          <p:nvPr/>
        </p:nvSpPr>
        <p:spPr>
          <a:xfrm>
            <a:off x="3200400" y="1545336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00C8FF"/>
                </a:solidFill>
                <a:latin typeface="Consolas"/>
              </a:rPr>
              <a:t>locked</a:t>
            </a:r>
          </a:p>
        </p:txBody>
      </p:sp>
      <p:sp>
        <p:nvSpPr>
          <p:cNvPr id="60" name="task-title-0-2"/>
          <p:cNvSpPr txBox="1"/>
          <p:nvPr/>
        </p:nvSpPr>
        <p:spPr>
          <a:xfrm>
            <a:off x="4553712" y="1362456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00C8FF"/>
                </a:solidFill>
                <a:latin typeface="Consolas"/>
              </a:rPr>
              <a:t>Spec</a:t>
            </a:r>
          </a:p>
        </p:txBody>
      </p:sp>
      <p:sp>
        <p:nvSpPr>
          <p:cNvPr id="61" name="task-state-0-2"/>
          <p:cNvSpPr txBox="1"/>
          <p:nvPr/>
        </p:nvSpPr>
        <p:spPr>
          <a:xfrm>
            <a:off x="4553712" y="1545336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00C8FF"/>
                </a:solidFill>
                <a:latin typeface="Consolas"/>
              </a:rPr>
              <a:t>ready</a:t>
            </a:r>
          </a:p>
        </p:txBody>
      </p:sp>
      <p:sp>
        <p:nvSpPr>
          <p:cNvPr id="62" name="task-title-0-3"/>
          <p:cNvSpPr txBox="1"/>
          <p:nvPr/>
        </p:nvSpPr>
        <p:spPr>
          <a:xfrm>
            <a:off x="5907024" y="1362456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00C8FF"/>
                </a:solidFill>
                <a:latin typeface="Consolas"/>
              </a:rPr>
              <a:t>Audit</a:t>
            </a:r>
          </a:p>
        </p:txBody>
      </p:sp>
      <p:sp>
        <p:nvSpPr>
          <p:cNvPr id="63" name="task-state-0-3"/>
          <p:cNvSpPr txBox="1"/>
          <p:nvPr/>
        </p:nvSpPr>
        <p:spPr>
          <a:xfrm>
            <a:off x="5907024" y="1545336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00C8FF"/>
                </a:solidFill>
                <a:latin typeface="Consolas"/>
              </a:rPr>
              <a:t>pass</a:t>
            </a:r>
          </a:p>
        </p:txBody>
      </p:sp>
      <p:sp>
        <p:nvSpPr>
          <p:cNvPr id="64" name="task-title-0-4"/>
          <p:cNvSpPr txBox="1"/>
          <p:nvPr/>
        </p:nvSpPr>
        <p:spPr>
          <a:xfrm>
            <a:off x="7260336" y="1362456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00C8FF"/>
                </a:solidFill>
                <a:latin typeface="Consolas"/>
              </a:rPr>
              <a:t>Owner</a:t>
            </a:r>
          </a:p>
        </p:txBody>
      </p:sp>
      <p:sp>
        <p:nvSpPr>
          <p:cNvPr id="65" name="task-state-0-4"/>
          <p:cNvSpPr txBox="1"/>
          <p:nvPr/>
        </p:nvSpPr>
        <p:spPr>
          <a:xfrm>
            <a:off x="7260336" y="1545336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00C8FF"/>
                </a:solidFill>
                <a:latin typeface="Consolas"/>
              </a:rPr>
              <a:t>assigned</a:t>
            </a:r>
          </a:p>
        </p:txBody>
      </p:sp>
      <p:sp>
        <p:nvSpPr>
          <p:cNvPr id="66" name="lane-name-1"/>
          <p:cNvSpPr txBox="1"/>
          <p:nvPr/>
        </p:nvSpPr>
        <p:spPr>
          <a:xfrm>
            <a:off x="566928" y="2615184"/>
            <a:ext cx="868680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lang="en-US">
                <a:solidFill>
                  <a:srgbClr val="111111"/>
                </a:solidFill>
                <a:latin typeface="Consolas"/>
              </a:rPr>
              <a:t>AUTHOR</a:t>
            </a:r>
          </a:p>
        </p:txBody>
      </p:sp>
      <p:sp>
        <p:nvSpPr>
          <p:cNvPr id="67" name="task-title-1-0"/>
          <p:cNvSpPr txBox="1"/>
          <p:nvPr/>
        </p:nvSpPr>
        <p:spPr>
          <a:xfrm>
            <a:off x="1847088" y="2532888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00C8FF"/>
                </a:solidFill>
                <a:latin typeface="Consolas"/>
              </a:rPr>
              <a:t>Scope</a:t>
            </a:r>
          </a:p>
        </p:txBody>
      </p:sp>
      <p:sp>
        <p:nvSpPr>
          <p:cNvPr id="68" name="task-state-1-0"/>
          <p:cNvSpPr txBox="1"/>
          <p:nvPr/>
        </p:nvSpPr>
        <p:spPr>
          <a:xfrm>
            <a:off x="1847088" y="2715768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00C8FF"/>
                </a:solidFill>
                <a:latin typeface="Consolas"/>
              </a:rPr>
              <a:t>locked</a:t>
            </a:r>
          </a:p>
        </p:txBody>
      </p:sp>
      <p:sp>
        <p:nvSpPr>
          <p:cNvPr id="69" name="task-title-1-1"/>
          <p:cNvSpPr txBox="1"/>
          <p:nvPr/>
        </p:nvSpPr>
        <p:spPr>
          <a:xfrm>
            <a:off x="3200400" y="2532888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00C8FF"/>
                </a:solidFill>
                <a:latin typeface="Consolas"/>
              </a:rPr>
              <a:t>Profile</a:t>
            </a:r>
          </a:p>
        </p:txBody>
      </p:sp>
      <p:sp>
        <p:nvSpPr>
          <p:cNvPr id="70" name="task-state-1-1"/>
          <p:cNvSpPr txBox="1"/>
          <p:nvPr/>
        </p:nvSpPr>
        <p:spPr>
          <a:xfrm>
            <a:off x="3200400" y="2715768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00C8FF"/>
                </a:solidFill>
                <a:latin typeface="Consolas"/>
              </a:rPr>
              <a:t>ready</a:t>
            </a:r>
          </a:p>
        </p:txBody>
      </p:sp>
      <p:sp>
        <p:nvSpPr>
          <p:cNvPr id="71" name="task-title-1-2"/>
          <p:cNvSpPr txBox="1"/>
          <p:nvPr/>
        </p:nvSpPr>
        <p:spPr>
          <a:xfrm>
            <a:off x="4553712" y="2532888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00C8FF"/>
                </a:solidFill>
                <a:latin typeface="Consolas"/>
              </a:rPr>
              <a:t>Spec</a:t>
            </a:r>
          </a:p>
        </p:txBody>
      </p:sp>
      <p:sp>
        <p:nvSpPr>
          <p:cNvPr id="72" name="task-state-1-2"/>
          <p:cNvSpPr txBox="1"/>
          <p:nvPr/>
        </p:nvSpPr>
        <p:spPr>
          <a:xfrm>
            <a:off x="4553712" y="2715768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00C8FF"/>
                </a:solidFill>
                <a:latin typeface="Consolas"/>
              </a:rPr>
              <a:t>pass</a:t>
            </a:r>
          </a:p>
        </p:txBody>
      </p:sp>
      <p:sp>
        <p:nvSpPr>
          <p:cNvPr id="73" name="task-title-1-3"/>
          <p:cNvSpPr txBox="1"/>
          <p:nvPr/>
        </p:nvSpPr>
        <p:spPr>
          <a:xfrm>
            <a:off x="5907024" y="2532888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00C8FF"/>
                </a:solidFill>
                <a:latin typeface="Consolas"/>
              </a:rPr>
              <a:t>Audit</a:t>
            </a:r>
          </a:p>
        </p:txBody>
      </p:sp>
      <p:sp>
        <p:nvSpPr>
          <p:cNvPr id="74" name="task-state-1-3"/>
          <p:cNvSpPr txBox="1"/>
          <p:nvPr/>
        </p:nvSpPr>
        <p:spPr>
          <a:xfrm>
            <a:off x="5907024" y="2715768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00C8FF"/>
                </a:solidFill>
                <a:latin typeface="Consolas"/>
              </a:rPr>
              <a:t>assigned</a:t>
            </a:r>
          </a:p>
        </p:txBody>
      </p:sp>
      <p:sp>
        <p:nvSpPr>
          <p:cNvPr id="75" name="task-title-1-4"/>
          <p:cNvSpPr txBox="1"/>
          <p:nvPr/>
        </p:nvSpPr>
        <p:spPr>
          <a:xfrm>
            <a:off x="7260336" y="2532888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00C8FF"/>
                </a:solidFill>
                <a:latin typeface="Consolas"/>
              </a:rPr>
              <a:t>Owner</a:t>
            </a:r>
          </a:p>
        </p:txBody>
      </p:sp>
      <p:sp>
        <p:nvSpPr>
          <p:cNvPr id="76" name="task-state-1-4"/>
          <p:cNvSpPr txBox="1"/>
          <p:nvPr/>
        </p:nvSpPr>
        <p:spPr>
          <a:xfrm>
            <a:off x="7260336" y="2715768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00C8FF"/>
                </a:solidFill>
                <a:latin typeface="Consolas"/>
              </a:rPr>
              <a:t>new</a:t>
            </a:r>
          </a:p>
        </p:txBody>
      </p:sp>
      <p:sp>
        <p:nvSpPr>
          <p:cNvPr id="77" name="lane-name-2"/>
          <p:cNvSpPr txBox="1"/>
          <p:nvPr/>
        </p:nvSpPr>
        <p:spPr>
          <a:xfrm>
            <a:off x="566928" y="3785615"/>
            <a:ext cx="868680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lang="en-US">
                <a:solidFill>
                  <a:srgbClr val="111111"/>
                </a:solidFill>
                <a:latin typeface="Consolas"/>
              </a:rPr>
              <a:t>VERIFY</a:t>
            </a:r>
          </a:p>
        </p:txBody>
      </p:sp>
      <p:sp>
        <p:nvSpPr>
          <p:cNvPr id="78" name="task-title-2-0"/>
          <p:cNvSpPr txBox="1"/>
          <p:nvPr/>
        </p:nvSpPr>
        <p:spPr>
          <a:xfrm>
            <a:off x="1847088" y="3703320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00C8FF"/>
                </a:solidFill>
                <a:latin typeface="Consolas"/>
              </a:rPr>
              <a:t>Scope</a:t>
            </a:r>
          </a:p>
        </p:txBody>
      </p:sp>
      <p:sp>
        <p:nvSpPr>
          <p:cNvPr id="79" name="task-state-2-0"/>
          <p:cNvSpPr txBox="1"/>
          <p:nvPr/>
        </p:nvSpPr>
        <p:spPr>
          <a:xfrm>
            <a:off x="1847088" y="3886200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00C8FF"/>
                </a:solidFill>
                <a:latin typeface="Consolas"/>
              </a:rPr>
              <a:t>ready</a:t>
            </a:r>
          </a:p>
        </p:txBody>
      </p:sp>
      <p:sp>
        <p:nvSpPr>
          <p:cNvPr id="80" name="task-title-2-1"/>
          <p:cNvSpPr txBox="1"/>
          <p:nvPr/>
        </p:nvSpPr>
        <p:spPr>
          <a:xfrm>
            <a:off x="3200400" y="3703320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00C8FF"/>
                </a:solidFill>
                <a:latin typeface="Consolas"/>
              </a:rPr>
              <a:t>Profile</a:t>
            </a:r>
          </a:p>
        </p:txBody>
      </p:sp>
      <p:sp>
        <p:nvSpPr>
          <p:cNvPr id="81" name="task-state-2-1"/>
          <p:cNvSpPr txBox="1"/>
          <p:nvPr/>
        </p:nvSpPr>
        <p:spPr>
          <a:xfrm>
            <a:off x="3200400" y="3886200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00C8FF"/>
                </a:solidFill>
                <a:latin typeface="Consolas"/>
              </a:rPr>
              <a:t>pass</a:t>
            </a:r>
          </a:p>
        </p:txBody>
      </p:sp>
      <p:sp>
        <p:nvSpPr>
          <p:cNvPr id="82" name="task-title-2-2"/>
          <p:cNvSpPr txBox="1"/>
          <p:nvPr/>
        </p:nvSpPr>
        <p:spPr>
          <a:xfrm>
            <a:off x="4553712" y="3703320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00C8FF"/>
                </a:solidFill>
                <a:latin typeface="Consolas"/>
              </a:rPr>
              <a:t>Spec</a:t>
            </a:r>
          </a:p>
        </p:txBody>
      </p:sp>
      <p:sp>
        <p:nvSpPr>
          <p:cNvPr id="83" name="task-state-2-2"/>
          <p:cNvSpPr txBox="1"/>
          <p:nvPr/>
        </p:nvSpPr>
        <p:spPr>
          <a:xfrm>
            <a:off x="4553712" y="3886200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00C8FF"/>
                </a:solidFill>
                <a:latin typeface="Consolas"/>
              </a:rPr>
              <a:t>assigned</a:t>
            </a:r>
          </a:p>
        </p:txBody>
      </p:sp>
      <p:sp>
        <p:nvSpPr>
          <p:cNvPr id="84" name="task-title-2-3"/>
          <p:cNvSpPr txBox="1"/>
          <p:nvPr/>
        </p:nvSpPr>
        <p:spPr>
          <a:xfrm>
            <a:off x="5907024" y="3703320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00C8FF"/>
                </a:solidFill>
                <a:latin typeface="Consolas"/>
              </a:rPr>
              <a:t>Audit</a:t>
            </a:r>
          </a:p>
        </p:txBody>
      </p:sp>
      <p:sp>
        <p:nvSpPr>
          <p:cNvPr id="85" name="task-state-2-3"/>
          <p:cNvSpPr txBox="1"/>
          <p:nvPr/>
        </p:nvSpPr>
        <p:spPr>
          <a:xfrm>
            <a:off x="5907024" y="3886200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00C8FF"/>
                </a:solidFill>
                <a:latin typeface="Consolas"/>
              </a:rPr>
              <a:t>new</a:t>
            </a:r>
          </a:p>
        </p:txBody>
      </p:sp>
      <p:sp>
        <p:nvSpPr>
          <p:cNvPr id="86" name="task-title-2-4"/>
          <p:cNvSpPr txBox="1"/>
          <p:nvPr/>
        </p:nvSpPr>
        <p:spPr>
          <a:xfrm>
            <a:off x="7260336" y="3703320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00C8FF"/>
                </a:solidFill>
                <a:latin typeface="Consolas"/>
              </a:rPr>
              <a:t>Owner</a:t>
            </a:r>
          </a:p>
        </p:txBody>
      </p:sp>
      <p:sp>
        <p:nvSpPr>
          <p:cNvPr id="87" name="task-state-2-4"/>
          <p:cNvSpPr txBox="1"/>
          <p:nvPr/>
        </p:nvSpPr>
        <p:spPr>
          <a:xfrm>
            <a:off x="7260336" y="3886200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00C8FF"/>
                </a:solidFill>
                <a:latin typeface="Consolas"/>
              </a:rPr>
              <a:t>locked</a:t>
            </a:r>
          </a:p>
        </p:txBody>
      </p:sp>
      <p:sp>
        <p:nvSpPr>
          <p:cNvPr id="88" name="lane-name-3"/>
          <p:cNvSpPr txBox="1"/>
          <p:nvPr/>
        </p:nvSpPr>
        <p:spPr>
          <a:xfrm>
            <a:off x="566928" y="4956048"/>
            <a:ext cx="868680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lang="en-US">
                <a:solidFill>
                  <a:srgbClr val="111111"/>
                </a:solidFill>
                <a:latin typeface="Consolas"/>
              </a:rPr>
              <a:t>SHIP</a:t>
            </a:r>
          </a:p>
        </p:txBody>
      </p:sp>
      <p:sp>
        <p:nvSpPr>
          <p:cNvPr id="89" name="task-title-3-0"/>
          <p:cNvSpPr txBox="1"/>
          <p:nvPr/>
        </p:nvSpPr>
        <p:spPr>
          <a:xfrm>
            <a:off x="1847088" y="4873752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00C8FF"/>
                </a:solidFill>
                <a:latin typeface="Consolas"/>
              </a:rPr>
              <a:t>Scope</a:t>
            </a:r>
          </a:p>
        </p:txBody>
      </p:sp>
      <p:sp>
        <p:nvSpPr>
          <p:cNvPr id="90" name="task-state-3-0"/>
          <p:cNvSpPr txBox="1"/>
          <p:nvPr/>
        </p:nvSpPr>
        <p:spPr>
          <a:xfrm>
            <a:off x="1847088" y="5056632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00C8FF"/>
                </a:solidFill>
                <a:latin typeface="Consolas"/>
              </a:rPr>
              <a:t>pass</a:t>
            </a:r>
          </a:p>
        </p:txBody>
      </p:sp>
      <p:sp>
        <p:nvSpPr>
          <p:cNvPr id="91" name="task-title-3-1"/>
          <p:cNvSpPr txBox="1"/>
          <p:nvPr/>
        </p:nvSpPr>
        <p:spPr>
          <a:xfrm>
            <a:off x="3200400" y="4873752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00C8FF"/>
                </a:solidFill>
                <a:latin typeface="Consolas"/>
              </a:rPr>
              <a:t>Profile</a:t>
            </a:r>
          </a:p>
        </p:txBody>
      </p:sp>
      <p:sp>
        <p:nvSpPr>
          <p:cNvPr id="92" name="task-state-3-1"/>
          <p:cNvSpPr txBox="1"/>
          <p:nvPr/>
        </p:nvSpPr>
        <p:spPr>
          <a:xfrm>
            <a:off x="3200400" y="5056632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00C8FF"/>
                </a:solidFill>
                <a:latin typeface="Consolas"/>
              </a:rPr>
              <a:t>assigned</a:t>
            </a:r>
          </a:p>
        </p:txBody>
      </p:sp>
      <p:sp>
        <p:nvSpPr>
          <p:cNvPr id="93" name="task-title-3-2"/>
          <p:cNvSpPr txBox="1"/>
          <p:nvPr/>
        </p:nvSpPr>
        <p:spPr>
          <a:xfrm>
            <a:off x="4553712" y="4873752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00C8FF"/>
                </a:solidFill>
                <a:latin typeface="Consolas"/>
              </a:rPr>
              <a:t>Spec</a:t>
            </a:r>
          </a:p>
        </p:txBody>
      </p:sp>
      <p:sp>
        <p:nvSpPr>
          <p:cNvPr id="94" name="task-state-3-2"/>
          <p:cNvSpPr txBox="1"/>
          <p:nvPr/>
        </p:nvSpPr>
        <p:spPr>
          <a:xfrm>
            <a:off x="4553712" y="5056632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00C8FF"/>
                </a:solidFill>
                <a:latin typeface="Consolas"/>
              </a:rPr>
              <a:t>new</a:t>
            </a:r>
          </a:p>
        </p:txBody>
      </p:sp>
      <p:sp>
        <p:nvSpPr>
          <p:cNvPr id="95" name="task-title-3-3"/>
          <p:cNvSpPr txBox="1"/>
          <p:nvPr/>
        </p:nvSpPr>
        <p:spPr>
          <a:xfrm>
            <a:off x="5907024" y="4873752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00C8FF"/>
                </a:solidFill>
                <a:latin typeface="Consolas"/>
              </a:rPr>
              <a:t>Audit</a:t>
            </a:r>
          </a:p>
        </p:txBody>
      </p:sp>
      <p:sp>
        <p:nvSpPr>
          <p:cNvPr id="96" name="task-state-3-3"/>
          <p:cNvSpPr txBox="1"/>
          <p:nvPr/>
        </p:nvSpPr>
        <p:spPr>
          <a:xfrm>
            <a:off x="5907024" y="5056632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00C8FF"/>
                </a:solidFill>
                <a:latin typeface="Consolas"/>
              </a:rPr>
              <a:t>locked</a:t>
            </a:r>
          </a:p>
        </p:txBody>
      </p:sp>
      <p:sp>
        <p:nvSpPr>
          <p:cNvPr id="97" name="task-title-3-4"/>
          <p:cNvSpPr txBox="1"/>
          <p:nvPr/>
        </p:nvSpPr>
        <p:spPr>
          <a:xfrm>
            <a:off x="7260336" y="4873752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19" b="1" lang="en-US">
                <a:solidFill>
                  <a:srgbClr val="00C8FF"/>
                </a:solidFill>
                <a:latin typeface="Consolas"/>
              </a:rPr>
              <a:t>Owner</a:t>
            </a:r>
          </a:p>
        </p:txBody>
      </p:sp>
      <p:sp>
        <p:nvSpPr>
          <p:cNvPr id="98" name="task-state-3-4"/>
          <p:cNvSpPr txBox="1"/>
          <p:nvPr/>
        </p:nvSpPr>
        <p:spPr>
          <a:xfrm>
            <a:off x="7260336" y="5056632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lang="en-US">
                <a:solidFill>
                  <a:srgbClr val="00C8FF"/>
                </a:solidFill>
                <a:latin typeface="Consolas"/>
              </a:rPr>
              <a:t>ready</a:t>
            </a:r>
          </a:p>
        </p:txBody>
      </p:sp>
      <p:sp>
        <p:nvSpPr>
          <p:cNvPr id="99" name="workbench-rail-title"/>
          <p:cNvSpPr txBox="1"/>
          <p:nvPr/>
        </p:nvSpPr>
        <p:spPr>
          <a:xfrm>
            <a:off x="9436608" y="1325880"/>
            <a:ext cx="196596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1" lang="en-US">
                <a:solidFill>
                  <a:srgbClr val="00C8FF"/>
                </a:solidFill>
                <a:latin typeface="Consolas"/>
              </a:rPr>
              <a:t>BUILD SIGNALS</a:t>
            </a:r>
          </a:p>
        </p:txBody>
      </p:sp>
      <p:sp>
        <p:nvSpPr>
          <p:cNvPr id="100" name="chart-label"/>
          <p:cNvSpPr txBox="1"/>
          <p:nvPr/>
        </p:nvSpPr>
        <p:spPr>
          <a:xfrm>
            <a:off x="9436608" y="4956048"/>
            <a:ext cx="1920240" cy="1463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0" lang="en-US">
                <a:solidFill>
                  <a:srgbClr val="7DCEEA"/>
                </a:solidFill>
                <a:latin typeface="Consolas"/>
              </a:rPr>
              <a:t>completion by work lane</a:t>
            </a:r>
          </a:p>
        </p:txBody>
      </p:sp>
      <p:sp>
        <p:nvSpPr>
          <p:cNvPr id="101" name="check-label-0"/>
          <p:cNvSpPr txBox="1"/>
          <p:nvPr/>
        </p:nvSpPr>
        <p:spPr>
          <a:xfrm>
            <a:off x="9619488" y="5303520"/>
            <a:ext cx="141732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1" lang="en-US">
                <a:solidFill>
                  <a:srgbClr val="00C8FF"/>
                </a:solidFill>
                <a:latin typeface="Consolas"/>
              </a:rPr>
              <a:t>bounds</a:t>
            </a:r>
          </a:p>
        </p:txBody>
      </p:sp>
      <p:sp>
        <p:nvSpPr>
          <p:cNvPr id="102" name="check-label-1"/>
          <p:cNvSpPr txBox="1"/>
          <p:nvPr/>
        </p:nvSpPr>
        <p:spPr>
          <a:xfrm>
            <a:off x="9619488" y="5468112"/>
            <a:ext cx="141732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1" lang="en-US">
                <a:solidFill>
                  <a:srgbClr val="00C8FF"/>
                </a:solidFill>
                <a:latin typeface="Consolas"/>
              </a:rPr>
              <a:t>content</a:t>
            </a:r>
          </a:p>
        </p:txBody>
      </p:sp>
      <p:sp>
        <p:nvSpPr>
          <p:cNvPr id="103" name="check-label-2"/>
          <p:cNvSpPr txBox="1"/>
          <p:nvPr/>
        </p:nvSpPr>
        <p:spPr>
          <a:xfrm>
            <a:off x="9619488" y="5632704"/>
            <a:ext cx="141732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1" lang="en-US">
                <a:solidFill>
                  <a:srgbClr val="00C8FF"/>
                </a:solidFill>
                <a:latin typeface="Consolas"/>
              </a:rPr>
              <a:t>tables</a:t>
            </a:r>
          </a:p>
        </p:txBody>
      </p:sp>
      <p:sp>
        <p:nvSpPr>
          <p:cNvPr id="104" name="check-label-3"/>
          <p:cNvSpPr txBox="1"/>
          <p:nvPr/>
        </p:nvSpPr>
        <p:spPr>
          <a:xfrm>
            <a:off x="9619488" y="5797296"/>
            <a:ext cx="1417320" cy="1280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1" lang="en-US">
                <a:solidFill>
                  <a:srgbClr val="00C8FF"/>
                </a:solidFill>
                <a:latin typeface="Consolas"/>
              </a:rPr>
              <a:t>order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PPTify V3 Native-Object Stress Suite</dc:title>
  <dc:subject>V3 PPTX native-object stress test</dc:subject>
  <dc:creator>PPTify stress suite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