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set-gradient-c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0"/>
            <a:ext cx="5148072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371600"/>
            <a:ext cx="2834640" cy="384048"/>
          </a:xfrm>
          <a:prstGeom prst="roundRect">
            <a:avLst/>
          </a:prstGeom>
          <a:solidFill>
            <a:srgbClr val="EF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44384" y="1371600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A1B2E"/>
                </a:solidFill>
                <a:latin typeface="Consolas"/>
              </a:rPr>
              <a:t>colorBrandBackground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938528"/>
            <a:ext cx="2834640" cy="384048"/>
          </a:xfrm>
          <a:prstGeom prst="roundRect">
            <a:avLst/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44384" y="1938528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A1B2E"/>
                </a:solidFill>
                <a:latin typeface="Consolas"/>
              </a:rPr>
              <a:t>spacingHorizontalL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505456"/>
            <a:ext cx="2834640" cy="384048"/>
          </a:xfrm>
          <a:prstGeom prst="roundRect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44384" y="2505456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A1B2E"/>
                </a:solidFill>
                <a:latin typeface="Consolas"/>
              </a:rPr>
              <a:t>borderRadiusMedium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072384"/>
            <a:ext cx="2834640" cy="384048"/>
          </a:xfrm>
          <a:prstGeom prst="roundRect">
            <a:avLst/>
          </a:prstGeom>
          <a:solidFill>
            <a:srgbClr val="E7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4384" y="3072384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A1B2E"/>
                </a:solidFill>
                <a:latin typeface="Consolas"/>
              </a:rPr>
              <a:t>fontSizeBase600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639312"/>
            <a:ext cx="2834640" cy="384048"/>
          </a:xfrm>
          <a:prstGeom prst="roundRect">
            <a:avLst/>
          </a:prstGeom>
          <a:solidFill>
            <a:srgbClr val="FB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44384" y="3639312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A1B2E"/>
                </a:solidFill>
                <a:latin typeface="Consolas"/>
              </a:rPr>
              <a:t>strokeWidthThick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206240"/>
            <a:ext cx="2834640" cy="384048"/>
          </a:xfrm>
          <a:prstGeom prst="roundRect">
            <a:avLst/>
          </a:prstGeom>
          <a:solidFill>
            <a:srgbClr val="F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4" y="4206240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A1B2E"/>
                </a:solidFill>
                <a:latin typeface="Consolas"/>
              </a:rPr>
              <a:t>shadow16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097280"/>
            <a:ext cx="182880" cy="21945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143000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FC4FF"/>
                </a:solidFill>
                <a:latin typeface="Consolas"/>
              </a:rPr>
              <a:t>PPTIFY .AGENT TOOLKIT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1554480"/>
            <a:ext cx="612648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FFFFF"/>
                </a:solidFill>
                <a:latin typeface="Segoe UI"/>
              </a:rPr>
              <a:t>Fifty ways to stress every</a:t>
            </a:r>
          </a:p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FFFFF"/>
                </a:solidFill>
                <a:latin typeface="Segoe UI"/>
              </a:rPr>
              <a:t>part of the pptify toolkit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8328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7D7E8"/>
                </a:solidFill>
                <a:latin typeface="Segoe UI"/>
              </a:rPr>
              <a:t>Each slide locks one design profile from the bundled catalog and renders it in that profile's real tokens — fluent, primer, corazzon, likaku, sunbigfly, nexu, awesome, alchaincyf, pptwork, slidemason, gabberflast.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709160"/>
            <a:ext cx="5852160" cy="18288"/>
          </a:xfrm>
          <a:prstGeom prst="rect">
            <a:avLst/>
          </a:prstGeom>
          <a:solidFill>
            <a:srgbClr val="2E4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7FC4FF"/>
                </a:solidFill>
                <a:latin typeface="Segoe UI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132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Segoe UI"/>
              </a:rPr>
              <a:t>unique layouts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892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7FC4FF"/>
                </a:solidFill>
                <a:latin typeface="Segoe U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4132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Segoe UI"/>
              </a:rPr>
              <a:t>audit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892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7FC4FF"/>
                </a:solidFill>
                <a:latin typeface="Segoe U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4132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Segoe UI"/>
              </a:rPr>
              <a:t>design profiles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892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7FC4FF"/>
                </a:solidFill>
                <a:latin typeface="Segoe U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54132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Segoe UI"/>
              </a:rPr>
              <a:t>collisions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436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6E8499"/>
                </a:solidFill>
                <a:latin typeface="Consolas"/>
              </a:rPr>
              <a:t>fluent-ui-design-tokens · webDarkTheme · MIT (Microsoft)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2231A"/>
                </a:solidFill>
                <a:latin typeface="Consolas"/>
              </a:rPr>
              <a:t>corazzon · Swiss International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Segoe UI"/>
              </a:rPr>
              <a:t>One exhibit pairs with three editable claims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02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46304" cy="4572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0" b="1" i="0">
                <a:solidFill>
                  <a:srgbClr val="E2231A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111111"/>
                </a:solidFill>
                <a:latin typeface="Segoe UI"/>
              </a:rPr>
              <a:t>One exhibit,</a:t>
            </a:r>
          </a:p>
          <a:p>
            <a:pPr algn="l"/>
            <a:r>
              <a:rPr sz="2400" b="1" i="0">
                <a:solidFill>
                  <a:srgbClr val="111111"/>
                </a:solidFill>
                <a:latin typeface="Segoe UI"/>
              </a:rPr>
              <a:t>three editable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555555"/>
                </a:solidFill>
                <a:latin typeface="Segoe UI"/>
              </a:rPr>
              <a:t>The Swiss grid keeps a single image exhibit on the right and stacks flush-left claims on the left. Red is the only accent; the rest is black on white.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2231A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Segoe UI"/>
              </a:rPr>
              <a:t>Every text frame stays individually editable.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681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2231A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6811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Segoe UI"/>
              </a:rPr>
              <a:t>One accent colour carries the whole hierarchy.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070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2231A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0702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  <a:latin typeface="Segoe UI"/>
              </a:rPr>
              <a:t>Type scale, not decoration, sets the rhythm.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417320"/>
            <a:ext cx="5879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sset-gradient-c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618488"/>
            <a:ext cx="5477256" cy="2743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053328" y="1691640"/>
            <a:ext cx="2286000" cy="292608"/>
          </a:xfrm>
          <a:prstGeom prst="round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1691640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onsolas"/>
              </a:rPr>
              <a:t>EXHIBIT · generated 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4480560"/>
            <a:ext cx="547725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55555"/>
                </a:solidFill>
                <a:latin typeface="Segoe UI"/>
              </a:rPr>
              <a:t>Fig. 1 — a raster accent embedded as an editable picture frame, captioned below rather than baked into the slide background.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212080"/>
            <a:ext cx="5879592" cy="877824"/>
          </a:xfrm>
          <a:prstGeom prst="rect">
            <a:avLst/>
          </a:prstGeom>
          <a:solidFill>
            <a:srgbClr val="F2F2F2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5212080"/>
            <a:ext cx="73152" cy="87782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5321808"/>
            <a:ext cx="551383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E2231A"/>
                </a:solidFill>
                <a:latin typeface="Consolas"/>
              </a:rPr>
              <a:t>DESIGN PROFILE LOCKED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5522976"/>
            <a:ext cx="551383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Segoe UI"/>
              </a:rPr>
              <a:t>Swiss International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5797296"/>
            <a:ext cx="551383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egoe UI"/>
              </a:rPr>
              <a:t>Swiss International: flush-left grid, red accent, bold 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corazzon-pptx-design-styles · Swiss International: flush-left grid, red accent, bold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6E6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  <a:latin typeface="Consolas"/>
              </a:rPr>
              <a:t>corazzon · Bento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6D28D9"/>
                </a:solidFill>
                <a:latin typeface="Segoe UI"/>
              </a:rPr>
              <a:t>Nine token families share one audited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03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88920" cy="1417320"/>
          </a:xfrm>
          <a:prstGeom prst="roundRect">
            <a:avLst/>
          </a:prstGeom>
          <a:solidFill>
            <a:srgbClr val="DDF4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73152" cy="141732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48132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969DA"/>
                </a:solidFill>
                <a:latin typeface="Consolas"/>
              </a:rPr>
              <a:t>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8105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9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14600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Segoe UI"/>
              </a:rPr>
              <a:t>token family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1371600"/>
            <a:ext cx="2651760" cy="1417320"/>
          </a:xfrm>
          <a:prstGeom prst="roundRect">
            <a:avLst/>
          </a:prstGeom>
          <a:solidFill>
            <a:srgbClr val="FBE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1371600"/>
            <a:ext cx="73152" cy="141732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8132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8250DF"/>
                </a:solidFill>
                <a:latin typeface="Consolas"/>
              </a:rPr>
              <a:t>spacing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810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xxs→xl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14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Segoe UI"/>
              </a:rPr>
              <a:t>token family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7336" y="1371600"/>
            <a:ext cx="2468880" cy="658368"/>
          </a:xfrm>
          <a:prstGeom prst="roundRect">
            <a:avLst/>
          </a:prstGeom>
          <a:solidFill>
            <a:srgbClr val="DAFBE1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1371600"/>
            <a:ext cx="73152" cy="65836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4813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A7F37"/>
                </a:solidFill>
                <a:latin typeface="Consolas"/>
              </a:rPr>
              <a:t>radius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17373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Segoe UI"/>
              </a:rPr>
              <a:t>4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2130552"/>
            <a:ext cx="2468880" cy="658368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7336" y="2130552"/>
            <a:ext cx="73152" cy="658368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24028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Consolas"/>
              </a:rPr>
              <a:t>stroke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4963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Segoe UI"/>
              </a:rPr>
              <a:t>thin/thick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95944" y="1371600"/>
            <a:ext cx="3035808" cy="1417320"/>
          </a:xfrm>
          <a:prstGeom prst="roundRect">
            <a:avLst/>
          </a:prstGeom>
          <a:solidFill>
            <a:srgbClr val="FFEBE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95944" y="1371600"/>
            <a:ext cx="73152" cy="1417320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0536" y="1481328"/>
            <a:ext cx="27614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CF222E"/>
                </a:solidFill>
                <a:latin typeface="Consolas"/>
              </a:rPr>
              <a:t>font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0536" y="181051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7 roles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0536" y="2514600"/>
            <a:ext cx="276148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Segoe UI"/>
              </a:rPr>
              <a:t>token family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898648"/>
            <a:ext cx="2651760" cy="1325880"/>
          </a:xfrm>
          <a:prstGeom prst="roundRect">
            <a:avLst/>
          </a:prstGeom>
          <a:solidFill>
            <a:srgbClr val="FFEF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2898648"/>
            <a:ext cx="73152" cy="1325880"/>
          </a:xfrm>
          <a:prstGeom prst="rect">
            <a:avLst/>
          </a:prstGeom>
          <a:solidFill>
            <a:srgbClr val="BF3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300837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F3989"/>
                </a:solidFill>
                <a:latin typeface="Consolas"/>
              </a:rPr>
              <a:t>shadow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2/4/8/16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95020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Segoe UI"/>
              </a:rPr>
              <a:t>token family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18688" y="2898648"/>
            <a:ext cx="2377440" cy="13258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18688" y="2898648"/>
            <a:ext cx="73152" cy="13258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300837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Consolas"/>
              </a:rPr>
              <a:t>zIndex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layer order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9502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Segoe UI"/>
              </a:rPr>
              <a:t>token family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05856" y="2898648"/>
            <a:ext cx="2377440" cy="1325880"/>
          </a:xfrm>
          <a:prstGeom prst="roundRect">
            <a:avLst/>
          </a:prstGeom>
          <a:solidFill>
            <a:srgbClr val="EAEEF2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05856" y="2898648"/>
            <a:ext cx="73152" cy="1325880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70448" y="300837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onsolas"/>
              </a:rPr>
              <a:t>motion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70448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ease tokens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0448" y="39502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Segoe UI"/>
              </a:rPr>
              <a:t>token family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93024" y="2898648"/>
            <a:ext cx="3538728" cy="1325880"/>
          </a:xfrm>
          <a:prstGeom prst="roundRect">
            <a:avLst/>
          </a:prstGeom>
          <a:solidFill>
            <a:srgbClr val="DDF4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93024" y="2898648"/>
            <a:ext cx="73152" cy="132588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7616" y="3008376"/>
            <a:ext cx="32644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969DA"/>
                </a:solidFill>
                <a:latin typeface="Consolas"/>
              </a:rPr>
              <a:t>themes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57616" y="3337560"/>
            <a:ext cx="326440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5 surfaces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7616" y="3950208"/>
            <a:ext cx="326440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Segoe UI"/>
              </a:rPr>
              <a:t>token family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4370832"/>
            <a:ext cx="4572000" cy="87782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370832"/>
            <a:ext cx="73152" cy="8778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48056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6D28D9"/>
                </a:solidFill>
                <a:latin typeface="Consolas"/>
              </a:rPr>
              <a:t>DESIGN PROFILE LOCKED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6817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Bento Grid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495604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Segoe UI"/>
              </a:rPr>
              <a:t>Bento Grid: rounded tiles, varied sizes, soft accents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2080" y="4370832"/>
            <a:ext cx="651967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2080" y="4370832"/>
            <a:ext cx="73152" cy="8778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40680" y="449884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11827"/>
                </a:solidFill>
                <a:latin typeface="Segoe UI"/>
              </a:rPr>
              <a:t>Nine token families, one 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0680" y="4773168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Bento Grid packs varied-size tiles into a single auditable surface; every tile stays inside the 0.5in safe margin and clears its neighbours.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7DAE2"/>
                </a:solidFill>
                <a:latin typeface="Consolas"/>
              </a:rPr>
              <a:t>corazzon-pptx-design-styles · Bento Grid: rounded tiles, varied sizes, soft accents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7DAE2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8250DF"/>
                </a:solidFill>
                <a:latin typeface="Consolas"/>
              </a:rPr>
              <a:t>awesome-copilot · design-review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6639BA"/>
                </a:solidFill>
                <a:latin typeface="Segoe UI"/>
              </a:rPr>
              <a:t>One control hub governs six review spokes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04 / 50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840480" y="1463040"/>
            <a:ext cx="0" cy="2103120"/>
          </a:xfrm>
          <a:prstGeom prst="line">
            <a:avLst/>
          </a:prstGeom>
          <a:ln w="1905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2514600"/>
            <a:ext cx="1821355" cy="1051560"/>
          </a:xfrm>
          <a:prstGeom prst="line">
            <a:avLst/>
          </a:prstGeom>
          <a:ln w="1905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3566160"/>
            <a:ext cx="1821355" cy="1051560"/>
          </a:xfrm>
          <a:prstGeom prst="line">
            <a:avLst/>
          </a:prstGeom>
          <a:ln w="1905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3566160"/>
            <a:ext cx="0" cy="2103119"/>
          </a:xfrm>
          <a:prstGeom prst="line">
            <a:avLst/>
          </a:prstGeom>
          <a:ln w="1905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019124" y="3566160"/>
            <a:ext cx="1821356" cy="1051560"/>
          </a:xfrm>
          <a:prstGeom prst="line">
            <a:avLst/>
          </a:prstGeom>
          <a:ln w="1905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019124" y="2514600"/>
            <a:ext cx="1821356" cy="1051560"/>
          </a:xfrm>
          <a:prstGeom prst="line">
            <a:avLst/>
          </a:prstGeom>
          <a:ln w="1905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26080" y="1152144"/>
            <a:ext cx="1828800" cy="621792"/>
          </a:xfrm>
          <a:prstGeom prst="roundRect">
            <a:avLst/>
          </a:prstGeom>
          <a:solidFill>
            <a:srgbClr val="FBEFFF"/>
          </a:solidFill>
          <a:ln w="17780">
            <a:solidFill>
              <a:srgbClr val="825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1152144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8250DF"/>
                </a:solidFill>
                <a:latin typeface="Consolas"/>
              </a:rPr>
              <a:t>context-prep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7435" y="2203704"/>
            <a:ext cx="1828800" cy="621792"/>
          </a:xfrm>
          <a:prstGeom prst="roundRect">
            <a:avLst/>
          </a:prstGeom>
          <a:solidFill>
            <a:srgbClr val="DDF4FF"/>
          </a:solidFill>
          <a:ln w="1778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3155" y="2203704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0969DA"/>
                </a:solidFill>
                <a:latin typeface="Consolas"/>
              </a:rPr>
              <a:t>slide-spec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47435" y="4306824"/>
            <a:ext cx="1828800" cy="621792"/>
          </a:xfrm>
          <a:prstGeom prst="roundRect">
            <a:avLst/>
          </a:prstGeom>
          <a:solidFill>
            <a:srgbClr val="DAFBE1"/>
          </a:solidFill>
          <a:ln w="1778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3155" y="4306824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1A7F37"/>
                </a:solidFill>
                <a:latin typeface="Consolas"/>
              </a:rPr>
              <a:t>quality-gates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358383"/>
            <a:ext cx="1828800" cy="621792"/>
          </a:xfrm>
          <a:prstGeom prst="roundRect">
            <a:avLst/>
          </a:prstGeom>
          <a:solidFill>
            <a:srgbClr val="FFEFF7"/>
          </a:solidFill>
          <a:ln w="17780">
            <a:solidFill>
              <a:srgbClr val="BF3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5358383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BF3989"/>
                </a:solidFill>
                <a:latin typeface="Consolas"/>
              </a:rPr>
              <a:t>visual-assets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4724" y="4306824"/>
            <a:ext cx="1828800" cy="621792"/>
          </a:xfrm>
          <a:prstGeom prst="roundRect">
            <a:avLst/>
          </a:prstGeom>
          <a:solidFill>
            <a:srgbClr val="FFF8C5"/>
          </a:solidFill>
          <a:ln w="1778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0444" y="4306824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9A6700"/>
                </a:solidFill>
                <a:latin typeface="Consolas"/>
              </a:rPr>
              <a:t>tooling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724" y="2203704"/>
            <a:ext cx="1828800" cy="621792"/>
          </a:xfrm>
          <a:prstGeom prst="roundRect">
            <a:avLst/>
          </a:prstGeom>
          <a:solidFill>
            <a:srgbClr val="E0F7FA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0444" y="2203704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0E7490"/>
                </a:solidFill>
                <a:latin typeface="Consolas"/>
              </a:rPr>
              <a:t>agent</a:t>
            </a:r>
          </a:p>
        </p:txBody>
      </p:sp>
      <p:sp>
        <p:nvSpPr>
          <p:cNvPr id="28" name="Oval 27"/>
          <p:cNvSpPr/>
          <p:nvPr/>
        </p:nvSpPr>
        <p:spPr>
          <a:xfrm>
            <a:off x="3017520" y="2743200"/>
            <a:ext cx="1645920" cy="1645920"/>
          </a:xfrm>
          <a:prstGeom prst="ellipse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3108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5112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>
                <a:solidFill>
                  <a:srgbClr val="E7DCFB"/>
                </a:solidFill>
                <a:latin typeface="Segoe UI"/>
              </a:rPr>
              <a:t>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E7DCFB"/>
                </a:solidFill>
                <a:latin typeface="Segoe UI"/>
              </a:rPr>
              <a:t>6 spokes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1371600"/>
            <a:ext cx="432511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1371600"/>
            <a:ext cx="73152" cy="365760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1517904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F2328"/>
                </a:solidFill>
                <a:latin typeface="Segoe UI"/>
              </a:rPr>
              <a:t>Design-review callouts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1975104"/>
            <a:ext cx="109728" cy="566928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1975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Segoe UI"/>
              </a:rPr>
              <a:t>Hierarchy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222199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Segoe UI"/>
              </a:rPr>
              <a:t>Hub dominates; spokes are peers.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2688336"/>
            <a:ext cx="109728" cy="566928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268833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Segoe UI"/>
              </a:rPr>
              <a:t>Contrast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293522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Segoe UI"/>
              </a:rPr>
              <a:t>Each spoke owns a palette role.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3401568"/>
            <a:ext cx="109728" cy="566928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340156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Segoe UI"/>
              </a:rPr>
              <a:t>Alignment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648456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Segoe UI"/>
              </a:rPr>
              <a:t>Radial symmetry on a 6-point ring.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4114800"/>
            <a:ext cx="109728" cy="566928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411480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Segoe UI"/>
              </a:rPr>
              <a:t>Spacing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36168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7606A"/>
                </a:solidFill>
                <a:latin typeface="Segoe UI"/>
              </a:rPr>
              <a:t>Nodes clear the hub by 0.4in.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5212080"/>
            <a:ext cx="4325112" cy="877824"/>
          </a:xfrm>
          <a:prstGeom prst="roundRect">
            <a:avLst/>
          </a:prstGeom>
          <a:solidFill>
            <a:srgbClr val="FBF7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5212080"/>
            <a:ext cx="73152" cy="877824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07808" y="5321808"/>
            <a:ext cx="395935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8250DF"/>
                </a:solidFill>
                <a:latin typeface="Consolas"/>
              </a:rPr>
              <a:t>DESIGN PROFILE LOCKED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7808" y="5522976"/>
            <a:ext cx="39593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Segoe UI"/>
              </a:rPr>
              <a:t>Awesome Copilot Design Agent and Prompt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7808" y="5797296"/>
            <a:ext cx="39593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7606A"/>
                </a:solidFill>
                <a:latin typeface="Segoe UI"/>
              </a:rPr>
              <a:t>design-review callouts + visual-hierarchy reasoning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DE7F7"/>
                </a:solidFill>
                <a:latin typeface="Consolas"/>
              </a:rPr>
              <a:t>awesome-copilot-design-agents · design-review callouts + visual-hierarchy reasoning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DE7F7"/>
                </a:solidFill>
                <a:latin typeface="Consolas"/>
              </a:rPr>
              <a:t>MIT - GitHub, Inc. · 11/11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onsolas"/>
              </a:rPr>
              <a:t>likaku · data-metrics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Segoe UI"/>
              </a:rPr>
              <a:t>Six phases clear four lanes before 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05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554480"/>
            <a:ext cx="1481328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55448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222222"/>
                </a:solidFill>
                <a:latin typeface="Segoe UI"/>
              </a:rPr>
              <a:t>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554480"/>
            <a:ext cx="1481328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222222"/>
                </a:solidFill>
                <a:latin typeface="Segoe UI"/>
              </a:rPr>
              <a:t>Outline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1554480"/>
            <a:ext cx="1481328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155448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222222"/>
                </a:solidFill>
                <a:latin typeface="Segoe UI"/>
              </a:rPr>
              <a:t>Spec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1554480"/>
            <a:ext cx="1481328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155448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222222"/>
                </a:solidFill>
                <a:latin typeface="Segoe UI"/>
              </a:rPr>
              <a:t>Render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1" y="1554480"/>
            <a:ext cx="1481328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155448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222222"/>
                </a:solidFill>
                <a:latin typeface="Segoe UI"/>
              </a:rPr>
              <a:t>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554480"/>
            <a:ext cx="148132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554480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03120"/>
            <a:ext cx="1325880" cy="60350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103120"/>
            <a:ext cx="11887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Segoe UI"/>
              </a:rPr>
              <a:t>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2103120"/>
            <a:ext cx="1481328" cy="603504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20240" y="2359152"/>
            <a:ext cx="1298448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1568" y="2103120"/>
            <a:ext cx="1481328" cy="603504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93008" y="2359152"/>
            <a:ext cx="1298448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74336" y="2103120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47104" y="2103120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1" y="2103120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2103120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79776"/>
            <a:ext cx="1325880" cy="60350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779776"/>
            <a:ext cx="11887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Segoe UI"/>
              </a:rPr>
              <a:t>Layout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2779776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01568" y="2779776"/>
            <a:ext cx="1481328" cy="603504"/>
          </a:xfrm>
          <a:prstGeom prst="rect">
            <a:avLst/>
          </a:prstGeom>
          <a:solidFill>
            <a:srgbClr val="E9F0FA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3008" y="3035808"/>
            <a:ext cx="1298448" cy="9144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2779776"/>
            <a:ext cx="1481328" cy="603504"/>
          </a:xfrm>
          <a:prstGeom prst="rect">
            <a:avLst/>
          </a:prstGeom>
          <a:solidFill>
            <a:srgbClr val="E9F0FA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65775" y="3035808"/>
            <a:ext cx="1298448" cy="9144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47104" y="2779776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9871" y="2779776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92640" y="2779776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456432"/>
            <a:ext cx="1325880" cy="60350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456432"/>
            <a:ext cx="11887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Segoe UI"/>
              </a:rPr>
              <a:t>Assets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456432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01568" y="3456432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74336" y="3456432"/>
            <a:ext cx="1481328" cy="603504"/>
          </a:xfrm>
          <a:prstGeom prst="rect">
            <a:avLst/>
          </a:prstGeom>
          <a:solidFill>
            <a:srgbClr val="E8F2FB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65775" y="3712463"/>
            <a:ext cx="1298448" cy="9144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47104" y="3456432"/>
            <a:ext cx="1481328" cy="603504"/>
          </a:xfrm>
          <a:prstGeom prst="rect">
            <a:avLst/>
          </a:prstGeom>
          <a:solidFill>
            <a:srgbClr val="E8F2FB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38544" y="3712463"/>
            <a:ext cx="1298448" cy="9144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19871" y="3456432"/>
            <a:ext cx="1481328" cy="603504"/>
          </a:xfrm>
          <a:prstGeom prst="rect">
            <a:avLst/>
          </a:prstGeom>
          <a:solidFill>
            <a:srgbClr val="E8F2FB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11311" y="3712463"/>
            <a:ext cx="1298448" cy="9144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92640" y="3456432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133087"/>
            <a:ext cx="1325880" cy="60350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133087"/>
            <a:ext cx="11887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Segoe UI"/>
              </a:rPr>
              <a:t>Gates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4133087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01568" y="4133087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74336" y="4133087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47104" y="4133087"/>
            <a:ext cx="1481328" cy="603504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38544" y="4389120"/>
            <a:ext cx="1298448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19871" y="4133087"/>
            <a:ext cx="1481328" cy="603504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4389120"/>
            <a:ext cx="1298448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92640" y="4133087"/>
            <a:ext cx="1481328" cy="603504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84080" y="4389120"/>
            <a:ext cx="1298448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029200"/>
            <a:ext cx="5120640" cy="87782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5029200"/>
            <a:ext cx="73152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138928"/>
            <a:ext cx="475487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onsolas"/>
              </a:rPr>
              <a:t>DESIGN PROFILE LOCKED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5340096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222222"/>
                </a:solidFill>
                <a:latin typeface="Segoe UI"/>
              </a:rPr>
              <a:t>McKinsey-Style Native PPTX Layout Runtime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5614416"/>
            <a:ext cx="47548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A6473"/>
                </a:solidFill>
                <a:latin typeface="Segoe UI"/>
              </a:rPr>
              <a:t>action titles, horizontal bars, kicker/rule geometry norms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5029200"/>
            <a:ext cx="59710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760720" y="5029200"/>
            <a:ext cx="73152" cy="10789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89320" y="51389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Segoe UI"/>
              </a:rPr>
              <a:t>Six phases clear four lanes before ship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89320" y="5431536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A6473"/>
                </a:solidFill>
                <a:latin typeface="Segoe UI"/>
              </a:rPr>
              <a:t>Each filled bar is one lane active in one phase. The matrix proves no lane starts before its inputs land — a McKinsey staffing-grid read.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4F2"/>
                </a:solidFill>
                <a:latin typeface="Consolas"/>
              </a:rPr>
              <a:t>likaku-mck-ppt-design-skill · action titles, horizontal bars, kicker/rule geometry norms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4F2"/>
                </a:solidFill>
                <a:latin typeface="Consolas"/>
              </a:rPr>
              <a:t>MIT - likaku contributors · 11/11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B3541E"/>
                </a:solidFill>
                <a:latin typeface="Consolas"/>
              </a:rPr>
              <a:t>corazzon · Editorial Magazine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8A3D12"/>
                </a:solidFill>
                <a:latin typeface="Georgia"/>
              </a:rPr>
              <a:t>Editorial columns layer narrative over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06 / 50</a:t>
            </a:r>
          </a:p>
        </p:txBody>
      </p:sp>
      <p:pic>
        <p:nvPicPr>
          <p:cNvPr id="10" name="Picture 9" descr="asset-paper-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0704"/>
            <a:ext cx="12191695" cy="52852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1371600"/>
            <a:ext cx="283464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44752"/>
            <a:ext cx="777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b="1" i="0">
                <a:solidFill>
                  <a:srgbClr val="B3541E"/>
                </a:solidFill>
                <a:latin typeface="Georgia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517904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</a:rPr>
              <a:t>he toolkit reads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</a:rPr>
              <a:t>like a feature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</a:rPr>
              <a:t>spread — one lede,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</a:rPr>
              <a:t>stacked decks.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2468880" cy="18288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52928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B6256"/>
                </a:solidFill>
                <a:latin typeface="Georgia"/>
              </a:rPr>
              <a:t>Editorial Magazine layers narrative over evidence with serif headlines, ruled columns, and a single accent that ties the spread 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2468880" cy="82296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73152" cy="822960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1">
                <a:solidFill>
                  <a:srgbClr val="B3541E"/>
                </a:solidFill>
                <a:latin typeface="Georgia"/>
              </a:rPr>
              <a:t>“One exhibit per spread,</a:t>
            </a:r>
          </a:p>
          <a:p>
            <a:pPr algn="l">
              <a:lnSpc>
                <a:spcPct val="105000"/>
              </a:lnSpc>
            </a:pPr>
            <a:r>
              <a:rPr sz="1200" b="1" i="1">
                <a:solidFill>
                  <a:srgbClr val="B3541E"/>
                </a:solidFill>
                <a:latin typeface="Georgia"/>
              </a:rPr>
              <a:t>always editable.”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1371600"/>
            <a:ext cx="402336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sset-gradient-c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554480"/>
            <a:ext cx="3657600" cy="2194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03320" y="3822191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B3541E"/>
                </a:solidFill>
                <a:latin typeface="Consolas"/>
              </a:rPr>
              <a:t>Fig.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059936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1A1A1A"/>
                </a:solidFill>
                <a:latin typeface="Georgia"/>
              </a:rPr>
              <a:t>A generated raster sits as an editable picture frame inside the column grid, never as a slide background.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371600"/>
            <a:ext cx="395935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14996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In the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187451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87451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256"/>
                </a:solidFill>
                <a:latin typeface="Georgia"/>
              </a:rPr>
              <a:t>23 unique source layouts inspire 24 fresh ones.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587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8775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256"/>
                </a:solidFill>
                <a:latin typeface="Georgia"/>
              </a:rPr>
              <a:t>Every accent traces to one locked palette.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30098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256"/>
                </a:solidFill>
                <a:latin typeface="Georgia"/>
              </a:rPr>
              <a:t>Captions live below figures, not on them.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014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01421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256"/>
                </a:solidFill>
                <a:latin typeface="Georgia"/>
              </a:rPr>
              <a:t>Serif for headlines, sans for data labels.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93792"/>
            <a:ext cx="11274552" cy="877824"/>
          </a:xfrm>
          <a:prstGeom prst="roundRect">
            <a:avLst/>
          </a:prstGeom>
          <a:solidFill>
            <a:srgbClr val="F3ECE0"/>
          </a:solidFill>
          <a:ln w="12700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193792"/>
            <a:ext cx="73152" cy="877824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303520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B3541E"/>
                </a:solidFill>
                <a:latin typeface="Consolas"/>
              </a:rPr>
              <a:t>DESIGN PROFILE LOCKED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50468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Segoe UI"/>
              </a:rPr>
              <a:t>Editorial Magazine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779007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6B6256"/>
                </a:solidFill>
                <a:latin typeface="Segoe UI"/>
              </a:rPr>
              <a:t>Editorial Magazine: serif headline, columns, drop initial, pull-quote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A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ADFCB"/>
                </a:solidFill>
                <a:latin typeface="Consolas"/>
              </a:rPr>
              <a:t>corazzon-pptx-design-styles · Editorial Magazine: serif headline, columns, drop initial, pull-quote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ADFCB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4F0E6"/>
                </a:solidFill>
                <a:latin typeface="Consolas"/>
              </a:rPr>
              <a:t>corazzon · Dark Neon Miami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EDEDFF"/>
                </a:solidFill>
                <a:latin typeface="Segoe UI"/>
              </a:rPr>
              <a:t>The cockpit proves zero collisions in real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B0B1E"/>
                </a:solidFill>
                <a:latin typeface="Segoe UI"/>
              </a:rPr>
              <a:t>07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2697480" cy="1234440"/>
          </a:xfrm>
          <a:prstGeom prst="roundRect">
            <a:avLst/>
          </a:prstGeom>
          <a:solidFill>
            <a:srgbClr val="16163A"/>
          </a:solidFill>
          <a:ln w="20320">
            <a:solidFill>
              <a:srgbClr val="1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697480" cy="91440"/>
          </a:xfrm>
          <a:prstGeom prst="rect">
            <a:avLst/>
          </a:prstGeom>
          <a:solidFill>
            <a:srgbClr val="1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727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14F0E6"/>
                </a:solidFill>
                <a:latin typeface="Segoe U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9A9AC8"/>
                </a:solidFill>
                <a:latin typeface="Consolas"/>
              </a:rPr>
              <a:t>layouts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17320"/>
            <a:ext cx="2697480" cy="1234440"/>
          </a:xfrm>
          <a:prstGeom prst="roundRect">
            <a:avLst/>
          </a:prstGeom>
          <a:solidFill>
            <a:srgbClr val="16163A"/>
          </a:solidFill>
          <a:ln w="20320">
            <a:solidFill>
              <a:srgbClr val="3DF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697480" cy="91440"/>
          </a:xfrm>
          <a:prstGeom prst="rect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5727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3DF5A0"/>
                </a:solidFill>
                <a:latin typeface="Segoe U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86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9A9AC8"/>
                </a:solidFill>
                <a:latin typeface="Consolas"/>
              </a:rPr>
              <a:t>checks green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1234440"/>
          </a:xfrm>
          <a:prstGeom prst="roundRect">
            <a:avLst/>
          </a:prstGeom>
          <a:solidFill>
            <a:srgbClr val="16163A"/>
          </a:solidFill>
          <a:ln w="2032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91440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727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F2E97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86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9A9AC8"/>
                </a:solidFill>
                <a:latin typeface="Consolas"/>
              </a:rPr>
              <a:t>collisions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417320"/>
            <a:ext cx="2697480" cy="1234440"/>
          </a:xfrm>
          <a:prstGeom prst="roundRect">
            <a:avLst/>
          </a:prstGeom>
          <a:solidFill>
            <a:srgbClr val="16163A"/>
          </a:solidFill>
          <a:ln w="20320">
            <a:solidFill>
              <a:srgbClr val="FFD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417320"/>
            <a:ext cx="2697480" cy="91440"/>
          </a:xfrm>
          <a:prstGeom prst="rect">
            <a:avLst/>
          </a:prstGeom>
          <a:solidFill>
            <a:srgbClr val="FFD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5727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i="0">
                <a:solidFill>
                  <a:srgbClr val="FFD23D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9A9AC8"/>
                </a:solidFill>
                <a:latin typeface="Consolas"/>
              </a:rPr>
              <a:t>PNG assets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834640"/>
            <a:ext cx="7315200" cy="2331720"/>
          </a:xfrm>
          <a:prstGeom prst="roundRect">
            <a:avLst/>
          </a:prstGeom>
          <a:solidFill>
            <a:srgbClr val="16163A"/>
          </a:solidFill>
          <a:ln w="1524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962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14F0E6"/>
                </a:solidFill>
                <a:latin typeface="Consolas"/>
              </a:rPr>
              <a:t>LIVE AUDIT STREAM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3310128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26440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collisions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326440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" y="3602736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55701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overflow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355701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" y="3895344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384962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font-floor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384962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" y="4187952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14223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design-ctx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8" y="4142232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" y="4480560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4348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per-slide-visual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0128" y="443484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" y="4773168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72744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narrative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0128" y="47274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46" name="Oval 45"/>
          <p:cNvSpPr/>
          <p:nvPr/>
        </p:nvSpPr>
        <p:spPr>
          <a:xfrm>
            <a:off x="4069080" y="3310128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06824" y="326440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hidden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26440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49" name="Oval 48"/>
          <p:cNvSpPr/>
          <p:nvPr/>
        </p:nvSpPr>
        <p:spPr>
          <a:xfrm>
            <a:off x="4069080" y="3602736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06824" y="355701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layering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355701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52" name="Oval 51"/>
          <p:cNvSpPr/>
          <p:nvPr/>
        </p:nvSpPr>
        <p:spPr>
          <a:xfrm>
            <a:off x="4069080" y="3895344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06824" y="384962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bounds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84962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55" name="Oval 54"/>
          <p:cNvSpPr/>
          <p:nvPr/>
        </p:nvSpPr>
        <p:spPr>
          <a:xfrm>
            <a:off x="4069080" y="4187952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6824" y="414223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containment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4142232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58" name="Oval 57"/>
          <p:cNvSpPr/>
          <p:nvPr/>
        </p:nvSpPr>
        <p:spPr>
          <a:xfrm>
            <a:off x="4069080" y="4480560"/>
            <a:ext cx="146304" cy="146304"/>
          </a:xfrm>
          <a:prstGeom prst="ellipse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06824" y="44348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EDEDFF"/>
                </a:solidFill>
                <a:latin typeface="Consolas"/>
              </a:rPr>
              <a:t>table-fit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443484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3DF5A0"/>
                </a:solidFill>
                <a:latin typeface="Consolas"/>
              </a:rPr>
              <a:t>PASS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01000" y="2834640"/>
            <a:ext cx="3730752" cy="2331720"/>
          </a:xfrm>
          <a:prstGeom prst="roundRect">
            <a:avLst/>
          </a:prstGeom>
          <a:solidFill>
            <a:srgbClr val="16163A"/>
          </a:solidFill>
          <a:ln w="1524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asset-mesh-ne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246120"/>
            <a:ext cx="1554480" cy="1554480"/>
          </a:xfrm>
          <a:prstGeom prst="rect">
            <a:avLst/>
          </a:prstGeom>
        </p:spPr>
      </p:pic>
      <p:sp>
        <p:nvSpPr>
          <p:cNvPr id="63" name="Donut 62"/>
          <p:cNvSpPr/>
          <p:nvPr/>
        </p:nvSpPr>
        <p:spPr>
          <a:xfrm>
            <a:off x="9006840" y="3154680"/>
            <a:ext cx="1737360" cy="1737360"/>
          </a:xfrm>
          <a:prstGeom prst="donut">
            <a:avLst/>
          </a:prstGeom>
          <a:noFill/>
          <a:ln w="1270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06840" y="374903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 b="1" i="0">
                <a:solidFill>
                  <a:srgbClr val="14F0E6"/>
                </a:solidFill>
                <a:latin typeface="Segoe UI"/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486460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9A9AC8"/>
                </a:solidFill>
                <a:latin typeface="Consolas"/>
              </a:rPr>
              <a:t>audit pass rate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285232"/>
            <a:ext cx="11274552" cy="877824"/>
          </a:xfrm>
          <a:prstGeom prst="roundRect">
            <a:avLst/>
          </a:prstGeom>
          <a:solidFill>
            <a:srgbClr val="1E1E48"/>
          </a:solidFill>
          <a:ln w="1270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5285232"/>
            <a:ext cx="73152" cy="877824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5394960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FF2E97"/>
                </a:solidFill>
                <a:latin typeface="Consolas"/>
              </a:rPr>
              <a:t>DESIGN PROFILE LOCKED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559612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EDEDFF"/>
                </a:solidFill>
                <a:latin typeface="Segoe UI"/>
              </a:rPr>
              <a:t>Dark Neon Miami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5870448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9A9AC8"/>
                </a:solidFill>
                <a:latin typeface="Segoe UI"/>
              </a:rPr>
              <a:t>Dark Neon Miami: dark canvas, magenta+cyan neon, glow tiles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4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9A9AC8"/>
                </a:solidFill>
                <a:latin typeface="Consolas"/>
              </a:rPr>
              <a:t>corazzon-pptx-design-styles · Dark Neon Miami: dark canvas, magenta+cyan neon, glow tiles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9A9AC8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onsolas"/>
              </a:rPr>
              <a:t>sunbigfly · stage-gate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0E7490"/>
                </a:solidFill>
                <a:latin typeface="Segoe UI"/>
              </a:rPr>
              <a:t>Source, style, and layout stay locked in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08 / 50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1463040"/>
            <a:ext cx="1499616" cy="603504"/>
          </a:xfrm>
          <a:prstGeom prst="chevron">
            <a:avLst/>
          </a:prstGeom>
          <a:solidFill>
            <a:srgbClr val="E0F7FA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1389888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0E7490"/>
                </a:solidFill>
                <a:latin typeface="Consolas"/>
              </a:rPr>
              <a:t>interview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2029967" y="1463040"/>
            <a:ext cx="1499616" cy="603504"/>
          </a:xfrm>
          <a:prstGeom prst="chevron">
            <a:avLst/>
          </a:prstGeom>
          <a:solidFill>
            <a:srgbClr val="E0F7FA"/>
          </a:solidFill>
          <a:ln w="1778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75687" y="1463040"/>
            <a:ext cx="1389888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0891B2"/>
                </a:solidFill>
                <a:latin typeface="Consolas"/>
              </a:rPr>
              <a:t>compress</a:t>
            </a:r>
          </a:p>
        </p:txBody>
      </p:sp>
      <p:sp>
        <p:nvSpPr>
          <p:cNvPr id="14" name="Chevron 13"/>
          <p:cNvSpPr/>
          <p:nvPr/>
        </p:nvSpPr>
        <p:spPr>
          <a:xfrm>
            <a:off x="3602736" y="1463040"/>
            <a:ext cx="1499616" cy="603504"/>
          </a:xfrm>
          <a:prstGeom prst="chevron">
            <a:avLst/>
          </a:prstGeom>
          <a:solidFill>
            <a:srgbClr val="E0F2FE"/>
          </a:solidFill>
          <a:ln w="1778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1463040"/>
            <a:ext cx="1389888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0369A1"/>
                </a:solidFill>
                <a:latin typeface="Consolas"/>
              </a:rPr>
              <a:t>outline</a:t>
            </a:r>
          </a:p>
        </p:txBody>
      </p:sp>
      <p:sp>
        <p:nvSpPr>
          <p:cNvPr id="16" name="Chevron 15"/>
          <p:cNvSpPr/>
          <p:nvPr/>
        </p:nvSpPr>
        <p:spPr>
          <a:xfrm>
            <a:off x="5175504" y="1463040"/>
            <a:ext cx="1499616" cy="603504"/>
          </a:xfrm>
          <a:prstGeom prst="chevron">
            <a:avLst/>
          </a:prstGeom>
          <a:solidFill>
            <a:srgbClr val="E7F6EC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1224" y="1463040"/>
            <a:ext cx="1389888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Consolas"/>
              </a:rPr>
              <a:t>style-lock</a:t>
            </a:r>
          </a:p>
        </p:txBody>
      </p:sp>
      <p:sp>
        <p:nvSpPr>
          <p:cNvPr id="18" name="Chevron 17"/>
          <p:cNvSpPr/>
          <p:nvPr/>
        </p:nvSpPr>
        <p:spPr>
          <a:xfrm>
            <a:off x="6748272" y="1463040"/>
            <a:ext cx="1499616" cy="603504"/>
          </a:xfrm>
          <a:prstGeom prst="chevron">
            <a:avLst/>
          </a:prstGeom>
          <a:solidFill>
            <a:srgbClr val="FBF0E2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1463040"/>
            <a:ext cx="1389888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B45309"/>
                </a:solidFill>
                <a:latin typeface="Consolas"/>
              </a:rPr>
              <a:t>slide-plan</a:t>
            </a:r>
          </a:p>
        </p:txBody>
      </p:sp>
      <p:sp>
        <p:nvSpPr>
          <p:cNvPr id="20" name="Chevron 19"/>
          <p:cNvSpPr/>
          <p:nvPr/>
        </p:nvSpPr>
        <p:spPr>
          <a:xfrm>
            <a:off x="8321040" y="1463040"/>
            <a:ext cx="1499616" cy="603504"/>
          </a:xfrm>
          <a:prstGeom prst="chevron">
            <a:avLst/>
          </a:prstGeom>
          <a:solidFill>
            <a:srgbClr val="F1EBFE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63040"/>
            <a:ext cx="1389888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onsolas"/>
              </a:rPr>
              <a:t>visual-qa</a:t>
            </a:r>
          </a:p>
        </p:txBody>
      </p:sp>
      <p:sp>
        <p:nvSpPr>
          <p:cNvPr id="22" name="Chevron 21"/>
          <p:cNvSpPr/>
          <p:nvPr/>
        </p:nvSpPr>
        <p:spPr>
          <a:xfrm>
            <a:off x="9893808" y="1463040"/>
            <a:ext cx="1499616" cy="603504"/>
          </a:xfrm>
          <a:prstGeom prst="chevron">
            <a:avLst/>
          </a:prstGeom>
          <a:solidFill>
            <a:srgbClr val="FCE9EE"/>
          </a:solidFill>
          <a:ln w="1778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1463040"/>
            <a:ext cx="1389888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BE123C"/>
                </a:solidFill>
                <a:latin typeface="Consolas"/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3172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Segoe UI"/>
              </a:rPr>
              <a:t>source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54480" y="2560320"/>
            <a:ext cx="10058400" cy="0"/>
          </a:xfrm>
          <a:prstGeom prst="line">
            <a:avLst/>
          </a:prstGeom>
          <a:ln w="12700">
            <a:solidFill>
              <a:srgbClr val="DBE3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691640" y="2377439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91640" y="2377439"/>
            <a:ext cx="9144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37944" y="237743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2377439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08960" y="2377439"/>
            <a:ext cx="9144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5264" y="237743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2377439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2377439"/>
            <a:ext cx="9144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2584" y="237743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377439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2377439"/>
            <a:ext cx="9144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237743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2377439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2377439"/>
            <a:ext cx="9144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07224" y="237743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2377439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0" y="2377439"/>
            <a:ext cx="9144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237743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2377439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95560" y="2377439"/>
            <a:ext cx="9144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41864" y="237743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172968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5803D"/>
                </a:solidFill>
                <a:latin typeface="Segoe UI"/>
              </a:rPr>
              <a:t>style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554480" y="3401568"/>
            <a:ext cx="10058400" cy="0"/>
          </a:xfrm>
          <a:prstGeom prst="line">
            <a:avLst/>
          </a:prstGeom>
          <a:ln w="12700">
            <a:solidFill>
              <a:srgbClr val="DBE3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691640" y="3218687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91640" y="3218687"/>
            <a:ext cx="91440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37944" y="321868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08960" y="3218687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08960" y="3218687"/>
            <a:ext cx="91440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55264" y="321868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6280" y="3218687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26280" y="3218687"/>
            <a:ext cx="91440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72584" y="321868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0" y="3218687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43600" y="3218687"/>
            <a:ext cx="91440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9904" y="321868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60920" y="3218687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60920" y="3218687"/>
            <a:ext cx="91440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07224" y="321868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78240" y="3218687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78240" y="3218687"/>
            <a:ext cx="91440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24544" y="321868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95560" y="3218687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195560" y="3218687"/>
            <a:ext cx="91440" cy="3657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41864" y="321868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014215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layout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554480" y="4242816"/>
            <a:ext cx="10058400" cy="0"/>
          </a:xfrm>
          <a:prstGeom prst="line">
            <a:avLst/>
          </a:prstGeom>
          <a:ln w="12700">
            <a:solidFill>
              <a:srgbClr val="DBE3E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691640" y="4059935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691640" y="4059935"/>
            <a:ext cx="914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37944" y="4059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108960" y="4059935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108960" y="4059935"/>
            <a:ext cx="914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55264" y="4059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26280" y="4059935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26280" y="4059935"/>
            <a:ext cx="914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72584" y="4059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0" y="4059935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943600" y="4059935"/>
            <a:ext cx="914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89904" y="4059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360920" y="4059935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60920" y="4059935"/>
            <a:ext cx="914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07224" y="4059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78240" y="4059935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78240" y="4059935"/>
            <a:ext cx="914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24544" y="4059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carry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195560" y="4059935"/>
            <a:ext cx="1188720" cy="365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195560" y="4059935"/>
            <a:ext cx="914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341864" y="4059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approve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200" y="5029200"/>
            <a:ext cx="5394960" cy="877824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57200" y="5029200"/>
            <a:ext cx="73152" cy="87782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51389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Consolas"/>
              </a:rPr>
              <a:t>DESIGN PROFILE LOCKED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" y="53400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Staged Deck Generation Pipeline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561441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Segoe UI"/>
              </a:rPr>
              <a:t>stage-gate chevrons: interview-&gt;...-&gt;dual-export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035040" y="5029200"/>
            <a:ext cx="56967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35040" y="5029200"/>
            <a:ext cx="73152" cy="1097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63640" y="51389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Human approval at every gate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63640" y="5431536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Source, style, and layout advance only when their stage-gate signs off, so no lane races ahead of an unapproved input.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CDE8EE"/>
                </a:solidFill>
                <a:latin typeface="Consolas"/>
              </a:rPr>
              <a:t>sunbigfly-ppt-agent-skills · stage-gate chevrons: interview-&gt;...-&gt;dual-export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CDE8EE"/>
                </a:solidFill>
                <a:latin typeface="Consolas"/>
              </a:rPr>
              <a:t>MIT - sunbigfly contributors · 11/11 audit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4F46E5"/>
                </a:solidFill>
                <a:latin typeface="Consolas"/>
              </a:rPr>
              <a:t>nexu-io · direction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Segoe UI"/>
              </a:rPr>
              <a:t>Three zones map every step from skill to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09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3566160" cy="3383280"/>
          </a:xfrm>
          <a:prstGeom prst="roundRect">
            <a:avLst/>
          </a:prstGeom>
          <a:solidFill>
            <a:srgbClr val="EEF2FF"/>
          </a:solidFill>
          <a:ln w="1778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INPUT ZONE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84248"/>
            <a:ext cx="31089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84248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84248"/>
            <a:ext cx="29260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request.md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70632"/>
            <a:ext cx="31089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770632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70632"/>
            <a:ext cx="29260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design-profiles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57015"/>
            <a:ext cx="31089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57015"/>
            <a:ext cx="914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57015"/>
            <a:ext cx="29260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extracted refs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417320"/>
            <a:ext cx="3566160" cy="3383280"/>
          </a:xfrm>
          <a:prstGeom prst="roundRect">
            <a:avLst/>
          </a:prstGeom>
          <a:solidFill>
            <a:srgbClr val="E7F6EC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545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onsolas"/>
              </a:rPr>
              <a:t>BUILD ZONE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984248"/>
            <a:ext cx="31089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1984248"/>
            <a:ext cx="91440" cy="6035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984248"/>
            <a:ext cx="29260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context-prep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2770632"/>
            <a:ext cx="31089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2770632"/>
            <a:ext cx="91440" cy="6035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770632"/>
            <a:ext cx="29260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slide-spec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557015"/>
            <a:ext cx="310896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3557015"/>
            <a:ext cx="91440" cy="6035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557015"/>
            <a:ext cx="29260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visual-assets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417320"/>
            <a:ext cx="3685032" cy="3383280"/>
          </a:xfrm>
          <a:prstGeom prst="roundRect">
            <a:avLst/>
          </a:prstGeom>
          <a:solidFill>
            <a:srgbClr val="FCE9F1"/>
          </a:solidFill>
          <a:ln w="1778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545336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DB2777"/>
                </a:solidFill>
                <a:latin typeface="Consolas"/>
              </a:rPr>
              <a:t>SHIP ZONE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1984248"/>
            <a:ext cx="322783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1984248"/>
            <a:ext cx="91440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984248"/>
            <a:ext cx="30449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quality-gates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2770632"/>
            <a:ext cx="322783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20" y="2770632"/>
            <a:ext cx="91440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2770632"/>
            <a:ext cx="30449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pptx render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3557015"/>
            <a:ext cx="3227832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75320" y="3557015"/>
            <a:ext cx="91440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3557015"/>
            <a:ext cx="30449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audit.json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23360" y="3017520"/>
            <a:ext cx="228600" cy="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18120" y="3017520"/>
            <a:ext cx="228600" cy="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7200" y="5029200"/>
            <a:ext cx="5394960" cy="87782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029200"/>
            <a:ext cx="73152" cy="8778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1389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onsolas"/>
              </a:rPr>
              <a:t>DESIGN PROFILE LOCKED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3400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Claude Design Style (open-design)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61441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Segoe UI"/>
              </a:rPr>
              <a:t>direction-picker cards + artifact-lint badges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0" y="5029200"/>
            <a:ext cx="56967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35040" y="5029200"/>
            <a:ext cx="73152" cy="10972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1389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Segoe UI"/>
              </a:rPr>
              <a:t>Three zones, one locked direction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431536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B5563"/>
                </a:solidFill>
                <a:latin typeface="Segoe UI"/>
              </a:rPr>
              <a:t>The direction-picker fixes the input-&gt;build-&gt;ship route before any layout is drawn; artifact-lint then runs on every node.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7DAF0"/>
                </a:solidFill>
                <a:latin typeface="Consolas"/>
              </a:rPr>
              <a:t>nexu-io-open-design · direction-picker cards + artifact-lint 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7DAF0"/>
                </a:solidFill>
                <a:latin typeface="Consolas"/>
              </a:rPr>
              <a:t>MIT - nexu-io contributors · 11/11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969DA"/>
                </a:solidFill>
                <a:latin typeface="Consolas"/>
              </a:rPr>
              <a:t>primer-primitives · token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Segoe UI"/>
              </a:rPr>
              <a:t>Thirty-two token signals stay green at nine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10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53312"/>
            <a:ext cx="1335024" cy="274320"/>
          </a:xfrm>
          <a:prstGeom prst="rect">
            <a:avLst/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53312"/>
            <a:ext cx="64008" cy="89611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onsolas"/>
              </a:rPr>
              <a:t>fg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5376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5376" y="1353312"/>
            <a:ext cx="1335024" cy="274320"/>
          </a:xfrm>
          <a:prstGeom prst="rect">
            <a:avLst/>
          </a:prstGeom>
          <a:solidFill>
            <a:srgbClr val="FB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65376" y="1353312"/>
            <a:ext cx="64008" cy="896112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2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8250DF"/>
                </a:solidFill>
                <a:latin typeface="Consolas"/>
              </a:rPr>
              <a:t>bg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3552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73552" y="1353312"/>
            <a:ext cx="1335024" cy="274320"/>
          </a:xfrm>
          <a:prstGeom prst="rect">
            <a:avLst/>
          </a:prstGeom>
          <a:solidFill>
            <a:srgbClr val="DAF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73552" y="1353312"/>
            <a:ext cx="64008" cy="896112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onsolas"/>
              </a:rPr>
              <a:t>border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1728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81728" y="1353312"/>
            <a:ext cx="1335024" cy="274320"/>
          </a:xfrm>
          <a:prstGeom prst="rect">
            <a:avLst/>
          </a:prstGeom>
          <a:solidFill>
            <a:srgbClr val="FFF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81728" y="1353312"/>
            <a:ext cx="64008" cy="896112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9A6700"/>
                </a:solidFill>
                <a:latin typeface="Consolas"/>
              </a:rPr>
              <a:t>accent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9904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9904" y="1353312"/>
            <a:ext cx="1335024" cy="274320"/>
          </a:xfrm>
          <a:prstGeom prst="rect">
            <a:avLst/>
          </a:prstGeom>
          <a:solidFill>
            <a:srgbClr val="FF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9904" y="1353312"/>
            <a:ext cx="64008" cy="896112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CF222E"/>
                </a:solidFill>
                <a:latin typeface="Consolas"/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1353312"/>
            <a:ext cx="1335024" cy="274320"/>
          </a:xfrm>
          <a:prstGeom prst="rect">
            <a:avLst/>
          </a:prstGeom>
          <a:solidFill>
            <a:srgbClr val="FF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79" y="1353312"/>
            <a:ext cx="64008" cy="896112"/>
          </a:xfrm>
          <a:prstGeom prst="rect">
            <a:avLst/>
          </a:prstGeom>
          <a:solidFill>
            <a:srgbClr val="BF3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6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BF3989"/>
                </a:solidFill>
                <a:latin typeface="Consolas"/>
              </a:rPr>
              <a:t>warn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44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6096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06256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06256" y="1353312"/>
            <a:ext cx="1335024" cy="274320"/>
          </a:xfrm>
          <a:prstGeom prst="rect">
            <a:avLst/>
          </a:prstGeom>
          <a:solidFill>
            <a:srgbClr val="E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06256" y="1353312"/>
            <a:ext cx="64008" cy="89611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34272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Consolas"/>
              </a:rPr>
              <a:t>danger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14432" y="1353312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14432" y="1353312"/>
            <a:ext cx="1335024" cy="2743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14432" y="1353312"/>
            <a:ext cx="64008" cy="896112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42448" y="1380744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F2328"/>
                </a:solidFill>
                <a:latin typeface="Consolas"/>
              </a:rPr>
              <a:t>muted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42448" y="1664208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2448" y="2048255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2295144"/>
            <a:ext cx="1335024" cy="274320"/>
          </a:xfrm>
          <a:prstGeom prst="rect">
            <a:avLst/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2295144"/>
            <a:ext cx="64008" cy="89611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6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onsolas"/>
              </a:rPr>
              <a:t>canvas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216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65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6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865376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865376" y="2295144"/>
            <a:ext cx="1335024" cy="274320"/>
          </a:xfrm>
          <a:prstGeom prst="rect">
            <a:avLst/>
          </a:prstGeom>
          <a:solidFill>
            <a:srgbClr val="FB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865376" y="2295144"/>
            <a:ext cx="64008" cy="896112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93392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8250DF"/>
                </a:solidFill>
                <a:latin typeface="Consolas"/>
              </a:rPr>
              <a:t>subtle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93392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72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93392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73552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73552" y="2295144"/>
            <a:ext cx="1335024" cy="274320"/>
          </a:xfrm>
          <a:prstGeom prst="rect">
            <a:avLst/>
          </a:prstGeom>
          <a:solidFill>
            <a:srgbClr val="DAF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73552" y="2295144"/>
            <a:ext cx="64008" cy="896112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01568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onsolas"/>
              </a:rPr>
              <a:t>emphasis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01568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79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01568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81728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681728" y="2295144"/>
            <a:ext cx="1335024" cy="274320"/>
          </a:xfrm>
          <a:prstGeom prst="rect">
            <a:avLst/>
          </a:prstGeom>
          <a:solidFill>
            <a:srgbClr val="FFF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81728" y="2295144"/>
            <a:ext cx="64008" cy="896112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09744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9A6700"/>
                </a:solidFill>
                <a:latin typeface="Consolas"/>
              </a:rPr>
              <a:t>onEmph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9744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86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09744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89904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089904" y="2295144"/>
            <a:ext cx="1335024" cy="274320"/>
          </a:xfrm>
          <a:prstGeom prst="rect">
            <a:avLst/>
          </a:prstGeom>
          <a:solidFill>
            <a:srgbClr val="FF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089904" y="2295144"/>
            <a:ext cx="64008" cy="896112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17920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CF222E"/>
                </a:solidFill>
                <a:latin typeface="Consolas"/>
              </a:rPr>
              <a:t>link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93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0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498079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498079" y="2295144"/>
            <a:ext cx="1335024" cy="274320"/>
          </a:xfrm>
          <a:prstGeom prst="rect">
            <a:avLst/>
          </a:prstGeom>
          <a:solidFill>
            <a:srgbClr val="FF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98079" y="2295144"/>
            <a:ext cx="64008" cy="896112"/>
          </a:xfrm>
          <a:prstGeom prst="rect">
            <a:avLst/>
          </a:prstGeom>
          <a:solidFill>
            <a:srgbClr val="BF3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26096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BF3989"/>
                </a:solidFill>
                <a:latin typeface="Consolas"/>
              </a:rPr>
              <a:t>visited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26096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26096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906256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906256" y="2295144"/>
            <a:ext cx="1335024" cy="274320"/>
          </a:xfrm>
          <a:prstGeom prst="rect">
            <a:avLst/>
          </a:prstGeom>
          <a:solidFill>
            <a:srgbClr val="E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906256" y="2295144"/>
            <a:ext cx="64008" cy="89611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34272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Consolas"/>
              </a:rPr>
              <a:t>focus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4272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17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4272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314432" y="2295144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314432" y="2295144"/>
            <a:ext cx="1335024" cy="2743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14432" y="2295144"/>
            <a:ext cx="64008" cy="896112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42448" y="2322575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F2328"/>
                </a:solidFill>
                <a:latin typeface="Consolas"/>
              </a:rPr>
              <a:t>shadow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42448" y="2606039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42448" y="2990087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7200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7200" y="3236976"/>
            <a:ext cx="1335024" cy="274320"/>
          </a:xfrm>
          <a:prstGeom prst="rect">
            <a:avLst/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57200" y="3236976"/>
            <a:ext cx="64008" cy="89611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5216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onsolas"/>
              </a:rPr>
              <a:t>xs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5216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31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216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865376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865376" y="3236976"/>
            <a:ext cx="1335024" cy="274320"/>
          </a:xfrm>
          <a:prstGeom prst="rect">
            <a:avLst/>
          </a:prstGeom>
          <a:solidFill>
            <a:srgbClr val="FB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865376" y="3236976"/>
            <a:ext cx="64008" cy="896112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993392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8250DF"/>
                </a:solidFill>
                <a:latin typeface="Consolas"/>
              </a:rPr>
              <a:t>sm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93392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93392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73552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273552" y="3236976"/>
            <a:ext cx="1335024" cy="274320"/>
          </a:xfrm>
          <a:prstGeom prst="rect">
            <a:avLst/>
          </a:prstGeom>
          <a:solidFill>
            <a:srgbClr val="DAF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273552" y="3236976"/>
            <a:ext cx="64008" cy="896112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01568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onsolas"/>
              </a:rPr>
              <a:t>md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01568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45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01568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681728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681728" y="3236976"/>
            <a:ext cx="1335024" cy="274320"/>
          </a:xfrm>
          <a:prstGeom prst="rect">
            <a:avLst/>
          </a:prstGeom>
          <a:solidFill>
            <a:srgbClr val="FFF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681728" y="3236976"/>
            <a:ext cx="64008" cy="896112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809744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9A6700"/>
                </a:solidFill>
                <a:latin typeface="Consolas"/>
              </a:rPr>
              <a:t>lg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09744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52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9744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089904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89904" y="3236976"/>
            <a:ext cx="1335024" cy="274320"/>
          </a:xfrm>
          <a:prstGeom prst="rect">
            <a:avLst/>
          </a:prstGeom>
          <a:solidFill>
            <a:srgbClr val="FF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089904" y="3236976"/>
            <a:ext cx="64008" cy="896112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217920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CF222E"/>
                </a:solidFill>
                <a:latin typeface="Consolas"/>
              </a:rPr>
              <a:t>display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17920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59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17920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498079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498079" y="3236976"/>
            <a:ext cx="1335024" cy="274320"/>
          </a:xfrm>
          <a:prstGeom prst="rect">
            <a:avLst/>
          </a:prstGeom>
          <a:solidFill>
            <a:srgbClr val="FF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498079" y="3236976"/>
            <a:ext cx="64008" cy="896112"/>
          </a:xfrm>
          <a:prstGeom prst="rect">
            <a:avLst/>
          </a:prstGeom>
          <a:solidFill>
            <a:srgbClr val="BF3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626096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BF3989"/>
                </a:solidFill>
                <a:latin typeface="Consolas"/>
              </a:rPr>
              <a:t>title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26096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66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26096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906256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906256" y="3236976"/>
            <a:ext cx="1335024" cy="274320"/>
          </a:xfrm>
          <a:prstGeom prst="rect">
            <a:avLst/>
          </a:prstGeom>
          <a:solidFill>
            <a:srgbClr val="E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906256" y="3236976"/>
            <a:ext cx="64008" cy="89611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034272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Consolas"/>
              </a:rPr>
              <a:t>body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034272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73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34272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314432" y="3236976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314432" y="3236976"/>
            <a:ext cx="1335024" cy="2743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236976"/>
            <a:ext cx="64008" cy="896112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42448" y="3264408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F2328"/>
                </a:solidFill>
                <a:latin typeface="Consolas"/>
              </a:rPr>
              <a:t>caption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442448" y="35478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442448" y="393192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57200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57200" y="4178808"/>
            <a:ext cx="1335024" cy="274320"/>
          </a:xfrm>
          <a:prstGeom prst="rect">
            <a:avLst/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57200" y="4178808"/>
            <a:ext cx="64008" cy="89611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85216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onsolas"/>
              </a:rPr>
              <a:t>z0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85216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87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85216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865376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865376" y="4178808"/>
            <a:ext cx="1335024" cy="274320"/>
          </a:xfrm>
          <a:prstGeom prst="rect">
            <a:avLst/>
          </a:prstGeom>
          <a:solidFill>
            <a:srgbClr val="FB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865376" y="4178808"/>
            <a:ext cx="64008" cy="896112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993392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8250DF"/>
                </a:solidFill>
                <a:latin typeface="Consolas"/>
              </a:rPr>
              <a:t>z1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993392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94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993392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273552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273552" y="4178808"/>
            <a:ext cx="1335024" cy="274320"/>
          </a:xfrm>
          <a:prstGeom prst="rect">
            <a:avLst/>
          </a:prstGeom>
          <a:solidFill>
            <a:srgbClr val="DAF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273552" y="4178808"/>
            <a:ext cx="64008" cy="896112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401568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onsolas"/>
              </a:rPr>
              <a:t>z10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01568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11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401568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681728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681728" y="4178808"/>
            <a:ext cx="1335024" cy="274320"/>
          </a:xfrm>
          <a:prstGeom prst="rect">
            <a:avLst/>
          </a:prstGeom>
          <a:solidFill>
            <a:srgbClr val="FFF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681728" y="4178808"/>
            <a:ext cx="64008" cy="896112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809744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9A6700"/>
                </a:solidFill>
                <a:latin typeface="Consolas"/>
              </a:rPr>
              <a:t>z100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09744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18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809744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089904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089904" y="4178808"/>
            <a:ext cx="1335024" cy="274320"/>
          </a:xfrm>
          <a:prstGeom prst="rect">
            <a:avLst/>
          </a:prstGeom>
          <a:solidFill>
            <a:srgbClr val="FF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089904" y="4178808"/>
            <a:ext cx="64008" cy="896112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217920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CF222E"/>
                </a:solidFill>
                <a:latin typeface="Consolas"/>
              </a:rPr>
              <a:t>ease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217920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25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217920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7498079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498079" y="4178808"/>
            <a:ext cx="1335024" cy="274320"/>
          </a:xfrm>
          <a:prstGeom prst="rect">
            <a:avLst/>
          </a:prstGeom>
          <a:solidFill>
            <a:srgbClr val="FF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498079" y="4178808"/>
            <a:ext cx="64008" cy="896112"/>
          </a:xfrm>
          <a:prstGeom prst="rect">
            <a:avLst/>
          </a:prstGeom>
          <a:solidFill>
            <a:srgbClr val="BF3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626096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BF3989"/>
                </a:solidFill>
                <a:latin typeface="Consolas"/>
              </a:rPr>
              <a:t>dur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626096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32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626096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906256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906256" y="4178808"/>
            <a:ext cx="1335024" cy="274320"/>
          </a:xfrm>
          <a:prstGeom prst="rect">
            <a:avLst/>
          </a:prstGeom>
          <a:solidFill>
            <a:srgbClr val="E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906256" y="4178808"/>
            <a:ext cx="64008" cy="89611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034272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Consolas"/>
              </a:rPr>
              <a:t>delay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034272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39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034272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0314432" y="4178808"/>
            <a:ext cx="133502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314432" y="4178808"/>
            <a:ext cx="1335024" cy="2743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314432" y="4178808"/>
            <a:ext cx="64008" cy="896112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442448" y="4206240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i="0">
                <a:solidFill>
                  <a:srgbClr val="1F2328"/>
                </a:solidFill>
                <a:latin typeface="Consolas"/>
              </a:rPr>
              <a:t>loop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442448" y="448970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F2328"/>
                </a:solidFill>
                <a:latin typeface="Segoe UI"/>
              </a:rPr>
              <a:t>46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442448" y="48737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1A7F37"/>
                </a:solidFill>
                <a:latin typeface="Consolas"/>
              </a:rPr>
              <a:t>● ok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57200" y="5541264"/>
            <a:ext cx="5120640" cy="877824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57200" y="5541264"/>
            <a:ext cx="73152" cy="877824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58368" y="5650992"/>
            <a:ext cx="475487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969DA"/>
                </a:solidFill>
                <a:latin typeface="Consolas"/>
              </a:rPr>
              <a:t>DESIGN PROFILE LOCKED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58368" y="5852159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Segoe UI"/>
              </a:rPr>
              <a:t>Primer Primitives Design Tokens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58368" y="6126479"/>
            <a:ext cx="47548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7606A"/>
                </a:solidFill>
                <a:latin typeface="Segoe UI"/>
              </a:rPr>
              <a:t>GitHub canvas, mono token labels, scale color roles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5760720" y="5541264"/>
            <a:ext cx="597103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760720" y="5541264"/>
            <a:ext cx="73152" cy="877824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989320" y="565099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32 token signals, all ≥ 9pt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989320" y="5925312"/>
            <a:ext cx="55778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7606A"/>
                </a:solidFill>
                <a:latin typeface="Segoe UI"/>
              </a:rPr>
              <a:t>A dense primer token board that still respects the 9pt content floor and the 0.5in margins on every edge.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  <a:latin typeface="Consolas"/>
              </a:rPr>
              <a:t>primer-primitives · GitHub canvas, mono token labels, scale color roles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DF3"/>
                </a:solidFill>
                <a:latin typeface="Consolas"/>
              </a:rPr>
              <a:t>MIT - 2018 GitHub Inc. · 11/11 audit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B6E6E"/>
                </a:solidFill>
                <a:latin typeface="Consolas"/>
              </a:rPr>
              <a:t>alchaincyf · brand-asset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0B6E6E"/>
                </a:solidFill>
                <a:latin typeface="Georgia"/>
              </a:rPr>
              <a:t>Brand lock fixes palette, type, and tone up 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11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B6E6E"/>
                </a:solidFill>
                <a:latin typeface="Consolas"/>
              </a:rPr>
              <a:t>primary_palette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00784"/>
            <a:ext cx="1188720" cy="603504"/>
          </a:xfrm>
          <a:prstGeom prst="roundRect">
            <a:avLst/>
          </a:prstGeom>
          <a:solidFill>
            <a:srgbClr val="0B6E6E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408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6B6B6B"/>
                </a:solidFill>
                <a:latin typeface="Consolas"/>
              </a:rPr>
              <a:t>#0B6E6E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55648" y="1700784"/>
            <a:ext cx="1188720" cy="603504"/>
          </a:xfrm>
          <a:prstGeom prst="roundRect">
            <a:avLst/>
          </a:prstGeom>
          <a:solidFill>
            <a:srgbClr val="0E8A8A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648" y="23408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6B6B6B"/>
                </a:solidFill>
                <a:latin typeface="Consolas"/>
              </a:rPr>
              <a:t>#0E8A8A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54096" y="1700784"/>
            <a:ext cx="1188720" cy="603504"/>
          </a:xfrm>
          <a:prstGeom prst="roundRect">
            <a:avLst/>
          </a:prstGeom>
          <a:solidFill>
            <a:srgbClr val="B8860B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23408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6B6B6B"/>
                </a:solidFill>
                <a:latin typeface="Consolas"/>
              </a:rPr>
              <a:t>#B8860B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700784"/>
            <a:ext cx="1188720" cy="603504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3408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6B6B6B"/>
                </a:solidFill>
                <a:latin typeface="Consolas"/>
              </a:rPr>
              <a:t>#1A1A1A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B6E6E"/>
                </a:solidFill>
                <a:latin typeface="Consolas"/>
              </a:rPr>
              <a:t>neutral_palette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1188720" cy="45720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112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onsolas"/>
              </a:rPr>
              <a:t>#FBFAF7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55648" y="3017520"/>
            <a:ext cx="1188720" cy="45720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55648" y="35112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onsolas"/>
              </a:rPr>
              <a:t>#F4F1EA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54096" y="3017520"/>
            <a:ext cx="1188720" cy="457200"/>
          </a:xfrm>
          <a:prstGeom prst="roundRect">
            <a:avLst/>
          </a:prstGeom>
          <a:solidFill>
            <a:srgbClr val="E4E0D8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35112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onsolas"/>
              </a:rPr>
              <a:t>#E4E0D8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3017520"/>
            <a:ext cx="1188720" cy="457200"/>
          </a:xfrm>
          <a:prstGeom prst="roundRect">
            <a:avLst/>
          </a:prstGeom>
          <a:solidFill>
            <a:srgbClr val="6B6B6B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35112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onsolas"/>
              </a:rPr>
              <a:t>#6B6B6B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319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B6E6E"/>
                </a:solidFill>
                <a:latin typeface="Consolas"/>
              </a:rPr>
              <a:t>typeface_display / typeface_body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6110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onsolas"/>
              </a:rPr>
              <a:t>Display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261104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Georgia"/>
              </a:rPr>
              <a:t>Aa Display 24pt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onsolas"/>
              </a:rPr>
              <a:t>Title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773168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Georgia"/>
              </a:rPr>
              <a:t>Aa Title 17pt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852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onsolas"/>
              </a:rPr>
              <a:t>Body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285232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Segoe UI"/>
              </a:rPr>
              <a:t>Aa Body 12pt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9729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onsolas"/>
              </a:rPr>
              <a:t>Caption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797296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Segoe UI"/>
              </a:rPr>
              <a:t>Aa Caption 9pt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1417320"/>
            <a:ext cx="533095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1417320"/>
            <a:ext cx="73152" cy="3703320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1554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tone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1883664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6B6B6B"/>
                </a:solidFill>
                <a:latin typeface="Segoe UI"/>
              </a:rPr>
              <a:t>Calm, precise, enterprise-grade. The brand lock is non-negotiable: palette and type are fixed before any slide is drawn, and every text frame stays editable.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2926080"/>
            <a:ext cx="4846320" cy="18288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29400" y="3154679"/>
            <a:ext cx="109728" cy="109728"/>
          </a:xfrm>
          <a:prstGeom prst="ellipse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108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Segoe UI"/>
              </a:rPr>
              <a:t>Brand lock applied before layout.</a:t>
            </a:r>
          </a:p>
        </p:txBody>
      </p:sp>
      <p:sp>
        <p:nvSpPr>
          <p:cNvPr id="44" name="Oval 43"/>
          <p:cNvSpPr/>
          <p:nvPr/>
        </p:nvSpPr>
        <p:spPr>
          <a:xfrm>
            <a:off x="6629400" y="3611879"/>
            <a:ext cx="109728" cy="109728"/>
          </a:xfrm>
          <a:prstGeom prst="ellipse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3566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Segoe UI"/>
              </a:rPr>
              <a:t>Display = serif, Body = sans.</a:t>
            </a:r>
          </a:p>
        </p:txBody>
      </p:sp>
      <p:sp>
        <p:nvSpPr>
          <p:cNvPr id="46" name="Oval 45"/>
          <p:cNvSpPr/>
          <p:nvPr/>
        </p:nvSpPr>
        <p:spPr>
          <a:xfrm>
            <a:off x="6629400" y="4069080"/>
            <a:ext cx="109728" cy="109728"/>
          </a:xfrm>
          <a:prstGeom prst="ellipse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Segoe UI"/>
              </a:rPr>
              <a:t>Gold reserved for emphasis only.</a:t>
            </a:r>
          </a:p>
        </p:txBody>
      </p:sp>
      <p:sp>
        <p:nvSpPr>
          <p:cNvPr id="48" name="Oval 47"/>
          <p:cNvSpPr/>
          <p:nvPr/>
        </p:nvSpPr>
        <p:spPr>
          <a:xfrm>
            <a:off x="6629400" y="4526280"/>
            <a:ext cx="109728" cy="109728"/>
          </a:xfrm>
          <a:prstGeom prst="ellipse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Segoe UI"/>
              </a:rPr>
              <a:t>Neutrals carry all surfaces.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285232"/>
            <a:ext cx="5330952" cy="877824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5285232"/>
            <a:ext cx="73152" cy="877824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5394960"/>
            <a:ext cx="49651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B6E6E"/>
                </a:solidFill>
                <a:latin typeface="Consolas"/>
              </a:rPr>
              <a:t>DESIGN PROFILE LOCKED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1968" y="5596128"/>
            <a:ext cx="49651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Segoe UI"/>
              </a:rPr>
              <a:t>HTML-Native Brand Design Pipeline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5870448"/>
            <a:ext cx="49651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brand-asset protocol: locked palette + display/body typefaces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6EAE8"/>
                </a:solidFill>
                <a:latin typeface="Consolas"/>
              </a:rPr>
              <a:t>alchaincyf-huashu-design · brand-asset protocol: locked palette + display/body typefaces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6EAE8"/>
                </a:solidFill>
                <a:latin typeface="Consolas"/>
              </a:rPr>
              <a:t>MIT - alchaincyf contributors · 11/11 audit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  <a:latin typeface="Consolas"/>
              </a:rPr>
              <a:t>erickittelson · primitive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Segoe UI"/>
              </a:rPr>
              <a:t>Five primitives compose every slide by hand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Segoe UI"/>
              </a:rPr>
              <a:t>12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2011680" cy="14630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1572768"/>
            <a:ext cx="731520" cy="502920"/>
          </a:xfrm>
          <a:prstGeom prst="roundRect">
            <a:avLst/>
          </a:prstGeom>
          <a:noFill/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128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Consolas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5420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_shape(round_rect)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417320"/>
            <a:ext cx="2011680" cy="14630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572768"/>
            <a:ext cx="731520" cy="502920"/>
          </a:xfrm>
          <a:prstGeom prst="rect">
            <a:avLst/>
          </a:prstGeom>
          <a:noFill/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22128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Consolas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25420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_text()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417320"/>
            <a:ext cx="2011680" cy="14630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1572768"/>
            <a:ext cx="731520" cy="502920"/>
          </a:xfrm>
          <a:prstGeom prst="rect">
            <a:avLst/>
          </a:prstGeom>
          <a:noFill/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2128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Consolas"/>
              </a:rPr>
              <a:t>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5420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_line()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417320"/>
            <a:ext cx="2011680" cy="14630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1572768"/>
            <a:ext cx="731520" cy="502920"/>
          </a:xfrm>
          <a:prstGeom prst="rect">
            <a:avLst/>
          </a:prstGeom>
          <a:noFill/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2" y="22128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Consolas"/>
              </a:rPr>
              <a:t>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2" y="25420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_image()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417320"/>
            <a:ext cx="2011680" cy="146304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0" y="1572768"/>
            <a:ext cx="731520" cy="502920"/>
          </a:xfrm>
          <a:prstGeom prst="ellipse">
            <a:avLst/>
          </a:prstGeom>
          <a:noFill/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2912" y="22128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  <a:latin typeface="Consolas"/>
              </a:rPr>
              <a:t>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5420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_shape(oval)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154680"/>
            <a:ext cx="11274552" cy="17830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2735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// every slide composes from these five primitives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639312"/>
            <a:ext cx="91440" cy="23774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602736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onsolas"/>
              </a:rPr>
              <a:t>group(slide-root)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3602736"/>
            <a:ext cx="914400" cy="274320"/>
          </a:xfrm>
          <a:prstGeom prst="roundRect">
            <a:avLst/>
          </a:prstGeom>
          <a:solidFill>
            <a:srgbClr val="0E2A1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79024" y="3602736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3FB950"/>
                </a:solidFill>
                <a:latin typeface="Consolas"/>
              </a:rPr>
              <a:t>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968496"/>
            <a:ext cx="91440" cy="23774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931920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onsolas"/>
              </a:rPr>
              <a:t>  card(panel)  +  text(title)  +  line(rule)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24160" y="3931920"/>
            <a:ext cx="914400" cy="274320"/>
          </a:xfrm>
          <a:prstGeom prst="roundRect">
            <a:avLst/>
          </a:prstGeom>
          <a:solidFill>
            <a:srgbClr val="0E2A1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79024" y="393192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3FB950"/>
                </a:solidFill>
                <a:latin typeface="Consolas"/>
              </a:rPr>
              <a:t>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297680"/>
            <a:ext cx="91440" cy="237744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261104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onsolas"/>
              </a:rPr>
              <a:t>  image(exhibit)  +  text(caption)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4261104"/>
            <a:ext cx="914400" cy="274320"/>
          </a:xfrm>
          <a:prstGeom prst="roundRect">
            <a:avLst/>
          </a:prstGeom>
          <a:solidFill>
            <a:srgbClr val="0E2A1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79024" y="4261104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3FB950"/>
                </a:solidFill>
                <a:latin typeface="Consolas"/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626864"/>
            <a:ext cx="91440" cy="2377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59028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onsolas"/>
              </a:rPr>
              <a:t>  shape(oval hub)  +  connector(spoke)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24160" y="4590288"/>
            <a:ext cx="914400" cy="274320"/>
          </a:xfrm>
          <a:prstGeom prst="roundRect">
            <a:avLst/>
          </a:prstGeom>
          <a:solidFill>
            <a:srgbClr val="0E2A1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79024" y="459028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3FB950"/>
                </a:solidFill>
                <a:latin typeface="Consolas"/>
              </a:rPr>
              <a:t>OK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02352"/>
            <a:ext cx="11274552" cy="87782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102352"/>
            <a:ext cx="73152" cy="87782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212080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58A6FF"/>
                </a:solidFill>
                <a:latin typeface="Consolas"/>
              </a:rPr>
              <a:t>DESIGN PROFILE LOCKED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41324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E6EDF3"/>
                </a:solidFill>
                <a:latin typeface="Segoe UI"/>
              </a:rPr>
              <a:t>JSX Primitive Composition (Cautionary Reference)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687568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8B949E"/>
                </a:solidFill>
                <a:latin typeface="Segoe UI"/>
              </a:rPr>
              <a:t>primitive map: Card-&gt;shape(round_rect), Text-&gt;text(), Line-&gt;line()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nsolas"/>
              </a:rPr>
              <a:t>erickittelson-slidemason · primitive map: Card-&gt;shape(round_rect), Text-&gt;text(), Line-&gt;line()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onsolas"/>
              </a:rPr>
              <a:t>MIT - erickittelson contributors · 11/11 audit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Consolas"/>
              </a:rPr>
              <a:t>pptwork · raster + editable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  <a:latin typeface="Segoe UI"/>
              </a:rPr>
              <a:t>Raw sources narrow into one audited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13 / 50</a:t>
            </a:r>
          </a:p>
        </p:txBody>
      </p:sp>
      <p:sp>
        <p:nvSpPr>
          <p:cNvPr id="10" name="Trapezoid 9"/>
          <p:cNvSpPr/>
          <p:nvPr/>
        </p:nvSpPr>
        <p:spPr>
          <a:xfrm>
            <a:off x="594359" y="1463040"/>
            <a:ext cx="6583680" cy="676656"/>
          </a:xfrm>
          <a:prstGeom prst="trapezoid">
            <a:avLst/>
          </a:prstGeom>
          <a:solidFill>
            <a:srgbClr val="E7EEFE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59" y="1463040"/>
            <a:ext cx="91440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39" y="1463040"/>
            <a:ext cx="621792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Raw HTML sources  ·  120u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249424"/>
            <a:ext cx="5486400" cy="676656"/>
          </a:xfrm>
          <a:prstGeom prst="rect">
            <a:avLst/>
          </a:prstGeom>
          <a:solidFill>
            <a:srgbClr val="E7EEFE"/>
          </a:solidFill>
          <a:ln w="1778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2249424"/>
            <a:ext cx="91440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249424"/>
            <a:ext cx="512064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Segoe UI"/>
              </a:rPr>
              <a:t>Compressed brief  ·  86u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3035808"/>
            <a:ext cx="4389120" cy="676656"/>
          </a:xfrm>
          <a:prstGeom prst="rect">
            <a:avLst/>
          </a:prstGeom>
          <a:solidFill>
            <a:srgbClr val="E6F6FE"/>
          </a:solidFill>
          <a:ln w="1778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91640" y="3035808"/>
            <a:ext cx="91440" cy="67665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20" y="3035808"/>
            <a:ext cx="4023359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Outline + style-lock  ·  60u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3822191"/>
            <a:ext cx="3291840" cy="676656"/>
          </a:xfrm>
          <a:prstGeom prst="rect">
            <a:avLst/>
          </a:prstGeom>
          <a:solidFill>
            <a:srgbClr val="E7F6EC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0280" y="3822191"/>
            <a:ext cx="9144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3822191"/>
            <a:ext cx="292608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Segoe UI"/>
              </a:rPr>
              <a:t>Slide spec  ·  42u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4608576"/>
            <a:ext cx="2194560" cy="676656"/>
          </a:xfrm>
          <a:prstGeom prst="rect">
            <a:avLst/>
          </a:prstGeom>
          <a:solidFill>
            <a:srgbClr val="FCE9E9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88920" y="4608576"/>
            <a:ext cx="91440" cy="6766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608576"/>
            <a:ext cx="18288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Segoe UI"/>
              </a:rPr>
              <a:t>Audited deck  ·  26u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417320"/>
            <a:ext cx="359359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417320"/>
            <a:ext cx="73152" cy="3520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554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Two deliverables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1938528"/>
            <a:ext cx="3200400" cy="1225296"/>
          </a:xfrm>
          <a:prstGeom prst="roundRect">
            <a:avLst/>
          </a:prstGeom>
          <a:solidFill>
            <a:srgbClr val="E7EEFE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204825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RASTER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232257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Pixel-faithful preview image — fidelity, not editability.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273552"/>
            <a:ext cx="3200400" cy="1225296"/>
          </a:xfrm>
          <a:prstGeom prst="roundRect">
            <a:avLst/>
          </a:prstGeom>
          <a:solidFill>
            <a:srgbClr val="E6F6FE"/>
          </a:solidFill>
          <a:ln w="1778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33832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onsolas"/>
              </a:rPr>
              <a:t>CONSTRAINED PPTX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6576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Every frame editable; no background images or raster slide embeds.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7315200" cy="8778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13892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onsolas"/>
              </a:rPr>
              <a:t>DESIGN PROFILE 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34009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HTML-as-Source PPTX Build Artifact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61441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Segoe UI"/>
              </a:rPr>
              <a:t>preset chips + raster-vs-editable split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6E0F0"/>
                </a:solidFill>
                <a:latin typeface="Consolas"/>
              </a:rPr>
              <a:t>pptwork-oh-my-slides · preset chips + raster-vs-editable split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6E0F0"/>
                </a:solidFill>
                <a:latin typeface="Consolas"/>
              </a:rPr>
              <a:t>MIT - PPTWork contributors · 11/11 audit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onsolas"/>
              </a:rPr>
              <a:t>likaku · frameworks-matrices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Segoe UI"/>
              </a:rPr>
              <a:t>Evidence beats effort in the top-right quadrant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14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417320"/>
            <a:ext cx="6217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63440" y="1417320"/>
            <a:ext cx="0" cy="3657600"/>
          </a:xfrm>
          <a:prstGeom prst="line">
            <a:avLst/>
          </a:prstGeom>
          <a:ln w="15240">
            <a:solidFill>
              <a:srgbClr val="D9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54480" y="3246120"/>
            <a:ext cx="6217920" cy="0"/>
          </a:xfrm>
          <a:prstGeom prst="line">
            <a:avLst/>
          </a:prstGeom>
          <a:ln w="15240">
            <a:solidFill>
              <a:srgbClr val="D9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512978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Consolas"/>
              </a:rPr>
              <a:t>EFFORT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9" y="1417320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Consolas"/>
              </a:rPr>
              <a:t>↑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5A6473"/>
                </a:solidFill>
                <a:latin typeface="Segoe UI"/>
              </a:rPr>
              <a:t>Quick 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5A6473"/>
                </a:solidFill>
                <a:latin typeface="Segoe UI"/>
              </a:rPr>
              <a:t>Strategic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7091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5A6473"/>
                </a:solidFill>
                <a:latin typeface="Segoe UI"/>
              </a:rPr>
              <a:t>Skip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7091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5A6473"/>
                </a:solidFill>
                <a:latin typeface="Segoe UI"/>
              </a:rPr>
              <a:t>Time sinks</a:t>
            </a:r>
          </a:p>
        </p:txBody>
      </p:sp>
      <p:sp>
        <p:nvSpPr>
          <p:cNvPr id="19" name="Oval 18"/>
          <p:cNvSpPr/>
          <p:nvPr/>
        </p:nvSpPr>
        <p:spPr>
          <a:xfrm>
            <a:off x="6258153" y="1929384"/>
            <a:ext cx="292608" cy="292608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5625" y="195681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22222"/>
                </a:solidFill>
                <a:latin typeface="Segoe UI"/>
              </a:rPr>
              <a:t>audit gates</a:t>
            </a:r>
          </a:p>
        </p:txBody>
      </p:sp>
      <p:sp>
        <p:nvSpPr>
          <p:cNvPr id="21" name="Oval 20"/>
          <p:cNvSpPr/>
          <p:nvPr/>
        </p:nvSpPr>
        <p:spPr>
          <a:xfrm>
            <a:off x="5263286" y="2368296"/>
            <a:ext cx="292608" cy="292608"/>
          </a:xfrm>
          <a:prstGeom prst="ellipse">
            <a:avLst/>
          </a:prstGeom>
          <a:solidFill>
            <a:srgbClr val="2E5496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0758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22222"/>
                </a:solidFill>
                <a:latin typeface="Segoe UI"/>
              </a:rPr>
              <a:t>design ctx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465576"/>
            <a:ext cx="292608" cy="292608"/>
          </a:xfrm>
          <a:prstGeom prst="ellipse">
            <a:avLst/>
          </a:prstGeom>
          <a:solidFill>
            <a:srgbClr val="C000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34930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22222"/>
                </a:solidFill>
                <a:latin typeface="Segoe UI"/>
              </a:rPr>
              <a:t>micro grid</a:t>
            </a:r>
          </a:p>
        </p:txBody>
      </p:sp>
      <p:sp>
        <p:nvSpPr>
          <p:cNvPr id="25" name="Oval 24"/>
          <p:cNvSpPr/>
          <p:nvPr/>
        </p:nvSpPr>
        <p:spPr>
          <a:xfrm>
            <a:off x="3895344" y="2916935"/>
            <a:ext cx="292608" cy="292608"/>
          </a:xfrm>
          <a:prstGeom prst="ellipse">
            <a:avLst/>
          </a:prstGeom>
          <a:solidFill>
            <a:srgbClr val="40404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2816" y="294436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22222"/>
                </a:solidFill>
                <a:latin typeface="Segoe UI"/>
              </a:rPr>
              <a:t>collage</a:t>
            </a:r>
          </a:p>
        </p:txBody>
      </p:sp>
      <p:sp>
        <p:nvSpPr>
          <p:cNvPr id="27" name="Oval 26"/>
          <p:cNvSpPr/>
          <p:nvPr/>
        </p:nvSpPr>
        <p:spPr>
          <a:xfrm>
            <a:off x="3149193" y="4014215"/>
            <a:ext cx="292608" cy="292608"/>
          </a:xfrm>
          <a:prstGeom prst="ellipse">
            <a:avLst/>
          </a:prstGeom>
          <a:solidFill>
            <a:srgbClr val="C000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6665" y="4041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22222"/>
                </a:solidFill>
                <a:latin typeface="Segoe UI"/>
              </a:rPr>
              <a:t>manual deck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417320"/>
            <a:ext cx="35935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417320"/>
            <a:ext cx="73152" cy="3657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554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Segoe UI"/>
              </a:rPr>
              <a:t>Read-out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90195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A6473"/>
                </a:solidFill>
                <a:latin typeface="Segoe UI"/>
              </a:rPr>
              <a:t>The toolkit's audit gates and design context sit top-right: high evidence, low effort. Manual decks fall bottom-left.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2926080"/>
            <a:ext cx="3154680" cy="18288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66760" y="3145536"/>
            <a:ext cx="146304" cy="14630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3648" y="3108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Segoe UI"/>
              </a:rPr>
              <a:t>audit gates</a:t>
            </a:r>
          </a:p>
        </p:txBody>
      </p:sp>
      <p:sp>
        <p:nvSpPr>
          <p:cNvPr id="36" name="Oval 35"/>
          <p:cNvSpPr/>
          <p:nvPr/>
        </p:nvSpPr>
        <p:spPr>
          <a:xfrm>
            <a:off x="8366760" y="3529584"/>
            <a:ext cx="146304" cy="146304"/>
          </a:xfrm>
          <a:prstGeom prst="ellipse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13648" y="34930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Segoe UI"/>
              </a:rPr>
              <a:t>design ctx</a:t>
            </a:r>
          </a:p>
        </p:txBody>
      </p:sp>
      <p:sp>
        <p:nvSpPr>
          <p:cNvPr id="38" name="Oval 37"/>
          <p:cNvSpPr/>
          <p:nvPr/>
        </p:nvSpPr>
        <p:spPr>
          <a:xfrm>
            <a:off x="8366760" y="3913632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3648" y="38770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Segoe UI"/>
              </a:rPr>
              <a:t>micro grid</a:t>
            </a:r>
          </a:p>
        </p:txBody>
      </p:sp>
      <p:sp>
        <p:nvSpPr>
          <p:cNvPr id="40" name="Oval 39"/>
          <p:cNvSpPr/>
          <p:nvPr/>
        </p:nvSpPr>
        <p:spPr>
          <a:xfrm>
            <a:off x="8366760" y="4297680"/>
            <a:ext cx="146304" cy="146304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3648" y="42611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Segoe UI"/>
              </a:rPr>
              <a:t>collage</a:t>
            </a:r>
          </a:p>
        </p:txBody>
      </p:sp>
      <p:sp>
        <p:nvSpPr>
          <p:cNvPr id="42" name="Oval 41"/>
          <p:cNvSpPr/>
          <p:nvPr/>
        </p:nvSpPr>
        <p:spPr>
          <a:xfrm>
            <a:off x="8366760" y="4681728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13648" y="46451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Segoe UI"/>
              </a:rPr>
              <a:t>manual deck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212080"/>
            <a:ext cx="7315200" cy="87782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212080"/>
            <a:ext cx="73152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32180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onsolas"/>
              </a:rPr>
              <a:t>DESIGN PROFILE LOCKED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52297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222222"/>
                </a:solidFill>
                <a:latin typeface="Segoe UI"/>
              </a:rPr>
              <a:t>McKinsey-Style Native PPTX Layout Runtime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79729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A6473"/>
                </a:solidFill>
                <a:latin typeface="Segoe UI"/>
              </a:rPr>
              <a:t>action titles, horizontal bars, kicker/rule geometry norms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4F2"/>
                </a:solidFill>
                <a:latin typeface="Consolas"/>
              </a:rPr>
              <a:t>likaku-mck-ppt-design-skill · action titles, horizontal bars, kicker/rule geometry norms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4F2"/>
                </a:solidFill>
                <a:latin typeface="Consolas"/>
              </a:rPr>
              <a:t>MIT - likaku contributors · 11/11 audit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onsolas"/>
              </a:rPr>
              <a:t>likaku · delivery 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Segoe UI"/>
              </a:rPr>
              <a:t>Seven dependent tasks reach ship in eight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15 / 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34640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31920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0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79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79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23760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23760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0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21040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19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18319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15600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515600" y="49560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5A6473"/>
                </a:solidFill>
                <a:latin typeface="Consolas"/>
              </a:rPr>
              <a:t>W8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612880" y="1417320"/>
            <a:ext cx="0" cy="3520440"/>
          </a:xfrm>
          <a:prstGeom prst="line">
            <a:avLst/>
          </a:prstGeom>
          <a:ln w="9525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14813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Source extract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1536192"/>
            <a:ext cx="987552" cy="274320"/>
          </a:xfrm>
          <a:prstGeom prst="roundRect">
            <a:avLst/>
          </a:prstGeom>
          <a:solidFill>
            <a:srgbClr val="E8EDF6"/>
          </a:solidFill>
          <a:ln w="1651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34640" y="1536192"/>
            <a:ext cx="73152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62656" y="1536192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Consolas"/>
              </a:rPr>
              <a:t>1w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38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Design lock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1993392"/>
            <a:ext cx="987552" cy="274320"/>
          </a:xfrm>
          <a:prstGeom prst="roundRect">
            <a:avLst/>
          </a:prstGeom>
          <a:solidFill>
            <a:srgbClr val="E9F0FA"/>
          </a:solidFill>
          <a:ln w="1651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0" y="1993392"/>
            <a:ext cx="73152" cy="27432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59935" y="1993392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 i="0">
                <a:solidFill>
                  <a:srgbClr val="2E5496"/>
                </a:solidFill>
                <a:latin typeface="Consolas"/>
              </a:rPr>
              <a:t>1w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3957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Spec authoring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2450592"/>
            <a:ext cx="3182111" cy="274320"/>
          </a:xfrm>
          <a:prstGeom prst="roundRect">
            <a:avLst/>
          </a:prstGeom>
          <a:solidFill>
            <a:srgbClr val="E8F2FB"/>
          </a:solidFill>
          <a:ln w="1651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31920" y="2450592"/>
            <a:ext cx="73152" cy="27432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9935" y="2450592"/>
            <a:ext cx="299923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 i="0">
                <a:solidFill>
                  <a:srgbClr val="5B9BD5"/>
                </a:solidFill>
                <a:latin typeface="Consolas"/>
              </a:rPr>
              <a:t>3w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8529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Asset gen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79" y="2907792"/>
            <a:ext cx="987552" cy="274320"/>
          </a:xfrm>
          <a:prstGeom prst="roundRect">
            <a:avLst/>
          </a:prstGeom>
          <a:solidFill>
            <a:srgbClr val="FBE9E9"/>
          </a:solidFill>
          <a:ln w="1651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9" y="2907792"/>
            <a:ext cx="73152" cy="274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4495" y="2907792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Consolas"/>
              </a:rPr>
              <a:t>1w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101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Render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0" y="3364992"/>
            <a:ext cx="987552" cy="274320"/>
          </a:xfrm>
          <a:prstGeom prst="roundRect">
            <a:avLst/>
          </a:prstGeom>
          <a:solidFill>
            <a:srgbClr val="E6E6E6"/>
          </a:solidFill>
          <a:ln w="1651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23760" y="3364992"/>
            <a:ext cx="73152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51776" y="3364992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 i="0">
                <a:solidFill>
                  <a:srgbClr val="404040"/>
                </a:solidFill>
                <a:latin typeface="Consolas"/>
              </a:rPr>
              <a:t>1w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7673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Audit + repair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3822191"/>
            <a:ext cx="2084831" cy="274320"/>
          </a:xfrm>
          <a:prstGeom prst="roundRect">
            <a:avLst/>
          </a:prstGeom>
          <a:solidFill>
            <a:srgbClr val="E7F3E8"/>
          </a:solidFill>
          <a:ln w="1651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23760" y="3822191"/>
            <a:ext cx="73152" cy="274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51776" y="3822191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  <a:latin typeface="Consolas"/>
              </a:rPr>
              <a:t>2w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224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Ship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19" y="4279392"/>
            <a:ext cx="2084831" cy="274320"/>
          </a:xfrm>
          <a:prstGeom prst="roundRect">
            <a:avLst/>
          </a:prstGeom>
          <a:solidFill>
            <a:srgbClr val="FBE9E9"/>
          </a:solidFill>
          <a:ln w="1651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18319" y="4279392"/>
            <a:ext cx="73152" cy="274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46336" y="4279392"/>
            <a:ext cx="1901951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Consolas"/>
              </a:rPr>
              <a:t>2w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931920" y="2130552"/>
            <a:ext cx="0" cy="320040"/>
          </a:xfrm>
          <a:prstGeom prst="line">
            <a:avLst/>
          </a:prstGeom>
          <a:ln w="15240">
            <a:solidFill>
              <a:srgbClr val="5A64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57200" y="5303520"/>
            <a:ext cx="5120640" cy="87782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303520"/>
            <a:ext cx="73152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5413248"/>
            <a:ext cx="475487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onsolas"/>
              </a:rPr>
              <a:t>DESIGN PROFILE LOCKED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5614416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222222"/>
                </a:solidFill>
                <a:latin typeface="Segoe UI"/>
              </a:rPr>
              <a:t>McKinsey-Style Native PPTX Layout Runtime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5888736"/>
            <a:ext cx="47548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A6473"/>
                </a:solidFill>
                <a:latin typeface="Segoe UI"/>
              </a:rPr>
              <a:t>action titles, horizontal bars, kicker/rule geometry norms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5303520"/>
            <a:ext cx="5971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60720" y="5303520"/>
            <a:ext cx="73152" cy="8595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39496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Segoe UI"/>
              </a:rPr>
              <a:t>Seven dependent tasks, eight weeks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669280"/>
            <a:ext cx="55778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473"/>
                </a:solidFill>
                <a:latin typeface="Segoe UI"/>
              </a:rPr>
              <a:t>Spec authoring gates asset generation; audit and repair overlap render so ship lands on week eight.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4F2"/>
                </a:solidFill>
                <a:latin typeface="Consolas"/>
              </a:rPr>
              <a:t>likaku-mck-ppt-design-skill · action titles, horizontal bars, kicker/rule geometry norms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4F2"/>
                </a:solidFill>
                <a:latin typeface="Consolas"/>
              </a:rPr>
              <a:t>MIT - likaku contributors · 11/11 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onsolas"/>
              </a:rPr>
              <a:t>likaku · structure-navigation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Segoe UI"/>
              </a:rPr>
              <a:t>Every control point answers to one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16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417320"/>
            <a:ext cx="2313432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20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pptify .agent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965960" y="2020824"/>
            <a:ext cx="4123944" cy="676656"/>
          </a:xfrm>
          <a:prstGeom prst="line">
            <a:avLst/>
          </a:prstGeom>
          <a:ln w="17780">
            <a:solidFill>
              <a:srgbClr val="D9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" y="2697480"/>
            <a:ext cx="2286000" cy="548640"/>
          </a:xfrm>
          <a:prstGeom prst="rect">
            <a:avLst/>
          </a:prstGeom>
          <a:solidFill>
            <a:srgbClr val="E8EDF6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Segoe UI"/>
              </a:rPr>
              <a:t>context-prep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800600" y="2020824"/>
            <a:ext cx="1289304" cy="676656"/>
          </a:xfrm>
          <a:prstGeom prst="line">
            <a:avLst/>
          </a:prstGeom>
          <a:ln w="17780">
            <a:solidFill>
              <a:srgbClr val="D9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57600" y="2697480"/>
            <a:ext cx="2286000" cy="548640"/>
          </a:xfrm>
          <a:prstGeom prst="rect">
            <a:avLst/>
          </a:prstGeom>
          <a:solidFill>
            <a:srgbClr val="E9F0FA"/>
          </a:solidFill>
          <a:ln w="1778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2E5496"/>
                </a:solidFill>
                <a:latin typeface="Segoe UI"/>
              </a:rPr>
              <a:t>slide-spec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9904" y="2020824"/>
            <a:ext cx="1545336" cy="676656"/>
          </a:xfrm>
          <a:prstGeom prst="line">
            <a:avLst/>
          </a:prstGeom>
          <a:ln w="17780">
            <a:solidFill>
              <a:srgbClr val="D9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92240" y="2697480"/>
            <a:ext cx="2286000" cy="548640"/>
          </a:xfrm>
          <a:prstGeom prst="rect">
            <a:avLst/>
          </a:prstGeom>
          <a:solidFill>
            <a:srgbClr val="FBE9E9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Segoe UI"/>
              </a:rPr>
              <a:t>quality-gates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2020824"/>
            <a:ext cx="4379976" cy="676656"/>
          </a:xfrm>
          <a:prstGeom prst="line">
            <a:avLst/>
          </a:prstGeom>
          <a:ln w="17780">
            <a:solidFill>
              <a:srgbClr val="D9DC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326880" y="2697480"/>
            <a:ext cx="2286000" cy="548640"/>
          </a:xfrm>
          <a:prstGeom prst="rect">
            <a:avLst/>
          </a:prstGeom>
          <a:solidFill>
            <a:srgbClr val="E6E6E6"/>
          </a:solidFill>
          <a:ln w="1778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697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404040"/>
                </a:solidFill>
                <a:latin typeface="Segoe UI"/>
              </a:rPr>
              <a:t>visual-assets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325880" y="3246120"/>
            <a:ext cx="640080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extract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65960" y="3246120"/>
            <a:ext cx="548640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01168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profiles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160520" y="3246120"/>
            <a:ext cx="640080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layout_tree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00600" y="3246120"/>
            <a:ext cx="548640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84632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primitives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6995159" y="3246120"/>
            <a:ext cx="640081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9224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11 checks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35240" y="3246120"/>
            <a:ext cx="548640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6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repair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9829800" y="3246120"/>
            <a:ext cx="640080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32688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raster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469880" y="3246120"/>
            <a:ext cx="548640" cy="640080"/>
          </a:xfrm>
          <a:prstGeom prst="line">
            <a:avLst/>
          </a:prstGeom>
          <a:ln w="12700">
            <a:solidFill>
              <a:srgbClr val="D9DCE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515600" y="3886200"/>
            <a:ext cx="1005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0" y="38862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Segoe UI"/>
              </a:rPr>
              <a:t>embed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029200"/>
            <a:ext cx="5394960" cy="877824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029200"/>
            <a:ext cx="73152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1389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  <a:latin typeface="Consolas"/>
              </a:rPr>
              <a:t>DESIGN PROFILE LOCKED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3400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222222"/>
                </a:solidFill>
                <a:latin typeface="Segoe UI"/>
              </a:rPr>
              <a:t>McKinsey-Style Native PPTX Layout Runtime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61441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A6473"/>
                </a:solidFill>
                <a:latin typeface="Segoe UI"/>
              </a:rPr>
              <a:t>action titles, horizontal bars, kicker/rule geometry norms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5029200"/>
            <a:ext cx="569671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35040" y="5029200"/>
            <a:ext cx="7315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51389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Segoe UI"/>
              </a:rPr>
              <a:t>Every control point has one owner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431536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A6473"/>
                </a:solidFill>
                <a:latin typeface="Segoe UI"/>
              </a:rPr>
              <a:t>The hierarchy traces each leaf capability back through its skill to the single agent root — a clean span-of-control read.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4F2"/>
                </a:solidFill>
                <a:latin typeface="Consolas"/>
              </a:rPr>
              <a:t>likaku-mck-ppt-design-skill · action titles, horizontal bars, kicker/rule geometry norms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4F2"/>
                </a:solidFill>
                <a:latin typeface="Consolas"/>
              </a:rPr>
              <a:t>MIT - likaku contributors · 11/11 audit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4F46E5"/>
                </a:solidFill>
                <a:latin typeface="Consolas"/>
              </a:rPr>
              <a:t>nexu-io · artifact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Segoe UI"/>
              </a:rPr>
              <a:t>Eleven edges link seven toolkit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17 / 50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280160" y="1645920"/>
            <a:ext cx="1828800" cy="27432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1920240"/>
            <a:ext cx="1463040" cy="146304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1645920"/>
            <a:ext cx="2011680" cy="91440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43200" y="2560320"/>
            <a:ext cx="2377440" cy="82296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43200" y="3383280"/>
            <a:ext cx="2011680" cy="82296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2560320"/>
            <a:ext cx="2011680" cy="54864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54880" y="3108960"/>
            <a:ext cx="2377440" cy="109728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754880" y="2560320"/>
            <a:ext cx="365760" cy="164592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766560" y="3108960"/>
            <a:ext cx="365760" cy="173736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5120640" y="2560320"/>
            <a:ext cx="1645920" cy="2286000"/>
          </a:xfrm>
          <a:prstGeom prst="line">
            <a:avLst/>
          </a:prstGeom>
          <a:ln w="16510">
            <a:solidFill>
              <a:srgbClr val="DC262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743200" y="1645920"/>
            <a:ext cx="365760" cy="173736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927" y="1645920"/>
            <a:ext cx="1426464" cy="5486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7" y="164592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Segoe UI"/>
              </a:rPr>
              <a:t>request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95728" y="1371600"/>
            <a:ext cx="1426464" cy="5486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5728" y="137160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Segoe UI"/>
              </a:rPr>
              <a:t>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29967" y="3108960"/>
            <a:ext cx="1426464" cy="548640"/>
          </a:xfrm>
          <a:prstGeom prst="roundRect">
            <a:avLst/>
          </a:prstGeom>
          <a:solidFill>
            <a:srgbClr val="E6F6FE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9967" y="310896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EA5E9"/>
                </a:solidFill>
                <a:latin typeface="Segoe UI"/>
              </a:rPr>
              <a:t>profiles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7" y="2286000"/>
            <a:ext cx="1426464" cy="548640"/>
          </a:xfrm>
          <a:prstGeom prst="roundRect">
            <a:avLst/>
          </a:prstGeom>
          <a:solidFill>
            <a:srgbClr val="E7F6E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7" y="228600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Segoe UI"/>
              </a:rPr>
              <a:t>spec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41648" y="3931920"/>
            <a:ext cx="1426464" cy="548640"/>
          </a:xfrm>
          <a:prstGeom prst="roundRect">
            <a:avLst/>
          </a:prstGeom>
          <a:solidFill>
            <a:srgbClr val="FBF1E2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41648" y="393192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Segoe UI"/>
              </a:rPr>
              <a:t>assets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2834640"/>
            <a:ext cx="1426464" cy="548640"/>
          </a:xfrm>
          <a:prstGeom prst="roundRect">
            <a:avLst/>
          </a:prstGeom>
          <a:solidFill>
            <a:srgbClr val="FCE9F1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83464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DB2777"/>
                </a:solidFill>
                <a:latin typeface="Segoe UI"/>
              </a:rPr>
              <a:t>render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53328" y="4572000"/>
            <a:ext cx="1426464" cy="54864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4572000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891B2"/>
                </a:solidFill>
                <a:latin typeface="Segoe UI"/>
              </a:rPr>
              <a:t>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48640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DC2626"/>
                </a:solidFill>
                <a:latin typeface="Consolas"/>
              </a:rPr>
              <a:t>dashed = repair feedback loop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1417320"/>
            <a:ext cx="350215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417320"/>
            <a:ext cx="73152" cy="3657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1554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Segoe UI"/>
              </a:rPr>
              <a:t>7 nodes, 11 edges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1901952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4B5563"/>
                </a:solidFill>
                <a:latin typeface="Segoe UI"/>
              </a:rPr>
              <a:t>The artifact graph shows how each component depends on others; the dashed edge is the audit-&gt;spec repair loop that keeps the deck honest.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3017520"/>
            <a:ext cx="3108960" cy="18288"/>
          </a:xfrm>
          <a:prstGeom prst="rect">
            <a:avLst/>
          </a:prstGeom>
          <a:solidFill>
            <a:srgbClr val="E0E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58200" y="3236976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2004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1827"/>
                </a:solidFill>
                <a:latin typeface="Segoe UI"/>
              </a:rPr>
              <a:t>request seeds context + profiles</a:t>
            </a:r>
          </a:p>
        </p:txBody>
      </p:sp>
      <p:sp>
        <p:nvSpPr>
          <p:cNvPr id="43" name="Oval 42"/>
          <p:cNvSpPr/>
          <p:nvPr/>
        </p:nvSpPr>
        <p:spPr>
          <a:xfrm>
            <a:off x="8458200" y="3694176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36576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1827"/>
                </a:solidFill>
                <a:latin typeface="Segoe UI"/>
              </a:rPr>
              <a:t>spec fuses context + profiles</a:t>
            </a:r>
          </a:p>
        </p:txBody>
      </p:sp>
      <p:sp>
        <p:nvSpPr>
          <p:cNvPr id="45" name="Oval 44"/>
          <p:cNvSpPr/>
          <p:nvPr/>
        </p:nvSpPr>
        <p:spPr>
          <a:xfrm>
            <a:off x="8458200" y="4151376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1827"/>
                </a:solidFill>
                <a:latin typeface="Segoe UI"/>
              </a:rPr>
              <a:t>render needs spec + assets</a:t>
            </a:r>
          </a:p>
        </p:txBody>
      </p:sp>
      <p:sp>
        <p:nvSpPr>
          <p:cNvPr id="47" name="Oval 46"/>
          <p:cNvSpPr/>
          <p:nvPr/>
        </p:nvSpPr>
        <p:spPr>
          <a:xfrm>
            <a:off x="8458200" y="4608576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45720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11827"/>
                </a:solidFill>
                <a:latin typeface="Segoe UI"/>
              </a:rPr>
              <a:t>audit feeds repairs back to spec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5212080"/>
            <a:ext cx="3502152" cy="87782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5212080"/>
            <a:ext cx="73152" cy="8778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0768" y="5321808"/>
            <a:ext cx="31363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onsolas"/>
              </a:rPr>
              <a:t>DESIGN PROFILE LOCKED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522976"/>
            <a:ext cx="31363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Claude Design Style (open-design)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5797296"/>
            <a:ext cx="31363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Segoe UI"/>
              </a:rPr>
              <a:t>direction-picker cards + artifact-lint badges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7DAF0"/>
                </a:solidFill>
                <a:latin typeface="Consolas"/>
              </a:rPr>
              <a:t>nexu-io-open-design · direction-picker cards + artifact-lint 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7DAF0"/>
                </a:solidFill>
                <a:latin typeface="Consolas"/>
              </a:rPr>
              <a:t>MIT - nexu-io contributors · 11/11 audit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Consolas"/>
              </a:rPr>
              <a:t>corazzon · Neo-Brutalism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Segoe UI"/>
              </a:rPr>
              <a:t>Repair load concentrates in a few profile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E600"/>
                </a:solidFill>
                <a:latin typeface="Segoe UI"/>
              </a:rPr>
              <a:t>18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179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Consolas"/>
              </a:rPr>
              <a:t>fluent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15179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Consolas"/>
              </a:rPr>
              <a:t>primer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5179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Consolas"/>
              </a:rPr>
              <a:t>corazzon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5179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Consolas"/>
              </a:rPr>
              <a:t>likaku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5179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Consolas"/>
              </a:rPr>
              <a:t>sunbigfly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5179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Consolas"/>
              </a:rPr>
              <a:t>nexu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onsolas"/>
              </a:rPr>
              <a:t>collide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1828800"/>
            <a:ext cx="868680" cy="438912"/>
          </a:xfrm>
          <a:prstGeom prst="rect">
            <a:avLst/>
          </a:prstGeom>
          <a:solidFill>
            <a:srgbClr val="FF8A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182880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39" y="1828800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39" y="182880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828800"/>
            <a:ext cx="868680" cy="438912"/>
          </a:xfrm>
          <a:prstGeom prst="rect">
            <a:avLst/>
          </a:prstGeom>
          <a:solidFill>
            <a:srgbClr val="FF1744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82880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1828800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82880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828800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82880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1828800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182880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4086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onsolas"/>
              </a:rPr>
              <a:t>overflow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340864"/>
            <a:ext cx="868680" cy="438912"/>
          </a:xfrm>
          <a:prstGeom prst="rect">
            <a:avLst/>
          </a:prstGeom>
          <a:solidFill>
            <a:srgbClr val="FF8A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234086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39" y="2340864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39" y="234086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2340864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234086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2340864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234086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2340864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234086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2340864"/>
            <a:ext cx="868680" cy="438912"/>
          </a:xfrm>
          <a:prstGeom prst="rect">
            <a:avLst/>
          </a:prstGeom>
          <a:solidFill>
            <a:srgbClr val="FF1744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2340864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85292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onsolas"/>
              </a:rPr>
              <a:t>font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2852928"/>
            <a:ext cx="868680" cy="438912"/>
          </a:xfrm>
          <a:prstGeom prst="rect">
            <a:avLst/>
          </a:prstGeom>
          <a:solidFill>
            <a:srgbClr val="FF1744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285292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39" y="2852928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63239" y="285292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2852928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0" y="285292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83480" y="2852928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3480" y="285292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852928"/>
            <a:ext cx="868680" cy="438912"/>
          </a:xfrm>
          <a:prstGeom prst="rect">
            <a:avLst/>
          </a:prstGeom>
          <a:solidFill>
            <a:srgbClr val="FF1744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285292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2852928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2852928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36499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onsolas"/>
              </a:rPr>
              <a:t>ctx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03120" y="3364992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0" y="33649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63239" y="3364992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63239" y="33649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3364992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60" y="33649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3480" y="3364992"/>
            <a:ext cx="868680" cy="438912"/>
          </a:xfrm>
          <a:prstGeom prst="rect">
            <a:avLst/>
          </a:prstGeom>
          <a:solidFill>
            <a:srgbClr val="FF1744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83480" y="33649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364992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33649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03720" y="3364992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03720" y="3364992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3877056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onsolas"/>
              </a:rPr>
              <a:t>bounds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877056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0" y="387705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63239" y="3877056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63239" y="387705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23360" y="3877056"/>
            <a:ext cx="868680" cy="438912"/>
          </a:xfrm>
          <a:prstGeom prst="rect">
            <a:avLst/>
          </a:prstGeom>
          <a:solidFill>
            <a:srgbClr val="FF8A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23360" y="387705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83480" y="3877056"/>
            <a:ext cx="868680" cy="438912"/>
          </a:xfrm>
          <a:prstGeom prst="rect">
            <a:avLst/>
          </a:prstGeom>
          <a:solidFill>
            <a:srgbClr val="FF1744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83480" y="387705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43600" y="3877056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0" y="387705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3877056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03720" y="3877056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438912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Consolas"/>
              </a:rPr>
              <a:t>contain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03120" y="4389120"/>
            <a:ext cx="868680" cy="438912"/>
          </a:xfrm>
          <a:prstGeom prst="rect">
            <a:avLst/>
          </a:prstGeom>
          <a:solidFill>
            <a:srgbClr val="FF8A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03120" y="43891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63239" y="4389120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63239" y="43891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23360" y="4389120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23360" y="43891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83480" y="4389120"/>
            <a:ext cx="868680" cy="438912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983480" y="43891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0" y="4389120"/>
            <a:ext cx="868680" cy="438912"/>
          </a:xfrm>
          <a:prstGeom prst="rect">
            <a:avLst/>
          </a:prstGeom>
          <a:solidFill>
            <a:srgbClr val="FF8A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0" y="43891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03720" y="4389120"/>
            <a:ext cx="8686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03720" y="4389120"/>
            <a:ext cx="86868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Segoe UI"/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32304" y="4901184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286000" y="4754880"/>
            <a:ext cx="5486400" cy="566928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468880" y="4882896"/>
            <a:ext cx="310896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52928" y="48646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Segoe UI"/>
              </a:rPr>
              <a:t>none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03904" y="4882896"/>
            <a:ext cx="310896" cy="310896"/>
          </a:xfrm>
          <a:prstGeom prst="rect">
            <a:avLst/>
          </a:prstGeom>
          <a:solidFill>
            <a:srgbClr val="FFE6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87952" y="48646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Segoe UI"/>
              </a:rPr>
              <a:t>light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138928" y="4882896"/>
            <a:ext cx="310896" cy="310896"/>
          </a:xfrm>
          <a:prstGeom prst="rect">
            <a:avLst/>
          </a:prstGeom>
          <a:solidFill>
            <a:srgbClr val="FF8A00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22976" y="48646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Segoe UI"/>
              </a:rPr>
              <a:t>medium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73952" y="4882896"/>
            <a:ext cx="310896" cy="310896"/>
          </a:xfrm>
          <a:prstGeom prst="rect">
            <a:avLst/>
          </a:prstGeom>
          <a:solidFill>
            <a:srgbClr val="FF1744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0" y="48646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Segoe UI"/>
              </a:rPr>
              <a:t>heavy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46720" y="1828800"/>
            <a:ext cx="3685032" cy="877824"/>
          </a:xfrm>
          <a:prstGeom prst="rect">
            <a:avLst/>
          </a:prstGeom>
          <a:solidFill>
            <a:srgbClr val="FFE600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46720" y="1828800"/>
            <a:ext cx="73152" cy="8778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47888" y="1938528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111111"/>
                </a:solidFill>
                <a:latin typeface="Consolas"/>
              </a:rPr>
              <a:t>DESIGN PROFILE LOCKED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47888" y="2139696"/>
            <a:ext cx="33192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Segoe UI"/>
              </a:rPr>
              <a:t>Neo-Brutalism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47888" y="2414016"/>
            <a:ext cx="33192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Segoe UI"/>
              </a:rPr>
              <a:t>Neo-Brutalism: thick black borders, hard shadows, saturated blocks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46720" y="2834640"/>
            <a:ext cx="3685032" cy="246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046720" y="2834640"/>
            <a:ext cx="73152" cy="2468880"/>
          </a:xfrm>
          <a:prstGeom prst="rect">
            <a:avLst/>
          </a:prstGeom>
          <a:solidFill>
            <a:srgbClr val="FF3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75320" y="29809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Segoe UI"/>
              </a:rPr>
              <a:t>Repair load concentrates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75320" y="3310128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11111"/>
                </a:solidFill>
                <a:latin typeface="Segoe UI"/>
              </a:rPr>
              <a:t>Neo-Brutalism uses thick black borders, hard offset shadows, and four saturated blocks to grade repair pressure per profile x check. Heavy cells flag where the audit did the most work before passing.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FFE600"/>
                </a:solidFill>
                <a:latin typeface="Consolas"/>
              </a:rPr>
              <a:t>corazzon-pptx-design-styles · Neo-Brutalism: thick black borders, hard shadows, saturated blocks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FFE600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onsolas"/>
              </a:rPr>
              <a:t>sunbigfly · backlog -&gt;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0E7490"/>
                </a:solidFill>
                <a:latin typeface="Segoe UI"/>
              </a:rPr>
              <a:t>Fourteen layouts move from backlog to shipped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19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2743200" cy="3749039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Backlog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499616"/>
            <a:ext cx="402336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1499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2011680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2011680"/>
            <a:ext cx="7315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0848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radial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591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2761488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" y="2761488"/>
            <a:ext cx="7315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8346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ponchi JP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1417320"/>
            <a:ext cx="2743200" cy="3749039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73552" y="1417320"/>
            <a:ext cx="274320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38144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 spec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8112" y="1499616"/>
            <a:ext cx="402336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22976" y="1499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E7490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9856" y="2011680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19856" y="2011680"/>
            <a:ext cx="73152" cy="640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20848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network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23591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19856" y="2761488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19856" y="2761488"/>
            <a:ext cx="73152" cy="640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4448" y="28346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heatmap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19856" y="3511296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19856" y="3511296"/>
            <a:ext cx="73152" cy="640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4448" y="35844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gantt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38587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9904" y="1417320"/>
            <a:ext cx="2743200" cy="3749039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9904" y="1417320"/>
            <a:ext cx="2743200" cy="4572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4496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Rendered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84464" y="1499616"/>
            <a:ext cx="402336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8" y="1499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369A1"/>
                </a:solidFill>
                <a:latin typeface="Segoe UI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6208" y="2011680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36208" y="2011680"/>
            <a:ext cx="73152" cy="64008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0848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bento 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91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2761488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6208" y="2761488"/>
            <a:ext cx="73152" cy="64008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28346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funnel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36208" y="3511296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36208" y="3511296"/>
            <a:ext cx="73152" cy="64008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5844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quadrant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8587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06256" y="1417320"/>
            <a:ext cx="2743200" cy="3749039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06256" y="1417320"/>
            <a:ext cx="274320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0848" y="1417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Shipped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00816" y="1499616"/>
            <a:ext cx="402336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5680" y="1499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Segoe UI"/>
              </a:rPr>
              <a:t>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52560" y="2011680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52560" y="2011680"/>
            <a:ext cx="73152" cy="640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17152" y="20848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cover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7152" y="23591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52560" y="2761488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52560" y="2761488"/>
            <a:ext cx="73152" cy="640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17152" y="28346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scoreboard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52560" y="3511296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052560" y="3511296"/>
            <a:ext cx="73152" cy="640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17152" y="35844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org tree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17152" y="38587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52560" y="4261104"/>
            <a:ext cx="245059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52560" y="4261104"/>
            <a:ext cx="73152" cy="640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17152" y="43342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timeline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17152" y="460857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onsolas"/>
              </a:rPr>
              <a:t>layout · audited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5285232"/>
            <a:ext cx="11274552" cy="877824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7200" y="5285232"/>
            <a:ext cx="73152" cy="87782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5394960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Consolas"/>
              </a:rPr>
              <a:t>DESIGN PROFILE LOCKED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59612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Staged Deck Generation Pipeline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368" y="5870448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Segoe UI"/>
              </a:rPr>
              <a:t>stage-gate chevrons: interview-&gt;...-&gt;dual-export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CDE8EE"/>
                </a:solidFill>
                <a:latin typeface="Consolas"/>
              </a:rPr>
              <a:t>sunbigfly-ppt-agent-skills · stage-gate chevrons: interview-&gt;...-&gt;dual-export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CDE8EE"/>
                </a:solidFill>
                <a:latin typeface="Consolas"/>
              </a:rPr>
              <a:t>MIT - sunbigfly contributors · 11/11 audit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  <a:latin typeface="Consolas"/>
              </a:rPr>
              <a:t>gabberflast · evidence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Georgia"/>
              </a:rPr>
              <a:t>The toolkit beats manual decks on every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20 / 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73152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Manual deck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pptify toolkit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Design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Ad-hoc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11 locked profiles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Layout source</a:t>
                      </a:r>
                    </a:p>
                  </a:txBody>
                  <a:tcPr marL="73152" marR="73152" marT="27432" marB="27432" anchor="ctr">
                    <a:solidFill>
                      <a:srgbClr val="F4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Copy-paste</a:t>
                      </a:r>
                    </a:p>
                  </a:txBody>
                  <a:tcPr marL="73152" marR="73152" marT="27432" marB="27432" anchor="ctr">
                    <a:solidFill>
                      <a:srgbClr val="F4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layout_tree primitives</a:t>
                      </a:r>
                    </a:p>
                  </a:txBody>
                  <a:tcPr marL="73152" marR="73152" marT="27432" marB="27432" anchor="ctr">
                    <a:solidFill>
                      <a:srgbClr val="F4F1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Quality gate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Eyeball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11 automated checks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Editability</a:t>
                      </a:r>
                    </a:p>
                  </a:txBody>
                  <a:tcPr marL="73152" marR="73152" marT="27432" marB="27432" anchor="ctr">
                    <a:solidFill>
                      <a:srgbClr val="F4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73152" marR="73152" marT="27432" marB="27432" anchor="ctr">
                    <a:solidFill>
                      <a:srgbClr val="F4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Every frame editable</a:t>
                      </a:r>
                    </a:p>
                  </a:txBody>
                  <a:tcPr marL="73152" marR="73152" marT="27432" marB="27432" anchor="ctr">
                    <a:solidFill>
                      <a:srgbClr val="F4F1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Audit trail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Segoe UI"/>
                        </a:rPr>
                        <a:t>spec + audit.json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046720" y="1463040"/>
            <a:ext cx="368503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73152" cy="32004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910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Segoe UI"/>
              </a:rPr>
              <a:t>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3852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4A4A66"/>
                </a:solidFill>
                <a:latin typeface="Segoe UI"/>
              </a:rPr>
              <a:t>On every row, the toolkit replaces a manual judgement call with a recorded, checkable artifact.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2788920"/>
            <a:ext cx="3246120" cy="18288"/>
          </a:xfrm>
          <a:prstGeom prst="rect">
            <a:avLst/>
          </a:prstGeom>
          <a:solidFill>
            <a:srgbClr val="DD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6D28D9"/>
                </a:solidFill>
                <a:latin typeface="Georgia"/>
              </a:rPr>
              <a:t>5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4A4A66"/>
                </a:solidFill>
                <a:latin typeface="Segoe UI"/>
              </a:rPr>
              <a:t>rows favour the toolkit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1148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4A4A66"/>
                </a:solidFill>
                <a:latin typeface="Consolas"/>
              </a:rPr>
              <a:t>Source: tests/stress-demo-v2 audit.json, this build.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7315200" cy="87782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73152" cy="8778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95604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6D28D9"/>
                </a:solidFill>
                <a:latin typeface="Consolas"/>
              </a:rPr>
              <a:t>DESIGN PROFILE 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5721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Segoe UI"/>
              </a:rPr>
              <a:t>Narrative Discipline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43153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4A4A66"/>
                </a:solidFill>
                <a:latin typeface="Segoe UI"/>
              </a:rPr>
              <a:t>action title + one exhibit + citation footnote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DD6F2"/>
                </a:solidFill>
                <a:latin typeface="Consolas"/>
              </a:rPr>
              <a:t>gabberflast-academic-pptx-skill · action title + one exhibit + citation footnote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DD6F2"/>
                </a:solidFill>
                <a:latin typeface="Consolas"/>
              </a:rPr>
              <a:t>MIT - Gabberflast contributors · 11/11 audit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5B7065"/>
                </a:solidFill>
                <a:latin typeface="Consolas"/>
              </a:rPr>
              <a:t>corazzon · Nordic Minimalism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E3A45"/>
                </a:solidFill>
                <a:latin typeface="Segoe UI"/>
              </a:rPr>
              <a:t>Tokens carry outcomes up four calm strata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21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508760"/>
            <a:ext cx="2743200" cy="786384"/>
          </a:xfrm>
          <a:prstGeom prst="rect">
            <a:avLst/>
          </a:prstGeom>
          <a:solidFill>
            <a:srgbClr val="E4EAE6"/>
          </a:solidFill>
          <a:ln w="15240">
            <a:solidFill>
              <a:srgbClr val="5B7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1508760"/>
            <a:ext cx="91440" cy="786384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6002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5B7065"/>
                </a:solidFill>
                <a:latin typeface="Segoe UI"/>
              </a:rPr>
              <a:t>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47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Segoe UI"/>
              </a:rPr>
              <a:t>Audited, editable decks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39" y="2386584"/>
            <a:ext cx="4023360" cy="786384"/>
          </a:xfrm>
          <a:prstGeom prst="rect">
            <a:avLst/>
          </a:prstGeom>
          <a:solidFill>
            <a:srgbClr val="E9EFEA"/>
          </a:solidFill>
          <a:ln w="15240">
            <a:solidFill>
              <a:srgbClr val="8FA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0239" y="2386584"/>
            <a:ext cx="91440" cy="786384"/>
          </a:xfrm>
          <a:prstGeom prst="rect">
            <a:avLst/>
          </a:prstGeom>
          <a:solidFill>
            <a:srgbClr val="8FA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39" y="2478024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8FA99B"/>
                </a:solidFill>
                <a:latin typeface="Segoe UI"/>
              </a:rPr>
              <a:t>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28254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Segoe UI"/>
              </a:rPr>
              <a:t>11 quality 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3264408"/>
            <a:ext cx="5303520" cy="786384"/>
          </a:xfrm>
          <a:prstGeom prst="rect">
            <a:avLst/>
          </a:prstGeom>
          <a:solidFill>
            <a:srgbClr val="E8EAEC"/>
          </a:solidFill>
          <a:ln w="1524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3264408"/>
            <a:ext cx="91440" cy="786384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355848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6B7680"/>
                </a:solidFill>
                <a:latin typeface="Segoe UI"/>
              </a:rPr>
              <a:t>Specs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033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Segoe UI"/>
              </a:rPr>
              <a:t>layout_tree primitives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79" y="4142231"/>
            <a:ext cx="6583680" cy="786384"/>
          </a:xfrm>
          <a:prstGeom prst="rect">
            <a:avLst/>
          </a:prstGeom>
          <a:solidFill>
            <a:srgbClr val="E2E5E8"/>
          </a:solidFill>
          <a:ln w="15240">
            <a:solidFill>
              <a:srgbClr val="2E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79" y="4142231"/>
            <a:ext cx="91440" cy="786384"/>
          </a:xfrm>
          <a:prstGeom prst="rect">
            <a:avLst/>
          </a:prstGeom>
          <a:solidFill>
            <a:srgbClr val="2E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79" y="4233671"/>
            <a:ext cx="61264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>
                <a:solidFill>
                  <a:srgbClr val="2E3A45"/>
                </a:solidFill>
                <a:latin typeface="Segoe UI"/>
              </a:rPr>
              <a:t>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79" y="45811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7680"/>
                </a:solidFill>
                <a:latin typeface="Segoe UI"/>
              </a:rPr>
              <a:t>Locked design profiles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1508760"/>
            <a:ext cx="0" cy="3520440"/>
          </a:xfrm>
          <a:prstGeom prst="line">
            <a:avLst/>
          </a:prstGeom>
          <a:ln w="9525">
            <a:solidFill>
              <a:srgbClr val="DCD7C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138160" y="1508760"/>
            <a:ext cx="359359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508760"/>
            <a:ext cx="73152" cy="3383280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645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E3A45"/>
                </a:solidFill>
                <a:latin typeface="Segoe UI"/>
              </a:rPr>
              <a:t>Tokens carry outcomes 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993392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680"/>
                </a:solidFill>
                <a:latin typeface="Segoe UI"/>
              </a:rPr>
              <a:t>Nordic Minimalism reads bottom-up: locked tokens support specs, specs feed gates, gates guarantee outcomes. Calm palette, generous whitespace, hairline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3383280"/>
            <a:ext cx="3200400" cy="18288"/>
          </a:xfrm>
          <a:prstGeom prst="rect">
            <a:avLst/>
          </a:prstGeom>
          <a:solidFill>
            <a:srgbClr val="DC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52958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5B7065"/>
                </a:solidFill>
                <a:latin typeface="Consolas"/>
              </a:rPr>
              <a:t>4 strata · one accent · no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120640"/>
            <a:ext cx="7315200" cy="877824"/>
          </a:xfrm>
          <a:prstGeom prst="rect">
            <a:avLst/>
          </a:prstGeom>
          <a:solidFill>
            <a:srgbClr val="EDE9E1"/>
          </a:solidFill>
          <a:ln w="12700">
            <a:solidFill>
              <a:srgbClr val="DC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73152" cy="877824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230368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5B7065"/>
                </a:solidFill>
                <a:latin typeface="Consolas"/>
              </a:rPr>
              <a:t>DESIGN PROFILE LOCKED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43153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2E3A45"/>
                </a:solidFill>
                <a:latin typeface="Segoe UI"/>
              </a:rPr>
              <a:t>Nordic Minimalism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705855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6B7680"/>
                </a:solidFill>
                <a:latin typeface="Segoe UI"/>
              </a:rPr>
              <a:t>Nordic Minimalism: sage/stone palette, hairline rules, whitespace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E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3DF"/>
                </a:solidFill>
                <a:latin typeface="Consolas"/>
              </a:rPr>
              <a:t>corazzon-pptx-design-styles · Nordic Minimalism: sage/stone palette, hairline rules, whitespace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3DF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8250DF"/>
                </a:solidFill>
                <a:latin typeface="Consolas"/>
              </a:rPr>
              <a:t>awesome-copilot · critique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6639BA"/>
                </a:solidFill>
                <a:latin typeface="Segoe UI"/>
              </a:rPr>
              <a:t>Build, audit, repair, and ship never stop looping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22 / 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8388" y="1792402"/>
            <a:ext cx="1111609" cy="1111609"/>
          </a:xfrm>
          <a:prstGeom prst="line">
            <a:avLst/>
          </a:prstGeom>
          <a:ln w="20320">
            <a:solidFill>
              <a:srgbClr val="5760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868388" y="4411188"/>
            <a:ext cx="1111609" cy="1111609"/>
          </a:xfrm>
          <a:prstGeom prst="line">
            <a:avLst/>
          </a:prstGeom>
          <a:ln w="20320">
            <a:solidFill>
              <a:srgbClr val="5760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249602" y="4411188"/>
            <a:ext cx="1111609" cy="1111609"/>
          </a:xfrm>
          <a:prstGeom prst="line">
            <a:avLst/>
          </a:prstGeom>
          <a:ln w="20320">
            <a:solidFill>
              <a:srgbClr val="5760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49602" y="1792402"/>
            <a:ext cx="1111609" cy="1111609"/>
          </a:xfrm>
          <a:prstGeom prst="line">
            <a:avLst/>
          </a:prstGeom>
          <a:ln w="20320">
            <a:solidFill>
              <a:srgbClr val="5760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46120" y="1097279"/>
            <a:ext cx="1737360" cy="1097280"/>
          </a:xfrm>
          <a:prstGeom prst="roundRect">
            <a:avLst/>
          </a:prstGeom>
          <a:solidFill>
            <a:srgbClr val="FBEFFF"/>
          </a:solidFill>
          <a:ln w="20320">
            <a:solidFill>
              <a:srgbClr val="825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142999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8250DF"/>
                </a:solidFill>
                <a:latin typeface="Segoe UI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64591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57606A"/>
                </a:solidFill>
                <a:latin typeface="Segoe UI"/>
              </a:rPr>
              <a:t>step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108960"/>
            <a:ext cx="1737360" cy="1097280"/>
          </a:xfrm>
          <a:prstGeom prst="roundRect">
            <a:avLst/>
          </a:prstGeom>
          <a:solidFill>
            <a:srgbClr val="DDF4FF"/>
          </a:solidFill>
          <a:ln w="2032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0969DA"/>
                </a:solidFill>
                <a:latin typeface="Segoe UI"/>
              </a:rP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57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57606A"/>
                </a:solidFill>
                <a:latin typeface="Segoe UI"/>
              </a:rPr>
              <a:t>step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5120640"/>
            <a:ext cx="1737360" cy="1097280"/>
          </a:xfrm>
          <a:prstGeom prst="roundRect">
            <a:avLst/>
          </a:prstGeom>
          <a:solidFill>
            <a:srgbClr val="DAFBE1"/>
          </a:solidFill>
          <a:ln w="2032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51663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A7F37"/>
                </a:solidFill>
                <a:latin typeface="Segoe UI"/>
              </a:rPr>
              <a:t>Repair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6692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57606A"/>
                </a:solidFill>
                <a:latin typeface="Segoe UI"/>
              </a:rPr>
              <a:t>step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39" y="3108960"/>
            <a:ext cx="1737360" cy="1097280"/>
          </a:xfrm>
          <a:prstGeom prst="roundRect">
            <a:avLst/>
          </a:prstGeom>
          <a:solidFill>
            <a:srgbClr val="FFEFF7"/>
          </a:solidFill>
          <a:ln w="20320">
            <a:solidFill>
              <a:srgbClr val="BF3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39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BF3989"/>
                </a:solidFill>
                <a:latin typeface="Segoe UI"/>
              </a:rPr>
              <a:t>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39" y="3657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 i="0">
                <a:solidFill>
                  <a:srgbClr val="57606A"/>
                </a:solidFill>
                <a:latin typeface="Segoe UI"/>
              </a:rPr>
              <a:t>step 4</a:t>
            </a:r>
          </a:p>
        </p:txBody>
      </p:sp>
      <p:sp>
        <p:nvSpPr>
          <p:cNvPr id="26" name="Oval 25"/>
          <p:cNvSpPr/>
          <p:nvPr/>
        </p:nvSpPr>
        <p:spPr>
          <a:xfrm>
            <a:off x="3154680" y="3063240"/>
            <a:ext cx="1920240" cy="1188720"/>
          </a:xfrm>
          <a:prstGeom prst="ellipse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329184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7307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0" i="0">
                <a:solidFill>
                  <a:srgbClr val="EFE7FB"/>
                </a:solidFill>
                <a:latin typeface="Segoe UI"/>
              </a:rPr>
              <a:t>never stops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417320"/>
            <a:ext cx="395935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417320"/>
            <a:ext cx="73152" cy="365760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1554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Segoe UI"/>
              </a:rPr>
              <a:t>Build → audit → repair → 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1883664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7606A"/>
                </a:solidFill>
                <a:latin typeface="Segoe UI"/>
              </a:rPr>
              <a:t>The critique loop never terminates: every ship feeds the next build. Awesome Copilot's design-review prompts run at the audit step.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926080"/>
            <a:ext cx="3657600" cy="18288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3108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Consola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108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Segoe UI"/>
              </a:rPr>
              <a:t>Build from locked spec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5295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Consola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5295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Segoe UI"/>
              </a:rPr>
              <a:t>Audit against 11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Consola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9502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Segoe UI"/>
              </a:rPr>
              <a:t>Repair flagged geometry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3708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Consola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3708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Segoe UI"/>
              </a:rPr>
              <a:t>Ship + capture trace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212080"/>
            <a:ext cx="3959352" cy="877824"/>
          </a:xfrm>
          <a:prstGeom prst="roundRect">
            <a:avLst/>
          </a:prstGeom>
          <a:solidFill>
            <a:srgbClr val="FBF7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212080"/>
            <a:ext cx="73152" cy="877824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5321808"/>
            <a:ext cx="35935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8250DF"/>
                </a:solidFill>
                <a:latin typeface="Consolas"/>
              </a:rPr>
              <a:t>DESIGN PROFILE LOCKED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522976"/>
            <a:ext cx="35935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Segoe UI"/>
              </a:rPr>
              <a:t>Awesome Copilot Design Agent and Prompt 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5797296"/>
            <a:ext cx="35935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57606A"/>
                </a:solidFill>
                <a:latin typeface="Segoe UI"/>
              </a:rPr>
              <a:t>design-review callouts + visual-hierarchy reasoning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DE7F7"/>
                </a:solidFill>
                <a:latin typeface="Consolas"/>
              </a:rPr>
              <a:t>awesome-copilot-design-agents · design-review callouts + visual-hierarchy reasoning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DE7F7"/>
                </a:solidFill>
                <a:latin typeface="Consolas"/>
              </a:rPr>
              <a:t>MIT - GitHub, Inc. · 11/11 audit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F6CBD"/>
                </a:solidFill>
                <a:latin typeface="Consolas"/>
              </a:rPr>
              <a:t>fluent · ポンチ絵 (日本語)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01F1E"/>
                </a:solidFill>
                <a:latin typeface="Segoe UI"/>
              </a:rPr>
              <a:t>ポンチ絵が現状から効果までを一枚で説明する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23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697480" cy="2286000"/>
          </a:xfrm>
          <a:prstGeom prst="roundRect">
            <a:avLst/>
          </a:prstGeom>
          <a:solidFill>
            <a:srgbClr val="EDEBE9"/>
          </a:solidFill>
          <a:ln w="17780">
            <a:solidFill>
              <a:srgbClr val="20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2697480" cy="512064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26974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現状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01F1E"/>
                </a:solidFill>
                <a:latin typeface="Segoe UI"/>
              </a:rPr>
              <a:t>手作業の資料作成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23317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1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201F1E"/>
                </a:solidFill>
                <a:latin typeface="Segoe UI"/>
              </a:rPr>
              <a:t>人手依存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27248" y="2377440"/>
            <a:ext cx="164592" cy="457200"/>
          </a:xfrm>
          <a:prstGeom prst="rightArrow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3552" y="1463040"/>
            <a:ext cx="2697480" cy="2286000"/>
          </a:xfrm>
          <a:prstGeom prst="roundRect">
            <a:avLst/>
          </a:prstGeom>
          <a:solidFill>
            <a:srgbClr val="FBEFE7"/>
          </a:solidFill>
          <a:ln w="17780">
            <a:solidFill>
              <a:srgbClr val="CA5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2" y="1463040"/>
            <a:ext cx="2697480" cy="512064"/>
          </a:xfrm>
          <a:prstGeom prst="rect">
            <a:avLst/>
          </a:prstGeom>
          <a:solidFill>
            <a:srgbClr val="CA5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1463040"/>
            <a:ext cx="26974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課題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12140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01F1E"/>
                </a:solidFill>
                <a:latin typeface="Segoe UI"/>
              </a:rPr>
              <a:t>品質のばらつき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3017520"/>
            <a:ext cx="23317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5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3017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CA5010"/>
                </a:solidFill>
                <a:latin typeface="Segoe UI"/>
              </a:rPr>
              <a:t>再現性低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43600" y="2377440"/>
            <a:ext cx="164592" cy="457200"/>
          </a:xfrm>
          <a:prstGeom prst="rightArrow">
            <a:avLst/>
          </a:prstGeom>
          <a:solidFill>
            <a:srgbClr val="CA5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4" y="1463040"/>
            <a:ext cx="2697480" cy="2286000"/>
          </a:xfrm>
          <a:prstGeom prst="roundRect">
            <a:avLst/>
          </a:prstGeom>
          <a:solidFill>
            <a:srgbClr val="EFF6FC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1463040"/>
            <a:ext cx="2697480" cy="512064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1463040"/>
            <a:ext cx="26974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施策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12140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01F1E"/>
                </a:solidFill>
                <a:latin typeface="Segoe UI"/>
              </a:rPr>
              <a:t>pptify ツールキット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3017520"/>
            <a:ext cx="23317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3017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0F6CBD"/>
                </a:solidFill>
                <a:latin typeface="Segoe UI"/>
              </a:rPr>
              <a:t>トークン固定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59952" y="2377440"/>
            <a:ext cx="164592" cy="457200"/>
          </a:xfrm>
          <a:prstGeom prst="rightArrow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06256" y="1463040"/>
            <a:ext cx="2697480" cy="2286000"/>
          </a:xfrm>
          <a:prstGeom prst="roundRect">
            <a:avLst/>
          </a:prstGeom>
          <a:solidFill>
            <a:srgbClr val="E6F4F4"/>
          </a:solidFill>
          <a:ln w="17780">
            <a:solidFill>
              <a:srgbClr val="0383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1463040"/>
            <a:ext cx="2697480" cy="512064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6256" y="1463040"/>
            <a:ext cx="26974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効果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212140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01F1E"/>
                </a:solidFill>
                <a:latin typeface="Segoe UI"/>
              </a:rPr>
              <a:t>監査済みデッキ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9136" y="3017520"/>
            <a:ext cx="233172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383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3017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038387"/>
                </a:solidFill>
                <a:latin typeface="Segoe UI"/>
              </a:rPr>
              <a:t>自動検査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77639"/>
            <a:ext cx="1127455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977639"/>
            <a:ext cx="73152" cy="109728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08736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一枚で「現状→効果」を説明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37083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05E5C"/>
                </a:solidFill>
                <a:latin typeface="Segoe UI"/>
              </a:rPr>
              <a:t>ポンチ絵は、現状の課題から施策、そして効果までを一画面で説明する。Fluent トークンで色と余白を統一した。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12080"/>
            <a:ext cx="11274552" cy="877824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212080"/>
            <a:ext cx="73152" cy="877824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321808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F6CBD"/>
                </a:solidFill>
                <a:latin typeface="Consolas"/>
              </a:rPr>
              <a:t>DESIGN PROFILE LOCKED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522976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201F1E"/>
                </a:solidFill>
                <a:latin typeface="Segoe UI"/>
              </a:rPr>
              <a:t>Fluent UI Design Token Guidance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797296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605E5C"/>
                </a:solidFill>
                <a:latin typeface="Segoe UI"/>
              </a:rPr>
              <a:t>Fluent neutralBackground cards + token chips (webLightTheme)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fluent-ui-design-tokens · Fluent neutralBackground cards + token chips (webLightTheme)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6E6"/>
                </a:solidFill>
                <a:latin typeface="Consolas"/>
              </a:rPr>
              <a:t>MIT - Microsoft Corporation · 11/11 audit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  <a:latin typeface="Consolas"/>
              </a:rPr>
              <a:t>gabberflast · closing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Georgia"/>
              </a:rPr>
              <a:t>Eleven checks stay green across twenty-four core layouts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24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37160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03520" y="157276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2704" y="137160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content collisions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137160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37160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157276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4544" y="137160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text overflow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4512" y="137160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10312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0" y="230428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32704" y="210312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font floor ≥9pt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21031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10312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95360" y="230428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4544" y="210312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design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4512" y="21031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283464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03520" y="303580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2704" y="283464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per-slide visual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283464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283464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95360" y="303580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4544" y="283464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narrative present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4512" y="283464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356616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03520" y="376732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56616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no hidden slides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56616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356616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95360" y="376732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4544" y="356616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asset layering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54512" y="356616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429768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03520" y="449884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4" y="429768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slide bounds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429768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03920" y="429768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360" y="449884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24544" y="429768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containment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4512" y="429768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2080" y="5029200"/>
            <a:ext cx="3163824" cy="603504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03520" y="5230368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2704" y="5029200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table fit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62672" y="502920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5803D"/>
                </a:solidFill>
                <a:latin typeface="Consolas"/>
              </a:rPr>
              <a:t>PASS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12080" y="5760720"/>
            <a:ext cx="6455664" cy="530352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0680" y="5760720"/>
            <a:ext cx="5961888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ALL 11 CHECKS PASS · 50 / 50 layouts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1371600"/>
            <a:ext cx="4480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1371600"/>
            <a:ext cx="4480560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15727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D28D9"/>
                </a:solidFill>
                <a:latin typeface="Consolas"/>
              </a:rPr>
              <a:t>THE ASK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1883664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 i="0">
                <a:solidFill>
                  <a:srgbClr val="1A1A2E"/>
                </a:solidFill>
                <a:latin typeface="Georgia"/>
              </a:rPr>
              <a:t>Adopt the pptify</a:t>
            </a:r>
          </a:p>
          <a:p>
            <a:pPr algn="l">
              <a:lnSpc>
                <a:spcPct val="102000"/>
              </a:lnSpc>
            </a:pPr>
            <a:r>
              <a:rPr sz="2400" b="1" i="0">
                <a:solidFill>
                  <a:srgbClr val="1A1A2E"/>
                </a:solidFill>
                <a:latin typeface="Georgia"/>
              </a:rPr>
              <a:t>.agent toolkit for</a:t>
            </a:r>
          </a:p>
          <a:p>
            <a:pPr algn="l">
              <a:lnSpc>
                <a:spcPct val="102000"/>
              </a:lnSpc>
            </a:pPr>
            <a:r>
              <a:rPr sz="2400" b="1" i="0">
                <a:solidFill>
                  <a:srgbClr val="1A1A2E"/>
                </a:solidFill>
                <a:latin typeface="Georgia"/>
              </a:rPr>
              <a:t>all stress decks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3232" y="3383280"/>
            <a:ext cx="3968496" cy="713232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3232" y="3383280"/>
            <a:ext cx="91440" cy="71323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2" y="347472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  <a:latin typeface="Consolas"/>
              </a:rPr>
              <a:t>DECISION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" y="371246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Segoe UI"/>
              </a:rPr>
              <a:t>Make profile-locked builds the default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3232" y="4206240"/>
            <a:ext cx="3968496" cy="713232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3232" y="4206240"/>
            <a:ext cx="91440" cy="71323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2" y="42976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  <a:latin typeface="Consolas"/>
              </a:rPr>
              <a:t>DEADLINE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" y="453542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Segoe UI"/>
              </a:rPr>
              <a:t>Next deck cycle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3232" y="5029200"/>
            <a:ext cx="3968496" cy="713232"/>
          </a:xfrm>
          <a:prstGeom prst="roundRect">
            <a:avLst/>
          </a:prstGeom>
          <a:solidFill>
            <a:srgbClr val="F4F1FB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3232" y="5029200"/>
            <a:ext cx="91440" cy="71323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6112" y="512064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  <a:latin typeface="Consolas"/>
              </a:rPr>
              <a:t>OWNER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" y="535838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Segoe UI"/>
              </a:rPr>
              <a:t>pptify maintainers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DD6F2"/>
                </a:solidFill>
                <a:latin typeface="Consolas"/>
              </a:rPr>
              <a:t>gabberflast-academic-pptx-skill · action title + one exhibit + citation footnote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DD6F2"/>
                </a:solidFill>
                <a:latin typeface="Consolas"/>
              </a:rPr>
              <a:t>MIT - Gabberflast contributors · 11/11 audit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969DA"/>
                </a:solidFill>
                <a:latin typeface="Consolas"/>
              </a:rPr>
              <a:t>primer-primitives · design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Segoe UI"/>
              </a:rPr>
              <a:t>Tokens turn taste into a contract the audit enforces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25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969DA"/>
                </a:solidFill>
                <a:latin typeface="Consolas"/>
              </a:rPr>
              <a:t>WHY PRIMITIVES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1097280" cy="2743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92224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1F2328"/>
                </a:solidFill>
                <a:latin typeface="Segoe UI"/>
              </a:rPr>
              <a:t>Primer treats every visual decision as a named primitive rather than a one-off value. Color, spacing, type, and motion each resolve through a single token table, so a slide never invents an ad-hoc hex or a stray margin. The build reads tokens, the audit verifies them, and the deck stays internally consistent end to 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969DA"/>
                </a:solidFill>
                <a:latin typeface="Consolas"/>
              </a:rPr>
              <a:t>HOW IT SCALES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64208"/>
            <a:ext cx="1097280" cy="2743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92224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1F2328"/>
                </a:solidFill>
                <a:latin typeface="Segoe UI"/>
              </a:rPr>
              <a:t>Because primitives compose, the same eight-color ramp drives charts, chips, and callouts without redefinition. New layouts inherit the locked scale automatically; designers tune the table once and every downstream slide updates. That indirection lets fifty dense layouts share one language with zero manual recoloring.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0448" y="1371600"/>
            <a:ext cx="0" cy="3108960"/>
          </a:xfrm>
          <a:prstGeom prst="line">
            <a:avLst/>
          </a:prstGeom>
          <a:ln w="1270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4754880"/>
            <a:ext cx="11274552" cy="13716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73152" cy="13716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Georgia"/>
              </a:rPr>
              <a:t>“Tokens turn taste into a contract the audit can enforce.”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7606A"/>
                </a:solidFill>
                <a:latin typeface="Segoe UI"/>
              </a:rPr>
              <a:t>primer-primitives brief · applied across all fifty stress layouts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  <a:latin typeface="Consolas"/>
              </a:rPr>
              <a:t>primer-primitives · GitHub canvas, mono token labels, scale color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DF3"/>
                </a:solidFill>
                <a:latin typeface="Consolas"/>
              </a:rPr>
              <a:t>MIT - 2018 GitHub Inc. · 11/11 audit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  <a:latin typeface="Consolas"/>
              </a:rPr>
              <a:t>gabberflast · ten-principle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Georgia"/>
              </a:rPr>
              <a:t>Ten principles keep every dense slide honest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26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89888"/>
            <a:ext cx="457200" cy="457200"/>
          </a:xfrm>
          <a:prstGeom prst="roundRect">
            <a:avLst/>
          </a:prstGeom>
          <a:solidFill>
            <a:srgbClr val="F1EBFE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137160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Claim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70078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Every title states a verifiable claim, not a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22576"/>
            <a:ext cx="457200" cy="457200"/>
          </a:xfrm>
          <a:prstGeom prst="roundRect">
            <a:avLst/>
          </a:prstGeom>
          <a:solidFill>
            <a:srgbClr val="F1EBFE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30428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One exhibit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63347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Each slide carries a single dominant visual.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55264"/>
            <a:ext cx="457200" cy="457200"/>
          </a:xfrm>
          <a:prstGeom prst="roundRect">
            <a:avLst/>
          </a:prstGeom>
          <a:solidFill>
            <a:srgbClr val="E7EEFE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23697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Lock the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3566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Palette and type are fixed before layout begins.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87952"/>
            <a:ext cx="457200" cy="457200"/>
          </a:xfrm>
          <a:prstGeom prst="roundRect">
            <a:avLst/>
          </a:prstGeom>
          <a:solidFill>
            <a:srgbClr val="E7F6EC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16966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Cite the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4988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Numbers trace back to a named artifact.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0640"/>
            <a:ext cx="457200" cy="457200"/>
          </a:xfrm>
          <a:prstGeom prst="roundRect">
            <a:avLst/>
          </a:prstGeom>
          <a:solidFill>
            <a:srgbClr val="FBF0E2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51023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Respect the floor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54315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No content text drops below nine points.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1389888"/>
            <a:ext cx="457200" cy="457200"/>
          </a:xfrm>
          <a:prstGeom prst="roundRect">
            <a:avLst/>
          </a:prstGeom>
          <a:solidFill>
            <a:srgbClr val="FCE9EE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3898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137160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Hold the margins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70078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A half-inch safe frame on every edge.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2322576"/>
            <a:ext cx="457200" cy="457200"/>
          </a:xfrm>
          <a:prstGeom prst="roundRect">
            <a:avLst/>
          </a:prstGeom>
          <a:solidFill>
            <a:srgbClr val="E0F7FA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32257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230428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No collisions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263347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Content boxes never overlap one another.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255264"/>
            <a:ext cx="457200" cy="457200"/>
          </a:xfrm>
          <a:prstGeom prst="roundRect">
            <a:avLst/>
          </a:prstGeom>
          <a:solidFill>
            <a:srgbClr val="E6E6EF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2552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323697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Editable always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4" y="3566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Every frame stays a real text run.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187952"/>
            <a:ext cx="457200" cy="457200"/>
          </a:xfrm>
          <a:prstGeom prst="roundRect">
            <a:avLst/>
          </a:prstGeom>
          <a:solidFill>
            <a:srgbClr val="F1EBFE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416966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Audit each 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44988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Eleven checks gate the render.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5120640"/>
            <a:ext cx="457200" cy="457200"/>
          </a:xfrm>
          <a:prstGeom prst="roundRect">
            <a:avLst/>
          </a:prstGeom>
          <a:solidFill>
            <a:srgbClr val="F1EBFE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120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6D28D9"/>
                </a:solidFill>
                <a:latin typeface="Consolas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51023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Georgia"/>
              </a:rPr>
              <a:t>Repair, requeue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54315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4A66"/>
                </a:solidFill>
                <a:latin typeface="Segoe UI"/>
              </a:rPr>
              <a:t>Flagged geometry loops back to spec.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DD6F2"/>
                </a:solidFill>
                <a:latin typeface="Consolas"/>
              </a:rPr>
              <a:t>gabberflast-academic-pptx-skill · action title + one exhibit + citation footnote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DD6F2"/>
                </a:solidFill>
                <a:latin typeface="Consolas"/>
              </a:rPr>
              <a:t>MIT - Gabberflast contributors · 11/11 audit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F6CBD"/>
                </a:solidFill>
                <a:latin typeface="Consolas"/>
              </a:rPr>
              <a:t>fluent · toolkit glossary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01F1E"/>
                </a:solidFill>
                <a:latin typeface="Segoe UI"/>
              </a:rPr>
              <a:t>Nine terms define the toolkit's working vocabulary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27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73152" cy="1444752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9961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design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828800"/>
            <a:ext cx="548640" cy="228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920240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A locked bundle of palette, type, and signature from the catalog.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371600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1371600"/>
            <a:ext cx="73152" cy="1444752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149961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layout_tree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9704" y="1828800"/>
            <a:ext cx="548640" cy="22860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1920240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The primitive node graph the renderer walks to draw a slide.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1371600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1371600"/>
            <a:ext cx="73152" cy="1444752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49961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action 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828800"/>
            <a:ext cx="548640" cy="22860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920240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A heading written as a claim the body must prove.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62656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62656"/>
            <a:ext cx="73152" cy="1444752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09067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quality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19856"/>
            <a:ext cx="548640" cy="2286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511296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One of eleven automated checks the deck must clear.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8536" y="2962656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8536" y="2962656"/>
            <a:ext cx="73152" cy="1444752"/>
          </a:xfrm>
          <a:prstGeom prst="rect">
            <a:avLst/>
          </a:prstGeom>
          <a:solidFill>
            <a:srgbClr val="CA5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9704" y="309067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safe frame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9704" y="3419856"/>
            <a:ext cx="548640" cy="22860"/>
          </a:xfrm>
          <a:prstGeom prst="rect">
            <a:avLst/>
          </a:prstGeom>
          <a:solidFill>
            <a:srgbClr val="CA5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511296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The half-inch margin every content box stays inside.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2" y="2962656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19872" y="2962656"/>
            <a:ext cx="73152" cy="1444752"/>
          </a:xfrm>
          <a:prstGeom prst="rect">
            <a:avLst/>
          </a:prstGeom>
          <a:solidFill>
            <a:srgbClr val="C23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090672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font floor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419856"/>
            <a:ext cx="548640" cy="22860"/>
          </a:xfrm>
          <a:prstGeom prst="rect">
            <a:avLst/>
          </a:prstGeom>
          <a:solidFill>
            <a:srgbClr val="C23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511296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The nine-point minimum for any editable content text.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553712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553712"/>
            <a:ext cx="73152" cy="1444752"/>
          </a:xfrm>
          <a:prstGeom prst="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681728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repair 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10912"/>
            <a:ext cx="548640" cy="22860"/>
          </a:xfrm>
          <a:prstGeom prst="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102352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A loop that nudges flagged geometry and re-audits.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88536" y="4553712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88536" y="4553712"/>
            <a:ext cx="73152" cy="1444752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9704" y="4681728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exhibit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9704" y="5010912"/>
            <a:ext cx="548640" cy="22860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9704" y="5102352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The single dominant visual a slide is built around.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2" y="4553712"/>
            <a:ext cx="36118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19872" y="4553712"/>
            <a:ext cx="73152" cy="1444752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4681728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01F1E"/>
                </a:solidFill>
                <a:latin typeface="Segoe UI"/>
              </a:rPr>
              <a:t>dual export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5010912"/>
            <a:ext cx="548640" cy="228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5102352"/>
            <a:ext cx="322783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05E5C"/>
                </a:solidFill>
                <a:latin typeface="Segoe UI"/>
              </a:rPr>
              <a:t>Raster preview plus a fully editable PPTX artifact.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fluent-ui-design-tokens · Fluent neutralBackground cards + token chips (webLightTheme)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6E6"/>
                </a:solidFill>
                <a:latin typeface="Consolas"/>
              </a:rPr>
              <a:t>MIT - Microsoft Corporation · 11/11 audit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onsolas"/>
              </a:rPr>
              <a:t>sunbigfly · pipeline 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0E7490"/>
                </a:solidFill>
                <a:latin typeface="Segoe UI"/>
              </a:rPr>
              <a:t>Six questions resolve the pipeline's biggest doubts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28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4552" cy="420624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457200" cy="42062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1371600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Does the toolkit overwrite my brand?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182880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No — you pick a profile and its palette and type are locked before any slide is drawn.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94560"/>
            <a:ext cx="11274552" cy="420624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194560"/>
            <a:ext cx="457200" cy="420624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9456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2194560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What stops text from overflowing?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265176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A capacity model estimates lines per box and the audit flags any frame that exceeds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11274552" cy="42062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017520"/>
            <a:ext cx="457200" cy="420624"/>
          </a:xfrm>
          <a:prstGeom prst="round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3017520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Can I still edit the result?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347472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Yes — every label is a real PowerPoint text run, never a flattened image.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11274552" cy="420624"/>
          </a:xfrm>
          <a:prstGeom prst="roundRect">
            <a:avLst/>
          </a:prstGeom>
          <a:solidFill>
            <a:srgbClr val="E7F6EC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3840480"/>
            <a:ext cx="457200" cy="420624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3840480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How are collisions caught?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29768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The audit compares every pair of content boxes and reports any overlap above a small epsilon.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63440"/>
            <a:ext cx="11274552" cy="420624"/>
          </a:xfrm>
          <a:prstGeom prst="roundRect">
            <a:avLst/>
          </a:prstGeom>
          <a:solidFill>
            <a:srgbClr val="FBF0E2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663440"/>
            <a:ext cx="457200" cy="420624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5" y="4663440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What if a check fails?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5" y="512064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The repair pass adjusts geometry and re-runs all eleven checks until the deck is clean.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86400"/>
            <a:ext cx="11274552" cy="420624"/>
          </a:xfrm>
          <a:prstGeom prst="roundRect">
            <a:avLst/>
          </a:prstGeom>
          <a:solidFill>
            <a:srgbClr val="F1EBFE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5486400"/>
            <a:ext cx="457200" cy="42062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8640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" y="5486400"/>
            <a:ext cx="10424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Where is the design context kept?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5" y="5943600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In the spec summary and each slide's notes, with profile id, source, and license.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CDE8EE"/>
                </a:solidFill>
                <a:latin typeface="Consolas"/>
              </a:rPr>
              <a:t>sunbigfly-ppt-agent-skills · stage-gate chevrons: interview-&gt;...-&gt;dual-export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CDE8EE"/>
                </a:solidFill>
                <a:latin typeface="Consolas"/>
              </a:rPr>
              <a:t>MIT - sunbigfly contributors · 11/11 audit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2231A"/>
                </a:solidFill>
                <a:latin typeface="Consolas"/>
              </a:rPr>
              <a:t>corazzon · Swiss International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Segoe UI"/>
              </a:rPr>
              <a:t>Every spec parameter answers to an audit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29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09728" cy="4572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371600"/>
          <a:ext cx="7955279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8819"/>
                <a:gridCol w="1988819"/>
                <a:gridCol w="1988819"/>
                <a:gridCol w="1988822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73152" marR="73152" marT="27432" marB="27432" anchor="ctr">
                    <a:solidFill>
                      <a:srgbClr val="E22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Spec</a:t>
                      </a:r>
                    </a:p>
                  </a:txBody>
                  <a:tcPr marL="73152" marR="73152" marT="27432" marB="27432" anchor="ctr">
                    <a:solidFill>
                      <a:srgbClr val="E22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E223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Audit rule</a:t>
                      </a:r>
                    </a:p>
                  </a:txBody>
                  <a:tcPr marL="73152" marR="73152" marT="27432" marB="27432" anchor="ctr">
                    <a:solidFill>
                      <a:srgbClr val="E2231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Canvas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13.333 x 7.5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fixed 16:9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Safe margin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0.50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all four edges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Font floor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9.0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content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Title size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pt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action claim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Ramp colors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per profile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Checks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all must pass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Profiles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catalog-locked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Media parts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Segoe UI"/>
                        </a:rPr>
                        <a:t>embedded PNG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869680" y="1371600"/>
            <a:ext cx="2862072" cy="457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0" y="1371600"/>
            <a:ext cx="73152" cy="4572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554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E2231A"/>
                </a:solidFill>
                <a:latin typeface="Consolas"/>
              </a:rPr>
              <a:t>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920240"/>
            <a:ext cx="2423160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11111"/>
                </a:solidFill>
                <a:latin typeface="Segoe UI"/>
              </a:rPr>
              <a:t>Swiss International keeps the sheet flush-left on a strict grid, with a single red rail and bold heads. Every parameter on the left is enforced by the audit rule on the right, so the table doubles as a contract.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corazzon-pptx-design-styles · Swiss International: flush-left grid, red accent, bold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6E6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B3541E"/>
                </a:solidFill>
                <a:latin typeface="Consolas"/>
              </a:rPr>
              <a:t>corazzon · Editorial Magazine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8A3D12"/>
                </a:solidFill>
                <a:latin typeface="Georgia"/>
              </a:rPr>
              <a:t>A ruled sidebar orders a dense feature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30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200400" cy="4572000"/>
          </a:xfrm>
          <a:prstGeom prst="roundRect">
            <a:avLst/>
          </a:prstGeom>
          <a:solidFill>
            <a:srgbClr val="F3ECE0"/>
          </a:solidFill>
          <a:ln w="12700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554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B3541E"/>
                </a:solidFill>
                <a:latin typeface="Consolas"/>
              </a:rPr>
              <a:t>IN THIS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9751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97510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Georgia"/>
              </a:rPr>
              <a:t>The case for locked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724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2491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Georgia"/>
              </a:rPr>
              <a:t>Where the audit intervenes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474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Georgia"/>
              </a:rPr>
              <a:t>Reading the eleven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4224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2452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Georgia"/>
              </a:rPr>
              <a:t>From spec to editable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9743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7433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1A"/>
                </a:solidFill>
                <a:latin typeface="Georgia"/>
              </a:rPr>
              <a:t>What dual export buys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13716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i="0">
                <a:solidFill>
                  <a:srgbClr val="8A3D12"/>
                </a:solidFill>
                <a:latin typeface="Georgia"/>
              </a:rPr>
              <a:t>The toolkit reads like an edited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011680"/>
            <a:ext cx="7726679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An editorial layout earns its density by ordering it. A serif headline sets the claim, a ruled sidebar indexes the argument, and the body carries the evidence in measured columns that never fight the margin.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749039"/>
            <a:ext cx="7726679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same discipline drives the toolkit. Each profile fixes the voice; each gate removes a way the page could go wrong. The result is a spread that stays calm even when it is packed — exactly what a stress test should prove.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A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ADFCB"/>
                </a:solidFill>
                <a:latin typeface="Consolas"/>
              </a:rPr>
              <a:t>corazzon-pptx-design-styles · Editorial Magazine: serif headline, columns, drop initial, pull-quote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ADFCB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onsolas"/>
              </a:rPr>
              <a:t>likaku · capability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Segoe UI"/>
              </a:rPr>
              <a:t>Seven of seven rows favor the locked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31 / 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71600"/>
          <a:ext cx="786384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Template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pptify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Locked palette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Action titles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Rare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Overflow guard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Modeled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Collision guard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Audited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Editable frames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Design context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Theme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Recorded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Repair loop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Segoe UI"/>
                        </a:rPr>
                        <a:t>Automated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503920" y="1371600"/>
            <a:ext cx="322783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1371600"/>
            <a:ext cx="73152" cy="4572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554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Segoe UI"/>
              </a:rPr>
              <a:t>Read right-down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92024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Segoe UI"/>
              </a:rPr>
              <a:t>The rightmost column is the only one that answers yes or always down the full set. Manual decks and static templates each leave several guarantees unchecked; the toolkit closes every row.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3931920"/>
            <a:ext cx="2788920" cy="18288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40690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Segoe UI"/>
              </a:rPr>
              <a:t>7 / 7 rows favor the locked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4F2"/>
                </a:solidFill>
                <a:latin typeface="Consolas"/>
              </a:rPr>
              <a:t>likaku-mck-ppt-design-skill · action titles, horizontal bars, kicker/rule geometry norms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4F2"/>
                </a:solidFill>
                <a:latin typeface="Consolas"/>
              </a:rPr>
              <a:t>MIT - likaku contributors · 11/11 audit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4F46E5"/>
                </a:solidFill>
                <a:latin typeface="Consolas"/>
              </a:rPr>
              <a:t>nexu-io · annotated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Segoe UI"/>
              </a:rPr>
              <a:t>Five milestones carry profiles from lock to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32 / 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383280"/>
            <a:ext cx="10698480" cy="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435607" y="3264408"/>
            <a:ext cx="237744" cy="237744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723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onsolas"/>
              </a:rPr>
              <a:t>Jan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554480" y="3017520"/>
            <a:ext cx="0" cy="365760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39" y="1645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39" y="1645920"/>
            <a:ext cx="73152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1755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Profiles 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1" y="2066544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Segoe UI"/>
              </a:rPr>
              <a:t>Catalog reviewed; palette and type fixed per track.</a:t>
            </a:r>
          </a:p>
        </p:txBody>
      </p:sp>
      <p:sp>
        <p:nvSpPr>
          <p:cNvPr id="18" name="Oval 17"/>
          <p:cNvSpPr/>
          <p:nvPr/>
        </p:nvSpPr>
        <p:spPr>
          <a:xfrm>
            <a:off x="3698748" y="3264408"/>
            <a:ext cx="237744" cy="237744"/>
          </a:xfrm>
          <a:prstGeom prst="ellipse">
            <a:avLst/>
          </a:prstGeom>
          <a:solidFill>
            <a:srgbClr val="6366F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0420" y="30723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onsolas"/>
              </a:rPr>
              <a:t>Mar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17620" y="3383280"/>
            <a:ext cx="0" cy="310896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11779" y="3694176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1779" y="3694176"/>
            <a:ext cx="73152" cy="1371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6372" y="3803904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Specs authored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6372" y="4114800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Segoe UI"/>
              </a:rPr>
              <a:t>Every slide expressed as a layout_tree of primitives.</a:t>
            </a:r>
          </a:p>
        </p:txBody>
      </p:sp>
      <p:sp>
        <p:nvSpPr>
          <p:cNvPr id="25" name="Oval 24"/>
          <p:cNvSpPr/>
          <p:nvPr/>
        </p:nvSpPr>
        <p:spPr>
          <a:xfrm>
            <a:off x="5961888" y="3264408"/>
            <a:ext cx="237744" cy="237744"/>
          </a:xfrm>
          <a:prstGeom prst="ellipse">
            <a:avLst/>
          </a:prstGeom>
          <a:solidFill>
            <a:srgbClr val="0EA5E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30723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0EA5E9"/>
                </a:solidFill>
                <a:latin typeface="Consolas"/>
              </a:rPr>
              <a:t>Jun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080760" y="3017520"/>
            <a:ext cx="0" cy="365760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74920" y="1645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74920" y="1645920"/>
            <a:ext cx="73152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9512" y="1755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Assets generated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2066544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Segoe UI"/>
              </a:rPr>
              <a:t>Pure-Python media embedded; no external binaries.</a:t>
            </a:r>
          </a:p>
        </p:txBody>
      </p:sp>
      <p:sp>
        <p:nvSpPr>
          <p:cNvPr id="32" name="Oval 31"/>
          <p:cNvSpPr/>
          <p:nvPr/>
        </p:nvSpPr>
        <p:spPr>
          <a:xfrm>
            <a:off x="8225027" y="3264408"/>
            <a:ext cx="237744" cy="23774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6700" y="30723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  <a:latin typeface="Consolas"/>
              </a:rPr>
              <a:t>Sep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43900" y="3383280"/>
            <a:ext cx="0" cy="310896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38060" y="3694176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8060" y="3694176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2652" y="3803904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Audit hardened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2652" y="4114800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Segoe UI"/>
              </a:rPr>
              <a:t>Eleven checks wired into the build with a repair loop.</a:t>
            </a:r>
          </a:p>
        </p:txBody>
      </p:sp>
      <p:sp>
        <p:nvSpPr>
          <p:cNvPr id="39" name="Oval 38"/>
          <p:cNvSpPr/>
          <p:nvPr/>
        </p:nvSpPr>
        <p:spPr>
          <a:xfrm>
            <a:off x="10488167" y="3264408"/>
            <a:ext cx="237744" cy="23774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30723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Consolas"/>
              </a:rPr>
              <a:t>Dec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10607040" y="3017520"/>
            <a:ext cx="0" cy="365760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01200" y="1645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0" y="1645920"/>
            <a:ext cx="73152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5792" y="175564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Segoe UI"/>
              </a:rPr>
              <a:t>Stress passed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5792" y="2066544"/>
            <a:ext cx="1773936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4B5563"/>
                </a:solidFill>
                <a:latin typeface="Segoe UI"/>
              </a:rPr>
              <a:t>Fifty dense layouts clear every gate cleanly.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7DAF0"/>
                </a:solidFill>
                <a:latin typeface="Consolas"/>
              </a:rPr>
              <a:t>nexu-io-open-design · direction-picker cards + artifact-lint badges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7DAF0"/>
                </a:solidFill>
                <a:latin typeface="Consolas"/>
              </a:rPr>
              <a:t>MIT - nexu-io contributors · 11/11 audit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Consolas"/>
              </a:rPr>
              <a:t>pptwork ·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  <a:latin typeface="Segoe UI"/>
              </a:rPr>
              <a:t>Every high-impact risk has an automated mitigation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33 / 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71600"/>
          <a:ext cx="850392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Likely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2563E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Text overflow on dense slide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Med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Capacity model + flag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Content boxes collide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Med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Pairwise overlap check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Off-brand color creep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Med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Locked profile palette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Sub-9pt text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Med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Med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Font-floor gate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Element off canvas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Safe-margin bounds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Flattened uneditable slide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Native frames only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577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onsolas"/>
              </a:rPr>
              <a:t>SEVERITY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5596128"/>
            <a:ext cx="256032" cy="256032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864" y="5577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5596128"/>
            <a:ext cx="256032" cy="2560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5577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596128"/>
            <a:ext cx="256032" cy="2560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5577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71600"/>
            <a:ext cx="2587752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73152" cy="4023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536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Net posture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1883664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Every high-impact risk has a concrete, automated mitigation in the build, so residual exposure stays low across the stress 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6E0F0"/>
                </a:solidFill>
                <a:latin typeface="Consolas"/>
              </a:rPr>
              <a:t>pptwork-oh-my-slides · preset chips + raster-vs-editable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6E0F0"/>
                </a:solidFill>
                <a:latin typeface="Consolas"/>
              </a:rPr>
              <a:t>MIT - PPTWork contributors · 11/11 audit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onsolas"/>
              </a:rPr>
              <a:t>likaku · RACI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Segoe UI"/>
              </a:rPr>
              <a:t>One owner stays accountable across six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34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1463039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1463039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Reviewer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371600"/>
            <a:ext cx="1463039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371600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Auditor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1463039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71600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28800"/>
            <a:ext cx="4023360" cy="530352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828800"/>
            <a:ext cx="3749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Lock design profile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828800"/>
            <a:ext cx="1463039" cy="530352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82880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Segoe UI"/>
              </a:rPr>
              <a:t>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28800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82880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1463039" cy="530352"/>
          </a:xfrm>
          <a:prstGeom prst="rect">
            <a:avLst/>
          </a:prstGeom>
          <a:solidFill>
            <a:srgbClr val="FBF1DE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82880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B7791F"/>
                </a:solidFill>
                <a:latin typeface="Segoe UI"/>
              </a:rPr>
              <a:t>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828800"/>
            <a:ext cx="1463039" cy="530352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2880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Segoe UI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32304"/>
            <a:ext cx="4023360" cy="530352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2432304"/>
            <a:ext cx="3749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Author layout spec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432304"/>
            <a:ext cx="1463039" cy="530352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432304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Segoe UI"/>
              </a:rPr>
              <a:t>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32304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432304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2432304"/>
            <a:ext cx="1463039" cy="530352"/>
          </a:xfrm>
          <a:prstGeom prst="rect">
            <a:avLst/>
          </a:prstGeom>
          <a:solidFill>
            <a:srgbClr val="FBF1DE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2432304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B7791F"/>
                </a:solidFill>
                <a:latin typeface="Segoe UI"/>
              </a:rPr>
              <a:t>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2432304"/>
            <a:ext cx="1463039" cy="530352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2432304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Segoe UI"/>
              </a:rPr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35808"/>
            <a:ext cx="4023360" cy="530352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035808"/>
            <a:ext cx="3749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Generate assets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035808"/>
            <a:ext cx="1463039" cy="530352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035808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Segoe UI"/>
              </a:rPr>
              <a:t>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035808"/>
            <a:ext cx="1463039" cy="530352"/>
          </a:xfrm>
          <a:prstGeom prst="rect">
            <a:avLst/>
          </a:prstGeom>
          <a:solidFill>
            <a:srgbClr val="FBF1DE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3035808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B7791F"/>
                </a:solidFill>
                <a:latin typeface="Segoe UI"/>
              </a:rPr>
              <a:t>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3035808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3035808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3035808"/>
            <a:ext cx="1463039" cy="530352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3035808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Segoe UI"/>
              </a:rPr>
              <a:t>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639312"/>
            <a:ext cx="4023360" cy="530352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3639312"/>
            <a:ext cx="3749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Run audit gates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3639312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3639312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639312"/>
            <a:ext cx="1463039" cy="530352"/>
          </a:xfrm>
          <a:prstGeom prst="rect">
            <a:avLst/>
          </a:prstGeom>
          <a:solidFill>
            <a:srgbClr val="FBF1DE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3639312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B7791F"/>
                </a:solidFill>
                <a:latin typeface="Segoe UI"/>
              </a:rPr>
              <a:t>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639312"/>
            <a:ext cx="1463039" cy="530352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3639312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Segoe UI"/>
              </a:rPr>
              <a:t>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639312"/>
            <a:ext cx="1463039" cy="530352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3639312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Segoe UI"/>
              </a:rPr>
              <a:t>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242816"/>
            <a:ext cx="4023360" cy="530352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" y="4242816"/>
            <a:ext cx="3749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Repair geometry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242816"/>
            <a:ext cx="1463039" cy="530352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4242816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Segoe UI"/>
              </a:rPr>
              <a:t>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4242816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4242816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4242816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4242816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4242816"/>
            <a:ext cx="1463039" cy="530352"/>
          </a:xfrm>
          <a:prstGeom prst="rect">
            <a:avLst/>
          </a:prstGeom>
          <a:solidFill>
            <a:srgbClr val="FBE9E9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5440" y="4242816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Segoe UI"/>
              </a:rPr>
              <a:t>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846320"/>
            <a:ext cx="4023360" cy="530352"/>
          </a:xfrm>
          <a:prstGeom prst="rect">
            <a:avLst/>
          </a:prstGeom>
          <a:solidFill>
            <a:srgbClr val="F2F4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3504" y="4846320"/>
            <a:ext cx="3749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Segoe UI"/>
              </a:rPr>
              <a:t>Approve and ship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4846320"/>
            <a:ext cx="1463039" cy="530352"/>
          </a:xfrm>
          <a:prstGeom prst="rect">
            <a:avLst/>
          </a:prstGeom>
          <a:solidFill>
            <a:srgbClr val="FBF1DE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0" y="484632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B7791F"/>
                </a:solidFill>
                <a:latin typeface="Segoe UI"/>
              </a:rPr>
              <a:t>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0" y="4846320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80" y="484632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4846320"/>
            <a:ext cx="1463039" cy="530352"/>
          </a:xfrm>
          <a:prstGeom prst="rect">
            <a:avLst/>
          </a:prstGeom>
          <a:solidFill>
            <a:srgbClr val="EFEFE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60" y="484632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7F7F7F"/>
                </a:solidFill>
                <a:latin typeface="Segoe UI"/>
              </a:rPr>
              <a:t>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4846320"/>
            <a:ext cx="1463039" cy="530352"/>
          </a:xfrm>
          <a:prstGeom prst="rect">
            <a:avLst/>
          </a:prstGeom>
          <a:solidFill>
            <a:srgbClr val="E8EDF6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35440" y="4846320"/>
            <a:ext cx="146303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Segoe UI"/>
              </a:rPr>
              <a:t>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63270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5A6473"/>
                </a:solidFill>
                <a:latin typeface="Segoe UI"/>
              </a:rPr>
              <a:t>R responsible · A accountable · C consulted · I informed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4F2"/>
                </a:solidFill>
                <a:latin typeface="Consolas"/>
              </a:rPr>
              <a:t>likaku-mck-ppt-design-skill · action titles, horizontal bars, kicker/rule geometry norms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4F2"/>
                </a:solidFill>
                <a:latin typeface="Consolas"/>
              </a:rPr>
              <a:t>MIT - likaku contributors · 11/11 audit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B6E6E"/>
                </a:solidFill>
                <a:latin typeface="Consolas"/>
              </a:rPr>
              <a:t>alchaincyf · feature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0B6E6E"/>
                </a:solidFill>
                <a:latin typeface="Georgia"/>
              </a:rPr>
              <a:t>Eight shipped features stay locked to one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35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53896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35608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4173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Locked brand palette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6479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Four-color primary plus neutrals, fixed up front.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78024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59736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414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Display / body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889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Serif display paired with a clean sans body.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02152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83864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6557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Token-driven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1304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Every chart reuses the one categorical ramp.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26280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07992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8970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Action-title slides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37176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Each heading is a claim, not a label.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453896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435608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4173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Eleven audit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76479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Collision, overflow, font, bounds, and more.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478024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459736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4414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Modeled overflow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7889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Per-box capacity estimate before render.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502152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483864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46557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Native editable frames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81304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No flattened text, ever.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526280"/>
            <a:ext cx="402336" cy="402336"/>
          </a:xfrm>
          <a:prstGeom prst="round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507992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48970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Segoe UI"/>
              </a:rPr>
              <a:t>Recorded design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37176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Segoe UI"/>
              </a:rPr>
              <a:t>Profile id, source, and license in the spec.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440680"/>
            <a:ext cx="11274552" cy="877824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440680"/>
            <a:ext cx="73152" cy="877824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550408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B6E6E"/>
                </a:solidFill>
                <a:latin typeface="Consolas"/>
              </a:rPr>
              <a:t>DESIGN PROFILE LOCKED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751576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Segoe UI"/>
              </a:rPr>
              <a:t>HTML-Native Brand Design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025896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Segoe UI"/>
              </a:rPr>
              <a:t>brand-asset protocol: locked palette + display/body typefaces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6EAE8"/>
                </a:solidFill>
                <a:latin typeface="Consolas"/>
              </a:rPr>
              <a:t>alchaincyf-huashu-design · brand-asset protocol: locked palette + display/body typefaces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6EAE8"/>
                </a:solidFill>
                <a:latin typeface="Consolas"/>
              </a:rPr>
              <a:t>MIT - alchaincyf contributors · 11/11 audit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  <a:latin typeface="Consolas"/>
              </a:rPr>
              <a:t>corazzon · Bento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6D28D9"/>
                </a:solidFill>
                <a:latin typeface="Segoe UI"/>
              </a:rPr>
              <a:t>Four tiers scale the same audited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36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697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697480" cy="566928"/>
          </a:xfrm>
          <a:prstGeom prst="rect">
            <a:avLst/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0969DA"/>
                </a:solidFill>
                <a:latin typeface="Segoe UI"/>
              </a:rPr>
              <a:t>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Free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2331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3035808"/>
            <a:ext cx="109728" cy="10972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1 profile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3493008"/>
            <a:ext cx="109728" cy="10972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Single deck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" y="3950208"/>
            <a:ext cx="109728" cy="10972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Manual audit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407408"/>
            <a:ext cx="109728" cy="10972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Community help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1371600"/>
            <a:ext cx="2697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25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1371600"/>
            <a:ext cx="2697480" cy="566928"/>
          </a:xfrm>
          <a:prstGeom prst="rect">
            <a:avLst/>
          </a:prstGeom>
          <a:solidFill>
            <a:srgbClr val="FB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137160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8250DF"/>
                </a:solidFill>
                <a:latin typeface="Segoe UI"/>
              </a:rPr>
              <a:t>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1031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788920"/>
            <a:ext cx="2331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11296" y="3035808"/>
            <a:ext cx="109728" cy="109728"/>
          </a:xfrm>
          <a:prstGeom prst="ellipse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29718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All 16 profiles</a:t>
            </a:r>
          </a:p>
        </p:txBody>
      </p:sp>
      <p:sp>
        <p:nvSpPr>
          <p:cNvPr id="30" name="Oval 29"/>
          <p:cNvSpPr/>
          <p:nvPr/>
        </p:nvSpPr>
        <p:spPr>
          <a:xfrm>
            <a:off x="3511296" y="3493008"/>
            <a:ext cx="109728" cy="109728"/>
          </a:xfrm>
          <a:prstGeom prst="ellipse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34290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Batch decks</a:t>
            </a:r>
          </a:p>
        </p:txBody>
      </p:sp>
      <p:sp>
        <p:nvSpPr>
          <p:cNvPr id="32" name="Oval 31"/>
          <p:cNvSpPr/>
          <p:nvPr/>
        </p:nvSpPr>
        <p:spPr>
          <a:xfrm>
            <a:off x="3511296" y="3950208"/>
            <a:ext cx="109728" cy="109728"/>
          </a:xfrm>
          <a:prstGeom prst="ellipse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38862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Auto audit</a:t>
            </a:r>
          </a:p>
        </p:txBody>
      </p:sp>
      <p:sp>
        <p:nvSpPr>
          <p:cNvPr id="34" name="Oval 33"/>
          <p:cNvSpPr/>
          <p:nvPr/>
        </p:nvSpPr>
        <p:spPr>
          <a:xfrm>
            <a:off x="3511296" y="4407408"/>
            <a:ext cx="109728" cy="109728"/>
          </a:xfrm>
          <a:prstGeom prst="ellipse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43434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Repair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94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8250DF"/>
                </a:solidFill>
                <a:latin typeface="Consolas"/>
              </a:rPr>
              <a:t>most complete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1371600"/>
            <a:ext cx="2697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1371600"/>
            <a:ext cx="2697480" cy="566928"/>
          </a:xfrm>
          <a:prstGeom prst="rect">
            <a:avLst/>
          </a:prstGeom>
          <a:solidFill>
            <a:srgbClr val="DAF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37160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1A7F37"/>
                </a:solidFill>
                <a:latin typeface="Segoe UI"/>
              </a:rPr>
              <a:t>Studio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1031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Pro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788920"/>
            <a:ext cx="2331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45936" y="3035808"/>
            <a:ext cx="109728" cy="10972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29718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Custom profiles</a:t>
            </a:r>
          </a:p>
        </p:txBody>
      </p:sp>
      <p:sp>
        <p:nvSpPr>
          <p:cNvPr id="44" name="Oval 43"/>
          <p:cNvSpPr/>
          <p:nvPr/>
        </p:nvSpPr>
        <p:spPr>
          <a:xfrm>
            <a:off x="6345936" y="3493008"/>
            <a:ext cx="109728" cy="10972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4290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Brand lock</a:t>
            </a:r>
          </a:p>
        </p:txBody>
      </p:sp>
      <p:sp>
        <p:nvSpPr>
          <p:cNvPr id="46" name="Oval 45"/>
          <p:cNvSpPr/>
          <p:nvPr/>
        </p:nvSpPr>
        <p:spPr>
          <a:xfrm>
            <a:off x="6345936" y="3950208"/>
            <a:ext cx="109728" cy="10972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38862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CI audit gate</a:t>
            </a:r>
          </a:p>
        </p:txBody>
      </p:sp>
      <p:sp>
        <p:nvSpPr>
          <p:cNvPr id="48" name="Oval 47"/>
          <p:cNvSpPr/>
          <p:nvPr/>
        </p:nvSpPr>
        <p:spPr>
          <a:xfrm>
            <a:off x="6345936" y="4407408"/>
            <a:ext cx="109728" cy="109728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3434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Priority help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1371600"/>
            <a:ext cx="2697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61120" y="1371600"/>
            <a:ext cx="2697480" cy="566928"/>
          </a:xfrm>
          <a:prstGeom prst="rect">
            <a:avLst/>
          </a:prstGeom>
          <a:solidFill>
            <a:srgbClr val="FFF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137160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9A6700"/>
                </a:solidFill>
                <a:latin typeface="Segoe UI"/>
              </a:rPr>
              <a:t>Enterprise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210312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Max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788920"/>
            <a:ext cx="2331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80576" y="3035808"/>
            <a:ext cx="109728" cy="109728"/>
          </a:xfrm>
          <a:prstGeom prst="ellipse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29718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SSO and roles</a:t>
            </a:r>
          </a:p>
        </p:txBody>
      </p:sp>
      <p:sp>
        <p:nvSpPr>
          <p:cNvPr id="57" name="Oval 56"/>
          <p:cNvSpPr/>
          <p:nvPr/>
        </p:nvSpPr>
        <p:spPr>
          <a:xfrm>
            <a:off x="9180576" y="3493008"/>
            <a:ext cx="109728" cy="109728"/>
          </a:xfrm>
          <a:prstGeom prst="ellipse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34290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Private catalog</a:t>
            </a:r>
          </a:p>
        </p:txBody>
      </p:sp>
      <p:sp>
        <p:nvSpPr>
          <p:cNvPr id="59" name="Oval 58"/>
          <p:cNvSpPr/>
          <p:nvPr/>
        </p:nvSpPr>
        <p:spPr>
          <a:xfrm>
            <a:off x="9180576" y="3950208"/>
            <a:ext cx="109728" cy="109728"/>
          </a:xfrm>
          <a:prstGeom prst="ellipse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20" y="38862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SLA audit</a:t>
            </a:r>
          </a:p>
        </p:txBody>
      </p:sp>
      <p:sp>
        <p:nvSpPr>
          <p:cNvPr id="61" name="Oval 60"/>
          <p:cNvSpPr/>
          <p:nvPr/>
        </p:nvSpPr>
        <p:spPr>
          <a:xfrm>
            <a:off x="9180576" y="4407408"/>
            <a:ext cx="109728" cy="109728"/>
          </a:xfrm>
          <a:prstGeom prst="ellipse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434340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Segoe UI"/>
              </a:rPr>
              <a:t>Onboarding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7DAE2"/>
                </a:solidFill>
                <a:latin typeface="Consolas"/>
              </a:rPr>
              <a:t>corazzon-pptx-design-styles · Bento Grid: rounded tiles, varied sizes, soft accents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7DAE2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E7490"/>
                </a:solidFill>
                <a:latin typeface="Consolas"/>
              </a:rPr>
              <a:t>sunbigfly · delivery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0E7490"/>
                </a:solidFill>
                <a:latin typeface="Segoe UI"/>
              </a:rPr>
              <a:t>Four quarters carry the toolkit to fifty layouts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37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697480" cy="603504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71600"/>
            <a:ext cx="15544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Foundations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5798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57984"/>
            <a:ext cx="73152" cy="10058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Lock 16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39"/>
            <a:ext cx="73152" cy="10058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41985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Define primitives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2569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25696"/>
            <a:ext cx="73152" cy="10058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55371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Geometry norms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8289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1371600"/>
            <a:ext cx="2697480" cy="603504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137160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1371600"/>
            <a:ext cx="15544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Authoring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0128" y="215798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0128" y="2157984"/>
            <a:ext cx="73152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1296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Spec compiler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1296" y="26151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0128" y="3291839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0128" y="3291839"/>
            <a:ext cx="73152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341985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Asset generator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0128" y="442569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0128" y="4425696"/>
            <a:ext cx="73152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1296" y="455371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First 24 layouts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1296" y="488289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3056" y="1371600"/>
            <a:ext cx="2697480" cy="603504"/>
          </a:xfrm>
          <a:prstGeom prst="round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137160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Q3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1371600"/>
            <a:ext cx="15544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Hardening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3056" y="215798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63056" y="2157984"/>
            <a:ext cx="73152" cy="100584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11 audit checks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26151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63056" y="3291839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63056" y="3291839"/>
            <a:ext cx="73152" cy="100584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41985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Repair 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3056" y="442569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63056" y="4425696"/>
            <a:ext cx="73152" cy="100584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455371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Overflow model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488289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15984" y="1371600"/>
            <a:ext cx="2697480" cy="603504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98863" y="137160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Q4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1371600"/>
            <a:ext cx="15544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15984" y="215798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15984" y="2157984"/>
            <a:ext cx="73152" cy="10058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17152" y="228600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50 dense layouts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26151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15984" y="3291839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15984" y="3291839"/>
            <a:ext cx="73152" cy="10058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17152" y="341985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Dual export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7152" y="374903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15984" y="442569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15984" y="4425696"/>
            <a:ext cx="73152" cy="10058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17152" y="455371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CI integration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488289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audited · editable · on-profile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CDE8EE"/>
                </a:solidFill>
                <a:latin typeface="Consolas"/>
              </a:rPr>
              <a:t>sunbigfly-ppt-agent-skills · stage-gate chevrons: interview-&gt;...-&gt;dual-export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CDE8EE"/>
                </a:solidFill>
                <a:latin typeface="Consolas"/>
              </a:rPr>
              <a:t>MIT - sunbigfly contributors · 11/11 audit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8250DF"/>
                </a:solidFill>
                <a:latin typeface="Consolas"/>
              </a:rPr>
              <a:t>awesome-copilot · stakeholder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6639BA"/>
                </a:solidFill>
                <a:latin typeface="Segoe UI"/>
              </a:rPr>
              <a:t>Influence and interest sort six stakeholder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38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554480"/>
            <a:ext cx="7315200" cy="4023360"/>
          </a:xfrm>
          <a:prstGeom prst="rect">
            <a:avLst/>
          </a:prstGeom>
          <a:solidFill>
            <a:srgbClr val="FBF7FF"/>
          </a:solidFill>
          <a:ln w="1524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303520" y="1554480"/>
            <a:ext cx="0" cy="4023360"/>
          </a:xfrm>
          <a:prstGeom prst="line">
            <a:avLst/>
          </a:prstGeom>
          <a:ln w="1270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45920" y="3566160"/>
            <a:ext cx="7315200" cy="0"/>
          </a:xfrm>
          <a:prstGeom prst="line">
            <a:avLst/>
          </a:prstGeom>
          <a:ln w="12700">
            <a:solidFill>
              <a:srgbClr val="D0D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0" y="56235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Consolas"/>
              </a:rPr>
              <a:t>INTEREST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155448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57606A"/>
                </a:solidFill>
                <a:latin typeface="Consolas"/>
              </a:rPr>
              <a:t>↑ INFLUENCE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1869033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7606A"/>
                </a:solidFill>
                <a:latin typeface="Consolas"/>
              </a:rPr>
              <a:t>MANAGE CLOSELY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1869033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7606A"/>
                </a:solidFill>
                <a:latin typeface="Consolas"/>
              </a:rPr>
              <a:t>KEEP SATISFIED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3880713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7606A"/>
                </a:solidFill>
                <a:latin typeface="Consolas"/>
              </a:rPr>
              <a:t>KEEP INFORMED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880713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7606A"/>
                </a:solidFill>
                <a:latin typeface="Consolas"/>
              </a:rPr>
              <a:t>MONITOR</a:t>
            </a:r>
          </a:p>
        </p:txBody>
      </p:sp>
      <p:sp>
        <p:nvSpPr>
          <p:cNvPr id="19" name="Oval 18"/>
          <p:cNvSpPr/>
          <p:nvPr/>
        </p:nvSpPr>
        <p:spPr>
          <a:xfrm>
            <a:off x="7260336" y="2187244"/>
            <a:ext cx="182880" cy="18288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0" y="2114092"/>
            <a:ext cx="1371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25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14092"/>
            <a:ext cx="1261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8250DF"/>
                </a:solidFill>
                <a:latin typeface="Segoe UI"/>
              </a:rPr>
              <a:t>Maintainers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2670048"/>
            <a:ext cx="182880" cy="18288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1344" y="2596896"/>
            <a:ext cx="1371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7" y="2596896"/>
            <a:ext cx="1261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969DA"/>
                </a:solidFill>
                <a:latin typeface="Segoe UI"/>
              </a:rPr>
              <a:t>Audit owner</a:t>
            </a:r>
          </a:p>
        </p:txBody>
      </p:sp>
      <p:sp>
        <p:nvSpPr>
          <p:cNvPr id="25" name="Oval 24"/>
          <p:cNvSpPr/>
          <p:nvPr/>
        </p:nvSpPr>
        <p:spPr>
          <a:xfrm>
            <a:off x="3749040" y="2348179"/>
            <a:ext cx="182880" cy="182880"/>
          </a:xfrm>
          <a:prstGeom prst="ellipse">
            <a:avLst/>
          </a:prstGeom>
          <a:solidFill>
            <a:srgbClr val="1A7F3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86784" y="2275027"/>
            <a:ext cx="1371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2275027"/>
            <a:ext cx="1261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1A7F37"/>
                </a:solidFill>
                <a:latin typeface="Segoe UI"/>
              </a:rPr>
              <a:t>Designers</a:t>
            </a:r>
          </a:p>
        </p:txBody>
      </p:sp>
      <p:sp>
        <p:nvSpPr>
          <p:cNvPr id="28" name="Oval 27"/>
          <p:cNvSpPr/>
          <p:nvPr/>
        </p:nvSpPr>
        <p:spPr>
          <a:xfrm>
            <a:off x="6821424" y="3877056"/>
            <a:ext cx="182880" cy="182880"/>
          </a:xfrm>
          <a:prstGeom prst="ellipse">
            <a:avLst/>
          </a:prstGeom>
          <a:solidFill>
            <a:srgbClr val="BF39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3803904"/>
            <a:ext cx="1371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3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1" y="3803904"/>
            <a:ext cx="1261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BF3989"/>
                </a:solidFill>
                <a:latin typeface="Segoe UI"/>
              </a:rPr>
              <a:t>Reviewers</a:t>
            </a:r>
          </a:p>
        </p:txBody>
      </p:sp>
      <p:sp>
        <p:nvSpPr>
          <p:cNvPr id="31" name="Oval 30"/>
          <p:cNvSpPr/>
          <p:nvPr/>
        </p:nvSpPr>
        <p:spPr>
          <a:xfrm>
            <a:off x="4041648" y="4198924"/>
            <a:ext cx="182880" cy="182880"/>
          </a:xfrm>
          <a:prstGeom prst="ellipse">
            <a:avLst/>
          </a:prstGeom>
          <a:solidFill>
            <a:srgbClr val="9A67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79392" y="4125772"/>
            <a:ext cx="1371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4125772"/>
            <a:ext cx="1261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9A6700"/>
                </a:solidFill>
                <a:latin typeface="Segoe UI"/>
              </a:rPr>
              <a:t>Contributors</a:t>
            </a:r>
          </a:p>
        </p:txBody>
      </p:sp>
      <p:sp>
        <p:nvSpPr>
          <p:cNvPr id="34" name="Oval 33"/>
          <p:cNvSpPr/>
          <p:nvPr/>
        </p:nvSpPr>
        <p:spPr>
          <a:xfrm>
            <a:off x="3017520" y="3474720"/>
            <a:ext cx="182880" cy="1828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55264" y="3401568"/>
            <a:ext cx="1371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0128" y="3401568"/>
            <a:ext cx="1261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50" b="1" i="0">
                <a:solidFill>
                  <a:srgbClr val="0E7490"/>
                </a:solidFill>
                <a:latin typeface="Segoe UI"/>
              </a:rPr>
              <a:t>End users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1554480"/>
            <a:ext cx="249631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1554480"/>
            <a:ext cx="73152" cy="402336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6608" y="17190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How to read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2066543"/>
            <a:ext cx="214884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7606A"/>
                </a:solidFill>
                <a:latin typeface="Segoe UI"/>
              </a:rPr>
              <a:t>Place each stakeholder by influence and interest, then engage by quadrant: the top-right gets the most attention, the bottom-left the least.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DE7F7"/>
                </a:solidFill>
                <a:latin typeface="Consolas"/>
              </a:rPr>
              <a:t>awesome-copilot-design-agents · design-review callouts + visual-hierarchy reasoning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DE7F7"/>
                </a:solidFill>
                <a:latin typeface="Consolas"/>
              </a:rPr>
              <a:t>MIT - GitHub, Inc. · 11/11 audit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5B7065"/>
                </a:solidFill>
                <a:latin typeface="Consolas"/>
              </a:rPr>
              <a:t>corazzon · Nordic Minimalism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E3A45"/>
                </a:solidFill>
                <a:latin typeface="Segoe UI"/>
              </a:rPr>
              <a:t>Strengths outweigh threats across four quadrants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39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6052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73152" cy="2194560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63624"/>
            <a:ext cx="146304" cy="146304"/>
          </a:xfrm>
          <a:prstGeom prst="rect">
            <a:avLst/>
          </a:prstGeom>
          <a:solidFill>
            <a:srgbClr val="5B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5B7065"/>
                </a:solidFill>
                <a:latin typeface="Segoe UI"/>
              </a:rPr>
              <a:t>STRENGTHS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29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192938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Locked profiles keep every deck on-brand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41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24414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Eleven gates catch defects before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953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29535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Native frames stay fully editable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56052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417320"/>
            <a:ext cx="73152" cy="2194560"/>
          </a:xfrm>
          <a:prstGeom prst="rect">
            <a:avLst/>
          </a:prstGeom>
          <a:solidFill>
            <a:srgbClr val="B0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563624"/>
            <a:ext cx="146304" cy="146304"/>
          </a:xfrm>
          <a:prstGeom prst="rect">
            <a:avLst/>
          </a:prstGeom>
          <a:solidFill>
            <a:srgbClr val="B08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1508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B08C53"/>
                </a:solidFill>
                <a:latin typeface="Segoe UI"/>
              </a:rPr>
              <a:t>WEAKNESSES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29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192938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Dense layouts demand careful geometry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441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24414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Capacity model is an estimate, not exact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953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29535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Catalog must be curated and maintained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56052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73152" cy="2194560"/>
          </a:xfrm>
          <a:prstGeom prst="rect">
            <a:avLst/>
          </a:prstGeom>
          <a:solidFill>
            <a:srgbClr val="8FA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849624"/>
            <a:ext cx="146304" cy="146304"/>
          </a:xfrm>
          <a:prstGeom prst="rect">
            <a:avLst/>
          </a:prstGeom>
          <a:solidFill>
            <a:srgbClr val="8FA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37947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8FA99B"/>
                </a:solidFill>
                <a:latin typeface="Segoe UI"/>
              </a:rPr>
              <a:t>OPPORTUNITIES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421538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421538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CI gate blocks off-profile slides early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4727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" y="47274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Shared ramps speed new layout authoring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5239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52395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Dual export widens downstream reuse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703320"/>
            <a:ext cx="56052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703320"/>
            <a:ext cx="73152" cy="2194560"/>
          </a:xfrm>
          <a:prstGeom prst="rect">
            <a:avLst/>
          </a:prstGeom>
          <a:solidFill>
            <a:srgbClr val="A6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849624"/>
            <a:ext cx="146304" cy="146304"/>
          </a:xfrm>
          <a:prstGeom prst="rect">
            <a:avLst/>
          </a:prstGeom>
          <a:solidFill>
            <a:srgbClr val="A6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37947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A65A53"/>
                </a:solidFill>
                <a:latin typeface="Segoe UI"/>
              </a:rPr>
              <a:t>THREATS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421538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421538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Manual edits can drift from the 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4727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8544" y="47274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Scope creep inflates the check matrix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5239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Segoe U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8544" y="523951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E3A45"/>
                </a:solidFill>
                <a:latin typeface="Segoe UI"/>
              </a:rPr>
              <a:t>Unreviewed forks dilute the catalog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E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3DF"/>
                </a:solidFill>
                <a:latin typeface="Consolas"/>
              </a:rPr>
              <a:t>corazzon-pptx-design-styles · Nordic Minimalism: sage/stone palette, hairline rules, whitespace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3DF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4F46E5"/>
                </a:solidFill>
                <a:latin typeface="Consolas"/>
              </a:rPr>
              <a:t>nexu-io · build 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Segoe UI"/>
              </a:rPr>
              <a:t>Every build path converges on the audit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40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71600"/>
            <a:ext cx="2313432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37160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New slide request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337560" y="2011680"/>
            <a:ext cx="2752344" cy="64008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94560" y="2651760"/>
            <a:ext cx="228600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651760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Segoe UI"/>
              </a:rPr>
              <a:t>Profile locked?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2011680"/>
            <a:ext cx="2734056" cy="640080"/>
          </a:xfrm>
          <a:prstGeom prst="line">
            <a:avLst/>
          </a:prstGeom>
          <a:ln w="16510">
            <a:solidFill>
              <a:srgbClr val="E0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80960" y="2651760"/>
            <a:ext cx="2286000" cy="6035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Segoe UI"/>
              </a:rPr>
              <a:t>Layout exists?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212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onsolas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2128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onsolas"/>
              </a:rPr>
              <a:t>no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737360" y="3255264"/>
            <a:ext cx="1600200" cy="768096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4023360"/>
            <a:ext cx="2560320" cy="786384"/>
          </a:xfrm>
          <a:prstGeom prst="roundRect">
            <a:avLst/>
          </a:prstGeom>
          <a:solidFill>
            <a:srgbClr val="FBF1E2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Segoe UI"/>
              </a:rPr>
              <a:t>Lock from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425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then audit → repair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7560" y="3255264"/>
            <a:ext cx="1051560" cy="768096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108960" y="4023360"/>
            <a:ext cx="2560320" cy="786384"/>
          </a:xfrm>
          <a:prstGeom prst="roundRect">
            <a:avLst/>
          </a:prstGeom>
          <a:solidFill>
            <a:srgbClr val="EEF2FF"/>
          </a:solidFill>
          <a:ln w="1778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3552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"/>
              </a:rPr>
              <a:t>Author spec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4425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then audit → repair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132320" y="3255264"/>
            <a:ext cx="1691640" cy="768096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852160" y="4023360"/>
            <a:ext cx="2560320" cy="786384"/>
          </a:xfrm>
          <a:prstGeom prst="roundRect">
            <a:avLst/>
          </a:prstGeom>
          <a:solidFill>
            <a:srgbClr val="E6F6FE"/>
          </a:solidFill>
          <a:ln w="1778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16752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Reuse layout_tree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4425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then audit → repair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23960" y="3255264"/>
            <a:ext cx="1143000" cy="768096"/>
          </a:xfrm>
          <a:prstGeom prst="line">
            <a:avLst/>
          </a:prstGeom>
          <a:ln w="12700">
            <a:solidFill>
              <a:srgbClr val="E0E2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86800" y="4023360"/>
            <a:ext cx="2560320" cy="786384"/>
          </a:xfrm>
          <a:prstGeom prst="roundRect">
            <a:avLst/>
          </a:prstGeom>
          <a:solidFill>
            <a:srgbClr val="EEF2FF"/>
          </a:solidFill>
          <a:ln w="1778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1392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Segoe UI"/>
              </a:rPr>
              <a:t>Compose primitives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4425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then audit → repair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212080"/>
            <a:ext cx="11274552" cy="78638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0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212080"/>
            <a:ext cx="73152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35838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Every path converges on one gate: audit all eleven checks, repair, then ship.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7DAF0"/>
                </a:solidFill>
                <a:latin typeface="Consolas"/>
              </a:rPr>
              <a:t>nexu-io-open-design · direction-picker cards + artifact-lint badges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7DAF0"/>
                </a:solidFill>
                <a:latin typeface="Consolas"/>
              </a:rPr>
              <a:t>MIT - nexu-io contributors · 11/11 audit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FF2E97"/>
                </a:solidFill>
                <a:latin typeface="Consolas"/>
              </a:rPr>
              <a:t>corazzon · Dark Neon Miami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4F0E6"/>
                </a:solidFill>
                <a:latin typeface="Segoe UI"/>
              </a:rPr>
              <a:t>Live KPIs hold a clean pass on a dark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B0B1E"/>
                </a:solidFill>
                <a:latin typeface="Segoe UI"/>
              </a:rPr>
              <a:t>41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194560" cy="1188720"/>
          </a:xfrm>
          <a:prstGeom prst="roundRect">
            <a:avLst/>
          </a:prstGeom>
          <a:solidFill>
            <a:srgbClr val="16163A"/>
          </a:solidFill>
          <a:ln w="1524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194560" cy="54864"/>
          </a:xfrm>
          <a:prstGeom prst="rect">
            <a:avLst/>
          </a:prstGeom>
          <a:solidFill>
            <a:srgbClr val="1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1790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14F0E6"/>
                </a:solidFill>
                <a:latin typeface="Segoe UI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9A9AC8"/>
                </a:solidFill>
                <a:latin typeface="Consolas"/>
              </a:rPr>
              <a:t>Slides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1371600"/>
            <a:ext cx="2194560" cy="1188720"/>
          </a:xfrm>
          <a:prstGeom prst="roundRect">
            <a:avLst/>
          </a:prstGeom>
          <a:solidFill>
            <a:srgbClr val="16163A"/>
          </a:solidFill>
          <a:ln w="1524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79" y="1371600"/>
            <a:ext cx="2194560" cy="54864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51790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2E97"/>
                </a:solidFill>
                <a:latin typeface="Segoe U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9A9AC8"/>
                </a:solidFill>
                <a:latin typeface="Consolas"/>
              </a:rPr>
              <a:t>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1371600"/>
            <a:ext cx="2194560" cy="1188720"/>
          </a:xfrm>
          <a:prstGeom prst="roundRect">
            <a:avLst/>
          </a:prstGeom>
          <a:solidFill>
            <a:srgbClr val="16163A"/>
          </a:solidFill>
          <a:ln w="1524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371600"/>
            <a:ext cx="2194560" cy="54864"/>
          </a:xfrm>
          <a:prstGeom prst="rect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51790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3DF5A0"/>
                </a:solidFill>
                <a:latin typeface="Segoe U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9A9AC8"/>
                </a:solidFill>
                <a:latin typeface="Consolas"/>
              </a:rPr>
              <a:t>Profiles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371600"/>
            <a:ext cx="2194560" cy="1188720"/>
          </a:xfrm>
          <a:prstGeom prst="roundRect">
            <a:avLst/>
          </a:prstGeom>
          <a:solidFill>
            <a:srgbClr val="16163A"/>
          </a:solidFill>
          <a:ln w="1524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8040" y="1371600"/>
            <a:ext cx="2194560" cy="54864"/>
          </a:xfrm>
          <a:prstGeom prst="rect">
            <a:avLst/>
          </a:prstGeom>
          <a:solidFill>
            <a:srgbClr val="FFD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19" y="151790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D23D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9A9AC8"/>
                </a:solidFill>
                <a:latin typeface="Consolas"/>
              </a:rPr>
              <a:t>Media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19" y="1371600"/>
            <a:ext cx="2194560" cy="1188720"/>
          </a:xfrm>
          <a:prstGeom prst="roundRect">
            <a:avLst/>
          </a:prstGeom>
          <a:solidFill>
            <a:srgbClr val="16163A"/>
          </a:solidFill>
          <a:ln w="1524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19" y="1371600"/>
            <a:ext cx="2194560" cy="54864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199" y="151790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7C9CFF"/>
                </a:solidFill>
                <a:latin typeface="Segoe U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199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9A9AC8"/>
                </a:solidFill>
                <a:latin typeface="Consolas"/>
              </a:rPr>
              <a:t>Pass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743200"/>
            <a:ext cx="6858000" cy="310896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743200"/>
            <a:ext cx="73152" cy="3108960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88950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DEDFF"/>
                </a:solidFill>
                <a:latin typeface="Segoe UI"/>
              </a:rPr>
              <a:t>Repair passes per profile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974336"/>
            <a:ext cx="676656" cy="603504"/>
          </a:xfrm>
          <a:prstGeom prst="roundRect">
            <a:avLst/>
          </a:prstGeom>
          <a:solidFill>
            <a:srgbClr val="1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fluent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55064" y="5175503"/>
            <a:ext cx="676656" cy="402336"/>
          </a:xfrm>
          <a:prstGeom prst="round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9344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primer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41448" y="4572000"/>
            <a:ext cx="676656" cy="1005840"/>
          </a:xfrm>
          <a:prstGeom prst="roundRect">
            <a:avLst/>
          </a:prstGeom>
          <a:solidFill>
            <a:srgbClr val="3DF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95728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likaku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27832" y="4873752"/>
            <a:ext cx="676656" cy="704088"/>
          </a:xfrm>
          <a:prstGeom prst="roundRect">
            <a:avLst/>
          </a:prstGeom>
          <a:solidFill>
            <a:srgbClr val="FFD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2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nexu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14215" y="4370831"/>
            <a:ext cx="676656" cy="1207008"/>
          </a:xfrm>
          <a:prstGeom prst="round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68496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swiss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00600" y="4672583"/>
            <a:ext cx="676656" cy="905256"/>
          </a:xfrm>
          <a:prstGeom prst="roundRect">
            <a:avLst/>
          </a:prstGeom>
          <a:solidFill>
            <a:srgbClr val="FF7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bento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86984" y="4169663"/>
            <a:ext cx="676656" cy="1408176"/>
          </a:xfrm>
          <a:prstGeom prst="roundRect">
            <a:avLst/>
          </a:prstGeom>
          <a:solidFill>
            <a:srgbClr val="5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41264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neon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3368" y="5074920"/>
            <a:ext cx="676656" cy="502920"/>
          </a:xfrm>
          <a:prstGeom prst="roundRect">
            <a:avLst/>
          </a:prstGeom>
          <a:solidFill>
            <a:srgbClr val="C5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5614416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50" b="0" i="0">
                <a:solidFill>
                  <a:srgbClr val="9A9AC8"/>
                </a:solidFill>
                <a:latin typeface="Consolas"/>
              </a:rPr>
              <a:t>nordic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960" y="5577840"/>
            <a:ext cx="6217920" cy="0"/>
          </a:xfrm>
          <a:prstGeom prst="line">
            <a:avLst/>
          </a:prstGeom>
          <a:ln w="12700">
            <a:solidFill>
              <a:srgbClr val="2A2A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498079" y="2743200"/>
            <a:ext cx="4233672" cy="3108960"/>
          </a:xfrm>
          <a:prstGeom prst="roundRect">
            <a:avLst/>
          </a:prstGeom>
          <a:solidFill>
            <a:srgbClr val="16163A"/>
          </a:solidFill>
          <a:ln w="1270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98079" y="2743200"/>
            <a:ext cx="73152" cy="3108960"/>
          </a:xfrm>
          <a:prstGeom prst="rect">
            <a:avLst/>
          </a:prstGeom>
          <a:solidFill>
            <a:srgbClr val="1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79" y="28895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DEDFF"/>
                </a:solidFill>
                <a:latin typeface="Segoe UI"/>
              </a:rPr>
              <a:t>What the board shows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3236976"/>
            <a:ext cx="379476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DEDFF"/>
                </a:solidFill>
                <a:latin typeface="Segoe UI"/>
              </a:rPr>
              <a:t>Neon tiles grade live build health on a dark canvas. Repair effort clusters in the densest profiles — neon and swiss — yet all of them resolve to a clean pass, which is the only state that ships.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4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9A9AC8"/>
                </a:solidFill>
                <a:latin typeface="Consolas"/>
              </a:rPr>
              <a:t>corazzon-pptx-design-styles · Dark Neon Miami: dark canvas, magenta+cyan neon, glow tiles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9A9AC8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F6CBD"/>
                </a:solidFill>
                <a:latin typeface="Consolas"/>
              </a:rPr>
              <a:t>fluent · four-stage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01F1E"/>
                </a:solidFill>
                <a:latin typeface="Segoe UI"/>
              </a:rPr>
              <a:t>Four stages break into twelve concrete sub-steps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42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2697480" cy="676656"/>
          </a:xfrm>
          <a:prstGeom prst="round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417320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87452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Prepare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1755648"/>
            <a:ext cx="137160" cy="0"/>
          </a:xfrm>
          <a:prstGeom prst="line">
            <a:avLst/>
          </a:prstGeom>
          <a:ln w="19050">
            <a:solidFill>
              <a:srgbClr val="605E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234086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40864"/>
            <a:ext cx="73152" cy="10058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798064"/>
            <a:ext cx="109728" cy="109728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05456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Read request + refs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931920"/>
            <a:ext cx="109728" cy="109728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639312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Pick the design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0857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08576"/>
            <a:ext cx="73152" cy="100584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5065776"/>
            <a:ext cx="109728" cy="109728"/>
          </a:xfrm>
          <a:prstGeom prst="ellipse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773168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Lock palette and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1417320"/>
            <a:ext cx="2697480" cy="676656"/>
          </a:xfrm>
          <a:prstGeom prst="round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6432" y="1417320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1417320"/>
            <a:ext cx="187452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Author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16752" y="1755648"/>
            <a:ext cx="137160" cy="0"/>
          </a:xfrm>
          <a:prstGeom prst="line">
            <a:avLst/>
          </a:prstGeom>
          <a:ln w="19050">
            <a:solidFill>
              <a:srgbClr val="605E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310128" y="234086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0128" y="2340864"/>
            <a:ext cx="73152" cy="1005840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3008" y="2798064"/>
            <a:ext cx="109728" cy="109728"/>
          </a:xfrm>
          <a:prstGeom prst="ellipse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2464" y="2505456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Build the layout_tree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0128" y="34747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0128" y="3474720"/>
            <a:ext cx="73152" cy="1005840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93008" y="3931920"/>
            <a:ext cx="109728" cy="109728"/>
          </a:xfrm>
          <a:prstGeom prst="ellipse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2464" y="3639312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Bind fields to slots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0128" y="460857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0128" y="4608576"/>
            <a:ext cx="73152" cy="1005840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93008" y="5065776"/>
            <a:ext cx="109728" cy="109728"/>
          </a:xfrm>
          <a:prstGeom prst="ellipse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12464" y="4773168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Write action titles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3056" y="1417320"/>
            <a:ext cx="2697480" cy="676656"/>
          </a:xfrm>
          <a:prstGeom prst="round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417320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1417320"/>
            <a:ext cx="187452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Generate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69680" y="1755648"/>
            <a:ext cx="137160" cy="0"/>
          </a:xfrm>
          <a:prstGeom prst="line">
            <a:avLst/>
          </a:prstGeom>
          <a:ln w="19050">
            <a:solidFill>
              <a:srgbClr val="605E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163056" y="234086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63056" y="2340864"/>
            <a:ext cx="73152" cy="1005840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45936" y="2798064"/>
            <a:ext cx="109728" cy="109728"/>
          </a:xfrm>
          <a:prstGeom prst="ellipse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2505456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Render native frames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3056" y="34747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3056" y="3474720"/>
            <a:ext cx="73152" cy="1005840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45936" y="3931920"/>
            <a:ext cx="109728" cy="109728"/>
          </a:xfrm>
          <a:prstGeom prst="ellipse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3639312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Embed media assets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63056" y="460857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63056" y="4608576"/>
            <a:ext cx="73152" cy="1005840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45936" y="5065776"/>
            <a:ext cx="109728" cy="109728"/>
          </a:xfrm>
          <a:prstGeom prst="ellipse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392" y="4773168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Apply profile tokens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15984" y="1417320"/>
            <a:ext cx="2697480" cy="676656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62288" y="1417320"/>
            <a:ext cx="4572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56063" y="1417320"/>
            <a:ext cx="187452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Assure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15984" y="2340864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15984" y="2340864"/>
            <a:ext cx="73152" cy="10058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98863" y="2798064"/>
            <a:ext cx="109728" cy="10972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19" y="2505456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Run eleven checks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15984" y="34747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15984" y="3474720"/>
            <a:ext cx="73152" cy="10058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198863" y="3931920"/>
            <a:ext cx="109728" cy="10972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19" y="3639312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Repair any flags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15984" y="4608576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15984" y="4608576"/>
            <a:ext cx="73152" cy="10058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98863" y="5065776"/>
            <a:ext cx="109728" cy="10972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18319" y="4773168"/>
            <a:ext cx="205740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01F1E"/>
                </a:solidFill>
                <a:latin typeface="Segoe UI"/>
              </a:rPr>
              <a:t>Export editable deck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fluent-ui-design-tokens · Fluent neutralBackground cards + token chips (webLightTheme)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6E6"/>
                </a:solidFill>
                <a:latin typeface="Consolas"/>
              </a:rPr>
              <a:t>MIT - Microsoft Corporation · 11/11 audit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onsolas"/>
              </a:rPr>
              <a:t>likaku · maturity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Segoe UI"/>
              </a:rPr>
              <a:t>Five maturity levels climb toward a clean CI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43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6766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73152" cy="8046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572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onsolas"/>
              </a:rPr>
              <a:t>L1 Initial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A6473"/>
                </a:solidFill>
                <a:latin typeface="Segoe UI"/>
              </a:rPr>
              <a:t>Ad-hoc decks; hand formatting, no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72768"/>
            <a:ext cx="822960" cy="585216"/>
          </a:xfrm>
          <a:prstGeom prst="roundRect">
            <a:avLst/>
          </a:prstGeom>
          <a:solidFill>
            <a:srgbClr val="E8EDF6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572768"/>
            <a:ext cx="109728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1F3864"/>
                </a:solidFill>
                <a:latin typeface="Segoe UI"/>
              </a:rPr>
              <a:t>level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77440"/>
            <a:ext cx="6766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73152" cy="804672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487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2E5496"/>
                </a:solidFill>
                <a:latin typeface="Consolas"/>
              </a:rPr>
              <a:t>L2 Managed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7980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A6473"/>
                </a:solidFill>
                <a:latin typeface="Segoe UI"/>
              </a:rPr>
              <a:t>A house template exists but is loosely followed.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487168"/>
            <a:ext cx="1645920" cy="585216"/>
          </a:xfrm>
          <a:prstGeom prst="roundRect">
            <a:avLst/>
          </a:prstGeom>
          <a:solidFill>
            <a:srgbClr val="E9F0FA"/>
          </a:solidFill>
          <a:ln w="1778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487168"/>
            <a:ext cx="164592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2E5496"/>
                </a:solidFill>
                <a:latin typeface="Segoe UI"/>
              </a:rPr>
              <a:t>level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6766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73152" cy="80467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4015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5B9BD5"/>
                </a:solidFill>
                <a:latin typeface="Consolas"/>
              </a:rPr>
              <a:t>L3 Defined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7124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A6473"/>
                </a:solidFill>
                <a:latin typeface="Segoe UI"/>
              </a:rPr>
              <a:t>Profiles and action titles are standard practice.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401568"/>
            <a:ext cx="2468880" cy="585216"/>
          </a:xfrm>
          <a:prstGeom prst="roundRect">
            <a:avLst/>
          </a:prstGeom>
          <a:solidFill>
            <a:srgbClr val="E8F2FB"/>
          </a:solidFill>
          <a:ln w="1778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401568"/>
            <a:ext cx="246888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5B9BD5"/>
                </a:solidFill>
                <a:latin typeface="Segoe UI"/>
              </a:rPr>
              <a:t>level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6766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206240"/>
            <a:ext cx="73152" cy="8046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315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C00000"/>
                </a:solidFill>
                <a:latin typeface="Consolas"/>
              </a:rPr>
              <a:t>L4 Measured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46268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A6473"/>
                </a:solidFill>
                <a:latin typeface="Segoe UI"/>
              </a:rPr>
              <a:t>Eleven audit checks gate every build.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4315968"/>
            <a:ext cx="3291840" cy="585216"/>
          </a:xfrm>
          <a:prstGeom prst="roundRect">
            <a:avLst/>
          </a:prstGeom>
          <a:solidFill>
            <a:srgbClr val="FBE9E9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4315968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Segoe UI"/>
              </a:rPr>
              <a:t>level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6766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73152" cy="8046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52303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1" i="0">
                <a:solidFill>
                  <a:srgbClr val="7F7F7F"/>
                </a:solidFill>
                <a:latin typeface="Consolas"/>
              </a:rPr>
              <a:t>L5 Optimizing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55412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A6473"/>
                </a:solidFill>
                <a:latin typeface="Segoe UI"/>
              </a:rPr>
              <a:t>Repair loop and CI keep decks continuously clean.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5230368"/>
            <a:ext cx="4114800" cy="585216"/>
          </a:xfrm>
          <a:prstGeom prst="roundRect">
            <a:avLst/>
          </a:prstGeom>
          <a:solidFill>
            <a:srgbClr val="EFEFEF"/>
          </a:solidFill>
          <a:ln w="1778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5230368"/>
            <a:ext cx="411480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7F7F7F"/>
                </a:solidFill>
                <a:latin typeface="Segoe UI"/>
              </a:rPr>
              <a:t>level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CE4F2"/>
                </a:solidFill>
                <a:latin typeface="Consolas"/>
              </a:rPr>
              <a:t>likaku-mck-ppt-design-skill · action titles, horizontal bars, kicker/rule geometry norms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CE4F2"/>
                </a:solidFill>
                <a:latin typeface="Consolas"/>
              </a:rPr>
              <a:t>MIT - likaku contributors · 11/11 audit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2563EB"/>
                </a:solidFill>
                <a:latin typeface="Consolas"/>
              </a:rPr>
              <a:t>pptwork · annotated exhibit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  <a:latin typeface="Segoe UI"/>
              </a:rPr>
              <a:t>Four pins tie the preview back to its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44 /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6766560" cy="4480560"/>
          </a:xfrm>
          <a:prstGeom prst="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sset-gradient-c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547104" cy="4261104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298448" y="2029967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2029967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3675888" y="267004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67004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2395727" y="404164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7" y="404164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5504688" y="459028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4590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371600"/>
            <a:ext cx="423367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37160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15179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Annotations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7726679" y="193852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19385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1920240"/>
            <a:ext cx="33832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0F172A"/>
                </a:solidFill>
                <a:latin typeface="Segoe UI"/>
              </a:rPr>
              <a:t>Raster preview proves pixel fidelity of the rendered slide.</a:t>
            </a:r>
          </a:p>
        </p:txBody>
      </p:sp>
      <p:sp>
        <p:nvSpPr>
          <p:cNvPr id="26" name="Oval 25"/>
          <p:cNvSpPr/>
          <p:nvPr/>
        </p:nvSpPr>
        <p:spPr>
          <a:xfrm>
            <a:off x="7726679" y="288950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28895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2871216"/>
            <a:ext cx="33832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0F172A"/>
                </a:solidFill>
                <a:latin typeface="Segoe UI"/>
              </a:rPr>
              <a:t>Editable layer mirrors the same geometry as native frames.</a:t>
            </a:r>
          </a:p>
        </p:txBody>
      </p:sp>
      <p:sp>
        <p:nvSpPr>
          <p:cNvPr id="29" name="Oval 28"/>
          <p:cNvSpPr/>
          <p:nvPr/>
        </p:nvSpPr>
        <p:spPr>
          <a:xfrm>
            <a:off x="7726679" y="3840479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84047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822191"/>
            <a:ext cx="33832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0F172A"/>
                </a:solidFill>
                <a:latin typeface="Segoe UI"/>
              </a:rPr>
              <a:t>Locked palette drives the gradient and every accent.</a:t>
            </a:r>
          </a:p>
        </p:txBody>
      </p:sp>
      <p:sp>
        <p:nvSpPr>
          <p:cNvPr id="32" name="Oval 31"/>
          <p:cNvSpPr/>
          <p:nvPr/>
        </p:nvSpPr>
        <p:spPr>
          <a:xfrm>
            <a:off x="7726679" y="4791455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79" y="479145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773168"/>
            <a:ext cx="33832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0F172A"/>
                </a:solidFill>
                <a:latin typeface="Segoe UI"/>
              </a:rPr>
              <a:t>Audit overlay confirms zero collisions and clean bounds.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6E0F0"/>
                </a:solidFill>
                <a:latin typeface="Consolas"/>
              </a:rPr>
              <a:t>pptwork-oh-my-slides · preset chips + raster-vs-editable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6E0F0"/>
                </a:solidFill>
                <a:latin typeface="Consolas"/>
              </a:rPr>
              <a:t>MIT - PPTWork contributors · 11/11 audit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  <a:latin typeface="Consolas"/>
              </a:rPr>
              <a:t>gabberflast · review transcript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Georgia"/>
              </a:rPr>
              <a:t>Six exchanges confirm every gate still holds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45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371600"/>
            <a:ext cx="8412480" cy="749808"/>
          </a:xfrm>
          <a:prstGeom prst="roundRect">
            <a:avLst/>
          </a:prstGeom>
          <a:solidFill>
            <a:srgbClr val="F1EBFE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2072" y="1371600"/>
            <a:ext cx="73152" cy="7498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4264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onsolas"/>
              </a:rPr>
              <a:t>Q · 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682496"/>
            <a:ext cx="801014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A1A2E"/>
                </a:solidFill>
                <a:latin typeface="Segoe UI"/>
              </a:rPr>
              <a:t>Does every slide really pass all eleven checks?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94560"/>
            <a:ext cx="8412480" cy="749808"/>
          </a:xfrm>
          <a:prstGeom prst="roundRect">
            <a:avLst/>
          </a:prstGeom>
          <a:solidFill>
            <a:srgbClr val="F1EBFE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73152" cy="7498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494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  <a:latin typeface="Consolas"/>
              </a:rPr>
              <a:t>A · Toolkit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505456"/>
            <a:ext cx="801014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A1A2E"/>
                </a:solidFill>
                <a:latin typeface="Segoe UI"/>
              </a:rPr>
              <a:t>Yes. The build refuses to finish until the audit returns zero flags across all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62072" y="3017520"/>
            <a:ext cx="8412480" cy="749808"/>
          </a:xfrm>
          <a:prstGeom prst="roundRect">
            <a:avLst/>
          </a:prstGeom>
          <a:solidFill>
            <a:srgbClr val="F1EBFE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62072" y="3017520"/>
            <a:ext cx="73152" cy="7498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30723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onsolas"/>
              </a:rPr>
              <a:t>Q · 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328415"/>
            <a:ext cx="801014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A1A2E"/>
                </a:solidFill>
                <a:latin typeface="Segoe UI"/>
              </a:rPr>
              <a:t>What about the densest layouts — do they overflow?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412480" cy="749808"/>
          </a:xfrm>
          <a:prstGeom prst="roundRect">
            <a:avLst/>
          </a:prstGeom>
          <a:solidFill>
            <a:srgbClr val="F1EBFE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73152" cy="7498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9534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  <a:latin typeface="Consolas"/>
              </a:rPr>
              <a:t>A · Toolkit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151376"/>
            <a:ext cx="801014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A1A2E"/>
                </a:solidFill>
                <a:latin typeface="Segoe UI"/>
              </a:rPr>
              <a:t>No. A capacity model sizes each text box, and any overflow is flagged and repaired first.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62072" y="4663440"/>
            <a:ext cx="8412480" cy="749808"/>
          </a:xfrm>
          <a:prstGeom prst="roundRect">
            <a:avLst/>
          </a:prstGeom>
          <a:solidFill>
            <a:srgbClr val="F1EBFE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62072" y="4663440"/>
            <a:ext cx="73152" cy="7498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71830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onsolas"/>
              </a:rPr>
              <a:t>Q ·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4974336"/>
            <a:ext cx="801014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A1A2E"/>
                </a:solidFill>
                <a:latin typeface="Segoe UI"/>
              </a:rPr>
              <a:t>Can I still hand-edit the result?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86400"/>
            <a:ext cx="8412480" cy="749808"/>
          </a:xfrm>
          <a:prstGeom prst="roundRect">
            <a:avLst/>
          </a:prstGeom>
          <a:solidFill>
            <a:srgbClr val="F1EBFE"/>
          </a:solidFill>
          <a:ln w="12700">
            <a:solidFill>
              <a:srgbClr val="DD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486400"/>
            <a:ext cx="73152" cy="7498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5412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  <a:latin typeface="Consolas"/>
              </a:rPr>
              <a:t>A · Toolkit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97296"/>
            <a:ext cx="801014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A1A2E"/>
                </a:solidFill>
                <a:latin typeface="Segoe UI"/>
              </a:rPr>
              <a:t>Always. Every label is a native run; nothing is flattened to an image.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DD6F2"/>
                </a:solidFill>
                <a:latin typeface="Consolas"/>
              </a:rPr>
              <a:t>gabberflast-academic-pptx-skill · action title + one exhibit + citation footnote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DD6F2"/>
                </a:solidFill>
                <a:latin typeface="Consolas"/>
              </a:rPr>
              <a:t>MIT - Gabberflast contributors · 11/11 audit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58A6FF"/>
                </a:solidFill>
                <a:latin typeface="Consolas"/>
              </a:rPr>
              <a:t>erickittelson · layered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  <a:latin typeface="Segoe UI"/>
              </a:rPr>
              <a:t>Five layers stack from source to editable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Segoe UI"/>
              </a:rPr>
              <a:t>46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7772400" cy="749808"/>
          </a:xfrm>
          <a:prstGeom prst="roundRect">
            <a:avLst/>
          </a:prstGeom>
          <a:solidFill>
            <a:srgbClr val="0E2742"/>
          </a:solidFill>
          <a:ln w="1778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17320"/>
            <a:ext cx="128016" cy="7498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904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nsolas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19656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Rendered PPTX · native editable frames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2167128"/>
            <a:ext cx="0" cy="91440"/>
          </a:xfrm>
          <a:prstGeom prst="line">
            <a:avLst/>
          </a:prstGeom>
          <a:ln w="15240">
            <a:solidFill>
              <a:srgbClr val="8B94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258568"/>
            <a:ext cx="7772400" cy="749808"/>
          </a:xfrm>
          <a:prstGeom prst="roundRect">
            <a:avLst/>
          </a:prstGeom>
          <a:solidFill>
            <a:srgbClr val="0E2A1B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258568"/>
            <a:ext cx="128016" cy="74980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3172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onsolas"/>
              </a:rPr>
              <a:t>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60904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layout_tree of Card/Text/Line/Image/Oval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17720" y="3008376"/>
            <a:ext cx="0" cy="91440"/>
          </a:xfrm>
          <a:prstGeom prst="line">
            <a:avLst/>
          </a:prstGeom>
          <a:ln w="15240">
            <a:solidFill>
              <a:srgbClr val="8B94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3099816"/>
            <a:ext cx="7772400" cy="749808"/>
          </a:xfrm>
          <a:prstGeom prst="roundRect">
            <a:avLst/>
          </a:prstGeom>
          <a:solidFill>
            <a:srgbClr val="2A2410"/>
          </a:solidFill>
          <a:ln w="1778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099816"/>
            <a:ext cx="128016" cy="74980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1729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  <a:latin typeface="Consolas"/>
              </a:rP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02152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Locked palette, typography, and signature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7720" y="3849624"/>
            <a:ext cx="0" cy="91440"/>
          </a:xfrm>
          <a:prstGeom prst="line">
            <a:avLst/>
          </a:prstGeom>
          <a:ln w="15240">
            <a:solidFill>
              <a:srgbClr val="8B94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3941064"/>
            <a:ext cx="7772400" cy="749808"/>
          </a:xfrm>
          <a:prstGeom prst="roundRect">
            <a:avLst/>
          </a:prstGeom>
          <a:solidFill>
            <a:srgbClr val="2A1414"/>
          </a:solidFill>
          <a:ln w="1778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941064"/>
            <a:ext cx="128016" cy="749808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01421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  <a:latin typeface="Consolas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343400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Eleven gates plus a repair feedback loop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17720" y="4690872"/>
            <a:ext cx="0" cy="91440"/>
          </a:xfrm>
          <a:prstGeom prst="line">
            <a:avLst/>
          </a:prstGeom>
          <a:ln w="15240">
            <a:solidFill>
              <a:srgbClr val="8B94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4782312"/>
            <a:ext cx="7772400" cy="749808"/>
          </a:xfrm>
          <a:prstGeom prst="roundRect">
            <a:avLst/>
          </a:prstGeom>
          <a:solidFill>
            <a:srgbClr val="1E1733"/>
          </a:solidFill>
          <a:ln w="1778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782312"/>
            <a:ext cx="128016" cy="749808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85546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A371F7"/>
                </a:solidFill>
                <a:latin typeface="Consolas"/>
              </a:rPr>
              <a:t>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184648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request.md, refs, and the design catalog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1417320"/>
            <a:ext cx="2953512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1417320"/>
            <a:ext cx="73152" cy="42062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9408" y="15727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  <a:latin typeface="Segoe UI"/>
              </a:rPr>
              <a:t>Reads top-down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1938528"/>
            <a:ext cx="260604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6EDF3"/>
                </a:solidFill>
                <a:latin typeface="Segoe UI"/>
              </a:rPr>
              <a:t>Each layer depends only on the one beneath it. The presentation never reaches past composition into raw sources, so a change low in the stack propagates upward through one well-defined seam at a time.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  <a:latin typeface="Consolas"/>
              </a:rPr>
              <a:t>erickittelson-slidemason · primitive map: Card-&gt;shape(round_rect), Text-&gt;text(), Line-&gt;line()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8B949E"/>
                </a:solidFill>
                <a:latin typeface="Consolas"/>
              </a:rPr>
              <a:t>MIT - erickittelson contributors · 11/11 audit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969DA"/>
                </a:solidFill>
                <a:latin typeface="Consolas"/>
              </a:rPr>
              <a:t>primer-primitives · release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Segoe UI"/>
              </a:rPr>
              <a:t>Eight pre-flight checks clear before every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47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onsolas"/>
              </a:rPr>
              <a:t>PRE-FLIGHT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55648"/>
            <a:ext cx="5120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874519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4708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75564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Profile 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75564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86000"/>
            <a:ext cx="5120640" cy="4572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404872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7744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286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Action titles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2860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16352"/>
            <a:ext cx="5120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2935224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907792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8163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Assets embedded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8163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46704"/>
            <a:ext cx="5120640" cy="4572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3465576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43814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34670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Fonts ≥ 9pt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4670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77056"/>
            <a:ext cx="5120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3995928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6849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7705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No collisions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877056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07408"/>
            <a:ext cx="5120640" cy="4572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526280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49884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40740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Within safe frame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4074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937760"/>
            <a:ext cx="5120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6928" y="5056632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0292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4937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Tables 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9377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468112"/>
            <a:ext cx="5120640" cy="4572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6928" y="5586984"/>
            <a:ext cx="219456" cy="219456"/>
          </a:xfrm>
          <a:prstGeom prst="round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559552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546811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Segoe UI"/>
              </a:rPr>
              <a:t>Spec recorded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46811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50" b="1" i="0">
                <a:solidFill>
                  <a:srgbClr val="1A7F37"/>
                </a:solidFill>
                <a:latin typeface="Consolas"/>
              </a:rPr>
              <a:t>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onsolas"/>
              </a:rPr>
              <a:t>BUILD STATUS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1755648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1755648"/>
            <a:ext cx="73152" cy="9144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1883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Render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2212848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0969DA"/>
                </a:solidFill>
                <a:latin typeface="Consolas"/>
              </a:rPr>
              <a:t>green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69680" y="1755648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69680" y="1755648"/>
            <a:ext cx="73152" cy="91440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59" y="1883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Audit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59" y="2212848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250DF"/>
                </a:solidFill>
                <a:latin typeface="Consolas"/>
              </a:rPr>
              <a:t>green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2816352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2816352"/>
            <a:ext cx="73152" cy="9144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9443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Repair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327355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A7F37"/>
                </a:solidFill>
                <a:latin typeface="Consolas"/>
              </a:rPr>
              <a:t>idle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69680" y="2816352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69680" y="2816352"/>
            <a:ext cx="73152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52559" y="29443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Export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59" y="327355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Consolas"/>
              </a:rPr>
              <a:t>green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43600" y="3877056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43600" y="3877056"/>
            <a:ext cx="73152" cy="914400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40050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Package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0" y="43342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CF222E"/>
                </a:solidFill>
                <a:latin typeface="Consolas"/>
              </a:rPr>
              <a:t>green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69680" y="3877056"/>
            <a:ext cx="2788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69680" y="3877056"/>
            <a:ext cx="73152" cy="914400"/>
          </a:xfrm>
          <a:prstGeom prst="rect">
            <a:avLst/>
          </a:prstGeom>
          <a:solidFill>
            <a:srgbClr val="BF3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52559" y="40050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Segoe UI"/>
              </a:rPr>
              <a:t>Media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59" y="43342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BF3989"/>
                </a:solidFill>
                <a:latin typeface="Consolas"/>
              </a:rPr>
              <a:t>3 files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  <a:latin typeface="Consolas"/>
              </a:rPr>
              <a:t>primer-primitives · GitHub canvas, mono token labels, scale color roles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DF3"/>
                </a:solidFill>
                <a:latin typeface="Consolas"/>
              </a:rPr>
              <a:t>MIT - 2018 GitHub Inc. · 11/11 audit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6D28D9"/>
                </a:solidFill>
                <a:latin typeface="Consolas"/>
              </a:rPr>
              <a:t>corazzon · Bento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6D28D9"/>
                </a:solidFill>
                <a:latin typeface="Segoe UI"/>
              </a:rPr>
              <a:t>Six primitives compose the entire catalog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48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4572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73152" cy="448056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4572000" cy="603504"/>
          </a:xfrm>
          <a:prstGeom prst="rect">
            <a:avLst/>
          </a:prstGeom>
          <a:solidFill>
            <a:srgbClr val="D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371600"/>
            <a:ext cx="42062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0969DA"/>
                </a:solidFill>
                <a:latin typeface="Segoe UI"/>
              </a:rPr>
              <a:t>Primitive set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2267712"/>
            <a:ext cx="91440" cy="9144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1945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Segoe UI"/>
              </a:rPr>
              <a:t>Card — round_rect panel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" y="2834640"/>
            <a:ext cx="91440" cy="9144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76148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Segoe UI"/>
              </a:rPr>
              <a:t>Text — native editable run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401568"/>
            <a:ext cx="91440" cy="9144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32841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Segoe UI"/>
              </a:rPr>
              <a:t>Line — straight connector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" y="3968496"/>
            <a:ext cx="91440" cy="9144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89534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Segoe UI"/>
              </a:rPr>
              <a:t>Image — embedded picture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" y="4535424"/>
            <a:ext cx="91440" cy="9144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46227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Segoe UI"/>
              </a:rPr>
              <a:t>Oval — hub and node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5102352"/>
            <a:ext cx="91440" cy="91440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0292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Segoe UI"/>
              </a:rPr>
              <a:t>Table — banded grid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1371600"/>
            <a:ext cx="3108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1371600"/>
            <a:ext cx="73152" cy="219456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0" y="1371600"/>
            <a:ext cx="3108960" cy="457200"/>
          </a:xfrm>
          <a:prstGeom prst="rect">
            <a:avLst/>
          </a:prstGeom>
          <a:solidFill>
            <a:srgbClr val="FB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1371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8250DF"/>
                </a:solidFill>
                <a:latin typeface="Segoe UI"/>
              </a:rPr>
              <a:t>Palette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19751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8-color ramp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locked · audited · editable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22208" y="1371600"/>
            <a:ext cx="3108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22208" y="1371600"/>
            <a:ext cx="73152" cy="219456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22208" y="1371600"/>
            <a:ext cx="3108960" cy="457200"/>
          </a:xfrm>
          <a:prstGeom prst="rect">
            <a:avLst/>
          </a:prstGeom>
          <a:solidFill>
            <a:srgbClr val="DAF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05088" y="1371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A7F37"/>
                </a:solidFill>
                <a:latin typeface="Segoe UI"/>
              </a:rPr>
              <a:t>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19751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display + body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locked · audited · editable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3657600"/>
            <a:ext cx="3108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03520" y="3657600"/>
            <a:ext cx="73152" cy="219456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0" y="3657600"/>
            <a:ext cx="3108960" cy="457200"/>
          </a:xfrm>
          <a:prstGeom prst="rect">
            <a:avLst/>
          </a:prstGeom>
          <a:solidFill>
            <a:srgbClr val="FFF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3657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9A6700"/>
                </a:solidFill>
                <a:latin typeface="Segoe UI"/>
              </a:rPr>
              <a:t>Geometry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2611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kicker/rule norms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locked · audited · editable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22208" y="3657600"/>
            <a:ext cx="3108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22208" y="3657600"/>
            <a:ext cx="73152" cy="2194560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2208" y="3657600"/>
            <a:ext cx="3108960" cy="457200"/>
          </a:xfrm>
          <a:prstGeom prst="rect">
            <a:avLst/>
          </a:prstGeom>
          <a:solidFill>
            <a:srgbClr val="FF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3657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CF222E"/>
                </a:solidFill>
                <a:latin typeface="Segoe UI"/>
              </a:rPr>
              <a:t>Audit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42611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11 gates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onsolas"/>
              </a:rPr>
              <a:t>locked · audited · editable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D7DAE2"/>
                </a:solidFill>
                <a:latin typeface="Consolas"/>
              </a:rPr>
              <a:t>corazzon-pptx-design-styles · Bento Grid: rounded tiles, varied sizes, soft accents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D7DAE2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F6CBD"/>
                </a:solidFill>
                <a:latin typeface="Consolas"/>
              </a:rPr>
              <a:t>fluent · 詳細説明（日本語）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01F1E"/>
                </a:solidFill>
                <a:latin typeface="Segoe UI"/>
              </a:rPr>
              <a:t>背景・設計・効果を一枚で密に説明する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49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1645920" cy="1280160"/>
          </a:xfrm>
          <a:prstGeom prst="roundRect">
            <a:avLst/>
          </a:prstGeom>
          <a:solidFill>
            <a:srgbClr val="EFF6FC"/>
          </a:solidFill>
          <a:ln w="17780">
            <a:solidFill>
              <a:srgbClr val="0F6C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 i="0">
                <a:solidFill>
                  <a:srgbClr val="0F6CBD"/>
                </a:solidFill>
                <a:latin typeface="Segoe UI"/>
              </a:rPr>
              <a:t>背景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417320"/>
            <a:ext cx="94457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1417320"/>
            <a:ext cx="73152" cy="1280160"/>
          </a:xfrm>
          <a:prstGeom prst="rect">
            <a:avLst/>
          </a:prstGeom>
          <a:solidFill>
            <a:srgbClr val="0F6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1563624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01F1E"/>
                </a:solidFill>
                <a:latin typeface="Segoe UI"/>
              </a:rPr>
              <a:t>手作業の資料作成は、品質のばらつきと再現性の低さが課題である。デザインの推測や手動調整が多く、検証も人の目に頼っていた。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80360"/>
            <a:ext cx="1645920" cy="1280160"/>
          </a:xfrm>
          <a:prstGeom prst="roundRect">
            <a:avLst/>
          </a:prstGeom>
          <a:solidFill>
            <a:srgbClr val="F3EFFA"/>
          </a:solidFill>
          <a:ln w="17780">
            <a:solidFill>
              <a:srgbClr val="876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803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 i="0">
                <a:solidFill>
                  <a:srgbClr val="8764B8"/>
                </a:solidFill>
                <a:latin typeface="Segoe UI"/>
              </a:rPr>
              <a:t>設計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80360"/>
            <a:ext cx="94457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2880360"/>
            <a:ext cx="73152" cy="1280160"/>
          </a:xfrm>
          <a:prstGeom prst="rect">
            <a:avLst/>
          </a:prstGeom>
          <a:solidFill>
            <a:srgbClr val="876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05456" y="3026664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01F1E"/>
                </a:solidFill>
                <a:latin typeface="Segoe UI"/>
              </a:rPr>
              <a:t>pptify はデザインプロファイルを固定し、色・書体・余白をトークンとして管理する。レイアウトはプリミティブの木構造として表現される。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1645920" cy="1280160"/>
          </a:xfrm>
          <a:prstGeom prst="roundRect">
            <a:avLst/>
          </a:prstGeom>
          <a:solidFill>
            <a:srgbClr val="E6F4F4"/>
          </a:solidFill>
          <a:ln w="17780">
            <a:solidFill>
              <a:srgbClr val="0383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 i="0">
                <a:solidFill>
                  <a:srgbClr val="038387"/>
                </a:solidFill>
                <a:latin typeface="Segoe UI"/>
              </a:rPr>
              <a:t>効果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343400"/>
            <a:ext cx="9445752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343400"/>
            <a:ext cx="73152" cy="1280160"/>
          </a:xfrm>
          <a:prstGeom prst="rect">
            <a:avLst/>
          </a:prstGeom>
          <a:solidFill>
            <a:srgbClr val="0383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5456" y="4489704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01F1E"/>
                </a:solidFill>
                <a:latin typeface="Segoe UI"/>
              </a:rPr>
              <a:t>一連の監査が自動で実行され、衝突・溢れ・余白を保証する。編集可能な形式を保ちながら、高密度な資料を短時間で生成できる。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0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fluent-ui-design-tokens · Fluent neutralBackground cards + token chips (webLightTheme)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6E6E6"/>
                </a:solidFill>
                <a:latin typeface="Consolas"/>
              </a:rPr>
              <a:t>MIT - Microsoft Corporation · 11/11 audit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2004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8912"/>
            <a:ext cx="146304" cy="475488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3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B3541E"/>
                </a:solidFill>
                <a:latin typeface="Consolas"/>
              </a:rPr>
              <a:t>corazzon · appendix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8A3D12"/>
                </a:solidFill>
                <a:latin typeface="Georgia"/>
              </a:rPr>
              <a:t>Fifty layouts ship from one locked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20624"/>
            <a:ext cx="804672" cy="310896"/>
          </a:xfrm>
          <a:prstGeom prst="round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81944" y="420624"/>
            <a:ext cx="69494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50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i="0">
                <a:solidFill>
                  <a:srgbClr val="8A3D12"/>
                </a:solidFill>
                <a:latin typeface="Georgia"/>
              </a:rPr>
              <a:t>Fifty layouts, one locked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Consolas"/>
              </a:rPr>
              <a:t>Foundations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3383280" cy="22860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01 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529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02 Editorial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3697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03 Bento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210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04 Radial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05 Timeline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06 Magazine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731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07 Command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0116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Consolas"/>
              </a:rPr>
              <a:t>Structures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2322576"/>
            <a:ext cx="3383280" cy="22860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2468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13 Funnel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8529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16 Org 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323697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17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36210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31 Capability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40050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40 Decision tree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389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43 Maturity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47731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46 Layer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20116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B3541E"/>
                </a:solidFill>
                <a:latin typeface="Consolas"/>
              </a:rPr>
              <a:t>Dense sets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1856" y="2322576"/>
            <a:ext cx="3383280" cy="22860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6" y="2468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25 Two-column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1856" y="28529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26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1856" y="323697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29 Spec sheet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36210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33 Risk register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40050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36 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91856" y="4389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48 Bento catalog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1856" y="47731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Georgia"/>
              </a:rPr>
              <a:t>50 Appendix index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86400"/>
            <a:ext cx="11274552" cy="640080"/>
          </a:xfrm>
          <a:prstGeom prst="roundRect">
            <a:avLst/>
          </a:prstGeom>
          <a:solidFill>
            <a:srgbClr val="F3ECE0"/>
          </a:solidFill>
          <a:ln w="12700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73152" cy="640080"/>
          </a:xfrm>
          <a:prstGeom prst="rect">
            <a:avLst/>
          </a:prstGeom>
          <a:solidFill>
            <a:srgbClr val="B3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3270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Georgia"/>
              </a:rPr>
              <a:t>Every entry above ships from the same audited pipeline — profile-locked, collision-free, and fully editable.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2A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EADFCB"/>
                </a:solidFill>
                <a:latin typeface="Consolas"/>
              </a:rPr>
              <a:t>corazzon-pptx-design-styles · Editorial Magazine: serif headline, columns, drop initial, pull-quote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92240"/>
            <a:ext cx="350215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0">
                <a:solidFill>
                  <a:srgbClr val="EADFCB"/>
                </a:solidFill>
                <a:latin typeface="Consolas"/>
              </a:rPr>
              <a:t>MIT - TodayCode / corazzon contributors · 11/11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