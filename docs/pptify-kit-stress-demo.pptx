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57606A"/>
                </a:solidFill>
                <a:latin typeface="Arial"/>
              </a:rPr>
              <a:t>STRESS DEMO 01/81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F2328"/>
                </a:solidFill>
                <a:latin typeface="Arial"/>
              </a:rPr>
              <a:t>primer-primitives turns .agent into an auditable slide-production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F2328"/>
                </a:solidFill>
                <a:latin typeface="Arial"/>
              </a:rPr>
              <a:t>This slide uses the primer-primitives profile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6F8FA"/>
                </a:solidFill>
                <a:latin typeface="Arial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F2328"/>
                </a:solidFill>
                <a:latin typeface="Arial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F2328"/>
                </a:solidFill>
                <a:latin typeface="Arial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57606A"/>
                </a:solidFill>
                <a:latin typeface="Arial"/>
              </a:rPr>
              <a:t>Layout family: editorial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29968"/>
            <a:ext cx="4800600" cy="25146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31136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0969DA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2194560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F2328"/>
                </a:solidFill>
                <a:latin typeface="Arial"/>
              </a:rPr>
              <a:t>Semantic Tokens is represented as an editable, source-traceable slide object.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0969DA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724912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F2328"/>
                </a:solidFill>
                <a:latin typeface="Arial"/>
              </a:rPr>
              <a:t>Spacing Scale is represented as an editable, source-traceable slide object.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91839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0969DA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255263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F2328"/>
                </a:solidFill>
                <a:latin typeface="Arial"/>
              </a:rPr>
              <a:t>Type Roles is represented as an editable, source-traceable slide object.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822191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0969DA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785615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F2328"/>
                </a:solidFill>
                <a:latin typeface="Arial"/>
              </a:rPr>
              <a:t>Surface Cards is represented as an editable, source-traceable slide object.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938528"/>
            <a:ext cx="2606040" cy="2697480"/>
          </a:xfrm>
          <a:prstGeom prst="round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286000"/>
            <a:ext cx="1572768" cy="15727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53328" y="4096512"/>
            <a:ext cx="205740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F6F8FA"/>
                </a:solidFill>
                <a:latin typeface="Arial"/>
              </a:rPr>
              <a:t>GPT image infographic.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199339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7424" y="199339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9448" y="199339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91472" y="1993392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83496" y="1993392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199339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67544" y="199339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59568" y="1993392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51592" y="199339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2185416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07424" y="2185416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99448" y="2185416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91472" y="2185416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83496" y="2185416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75520" y="2185416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67544" y="2185416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59568" y="2185416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51592" y="2185416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15400" y="2377440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7424" y="2377440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99448" y="2377440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91472" y="2377440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83496" y="2377440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0" y="2377440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67544" y="2377440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59568" y="2377440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51592" y="2377440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15400" y="2569464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07424" y="2569464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99448" y="2569464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91472" y="2569464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83496" y="2569464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75520" y="2569464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67544" y="2569464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59568" y="2569464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51592" y="2569464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15400" y="2761488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07424" y="2761488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99448" y="2761488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91472" y="2761488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83496" y="2761488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875520" y="2761488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7544" y="2761488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59568" y="2761488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51592" y="2761488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15400" y="295351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07424" y="295351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99448" y="2953512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91472" y="295351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83496" y="2953512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875520" y="295351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067544" y="2953512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59568" y="295351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451592" y="2953512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15400" y="3145536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07424" y="3145536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99448" y="3145536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91472" y="3145536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683496" y="3145536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875520" y="3145536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67544" y="3145536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259568" y="3145536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451592" y="3145536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915400" y="3337560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07424" y="3337560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99448" y="3337560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491472" y="3337560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683496" y="3337560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875520" y="3337560"/>
            <a:ext cx="146304" cy="907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67544" y="3337560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259568" y="3337560"/>
            <a:ext cx="146304" cy="90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451592" y="3337560"/>
            <a:ext cx="146304" cy="9070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6F8FA"/>
                </a:solidFill>
                <a:latin typeface="Arial"/>
              </a:rP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F2328"/>
                </a:solidFill>
                <a:latin typeface="Arial"/>
              </a:rPr>
              <a:t>profile patterns are combined with varied dense object systems.</a:t>
            </a:r>
          </a:p>
        </p:txBody>
      </p:sp>
      <p:sp>
        <p:nvSpPr>
          <p:cNvPr id="101" name="Oval 100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6F8FA"/>
                </a:solidFill>
                <a:latin typeface="Arial"/>
              </a:rPr>
              <a:t>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F2328"/>
                </a:solidFill>
                <a:latin typeface="Arial"/>
              </a:rPr>
              <a:t>style locks are combined with varied dense object systems.</a:t>
            </a:r>
          </a:p>
        </p:txBody>
      </p:sp>
      <p:sp>
        <p:nvSpPr>
          <p:cNvPr id="104" name="Oval 103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6F8FA"/>
                </a:solidFill>
                <a:latin typeface="Arial"/>
              </a:rPr>
              <a:t>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F2328"/>
                </a:solidFill>
                <a:latin typeface="Arial"/>
              </a:rPr>
              <a:t>layout families are combined with varied dense object systems.</a:t>
            </a:r>
          </a:p>
        </p:txBody>
      </p:sp>
      <p:sp>
        <p:nvSpPr>
          <p:cNvPr id="107" name="Oval 10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6F8FA"/>
                </a:solidFill>
                <a:latin typeface="Arial"/>
              </a:rPr>
              <a:t>81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F2328"/>
                </a:solidFill>
                <a:latin typeface="Arial"/>
              </a:rPr>
              <a:t>dense slides are combined with varied dense object systems.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7606A"/>
                </a:solidFill>
                <a:latin typeface="Arial"/>
              </a:rPr>
              <a:t>density layer</a:t>
            </a:r>
          </a:p>
        </p:txBody>
      </p:sp>
      <p:sp>
        <p:nvSpPr>
          <p:cNvPr id="122" name="Oval 121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6F8FA"/>
                </a:solidFill>
                <a:latin typeface="Arial"/>
              </a:rPr>
              <a:t>11</a:t>
            </a:r>
          </a:p>
        </p:txBody>
      </p:sp>
      <p:sp>
        <p:nvSpPr>
          <p:cNvPr id="124" name="Oval 123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6F8FA"/>
                </a:solidFill>
                <a:latin typeface="Arial"/>
              </a:rPr>
              <a:t>30</a:t>
            </a:r>
          </a:p>
        </p:txBody>
      </p:sp>
      <p:sp>
        <p:nvSpPr>
          <p:cNvPr id="126" name="Oval 125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6F8FA"/>
                </a:solidFill>
                <a:latin typeface="Arial"/>
              </a:rPr>
              <a:t>8</a:t>
            </a:r>
          </a:p>
        </p:txBody>
      </p:sp>
      <p:sp>
        <p:nvSpPr>
          <p:cNvPr id="128" name="Oval 127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6F8FA"/>
                </a:solidFill>
                <a:latin typeface="Arial"/>
              </a:rPr>
              <a:t>81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57606A"/>
                </a:solidFill>
                <a:latin typeface="Arial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616161"/>
                </a:solidFill>
                <a:latin typeface="Segoe UI"/>
              </a:rPr>
              <a:t>STRESS DEMO 02/81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242424"/>
                </a:solidFill>
                <a:latin typeface="Segoe UI"/>
              </a:rPr>
              <a:t>fluent-ui-design-tokens turns .agent into an auditable slide-production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242424"/>
                </a:solidFill>
                <a:latin typeface="Segoe UI"/>
              </a:rPr>
              <a:t>This slide uses the fluent-ui-design-tokens profile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AFAFA"/>
                </a:solidFill>
                <a:latin typeface="Segoe UI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242424"/>
                </a:solidFill>
                <a:latin typeface="Segoe UI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242424"/>
                </a:solidFill>
                <a:latin typeface="Segoe UI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616161"/>
                </a:solidFill>
                <a:latin typeface="Segoe UI"/>
              </a:rPr>
              <a:t>Layout family: bento overload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993392"/>
            <a:ext cx="2834640" cy="1170432"/>
          </a:xfrm>
          <a:prstGeom prst="round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157984"/>
            <a:ext cx="254203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1">
                <a:solidFill>
                  <a:srgbClr val="FAFAFA"/>
                </a:solidFill>
                <a:latin typeface="Segoe UI"/>
              </a:rPr>
              <a:t>Theme Variant is represented as an editable, source-traceable slide object.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1993392"/>
            <a:ext cx="1965960" cy="117043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8184" y="2157984"/>
            <a:ext cx="1673351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242424"/>
                </a:solidFill>
                <a:latin typeface="Segoe UI"/>
              </a:rPr>
              <a:t>Token Categories is represented as an editable, source-traceable slide object.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1993392"/>
            <a:ext cx="2697480" cy="1874519"/>
          </a:xfrm>
          <a:prstGeom prst="round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2157984"/>
            <a:ext cx="240487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1">
                <a:solidFill>
                  <a:srgbClr val="242424"/>
                </a:solidFill>
                <a:latin typeface="Segoe UI"/>
              </a:rPr>
              <a:t>Accessible Contrast is represented as an editable, source-traceable slide object.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83280"/>
            <a:ext cx="2011680" cy="13258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547872"/>
            <a:ext cx="171907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242424"/>
                </a:solidFill>
                <a:latin typeface="Segoe UI"/>
              </a:rPr>
              <a:t>Component Rhythm is represented as an editable, source-traceable slide object.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383280"/>
            <a:ext cx="2788920" cy="13258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35224" y="3547872"/>
            <a:ext cx="249631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242424"/>
                </a:solidFill>
                <a:latin typeface="Segoe UI"/>
              </a:rPr>
              <a:t>Audit Result is represented as an editable, source-traceable slide object.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993392"/>
            <a:ext cx="2057400" cy="270662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8824" y="2157984"/>
            <a:ext cx="176479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242424"/>
                </a:solidFill>
                <a:latin typeface="Segoe UI"/>
              </a:rPr>
              <a:t>Theme Variant is represented as an editable, source-traceable slide object.</a:t>
            </a:r>
          </a:p>
        </p:txBody>
      </p:sp>
      <p:pic>
        <p:nvPicPr>
          <p:cNvPr id="26" name="Picture 25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816352"/>
            <a:ext cx="914400" cy="9144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Segoe U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42424"/>
                </a:solidFill>
                <a:latin typeface="Segoe UI"/>
              </a:rPr>
              <a:t>profile patterns are combined with varied dense object systems.</a:t>
            </a:r>
          </a:p>
        </p:txBody>
      </p:sp>
      <p:sp>
        <p:nvSpPr>
          <p:cNvPr id="30" name="Oval 29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Segoe UI"/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42424"/>
                </a:solidFill>
                <a:latin typeface="Segoe UI"/>
              </a:rPr>
              <a:t>style locks are combined with varied dense object systems.</a:t>
            </a:r>
          </a:p>
        </p:txBody>
      </p:sp>
      <p:sp>
        <p:nvSpPr>
          <p:cNvPr id="33" name="Oval 3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Segoe U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42424"/>
                </a:solidFill>
                <a:latin typeface="Segoe UI"/>
              </a:rPr>
              <a:t>layout families are combined with varied dense object systems.</a:t>
            </a:r>
          </a:p>
        </p:txBody>
      </p:sp>
      <p:sp>
        <p:nvSpPr>
          <p:cNvPr id="36" name="Oval 35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Segoe UI"/>
              </a:rPr>
              <a:t>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42424"/>
                </a:solidFill>
                <a:latin typeface="Segoe UI"/>
              </a:rPr>
              <a:t>dense slides are combined with varied dense object systems.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16161"/>
                </a:solidFill>
                <a:latin typeface="Segoe UI"/>
              </a:rPr>
              <a:t>density layer</a:t>
            </a:r>
          </a:p>
        </p:txBody>
      </p:sp>
      <p:sp>
        <p:nvSpPr>
          <p:cNvPr id="51" name="Oval 5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Segoe UI"/>
              </a:rPr>
              <a:t>11</a:t>
            </a:r>
          </a:p>
        </p:txBody>
      </p:sp>
      <p:sp>
        <p:nvSpPr>
          <p:cNvPr id="53" name="Oval 52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Segoe UI"/>
              </a:rPr>
              <a:t>30</a:t>
            </a:r>
          </a:p>
        </p:txBody>
      </p:sp>
      <p:sp>
        <p:nvSpPr>
          <p:cNvPr id="55" name="Oval 54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Segoe UI"/>
              </a:rPr>
              <a:t>8</a:t>
            </a:r>
          </a:p>
        </p:txBody>
      </p:sp>
      <p:sp>
        <p:nvSpPr>
          <p:cNvPr id="57" name="Oval 5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Segoe UI"/>
              </a:rPr>
              <a:t>81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16161"/>
                </a:solidFill>
                <a:latin typeface="Segoe UI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8B949E"/>
                </a:solidFill>
                <a:latin typeface="Arial"/>
              </a:rPr>
              <a:t>STRESS DEMO 03/81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F0F6FC"/>
                </a:solidFill>
                <a:latin typeface="Arial"/>
              </a:rPr>
              <a:t>awesome-copilot-design-agents turns .agent into an auditable slide-production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F0F6FC"/>
                </a:solidFill>
                <a:latin typeface="Arial"/>
              </a:rPr>
              <a:t>This slide uses the awesome-copilot-design-agents profile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6FC"/>
                </a:solidFill>
                <a:latin typeface="Arial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6FC"/>
                </a:solidFill>
                <a:latin typeface="Arial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6FC"/>
                </a:solidFill>
                <a:latin typeface="Arial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8B949E"/>
                </a:solidFill>
                <a:latin typeface="Arial"/>
              </a:rPr>
              <a:t>Layout family: radial control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1664207" y="2377440"/>
            <a:ext cx="3474721" cy="896112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97280" y="2148840"/>
            <a:ext cx="1143000" cy="45720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229514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Discover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3447288" y="1947672"/>
            <a:ext cx="1691640" cy="1325880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1719072"/>
            <a:ext cx="1143000" cy="4572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18653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Hierarchy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138928" y="1947672"/>
            <a:ext cx="2148840" cy="1325880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0840" y="1719072"/>
            <a:ext cx="1143000" cy="45720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18653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Accessibility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138928" y="2560320"/>
            <a:ext cx="3977639" cy="713232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49640" y="2331720"/>
            <a:ext cx="1143000" cy="4572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247802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Critique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38928" y="3273552"/>
            <a:ext cx="3154679" cy="1271016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26679" y="4315968"/>
            <a:ext cx="1143000" cy="45720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4462272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Repair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310128" y="3273552"/>
            <a:ext cx="1828800" cy="1572768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743200" y="4617720"/>
            <a:ext cx="1143000" cy="4572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476402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Discover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527048" y="3273552"/>
            <a:ext cx="3611880" cy="795528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0120" y="3840480"/>
            <a:ext cx="1143000" cy="45720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" y="398678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Hierarchy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2615184"/>
            <a:ext cx="1316736" cy="1316736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054096"/>
            <a:ext cx="768096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50" b="1">
                <a:solidFill>
                  <a:srgbClr val="F0F6FC"/>
                </a:solidFill>
                <a:latin typeface="Arial"/>
              </a:rPr>
              <a:t>style
lock</a:t>
            </a:r>
          </a:p>
        </p:txBody>
      </p:sp>
      <p:pic>
        <p:nvPicPr>
          <p:cNvPr id="37" name="Picture 36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407408"/>
            <a:ext cx="868680" cy="86868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rial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0F6FC"/>
                </a:solidFill>
                <a:latin typeface="Arial"/>
              </a:rPr>
              <a:t>profile patterns are combined with varied dense object systems.</a:t>
            </a:r>
          </a:p>
        </p:txBody>
      </p:sp>
      <p:sp>
        <p:nvSpPr>
          <p:cNvPr id="41" name="Oval 40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rial"/>
              </a:rPr>
              <a:t>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0F6FC"/>
                </a:solidFill>
                <a:latin typeface="Arial"/>
              </a:rPr>
              <a:t>style locks are combined with varied dense object systems.</a:t>
            </a:r>
          </a:p>
        </p:txBody>
      </p:sp>
      <p:sp>
        <p:nvSpPr>
          <p:cNvPr id="44" name="Oval 43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0F6FC"/>
                </a:solidFill>
                <a:latin typeface="Arial"/>
              </a:rPr>
              <a:t>layout families are combined with varied dense object systems.</a:t>
            </a:r>
          </a:p>
        </p:txBody>
      </p:sp>
      <p:sp>
        <p:nvSpPr>
          <p:cNvPr id="47" name="Oval 46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rial"/>
              </a:rPr>
              <a:t>81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0F6FC"/>
                </a:solidFill>
                <a:latin typeface="Arial"/>
              </a:rPr>
              <a:t>dense slides are combined with varied dense object systems.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8B949E"/>
                </a:solidFill>
                <a:latin typeface="Arial"/>
              </a:rPr>
              <a:t>density layer</a:t>
            </a:r>
          </a:p>
        </p:txBody>
      </p:sp>
      <p:sp>
        <p:nvSpPr>
          <p:cNvPr id="62" name="Oval 61"/>
          <p:cNvSpPr/>
          <p:nvPr/>
        </p:nvSpPr>
        <p:spPr>
          <a:xfrm>
            <a:off x="4480560" y="2615184"/>
            <a:ext cx="1316736" cy="1316736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4880" y="3054096"/>
            <a:ext cx="768096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50" b="1">
                <a:solidFill>
                  <a:srgbClr val="F0F6FC"/>
                </a:solidFill>
                <a:latin typeface="Arial"/>
              </a:rPr>
              <a:t>style
lock</a:t>
            </a:r>
          </a:p>
        </p:txBody>
      </p:sp>
      <p:sp>
        <p:nvSpPr>
          <p:cNvPr id="64" name="Oval 63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rial"/>
              </a:rPr>
              <a:t>11</a:t>
            </a:r>
          </a:p>
        </p:txBody>
      </p:sp>
      <p:sp>
        <p:nvSpPr>
          <p:cNvPr id="66" name="Oval 65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rial"/>
              </a:rPr>
              <a:t>30</a:t>
            </a:r>
          </a:p>
        </p:txBody>
      </p:sp>
      <p:sp>
        <p:nvSpPr>
          <p:cNvPr id="68" name="Oval 67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rial"/>
              </a:rPr>
              <a:t>8</a:t>
            </a:r>
          </a:p>
        </p:txBody>
      </p:sp>
      <p:sp>
        <p:nvSpPr>
          <p:cNvPr id="70" name="Oval 69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6FC"/>
                </a:solidFill>
                <a:latin typeface="Arial"/>
              </a:rPr>
              <a:t>81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8B949E"/>
                </a:solidFill>
                <a:latin typeface="Arial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6E625C"/>
                </a:solidFill>
                <a:latin typeface="Aptos"/>
              </a:rPr>
              <a:t>STRESS DEMO 04/81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241F21"/>
                </a:solidFill>
                <a:latin typeface="Aptos"/>
              </a:rPr>
              <a:t>nexu-io-open-design turns .agent into an auditable slide-production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241F21"/>
                </a:solidFill>
                <a:latin typeface="Aptos"/>
              </a:rPr>
              <a:t>This slide uses the nexu-io-open-design profile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7F4EF"/>
                </a:solidFill>
                <a:latin typeface="Aptos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241F21"/>
                </a:solidFill>
                <a:latin typeface="Aptos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241F21"/>
                </a:solidFill>
                <a:latin typeface="Aptos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6E625C"/>
                </a:solidFill>
                <a:latin typeface="Aptos"/>
              </a:rPr>
              <a:t>Layout family: timeline 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029968"/>
            <a:ext cx="91440" cy="2880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" y="2011680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30552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241F21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75688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241F21"/>
                </a:solidFill>
                <a:latin typeface="Aptos"/>
              </a:rPr>
              <a:t>Direction is represented as an editable, source-traceable slide object.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257860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97480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241F21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642616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241F21"/>
                </a:solidFill>
                <a:latin typeface="Aptos"/>
              </a:rPr>
              <a:t>Sandbox is represented as an editable, source-traceable slide object.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3145536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64408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241F21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209544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241F21"/>
                </a:solidFill>
                <a:latin typeface="Aptos"/>
              </a:rPr>
              <a:t>Lint is represented as an editable, source-traceable slide object.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3712464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31336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241F21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3776472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241F21"/>
                </a:solidFill>
                <a:latin typeface="Aptos"/>
              </a:rPr>
              <a:t>Critique is represented as an editable, source-traceable slide object.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" y="4279392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98264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241F21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343400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241F21"/>
                </a:solidFill>
                <a:latin typeface="Aptos"/>
              </a:rPr>
              <a:t>Commit is represented as an editable, source-traceable slide object.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96128" y="2057400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720" y="2057400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25312" y="205740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9904" y="205740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54496" y="2057400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19088" y="205740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2057400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48272" y="205740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12864" y="2057400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77456" y="205740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42048" y="205740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06640" y="2057400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71232" y="2057400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35824" y="205740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96128" y="222199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720" y="222199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25312" y="222199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9904" y="2221992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54496" y="2221992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19088" y="222199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0" y="222199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48272" y="2221992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12864" y="222199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77456" y="2221992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42048" y="222199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06640" y="2221992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71232" y="222199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35824" y="222199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96128" y="238658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60720" y="238658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25312" y="2386584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89904" y="238658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54496" y="238658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19088" y="238658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0" y="2386584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48272" y="2386584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12864" y="238658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77456" y="238658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242048" y="2386584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06640" y="238658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71232" y="2386584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35824" y="238658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596128" y="2551176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760720" y="2551176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25312" y="255117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89904" y="255117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54496" y="255117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19088" y="2551176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3680" y="255117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48272" y="255117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12864" y="255117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77456" y="2551176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42048" y="2551176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06640" y="255117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71232" y="255117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35824" y="2551176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596128" y="2715768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760720" y="2715768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925312" y="2715768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89904" y="2715768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54496" y="2715768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419088" y="2715768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583680" y="2715768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748272" y="2715768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12864" y="2715768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077456" y="2715768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242048" y="2715768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406640" y="2715768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71232" y="2715768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35824" y="2715768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596128" y="288036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2880360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25312" y="288036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089904" y="2880360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254496" y="288036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19088" y="288036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83680" y="2880360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748272" y="2880360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912864" y="288036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077456" y="288036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242048" y="288036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406640" y="2880360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571232" y="288036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735824" y="2880360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596128" y="304495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760720" y="304495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25312" y="3044952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89904" y="304495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54496" y="3044952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19088" y="304495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83680" y="3044952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748272" y="304495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912864" y="304495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077456" y="3044952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242048" y="3044952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406640" y="304495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571232" y="304495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735824" y="3044952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596128" y="320954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760720" y="3209544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925312" y="3209544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089904" y="320954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254496" y="320954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419088" y="3209544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83680" y="320954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748272" y="3209544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912864" y="320954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077456" y="3209544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242048" y="320954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406640" y="3209544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571232" y="3209544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735824" y="3209544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596128" y="3374136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760720" y="337413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925312" y="337413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089904" y="337413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254496" y="3374136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419088" y="3374136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583680" y="337413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748272" y="337413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912864" y="3374136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077456" y="337413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242048" y="3374136"/>
            <a:ext cx="118872" cy="7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406640" y="337413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571232" y="3374136"/>
            <a:ext cx="118872" cy="737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735824" y="3374136"/>
            <a:ext cx="118872" cy="7370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Picture 155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2084831"/>
            <a:ext cx="1234440" cy="1234440"/>
          </a:xfrm>
          <a:prstGeom prst="rect">
            <a:avLst/>
          </a:prstGeom>
        </p:spPr>
      </p:pic>
      <p:sp>
        <p:nvSpPr>
          <p:cNvPr id="157" name="Oval 156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4EF"/>
                </a:solidFill>
                <a:latin typeface="Aptos"/>
              </a:rPr>
              <a:t>11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41F21"/>
                </a:solidFill>
                <a:latin typeface="Aptos"/>
              </a:rPr>
              <a:t>profile patterns are combined with varied dense object systems.</a:t>
            </a:r>
          </a:p>
        </p:txBody>
      </p:sp>
      <p:sp>
        <p:nvSpPr>
          <p:cNvPr id="160" name="Oval 159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4EF"/>
                </a:solidFill>
                <a:latin typeface="Aptos"/>
              </a:rPr>
              <a:t>30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41F21"/>
                </a:solidFill>
                <a:latin typeface="Aptos"/>
              </a:rPr>
              <a:t>style locks are combined with varied dense object systems.</a:t>
            </a:r>
          </a:p>
        </p:txBody>
      </p:sp>
      <p:sp>
        <p:nvSpPr>
          <p:cNvPr id="163" name="Oval 16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4EF"/>
                </a:solidFill>
                <a:latin typeface="Aptos"/>
              </a:rPr>
              <a:t>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41F21"/>
                </a:solidFill>
                <a:latin typeface="Aptos"/>
              </a:rPr>
              <a:t>layout families are combined with varied dense object systems.</a:t>
            </a:r>
          </a:p>
        </p:txBody>
      </p:sp>
      <p:sp>
        <p:nvSpPr>
          <p:cNvPr id="166" name="Oval 165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4EF"/>
                </a:solidFill>
                <a:latin typeface="Aptos"/>
              </a:rPr>
              <a:t>81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41F21"/>
                </a:solidFill>
                <a:latin typeface="Aptos"/>
              </a:rPr>
              <a:t>dense slides are combined with varied dense object systems.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E625C"/>
                </a:solidFill>
                <a:latin typeface="Aptos"/>
              </a:rPr>
              <a:t>density layer</a:t>
            </a:r>
          </a:p>
        </p:txBody>
      </p:sp>
      <p:sp>
        <p:nvSpPr>
          <p:cNvPr id="181" name="Oval 180"/>
          <p:cNvSpPr/>
          <p:nvPr/>
        </p:nvSpPr>
        <p:spPr>
          <a:xfrm>
            <a:off x="566928" y="2011680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85800" y="2130552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241F21"/>
                </a:solidFill>
                <a:latin typeface="Aptos"/>
              </a:rPr>
              <a:t>1</a:t>
            </a:r>
          </a:p>
        </p:txBody>
      </p:sp>
      <p:sp>
        <p:nvSpPr>
          <p:cNvPr id="183" name="Oval 182"/>
          <p:cNvSpPr/>
          <p:nvPr/>
        </p:nvSpPr>
        <p:spPr>
          <a:xfrm>
            <a:off x="566928" y="257860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85800" y="2697480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241F21"/>
                </a:solidFill>
                <a:latin typeface="Aptos"/>
              </a:rPr>
              <a:t>2</a:t>
            </a:r>
          </a:p>
        </p:txBody>
      </p:sp>
      <p:sp>
        <p:nvSpPr>
          <p:cNvPr id="185" name="Oval 184"/>
          <p:cNvSpPr/>
          <p:nvPr/>
        </p:nvSpPr>
        <p:spPr>
          <a:xfrm>
            <a:off x="566928" y="3145536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85800" y="3264408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241F21"/>
                </a:solidFill>
                <a:latin typeface="Aptos"/>
              </a:rPr>
              <a:t>3</a:t>
            </a:r>
          </a:p>
        </p:txBody>
      </p:sp>
      <p:sp>
        <p:nvSpPr>
          <p:cNvPr id="187" name="Oval 186"/>
          <p:cNvSpPr/>
          <p:nvPr/>
        </p:nvSpPr>
        <p:spPr>
          <a:xfrm>
            <a:off x="566928" y="3712464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85800" y="3831336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241F21"/>
                </a:solidFill>
                <a:latin typeface="Aptos"/>
              </a:rPr>
              <a:t>4</a:t>
            </a:r>
          </a:p>
        </p:txBody>
      </p:sp>
      <p:sp>
        <p:nvSpPr>
          <p:cNvPr id="189" name="Oval 188"/>
          <p:cNvSpPr/>
          <p:nvPr/>
        </p:nvSpPr>
        <p:spPr>
          <a:xfrm>
            <a:off x="566928" y="4279392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5800" y="4398264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241F21"/>
                </a:solidFill>
                <a:latin typeface="Aptos"/>
              </a:rPr>
              <a:t>5</a:t>
            </a:r>
          </a:p>
        </p:txBody>
      </p:sp>
      <p:sp>
        <p:nvSpPr>
          <p:cNvPr id="191" name="Oval 19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4EF"/>
                </a:solidFill>
                <a:latin typeface="Aptos"/>
              </a:rPr>
              <a:t>11</a:t>
            </a:r>
          </a:p>
        </p:txBody>
      </p:sp>
      <p:sp>
        <p:nvSpPr>
          <p:cNvPr id="193" name="Oval 192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4EF"/>
                </a:solidFill>
                <a:latin typeface="Aptos"/>
              </a:rPr>
              <a:t>30</a:t>
            </a:r>
          </a:p>
        </p:txBody>
      </p:sp>
      <p:sp>
        <p:nvSpPr>
          <p:cNvPr id="195" name="Oval 194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4EF"/>
                </a:solidFill>
                <a:latin typeface="Aptos"/>
              </a:rPr>
              <a:t>8</a:t>
            </a:r>
          </a:p>
        </p:txBody>
      </p:sp>
      <p:sp>
        <p:nvSpPr>
          <p:cNvPr id="197" name="Oval 19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4EF"/>
                </a:solidFill>
                <a:latin typeface="Aptos"/>
              </a:rPr>
              <a:t>81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E625C"/>
                </a:solidFill>
                <a:latin typeface="Aptos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CBD5E1"/>
                </a:solidFill>
                <a:latin typeface="Aptos"/>
              </a:rPr>
              <a:t>STRESS DEMO 05/81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F9FAFB"/>
                </a:solidFill>
                <a:latin typeface="Aptos"/>
              </a:rPr>
              <a:t>alchaincyf-huashu-design turns .agent into an auditable slide-production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F9FAFB"/>
                </a:solidFill>
                <a:latin typeface="Aptos"/>
              </a:rPr>
              <a:t>This slide uses the alchaincyf-huashu-design profile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9FAFB"/>
                </a:solidFill>
                <a:latin typeface="Aptos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9FAFB"/>
                </a:solidFill>
                <a:latin typeface="Aptos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9FAFB"/>
                </a:solidFill>
                <a:latin typeface="Aptos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CBD5E1"/>
                </a:solidFill>
                <a:latin typeface="Aptos"/>
              </a:rPr>
              <a:t>Layout family: layered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1965960"/>
            <a:ext cx="621792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07568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9FAFB"/>
                </a:solidFill>
                <a:latin typeface="Aptos"/>
              </a:rPr>
              <a:t>Palette is represented as an editable, source-traceable slide object.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" y="2468880"/>
            <a:ext cx="5870448" cy="38404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5" y="257860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9FAFB"/>
                </a:solidFill>
                <a:latin typeface="Aptos"/>
              </a:rPr>
              <a:t>Neutral Scale is represented as an editable, source-traceable slide object.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971800"/>
            <a:ext cx="5522976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308152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9FAFB"/>
                </a:solidFill>
                <a:latin typeface="Aptos"/>
              </a:rPr>
              <a:t>Typeface is represented as an editable, source-traceable slide object.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82495" y="3474720"/>
            <a:ext cx="5175504" cy="38404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47088" y="358444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9FAFB"/>
                </a:solidFill>
                <a:latin typeface="Aptos"/>
              </a:rPr>
              <a:t>Tone is represented as an editable, source-traceable slide object.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3392" y="3977639"/>
            <a:ext cx="4828031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57984" y="408736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9FAFB"/>
                </a:solidFill>
                <a:latin typeface="Aptos"/>
              </a:rPr>
              <a:t>Editable Frames is represented as an editable, source-traceable slide object.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54112" y="2011680"/>
            <a:ext cx="914400" cy="310896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2112264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check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2011680"/>
            <a:ext cx="914400" cy="310896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112264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check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2542032"/>
            <a:ext cx="914400" cy="310896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2642616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check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9408" y="2542032"/>
            <a:ext cx="914400" cy="310896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642616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check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4112" y="3072384"/>
            <a:ext cx="914400" cy="310896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3172968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check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9408" y="3072384"/>
            <a:ext cx="914400" cy="310896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0848" y="3172968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check 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54112" y="3602736"/>
            <a:ext cx="914400" cy="310896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3703320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check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79408" y="3602736"/>
            <a:ext cx="914400" cy="310896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3703320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check 8</a:t>
            </a:r>
          </a:p>
        </p:txBody>
      </p:sp>
      <p:pic>
        <p:nvPicPr>
          <p:cNvPr id="40" name="Picture 39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0"/>
            <a:ext cx="804672" cy="804672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9FAFB"/>
                </a:solidFill>
                <a:latin typeface="Aptos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9FAFB"/>
                </a:solidFill>
                <a:latin typeface="Aptos"/>
              </a:rPr>
              <a:t>profile patterns are combined with varied dense object systems.</a:t>
            </a:r>
          </a:p>
        </p:txBody>
      </p:sp>
      <p:sp>
        <p:nvSpPr>
          <p:cNvPr id="44" name="Oval 43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9FAFB"/>
                </a:solidFill>
                <a:latin typeface="Aptos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9FAFB"/>
                </a:solidFill>
                <a:latin typeface="Aptos"/>
              </a:rPr>
              <a:t>style locks are combined with varied dense object systems.</a:t>
            </a:r>
          </a:p>
        </p:txBody>
      </p:sp>
      <p:sp>
        <p:nvSpPr>
          <p:cNvPr id="47" name="Oval 46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9FAFB"/>
                </a:solidFill>
                <a:latin typeface="Aptos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9FAFB"/>
                </a:solidFill>
                <a:latin typeface="Aptos"/>
              </a:rPr>
              <a:t>layout families are combined with varied dense object systems.</a:t>
            </a:r>
          </a:p>
        </p:txBody>
      </p:sp>
      <p:sp>
        <p:nvSpPr>
          <p:cNvPr id="50" name="Oval 49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9FAFB"/>
                </a:solidFill>
                <a:latin typeface="Aptos"/>
              </a:rPr>
              <a:t>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9FAFB"/>
                </a:solidFill>
                <a:latin typeface="Aptos"/>
              </a:rPr>
              <a:t>dense slides are combined with varied dense object systems.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CBD5E1"/>
                </a:solidFill>
                <a:latin typeface="Aptos"/>
              </a:rPr>
              <a:t>density layer</a:t>
            </a:r>
          </a:p>
        </p:txBody>
      </p:sp>
      <p:sp>
        <p:nvSpPr>
          <p:cNvPr id="65" name="Oval 64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9FAFB"/>
                </a:solidFill>
                <a:latin typeface="Aptos"/>
              </a:rPr>
              <a:t>11</a:t>
            </a:r>
          </a:p>
        </p:txBody>
      </p:sp>
      <p:sp>
        <p:nvSpPr>
          <p:cNvPr id="67" name="Oval 66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9FAFB"/>
                </a:solidFill>
                <a:latin typeface="Aptos"/>
              </a:rPr>
              <a:t>30</a:t>
            </a:r>
          </a:p>
        </p:txBody>
      </p:sp>
      <p:sp>
        <p:nvSpPr>
          <p:cNvPr id="69" name="Oval 68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9FAFB"/>
                </a:solidFill>
                <a:latin typeface="Aptos"/>
              </a:rPr>
              <a:t>8</a:t>
            </a:r>
          </a:p>
        </p:txBody>
      </p:sp>
      <p:sp>
        <p:nvSpPr>
          <p:cNvPr id="71" name="Oval 70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9FAFB"/>
                </a:solidFill>
                <a:latin typeface="Aptos"/>
              </a:rPr>
              <a:t>81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Aptos"/>
              </a:rPr>
              <a:t>STRESS DEMO 06/81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sunbigfly-ppt-agent-skills turns .agent into an auditable slide-production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This slide uses the sunbigfly-ppt-agent-skills profile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7ED"/>
                </a:solidFill>
                <a:latin typeface="Aptos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F2937"/>
                </a:solidFill>
                <a:latin typeface="Aptos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F2937"/>
                </a:solidFill>
                <a:latin typeface="Aptos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6B7280"/>
                </a:solidFill>
                <a:latin typeface="Aptos"/>
              </a:rPr>
              <a:t>Layout family: magazine collage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01952"/>
            <a:ext cx="5120640" cy="5029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2200" b="1">
                <a:solidFill>
                  <a:srgbClr val="EA580C"/>
                </a:solidFill>
                <a:latin typeface="Aptos"/>
              </a:rPr>
              <a:t>SUNBIGFLY-PPT-AGEN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88920"/>
            <a:ext cx="2578608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907791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937"/>
                </a:solidFill>
                <a:latin typeface="Aptos"/>
              </a:rPr>
              <a:t>Interview is represented as an editable, source-traceable slide object.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21608" y="2788920"/>
            <a:ext cx="2578608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2907791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937"/>
                </a:solidFill>
                <a:latin typeface="Aptos"/>
              </a:rPr>
              <a:t>Source Compression is represented as an editable, source-traceable slide object.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685031"/>
            <a:ext cx="2578608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03903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937"/>
                </a:solidFill>
                <a:latin typeface="Aptos"/>
              </a:rPr>
              <a:t>Outline is represented as an editable, source-traceable slide object.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21608" y="3685031"/>
            <a:ext cx="2578608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3803903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937"/>
                </a:solidFill>
                <a:latin typeface="Aptos"/>
              </a:rPr>
              <a:t>Style Lock is represented as an editable, source-traceable slide object.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901952"/>
            <a:ext cx="2057400" cy="205740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2148840"/>
            <a:ext cx="1554480" cy="15544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372600" y="1993392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46336" y="1993392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0072" y="1993392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93808" y="1993392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67544" y="1993392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1993392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15016" y="1993392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72600" y="2167128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46336" y="2167128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20072" y="2167128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93808" y="2167128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67544" y="2167128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41280" y="2167128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15016" y="2167128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72600" y="2340864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46336" y="2340864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20072" y="2340864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93808" y="2340864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67544" y="2340864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1280" y="2340864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15016" y="2340864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72600" y="2514600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46336" y="2514600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20072" y="2514600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93808" y="2514600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67544" y="2514600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41280" y="2514600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15016" y="2514600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72600" y="2688336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46336" y="2688336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20072" y="2688336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93808" y="2688336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67544" y="2688336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241280" y="2688336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415016" y="2688336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72600" y="2862072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46336" y="2862072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20072" y="2862072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93808" y="2862072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67544" y="2862072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41280" y="2862072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415016" y="2862072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72600" y="3035808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46336" y="3035808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720072" y="3035808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93808" y="3035808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67544" y="3035808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41280" y="3035808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15016" y="3035808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72600" y="3209544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46336" y="3209544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20072" y="3209544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893808" y="3209544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67544" y="3209544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241280" y="3209544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415016" y="3209544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72600" y="3383280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46336" y="3383280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20072" y="3383280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93808" y="3383280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67544" y="3383280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241280" y="3383280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415016" y="3383280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372600" y="3557016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546336" y="3557016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720072" y="3557016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893808" y="3557016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67544" y="3557016"/>
            <a:ext cx="128016" cy="79369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241280" y="3557016"/>
            <a:ext cx="128016" cy="79369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415016" y="3557016"/>
            <a:ext cx="128016" cy="79369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7ED"/>
                </a:solidFill>
                <a:latin typeface="Aptos"/>
              </a:rPr>
              <a:t>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F2937"/>
                </a:solidFill>
                <a:latin typeface="Aptos"/>
              </a:rPr>
              <a:t>profile patterns are combined with varied dense object systems.</a:t>
            </a:r>
          </a:p>
        </p:txBody>
      </p:sp>
      <p:sp>
        <p:nvSpPr>
          <p:cNvPr id="98" name="Oval 97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7ED"/>
                </a:solidFill>
                <a:latin typeface="Aptos"/>
              </a:rP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F2937"/>
                </a:solidFill>
                <a:latin typeface="Aptos"/>
              </a:rPr>
              <a:t>style locks are combined with varied dense object systems.</a:t>
            </a:r>
          </a:p>
        </p:txBody>
      </p:sp>
      <p:sp>
        <p:nvSpPr>
          <p:cNvPr id="101" name="Oval 100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7ED"/>
                </a:solidFill>
                <a:latin typeface="Aptos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F2937"/>
                </a:solidFill>
                <a:latin typeface="Aptos"/>
              </a:rPr>
              <a:t>layout families are combined with varied dense object systems.</a:t>
            </a:r>
          </a:p>
        </p:txBody>
      </p:sp>
      <p:sp>
        <p:nvSpPr>
          <p:cNvPr id="104" name="Oval 103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7ED"/>
                </a:solidFill>
                <a:latin typeface="Aptos"/>
              </a:rPr>
              <a:t>81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F2937"/>
                </a:solidFill>
                <a:latin typeface="Aptos"/>
              </a:rPr>
              <a:t>dense slides are combined with varied dense object systems.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7280"/>
                </a:solidFill>
                <a:latin typeface="Aptos"/>
              </a:rPr>
              <a:t>density layer</a:t>
            </a:r>
          </a:p>
        </p:txBody>
      </p:sp>
      <p:sp>
        <p:nvSpPr>
          <p:cNvPr id="119" name="Oval 118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7ED"/>
                </a:solidFill>
                <a:latin typeface="Aptos"/>
              </a:rPr>
              <a:t>11</a:t>
            </a:r>
          </a:p>
        </p:txBody>
      </p:sp>
      <p:sp>
        <p:nvSpPr>
          <p:cNvPr id="121" name="Oval 120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7ED"/>
                </a:solidFill>
                <a:latin typeface="Aptos"/>
              </a:rPr>
              <a:t>30</a:t>
            </a:r>
          </a:p>
        </p:txBody>
      </p:sp>
      <p:sp>
        <p:nvSpPr>
          <p:cNvPr id="123" name="Oval 122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7ED"/>
                </a:solidFill>
                <a:latin typeface="Aptos"/>
              </a:rPr>
              <a:t>8</a:t>
            </a:r>
          </a:p>
        </p:txBody>
      </p:sp>
      <p:sp>
        <p:nvSpPr>
          <p:cNvPr id="125" name="Oval 124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7ED"/>
                </a:solidFill>
                <a:latin typeface="Aptos"/>
              </a:rPr>
              <a:t>81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STRESS DEMO 07/81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rial"/>
              </a:rPr>
              <a:t>likaku-mck-ppt-design-skill turns .agent into an auditable slide-production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rial"/>
              </a:rPr>
              <a:t>This slide uses the likaku-mck-ppt-design-skill profile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11827"/>
                </a:solidFill>
                <a:latin typeface="Arial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11827"/>
                </a:solidFill>
                <a:latin typeface="Arial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4B5563"/>
                </a:solidFill>
                <a:latin typeface="Arial"/>
              </a:rPr>
              <a:t>Layout family: command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1965960"/>
            <a:ext cx="20574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Arial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rial"/>
              </a:rPr>
              <a:t>objects tracked in a dense control surface.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7832" y="1965960"/>
            <a:ext cx="20574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24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Arial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rial"/>
              </a:rPr>
              <a:t>families tracked in a dense control surface.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1965960"/>
            <a:ext cx="20574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rial"/>
              </a:rPr>
              <a:t>collisions tracked in a dense control surface.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953512"/>
            <a:ext cx="20574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Arial"/>
              </a:rPr>
              <a:t>9pt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rial"/>
              </a:rPr>
              <a:t>floor tracked in a dense control surface.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2953512"/>
            <a:ext cx="20574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24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Arial"/>
              </a:rPr>
              <a:t>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rial"/>
              </a:rPr>
              <a:t>spec tracked in a dense control surface.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42432" y="2953512"/>
            <a:ext cx="20574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070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Arial"/>
              </a:rPr>
              <a:t>PPTX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rial"/>
              </a:rPr>
              <a:t>native tracked in a dense control surface.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195681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4232" y="1956816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78824" y="195681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43416" y="1956816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195681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72600" y="1956816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95681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01784" y="195681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66376" y="1956816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30967" y="1956816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95559" y="195681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49640" y="2121408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14232" y="2121408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78824" y="212140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43416" y="212140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08008" y="2121408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72600" y="212140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37192" y="2121408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01784" y="212140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66376" y="2121408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030967" y="212140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95559" y="212140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49640" y="228600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14232" y="228600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78824" y="228600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43416" y="2286000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08008" y="2286000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72600" y="228600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37192" y="228600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701784" y="2286000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6376" y="228600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30967" y="2286000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95559" y="228600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49640" y="2450592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14232" y="2450592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78824" y="2450592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43416" y="2450592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08008" y="2450592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72600" y="2450592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37192" y="2450592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701784" y="2450592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66376" y="2450592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030967" y="2450592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95559" y="2450592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49640" y="2615184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714232" y="2615184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878824" y="2615184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43416" y="2615184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2615184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72600" y="2615184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37192" y="2615184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01784" y="2615184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66376" y="2615184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30967" y="2615184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195559" y="2615184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49640" y="2779776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14232" y="277977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878824" y="277977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43416" y="2779776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08008" y="2779776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372600" y="277977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537192" y="277977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701784" y="277977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866376" y="2779776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30967" y="277977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195559" y="277977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49640" y="294436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14232" y="2944368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78824" y="294436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43416" y="2944368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208008" y="294436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72600" y="294436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537192" y="2944368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701784" y="2944368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866376" y="294436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30967" y="294436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195559" y="294436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49640" y="310896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14232" y="310896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78824" y="3108960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043416" y="310896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08008" y="3108960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372600" y="310896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537192" y="3108960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01784" y="310896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66376" y="310896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030967" y="3108960"/>
            <a:ext cx="118872" cy="737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195559" y="3108960"/>
            <a:ext cx="118872" cy="737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4041648"/>
            <a:ext cx="932688" cy="932688"/>
          </a:xfrm>
          <a:prstGeom prst="rect">
            <a:avLst/>
          </a:prstGeom>
        </p:spPr>
      </p:pic>
      <p:sp>
        <p:nvSpPr>
          <p:cNvPr id="121" name="Oval 12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827"/>
                </a:solidFill>
                <a:latin typeface="Arial"/>
              </a:rPr>
              <a:t>profile patterns are combined with varied dense object systems.</a:t>
            </a:r>
          </a:p>
        </p:txBody>
      </p:sp>
      <p:sp>
        <p:nvSpPr>
          <p:cNvPr id="124" name="Oval 123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827"/>
                </a:solidFill>
                <a:latin typeface="Arial"/>
              </a:rPr>
              <a:t>style locks are combined with varied dense object systems.</a:t>
            </a:r>
          </a:p>
        </p:txBody>
      </p:sp>
      <p:sp>
        <p:nvSpPr>
          <p:cNvPr id="127" name="Oval 126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827"/>
                </a:solidFill>
                <a:latin typeface="Arial"/>
              </a:rPr>
              <a:t>layout families are combined with varied dense object systems.</a:t>
            </a:r>
          </a:p>
        </p:txBody>
      </p:sp>
      <p:sp>
        <p:nvSpPr>
          <p:cNvPr id="130" name="Oval 129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81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827"/>
                </a:solidFill>
                <a:latin typeface="Arial"/>
              </a:rPr>
              <a:t>dense slides are combined with varied dense object systems.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Arial"/>
              </a:rPr>
              <a:t>density layer</a:t>
            </a:r>
          </a:p>
        </p:txBody>
      </p:sp>
      <p:sp>
        <p:nvSpPr>
          <p:cNvPr id="145" name="Oval 144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47" name="Oval 146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149" name="Oval 148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51" name="Oval 150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81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Arial"/>
              </a:rPr>
              <a:t>STRESS DEMO 08/81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Arial"/>
              </a:rPr>
              <a:t>corazzon-pptx-design-styles turns .agent into an auditable slide-production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rial"/>
              </a:rPr>
              <a:t>This slide uses the corazzon-pptx-design-styles profile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AFAFA"/>
                </a:solidFill>
                <a:latin typeface="Arial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11111"/>
                </a:solidFill>
                <a:latin typeface="Arial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11111"/>
                </a:solidFill>
                <a:latin typeface="Arial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555555"/>
                </a:solidFill>
                <a:latin typeface="Arial"/>
              </a:rPr>
              <a:t>Layout family: lane weave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01952"/>
            <a:ext cx="1005840" cy="347472"/>
          </a:xfrm>
          <a:prstGeom prst="round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02082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90195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202082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111"/>
                </a:solidFill>
                <a:latin typeface="Arial"/>
              </a:rPr>
              <a:t>source handoff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190195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9352" y="202082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111"/>
                </a:solidFill>
                <a:latin typeface="Arial"/>
              </a:rPr>
              <a:t>source handoff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90195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35240" y="190195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2450592"/>
            <a:ext cx="1005840" cy="347472"/>
          </a:xfrm>
          <a:prstGeom prst="round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56946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style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245059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256946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111"/>
                </a:solidFill>
                <a:latin typeface="Arial"/>
              </a:rPr>
              <a:t>style handoff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245059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9352" y="256946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111"/>
                </a:solidFill>
                <a:latin typeface="Arial"/>
              </a:rPr>
              <a:t>style handoff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245059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35240" y="245059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2999232"/>
            <a:ext cx="1005840" cy="347472"/>
          </a:xfrm>
          <a:prstGeom prst="round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11810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layout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299923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311810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111"/>
                </a:solidFill>
                <a:latin typeface="Arial"/>
              </a:rPr>
              <a:t>layout handoff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200" y="299923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311810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111"/>
                </a:solidFill>
                <a:latin typeface="Arial"/>
              </a:rPr>
              <a:t>layout handoff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299923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35240" y="299923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" y="3547872"/>
            <a:ext cx="1005840" cy="347472"/>
          </a:xfrm>
          <a:prstGeom prst="round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66674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assets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354787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4832" y="366674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111"/>
                </a:solidFill>
                <a:latin typeface="Arial"/>
              </a:rPr>
              <a:t>assets handoff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6200" y="354787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9352" y="366674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111"/>
                </a:solidFill>
                <a:latin typeface="Arial"/>
              </a:rPr>
              <a:t>assets handoff 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354787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635240" y="354787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096512"/>
            <a:ext cx="1005840" cy="347472"/>
          </a:xfrm>
          <a:prstGeom prst="round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21538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audit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11680" y="409651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84832" y="421538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111"/>
                </a:solidFill>
                <a:latin typeface="Arial"/>
              </a:rPr>
              <a:t>audit handoff 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86200" y="409651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9352" y="421538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111"/>
                </a:solidFill>
                <a:latin typeface="Arial"/>
              </a:rPr>
              <a:t>audit handoff 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60720" y="409651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635240" y="409651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029968"/>
            <a:ext cx="960120" cy="960120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111"/>
                </a:solidFill>
                <a:latin typeface="Arial"/>
              </a:rPr>
              <a:t>profile patterns are combined with varied dense object systems.</a:t>
            </a:r>
          </a:p>
        </p:txBody>
      </p:sp>
      <p:sp>
        <p:nvSpPr>
          <p:cNvPr id="58" name="Oval 57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111"/>
                </a:solidFill>
                <a:latin typeface="Arial"/>
              </a:rPr>
              <a:t>style locks are combined with varied dense object systems.</a:t>
            </a:r>
          </a:p>
        </p:txBody>
      </p:sp>
      <p:sp>
        <p:nvSpPr>
          <p:cNvPr id="61" name="Oval 60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111"/>
                </a:solidFill>
                <a:latin typeface="Arial"/>
              </a:rPr>
              <a:t>layout families are combined with varied dense object systems.</a:t>
            </a:r>
          </a:p>
        </p:txBody>
      </p:sp>
      <p:sp>
        <p:nvSpPr>
          <p:cNvPr id="64" name="Oval 63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111"/>
                </a:solidFill>
                <a:latin typeface="Arial"/>
              </a:rPr>
              <a:t>dense slides are combined with varied dense object systems.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55555"/>
                </a:solidFill>
                <a:latin typeface="Arial"/>
              </a:rPr>
              <a:t>density layer</a:t>
            </a:r>
          </a:p>
        </p:txBody>
      </p:sp>
      <p:sp>
        <p:nvSpPr>
          <p:cNvPr id="79" name="Oval 78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11</a:t>
            </a:r>
          </a:p>
        </p:txBody>
      </p:sp>
      <p:sp>
        <p:nvSpPr>
          <p:cNvPr id="81" name="Oval 80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30</a:t>
            </a:r>
          </a:p>
        </p:txBody>
      </p:sp>
      <p:sp>
        <p:nvSpPr>
          <p:cNvPr id="83" name="Oval 8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8</a:t>
            </a:r>
          </a:p>
        </p:txBody>
      </p:sp>
      <p:sp>
        <p:nvSpPr>
          <p:cNvPr id="85" name="Oval 84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81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STRESS DEMO 09/81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pptwork-oh-my-slides turns .agent into an auditable slide-production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72554"/>
                </a:solidFill>
                <a:latin typeface="Aptos"/>
              </a:rPr>
              <a:t>This slide uses the pptwork-oh-my-slides profile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EFF6FF"/>
                </a:solidFill>
                <a:latin typeface="Aptos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72554"/>
                </a:solidFill>
                <a:latin typeface="Aptos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72554"/>
                </a:solidFill>
                <a:latin typeface="Aptos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475569"/>
                </a:solidFill>
                <a:latin typeface="Aptos"/>
              </a:rPr>
              <a:t>Layout family: editorial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29968"/>
            <a:ext cx="4800600" cy="2514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31136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2194560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72554"/>
                </a:solidFill>
                <a:latin typeface="Aptos"/>
              </a:rPr>
              <a:t>Html Source is represented as an editable, source-traceable slide object.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724912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72554"/>
                </a:solidFill>
                <a:latin typeface="Aptos"/>
              </a:rPr>
              <a:t>Preview is represented as an editable, source-traceable slide object.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91839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255263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72554"/>
                </a:solidFill>
                <a:latin typeface="Aptos"/>
              </a:rPr>
              <a:t>Raster Fidelity is represented as an editable, source-traceable slide object.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822191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785615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72554"/>
                </a:solidFill>
                <a:latin typeface="Aptos"/>
              </a:rPr>
              <a:t>Editable Pptx is represented as an editable, source-traceable slide object.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938528"/>
            <a:ext cx="2606040" cy="2697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286000"/>
            <a:ext cx="1572768" cy="15727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53328" y="4096512"/>
            <a:ext cx="205740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EFF6FF"/>
                </a:solidFill>
                <a:latin typeface="Aptos"/>
              </a:rPr>
              <a:t>GPT image infographic.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1993392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7424" y="1993392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9448" y="1993392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91472" y="1993392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83496" y="1993392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1993392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67544" y="1993392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59568" y="1993392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51592" y="1993392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218541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07424" y="218541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99448" y="2185416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91472" y="218541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83496" y="2185416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75520" y="218541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67544" y="2185416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59568" y="218541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51592" y="218541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15400" y="2377440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7424" y="2377440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99448" y="2377440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91472" y="2377440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83496" y="2377440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0" y="2377440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67544" y="2377440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59568" y="2377440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51592" y="2377440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15400" y="2569464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07424" y="2569464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99448" y="2569464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91472" y="2569464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83496" y="2569464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75520" y="2569464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67544" y="2569464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59568" y="2569464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51592" y="2569464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15400" y="2761488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07424" y="2761488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99448" y="2761488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91472" y="2761488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83496" y="2761488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875520" y="2761488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7544" y="2761488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59568" y="2761488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51592" y="2761488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15400" y="2953512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07424" y="2953512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99448" y="2953512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91472" y="2953512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83496" y="2953512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875520" y="2953512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067544" y="2953512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59568" y="2953512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451592" y="2953512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15400" y="314553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07424" y="3145536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99448" y="314553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91472" y="314553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683496" y="3145536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875520" y="3145536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67544" y="314553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259568" y="314553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451592" y="3145536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915400" y="3337560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07424" y="3337560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99448" y="3337560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491472" y="3337560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683496" y="3337560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875520" y="3337560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67544" y="3337560"/>
            <a:ext cx="146304" cy="907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259568" y="3337560"/>
            <a:ext cx="146304" cy="907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451592" y="3337560"/>
            <a:ext cx="146304" cy="9070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72554"/>
                </a:solidFill>
                <a:latin typeface="Aptos"/>
              </a:rPr>
              <a:t>profile patterns are combined with varied dense object systems.</a:t>
            </a:r>
          </a:p>
        </p:txBody>
      </p:sp>
      <p:sp>
        <p:nvSpPr>
          <p:cNvPr id="101" name="Oval 100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72554"/>
                </a:solidFill>
                <a:latin typeface="Aptos"/>
              </a:rPr>
              <a:t>style locks are combined with varied dense object systems.</a:t>
            </a:r>
          </a:p>
        </p:txBody>
      </p:sp>
      <p:sp>
        <p:nvSpPr>
          <p:cNvPr id="104" name="Oval 103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72554"/>
                </a:solidFill>
                <a:latin typeface="Aptos"/>
              </a:rPr>
              <a:t>layout families are combined with varied dense object systems.</a:t>
            </a:r>
          </a:p>
        </p:txBody>
      </p:sp>
      <p:sp>
        <p:nvSpPr>
          <p:cNvPr id="107" name="Oval 10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81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72554"/>
                </a:solidFill>
                <a:latin typeface="Aptos"/>
              </a:rPr>
              <a:t>dense slides are combined with varied dense object systems.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Aptos"/>
              </a:rPr>
              <a:t>density layer</a:t>
            </a:r>
          </a:p>
        </p:txBody>
      </p:sp>
      <p:sp>
        <p:nvSpPr>
          <p:cNvPr id="122" name="Oval 121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11</a:t>
            </a:r>
          </a:p>
        </p:txBody>
      </p:sp>
      <p:sp>
        <p:nvSpPr>
          <p:cNvPr id="124" name="Oval 123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30</a:t>
            </a:r>
          </a:p>
        </p:txBody>
      </p:sp>
      <p:sp>
        <p:nvSpPr>
          <p:cNvPr id="126" name="Oval 125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8</a:t>
            </a:r>
          </a:p>
        </p:txBody>
      </p:sp>
      <p:sp>
        <p:nvSpPr>
          <p:cNvPr id="128" name="Oval 127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81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Consolas"/>
              </a:rPr>
              <a:t>STRESS DEMO 10/81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onsolas"/>
              </a:rPr>
              <a:t>erickittelson-slidemason turns .agent into an auditable slide-production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onsolas"/>
              </a:rPr>
              <a:t>This slide uses the erickittelson-slidemason profile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8FAFC"/>
                </a:solidFill>
                <a:latin typeface="Consolas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F172A"/>
                </a:solidFill>
                <a:latin typeface="Consolas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F172A"/>
                </a:solidFill>
                <a:latin typeface="Consolas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475569"/>
                </a:solidFill>
                <a:latin typeface="Consolas"/>
              </a:rPr>
              <a:t>Layout family: bento overload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993392"/>
            <a:ext cx="2834640" cy="11704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157984"/>
            <a:ext cx="254203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1">
                <a:solidFill>
                  <a:srgbClr val="F8FAFC"/>
                </a:solidFill>
                <a:latin typeface="Consolas"/>
              </a:rPr>
              <a:t>Card is represented as an editable, source-traceable slide object.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1993392"/>
            <a:ext cx="1965960" cy="11704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8184" y="2157984"/>
            <a:ext cx="1673351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Consolas"/>
              </a:rPr>
              <a:t>Text is represented as an editable, source-traceable slide object.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1993392"/>
            <a:ext cx="2697480" cy="1874519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2157984"/>
            <a:ext cx="240487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1">
                <a:solidFill>
                  <a:srgbClr val="0F172A"/>
                </a:solidFill>
                <a:latin typeface="Consolas"/>
              </a:rPr>
              <a:t>Line is represented as an editable, source-traceable slide object.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83280"/>
            <a:ext cx="20116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547872"/>
            <a:ext cx="171907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Consolas"/>
              </a:rPr>
              <a:t>Image is represented as an editable, source-traceable slide object.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383280"/>
            <a:ext cx="278892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35224" y="3547872"/>
            <a:ext cx="249631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Consolas"/>
              </a:rPr>
              <a:t>Manual Coordinates is represented as an editable, source-traceable slide object.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993392"/>
            <a:ext cx="2057400" cy="27066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8824" y="2157984"/>
            <a:ext cx="176479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Consolas"/>
              </a:rPr>
              <a:t>Card is represented as an editable, source-traceable slide object.</a:t>
            </a:r>
          </a:p>
        </p:txBody>
      </p:sp>
      <p:pic>
        <p:nvPicPr>
          <p:cNvPr id="26" name="Picture 25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816352"/>
            <a:ext cx="914400" cy="9144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Consolas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F172A"/>
                </a:solidFill>
                <a:latin typeface="Consolas"/>
              </a:rPr>
              <a:t>profile patterns are combined with varied dense object systems.</a:t>
            </a:r>
          </a:p>
        </p:txBody>
      </p:sp>
      <p:sp>
        <p:nvSpPr>
          <p:cNvPr id="30" name="Oval 29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Consolas"/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F172A"/>
                </a:solidFill>
                <a:latin typeface="Consolas"/>
              </a:rPr>
              <a:t>style locks are combined with varied dense object systems.</a:t>
            </a:r>
          </a:p>
        </p:txBody>
      </p:sp>
      <p:sp>
        <p:nvSpPr>
          <p:cNvPr id="33" name="Oval 3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Consola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F172A"/>
                </a:solidFill>
                <a:latin typeface="Consolas"/>
              </a:rPr>
              <a:t>layout families are combined with varied dense object systems.</a:t>
            </a:r>
          </a:p>
        </p:txBody>
      </p:sp>
      <p:sp>
        <p:nvSpPr>
          <p:cNvPr id="36" name="Oval 35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Consolas"/>
              </a:rPr>
              <a:t>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F172A"/>
                </a:solidFill>
                <a:latin typeface="Consolas"/>
              </a:rPr>
              <a:t>dense slides are combined with varied dense object systems.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Consolas"/>
              </a:rPr>
              <a:t>density layer</a:t>
            </a:r>
          </a:p>
        </p:txBody>
      </p:sp>
      <p:sp>
        <p:nvSpPr>
          <p:cNvPr id="51" name="Oval 5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Consolas"/>
              </a:rPr>
              <a:t>11</a:t>
            </a:r>
          </a:p>
        </p:txBody>
      </p:sp>
      <p:sp>
        <p:nvSpPr>
          <p:cNvPr id="53" name="Oval 52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Consolas"/>
              </a:rPr>
              <a:t>30</a:t>
            </a:r>
          </a:p>
        </p:txBody>
      </p:sp>
      <p:sp>
        <p:nvSpPr>
          <p:cNvPr id="55" name="Oval 54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Consolas"/>
              </a:rPr>
              <a:t>8</a:t>
            </a:r>
          </a:p>
        </p:txBody>
      </p:sp>
      <p:sp>
        <p:nvSpPr>
          <p:cNvPr id="57" name="Oval 5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Consolas"/>
              </a:rPr>
              <a:t>81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onsolas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6B5A46"/>
                </a:solidFill>
                <a:latin typeface="Georgia"/>
              </a:rPr>
              <a:t>STRESS DEMO 11/81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2E2418"/>
                </a:solidFill>
                <a:latin typeface="Georgia"/>
              </a:rPr>
              <a:t>gabberflast-academic-pptx-skill turns .agent into an auditable slide-production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2E2418"/>
                </a:solidFill>
                <a:latin typeface="Georgia"/>
              </a:rPr>
              <a:t>This slide uses the gabberflast-academic-pptx-skill profile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BEB"/>
                </a:solidFill>
                <a:latin typeface="Georgia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2E2418"/>
                </a:solidFill>
                <a:latin typeface="Georgia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2E2418"/>
                </a:solidFill>
                <a:latin typeface="Georgia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6B5A46"/>
                </a:solidFill>
                <a:latin typeface="Georgia"/>
              </a:rPr>
              <a:t>Layout family: radial control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1664207" y="2377440"/>
            <a:ext cx="3474721" cy="896112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97280" y="2148840"/>
            <a:ext cx="1143000" cy="45720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229514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Ghost Deck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3447288" y="1947672"/>
            <a:ext cx="1691640" cy="1325880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1719072"/>
            <a:ext cx="1143000" cy="457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18653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Evidence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138928" y="1947672"/>
            <a:ext cx="2148840" cy="1325880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0840" y="1719072"/>
            <a:ext cx="1143000" cy="45720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18653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One Exhibit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138928" y="2560320"/>
            <a:ext cx="3977639" cy="713232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49640" y="2331720"/>
            <a:ext cx="1143000" cy="457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247802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Decision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38928" y="3273552"/>
            <a:ext cx="3154679" cy="1271016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26679" y="4315968"/>
            <a:ext cx="1143000" cy="45720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4462272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Owner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310128" y="3273552"/>
            <a:ext cx="1828800" cy="1572768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743200" y="4617720"/>
            <a:ext cx="1143000" cy="457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476402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Ghost Deck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527048" y="3273552"/>
            <a:ext cx="3611880" cy="795528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0120" y="3840480"/>
            <a:ext cx="1143000" cy="45720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" y="398678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Evidence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2615184"/>
            <a:ext cx="1316736" cy="1316736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054096"/>
            <a:ext cx="768096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50" b="1">
                <a:solidFill>
                  <a:srgbClr val="FFFBEB"/>
                </a:solidFill>
                <a:latin typeface="Georgia"/>
              </a:rPr>
              <a:t>style
lock</a:t>
            </a:r>
          </a:p>
        </p:txBody>
      </p:sp>
      <p:pic>
        <p:nvPicPr>
          <p:cNvPr id="37" name="Picture 36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407408"/>
            <a:ext cx="868680" cy="86868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BEB"/>
                </a:solidFill>
                <a:latin typeface="Georgia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E2418"/>
                </a:solidFill>
                <a:latin typeface="Georgia"/>
              </a:rPr>
              <a:t>profile patterns are combined with varied dense object systems.</a:t>
            </a:r>
          </a:p>
        </p:txBody>
      </p:sp>
      <p:sp>
        <p:nvSpPr>
          <p:cNvPr id="41" name="Oval 40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BEB"/>
                </a:solidFill>
                <a:latin typeface="Georgia"/>
              </a:rPr>
              <a:t>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E2418"/>
                </a:solidFill>
                <a:latin typeface="Georgia"/>
              </a:rPr>
              <a:t>style locks are combined with varied dense object systems.</a:t>
            </a:r>
          </a:p>
        </p:txBody>
      </p:sp>
      <p:sp>
        <p:nvSpPr>
          <p:cNvPr id="44" name="Oval 43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BEB"/>
                </a:solidFill>
                <a:latin typeface="Georgia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E2418"/>
                </a:solidFill>
                <a:latin typeface="Georgia"/>
              </a:rPr>
              <a:t>layout families are combined with varied dense object systems.</a:t>
            </a:r>
          </a:p>
        </p:txBody>
      </p:sp>
      <p:sp>
        <p:nvSpPr>
          <p:cNvPr id="47" name="Oval 46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BEB"/>
                </a:solidFill>
                <a:latin typeface="Georgia"/>
              </a:rPr>
              <a:t>81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E2418"/>
                </a:solidFill>
                <a:latin typeface="Georgia"/>
              </a:rPr>
              <a:t>dense slides are combined with varied dense object systems.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5A46"/>
                </a:solidFill>
                <a:latin typeface="Georgia"/>
              </a:rPr>
              <a:t>density layer</a:t>
            </a:r>
          </a:p>
        </p:txBody>
      </p:sp>
      <p:sp>
        <p:nvSpPr>
          <p:cNvPr id="62" name="Oval 61"/>
          <p:cNvSpPr/>
          <p:nvPr/>
        </p:nvSpPr>
        <p:spPr>
          <a:xfrm>
            <a:off x="4480560" y="2615184"/>
            <a:ext cx="1316736" cy="1316736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4880" y="3054096"/>
            <a:ext cx="768096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50" b="1">
                <a:solidFill>
                  <a:srgbClr val="FFFBEB"/>
                </a:solidFill>
                <a:latin typeface="Georgia"/>
              </a:rPr>
              <a:t>style
lock</a:t>
            </a:r>
          </a:p>
        </p:txBody>
      </p:sp>
      <p:sp>
        <p:nvSpPr>
          <p:cNvPr id="64" name="Oval 63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BEB"/>
                </a:solidFill>
                <a:latin typeface="Georgia"/>
              </a:rPr>
              <a:t>11</a:t>
            </a:r>
          </a:p>
        </p:txBody>
      </p:sp>
      <p:sp>
        <p:nvSpPr>
          <p:cNvPr id="66" name="Oval 65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BEB"/>
                </a:solidFill>
                <a:latin typeface="Georgia"/>
              </a:rPr>
              <a:t>30</a:t>
            </a:r>
          </a:p>
        </p:txBody>
      </p:sp>
      <p:sp>
        <p:nvSpPr>
          <p:cNvPr id="68" name="Oval 67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BEB"/>
                </a:solidFill>
                <a:latin typeface="Georgia"/>
              </a:rPr>
              <a:t>8</a:t>
            </a:r>
          </a:p>
        </p:txBody>
      </p:sp>
      <p:sp>
        <p:nvSpPr>
          <p:cNvPr id="70" name="Oval 69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BEB"/>
                </a:solidFill>
                <a:latin typeface="Georgia"/>
              </a:rPr>
              <a:t>81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B5A46"/>
                </a:solidFill>
                <a:latin typeface="Georgia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D7D4FF"/>
                </a:solidFill>
                <a:latin typeface="Segoe UI"/>
              </a:rPr>
              <a:t>STRESS DEMO 12/81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Glassmorphism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This slide uses the Glassmorphism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1A1A4E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D7D4FF"/>
                </a:solidFill>
                <a:latin typeface="Segoe UI"/>
              </a:rPr>
              <a:t>Layout family: timeline 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029968"/>
            <a:ext cx="91440" cy="288036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" y="2011680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30552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75688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Segoe UI"/>
              </a:rPr>
              <a:t>Palette lock is visible in native fills, borders, and accent primitives.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2578608"/>
            <a:ext cx="438912" cy="438912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97480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642616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Segoe UI"/>
              </a:rPr>
              <a:t>Typography and hierarchy are intentionally varied without rasterizing text.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3145536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64408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209544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Segoe UI"/>
              </a:rPr>
              <a:t>Signature motifs remain editable while the exhibit image stays cited.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3712464"/>
            <a:ext cx="438912" cy="438912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31336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3776472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Segoe UI"/>
              </a:rPr>
              <a:t>Dense object stacks test agent repair on crowded but readable layouts.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" y="4279392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98264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343400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Segoe UI"/>
              </a:rPr>
              <a:t>Audit metadata records the design decision separately from the PPTX file.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96128" y="2057400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720" y="205740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25312" y="205740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9904" y="2057400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54496" y="2057400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19088" y="205740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205740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48272" y="205740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12864" y="2057400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77456" y="205740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42048" y="205740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06640" y="205740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71232" y="2057400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35824" y="2057400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96128" y="222199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720" y="2221992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25312" y="222199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9904" y="2221992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54496" y="222199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19088" y="222199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0" y="2221992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48272" y="2221992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12864" y="222199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77456" y="222199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42048" y="222199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06640" y="2221992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71232" y="222199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35824" y="222199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96128" y="238658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60720" y="238658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25312" y="2386584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89904" y="238658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54496" y="2386584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19088" y="238658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0" y="2386584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48272" y="238658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12864" y="238658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77456" y="2386584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242048" y="2386584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06640" y="238658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71232" y="238658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35824" y="238658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596128" y="255117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760720" y="2551176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25312" y="2551176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89904" y="255117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54496" y="255117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19088" y="2551176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3680" y="255117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48272" y="2551176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12864" y="255117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77456" y="2551176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42048" y="255117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06640" y="255117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71232" y="2551176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35824" y="2551176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596128" y="2715768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760720" y="2715768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925312" y="2715768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89904" y="2715768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54496" y="2715768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419088" y="2715768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583680" y="2715768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748272" y="2715768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12864" y="2715768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077456" y="2715768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242048" y="2715768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406640" y="2715768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71232" y="2715768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35824" y="2715768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596128" y="288036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288036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25312" y="288036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089904" y="2880360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254496" y="288036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19088" y="288036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83680" y="288036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748272" y="2880360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912864" y="2880360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077456" y="288036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242048" y="288036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406640" y="2880360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571232" y="2880360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735824" y="2880360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596128" y="304495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760720" y="3044952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25312" y="3044952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89904" y="304495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54496" y="304495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19088" y="304495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83680" y="3044952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748272" y="304495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912864" y="304495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077456" y="304495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242048" y="3044952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406640" y="3044952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571232" y="304495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735824" y="3044952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596128" y="320954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760720" y="3209544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925312" y="320954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089904" y="320954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254496" y="3209544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419088" y="3209544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83680" y="320954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748272" y="320954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912864" y="320954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077456" y="3209544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242048" y="320954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406640" y="320954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571232" y="3209544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735824" y="3209544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596128" y="3374136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760720" y="337413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925312" y="3374136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089904" y="337413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254496" y="3374136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419088" y="337413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583680" y="337413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748272" y="3374136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912864" y="3374136"/>
            <a:ext cx="118872" cy="7370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077456" y="337413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242048" y="337413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406640" y="337413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571232" y="3374136"/>
            <a:ext cx="118872" cy="7370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735824" y="3374136"/>
            <a:ext cx="118872" cy="73700"/>
          </a:xfrm>
          <a:prstGeom prst="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Picture 155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2084831"/>
            <a:ext cx="1234440" cy="1234440"/>
          </a:xfrm>
          <a:prstGeom prst="rect">
            <a:avLst/>
          </a:prstGeom>
        </p:spPr>
      </p:pic>
      <p:sp>
        <p:nvSpPr>
          <p:cNvPr id="157" name="Oval 156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Segoe UI"/>
              </a:rPr>
              <a:t>profile patterns are combined with varied dense object systems.</a:t>
            </a:r>
          </a:p>
        </p:txBody>
      </p:sp>
      <p:sp>
        <p:nvSpPr>
          <p:cNvPr id="160" name="Oval 159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Segoe UI"/>
              </a:rPr>
              <a:t>style locks are combined with varied dense object systems.</a:t>
            </a:r>
          </a:p>
        </p:txBody>
      </p:sp>
      <p:sp>
        <p:nvSpPr>
          <p:cNvPr id="163" name="Oval 16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Segoe UI"/>
              </a:rPr>
              <a:t>layout families are combined with varied dense object systems.</a:t>
            </a:r>
          </a:p>
        </p:txBody>
      </p:sp>
      <p:sp>
        <p:nvSpPr>
          <p:cNvPr id="166" name="Oval 165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81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Segoe UI"/>
              </a:rPr>
              <a:t>dense slides are combined with varied dense object systems.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1A1A4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D7D4FF"/>
                </a:solidFill>
                <a:latin typeface="Segoe UI"/>
              </a:rPr>
              <a:t>density layer</a:t>
            </a:r>
          </a:p>
        </p:txBody>
      </p:sp>
      <p:sp>
        <p:nvSpPr>
          <p:cNvPr id="181" name="Oval 180"/>
          <p:cNvSpPr/>
          <p:nvPr/>
        </p:nvSpPr>
        <p:spPr>
          <a:xfrm>
            <a:off x="566928" y="2011680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85800" y="2130552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83" name="Oval 182"/>
          <p:cNvSpPr/>
          <p:nvPr/>
        </p:nvSpPr>
        <p:spPr>
          <a:xfrm>
            <a:off x="566928" y="2578608"/>
            <a:ext cx="438912" cy="438912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85800" y="2697480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5" name="Oval 184"/>
          <p:cNvSpPr/>
          <p:nvPr/>
        </p:nvSpPr>
        <p:spPr>
          <a:xfrm>
            <a:off x="566928" y="3145536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85800" y="3264408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7" name="Oval 186"/>
          <p:cNvSpPr/>
          <p:nvPr/>
        </p:nvSpPr>
        <p:spPr>
          <a:xfrm>
            <a:off x="566928" y="3712464"/>
            <a:ext cx="438912" cy="438912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85800" y="3831336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9" name="Oval 188"/>
          <p:cNvSpPr/>
          <p:nvPr/>
        </p:nvSpPr>
        <p:spPr>
          <a:xfrm>
            <a:off x="566928" y="4279392"/>
            <a:ext cx="438912" cy="43891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5800" y="4398264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91" name="Oval 19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193" name="Oval 192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  <p:sp>
        <p:nvSpPr>
          <p:cNvPr id="195" name="Oval 194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97" name="Oval 19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81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D7D4FF"/>
                </a:solidFill>
                <a:latin typeface="Segoe UI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232323"/>
                </a:solidFill>
                <a:latin typeface="Arial Black"/>
              </a:rPr>
              <a:t>STRESS DEMO 13/81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 Black"/>
              </a:rPr>
              <a:t>Neo-Brutalism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 Black"/>
              </a:rPr>
              <a:t>This slide uses the Neo-Brutalism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00000"/>
                </a:solidFill>
                <a:latin typeface="Arial Black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0000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00000"/>
                </a:solidFill>
                <a:latin typeface="Arial Black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5F500"/>
          </a:solidFill>
          <a:ln w="1270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00000"/>
                </a:solidFill>
                <a:latin typeface="Arial Black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232323"/>
                </a:solidFill>
                <a:latin typeface="Arial Black"/>
              </a:rPr>
              <a:t>Layout family: layered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1965960"/>
            <a:ext cx="6217920" cy="384048"/>
          </a:xfrm>
          <a:prstGeom prst="rect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07568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000000"/>
                </a:solidFill>
                <a:latin typeface="Arial Black"/>
              </a:rPr>
              <a:t>Palette lock is visible in native fills, borders, and accent primitives.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" y="2468880"/>
            <a:ext cx="5870448" cy="384048"/>
          </a:xfrm>
          <a:prstGeom prst="rect">
            <a:avLst/>
          </a:prstGeom>
          <a:solidFill>
            <a:srgbClr val="F5F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5" y="257860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000000"/>
                </a:solidFill>
                <a:latin typeface="Arial Black"/>
              </a:rPr>
              <a:t>Typography and hierarchy are intentionally varied without rasterizing 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971800"/>
            <a:ext cx="5522976" cy="384048"/>
          </a:xfrm>
          <a:prstGeom prst="rect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308152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000000"/>
                </a:solidFill>
                <a:latin typeface="Arial Black"/>
              </a:rPr>
              <a:t>Signature motifs remain editable while the exhibit image stays cited.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82495" y="3474720"/>
            <a:ext cx="5175504" cy="384048"/>
          </a:xfrm>
          <a:prstGeom prst="rect">
            <a:avLst/>
          </a:prstGeom>
          <a:solidFill>
            <a:srgbClr val="F5F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47088" y="358444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000000"/>
                </a:solidFill>
                <a:latin typeface="Arial Black"/>
              </a:rPr>
              <a:t>Dense object stacks test agent repair on crowded but readable layouts.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3392" y="3977639"/>
            <a:ext cx="4828031" cy="384048"/>
          </a:xfrm>
          <a:prstGeom prst="rect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57984" y="408736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000000"/>
                </a:solidFill>
                <a:latin typeface="Arial Black"/>
              </a:rPr>
              <a:t>Audit metadata records the design decision separately from the PPTX 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54112" y="2011680"/>
            <a:ext cx="914400" cy="310896"/>
          </a:xfrm>
          <a:prstGeom prst="rect">
            <a:avLst/>
          </a:prstGeom>
          <a:solidFill>
            <a:srgbClr val="F5F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2112264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00000"/>
                </a:solidFill>
                <a:latin typeface="Arial Black"/>
              </a:rPr>
              <a:t>check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2011680"/>
            <a:ext cx="914400" cy="310896"/>
          </a:xfrm>
          <a:prstGeom prst="rect">
            <a:avLst/>
          </a:prstGeom>
          <a:solidFill>
            <a:srgbClr val="F5F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112264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00000"/>
                </a:solidFill>
                <a:latin typeface="Arial Black"/>
              </a:rPr>
              <a:t>check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2542032"/>
            <a:ext cx="914400" cy="310896"/>
          </a:xfrm>
          <a:prstGeom prst="rect">
            <a:avLst/>
          </a:prstGeom>
          <a:solidFill>
            <a:srgbClr val="F5F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2642616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00000"/>
                </a:solidFill>
                <a:latin typeface="Arial Black"/>
              </a:rPr>
              <a:t>check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9408" y="2542032"/>
            <a:ext cx="914400" cy="310896"/>
          </a:xfrm>
          <a:prstGeom prst="rect">
            <a:avLst/>
          </a:prstGeom>
          <a:solidFill>
            <a:srgbClr val="F5F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642616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00000"/>
                </a:solidFill>
                <a:latin typeface="Arial Black"/>
              </a:rPr>
              <a:t>check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4112" y="3072384"/>
            <a:ext cx="914400" cy="310896"/>
          </a:xfrm>
          <a:prstGeom prst="rect">
            <a:avLst/>
          </a:prstGeom>
          <a:solidFill>
            <a:srgbClr val="F5F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3172968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00000"/>
                </a:solidFill>
                <a:latin typeface="Arial Black"/>
              </a:rPr>
              <a:t>check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9408" y="3072384"/>
            <a:ext cx="914400" cy="310896"/>
          </a:xfrm>
          <a:prstGeom prst="rect">
            <a:avLst/>
          </a:prstGeom>
          <a:solidFill>
            <a:srgbClr val="F5F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0848" y="3172968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00000"/>
                </a:solidFill>
                <a:latin typeface="Arial Black"/>
              </a:rPr>
              <a:t>check 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54112" y="3602736"/>
            <a:ext cx="914400" cy="310896"/>
          </a:xfrm>
          <a:prstGeom prst="rect">
            <a:avLst/>
          </a:prstGeom>
          <a:solidFill>
            <a:srgbClr val="F5F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3703320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00000"/>
                </a:solidFill>
                <a:latin typeface="Arial Black"/>
              </a:rPr>
              <a:t>check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79408" y="3602736"/>
            <a:ext cx="914400" cy="310896"/>
          </a:xfrm>
          <a:prstGeom prst="rect">
            <a:avLst/>
          </a:prstGeom>
          <a:solidFill>
            <a:srgbClr val="F5F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3703320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00000"/>
                </a:solidFill>
                <a:latin typeface="Arial Black"/>
              </a:rPr>
              <a:t>check 8</a:t>
            </a:r>
          </a:p>
        </p:txBody>
      </p:sp>
      <p:pic>
        <p:nvPicPr>
          <p:cNvPr id="40" name="Picture 39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0"/>
            <a:ext cx="804672" cy="804672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0000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00000"/>
                </a:solidFill>
                <a:latin typeface="Arial Black"/>
              </a:rPr>
              <a:t>profile patterns are combined with varied dense object systems.</a:t>
            </a:r>
          </a:p>
        </p:txBody>
      </p:sp>
      <p:sp>
        <p:nvSpPr>
          <p:cNvPr id="44" name="Oval 43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00000"/>
                </a:solidFill>
                <a:latin typeface="Arial Black"/>
              </a:rPr>
              <a:t>style locks are combined with varied dense object systems.</a:t>
            </a:r>
          </a:p>
        </p:txBody>
      </p:sp>
      <p:sp>
        <p:nvSpPr>
          <p:cNvPr id="47" name="Oval 46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0000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00000"/>
                </a:solidFill>
                <a:latin typeface="Arial Black"/>
              </a:rPr>
              <a:t>layout families are combined with varied dense object systems.</a:t>
            </a:r>
          </a:p>
        </p:txBody>
      </p:sp>
      <p:sp>
        <p:nvSpPr>
          <p:cNvPr id="50" name="Oval 49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00000"/>
                </a:solidFill>
                <a:latin typeface="Arial Black"/>
              </a:rPr>
              <a:t>dense slides are combined with varied dense object systems.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5F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232323"/>
                </a:solidFill>
                <a:latin typeface="Arial Black"/>
              </a:rPr>
              <a:t>density layer</a:t>
            </a:r>
          </a:p>
        </p:txBody>
      </p:sp>
      <p:sp>
        <p:nvSpPr>
          <p:cNvPr id="65" name="Oval 64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0000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11</a:t>
            </a:r>
          </a:p>
        </p:txBody>
      </p:sp>
      <p:sp>
        <p:nvSpPr>
          <p:cNvPr id="67" name="Oval 66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30</a:t>
            </a:r>
          </a:p>
        </p:txBody>
      </p:sp>
      <p:sp>
        <p:nvSpPr>
          <p:cNvPr id="69" name="Oval 68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0000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8</a:t>
            </a:r>
          </a:p>
        </p:txBody>
      </p:sp>
      <p:sp>
        <p:nvSpPr>
          <p:cNvPr id="71" name="Oval 70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FF2D5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81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232323"/>
                </a:solidFill>
                <a:latin typeface="Arial Black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424255"/>
                </a:solidFill>
                <a:latin typeface="Aptos"/>
              </a:rPr>
              <a:t>STRESS DEMO 14/81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Bento Grid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Aptos"/>
              </a:rPr>
              <a:t>This slide uses the Bento Grid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8F8F2"/>
                </a:solidFill>
                <a:latin typeface="Aptos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A1A2E"/>
                </a:solidFill>
                <a:latin typeface="Aptos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8F8F2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A1A2E"/>
                </a:solidFill>
                <a:latin typeface="Aptos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424255"/>
                </a:solidFill>
                <a:latin typeface="Aptos"/>
              </a:rPr>
              <a:t>Layout family: magazine collage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01952"/>
            <a:ext cx="5120640" cy="5029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2200" b="1">
                <a:solidFill>
                  <a:srgbClr val="4ECDC4"/>
                </a:solidFill>
                <a:latin typeface="Aptos"/>
              </a:rPr>
              <a:t>BENTO GRID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88920"/>
            <a:ext cx="2578608" cy="640080"/>
          </a:xfrm>
          <a:prstGeom prst="round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907791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2E"/>
                </a:solidFill>
                <a:latin typeface="Aptos"/>
              </a:rPr>
              <a:t>Palette lock is visible in native fills, borders, and accent primitives.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21608" y="2788920"/>
            <a:ext cx="2578608" cy="640080"/>
          </a:xfrm>
          <a:prstGeom prst="round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2907791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2E"/>
                </a:solidFill>
                <a:latin typeface="Aptos"/>
              </a:rPr>
              <a:t>Typography and hierarchy are intentionally varied without rasterizing 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685031"/>
            <a:ext cx="2578608" cy="640080"/>
          </a:xfrm>
          <a:prstGeom prst="round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03903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2E"/>
                </a:solidFill>
                <a:latin typeface="Aptos"/>
              </a:rPr>
              <a:t>Signature motifs remain editable while the exhibit image stays cited.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21608" y="3685031"/>
            <a:ext cx="2578608" cy="640080"/>
          </a:xfrm>
          <a:prstGeom prst="round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3803903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2E"/>
                </a:solidFill>
                <a:latin typeface="Aptos"/>
              </a:rPr>
              <a:t>Dense object stacks test agent repair on crowded but readable layouts.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901952"/>
            <a:ext cx="2057400" cy="2057400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2148840"/>
            <a:ext cx="1554480" cy="15544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372600" y="1993392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46336" y="1993392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0072" y="1993392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93808" y="1993392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67544" y="1993392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1993392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15016" y="1993392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72600" y="2167128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46336" y="2167128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20072" y="2167128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93808" y="2167128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67544" y="2167128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41280" y="2167128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15016" y="2167128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72600" y="2340864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46336" y="2340864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20072" y="2340864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93808" y="2340864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67544" y="2340864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1280" y="2340864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15016" y="2340864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72600" y="2514600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46336" y="2514600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20072" y="2514600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93808" y="2514600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67544" y="2514600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41280" y="2514600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15016" y="2514600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72600" y="2688336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46336" y="2688336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20072" y="2688336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93808" y="2688336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67544" y="2688336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241280" y="2688336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415016" y="2688336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72600" y="2862072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46336" y="2862072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20072" y="2862072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93808" y="2862072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67544" y="2862072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41280" y="2862072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415016" y="2862072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72600" y="3035808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46336" y="3035808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720072" y="3035808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93808" y="3035808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67544" y="3035808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41280" y="3035808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15016" y="3035808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72600" y="3209544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46336" y="3209544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20072" y="3209544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893808" y="3209544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67544" y="3209544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241280" y="3209544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415016" y="3209544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72600" y="3383280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46336" y="3383280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20072" y="3383280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93808" y="3383280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67544" y="3383280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241280" y="3383280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415016" y="3383280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372600" y="3557016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546336" y="3557016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720072" y="3557016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893808" y="3557016"/>
            <a:ext cx="128016" cy="79369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67544" y="3557016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241280" y="3557016"/>
            <a:ext cx="128016" cy="79369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415016" y="3557016"/>
            <a:ext cx="128016" cy="79369"/>
          </a:xfrm>
          <a:prstGeom prst="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8F2"/>
                </a:solidFill>
                <a:latin typeface="Aptos"/>
              </a:rPr>
              <a:t>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2E"/>
                </a:solidFill>
                <a:latin typeface="Aptos"/>
              </a:rPr>
              <a:t>profile patterns are combined with varied dense object systems.</a:t>
            </a:r>
          </a:p>
        </p:txBody>
      </p:sp>
      <p:sp>
        <p:nvSpPr>
          <p:cNvPr id="98" name="Oval 97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8F2"/>
                </a:solidFill>
                <a:latin typeface="Aptos"/>
              </a:rP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2E"/>
                </a:solidFill>
                <a:latin typeface="Aptos"/>
              </a:rPr>
              <a:t>style locks are combined with varied dense object systems.</a:t>
            </a:r>
          </a:p>
        </p:txBody>
      </p:sp>
      <p:sp>
        <p:nvSpPr>
          <p:cNvPr id="101" name="Oval 100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8F2"/>
                </a:solidFill>
                <a:latin typeface="Aptos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2E"/>
                </a:solidFill>
                <a:latin typeface="Aptos"/>
              </a:rPr>
              <a:t>layout families are combined with varied dense object systems.</a:t>
            </a:r>
          </a:p>
        </p:txBody>
      </p:sp>
      <p:sp>
        <p:nvSpPr>
          <p:cNvPr id="104" name="Oval 103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8F2"/>
                </a:solidFill>
                <a:latin typeface="Aptos"/>
              </a:rPr>
              <a:t>81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2E"/>
                </a:solidFill>
                <a:latin typeface="Aptos"/>
              </a:rPr>
              <a:t>dense slides are combined with varied dense object systems.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8F8F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24255"/>
                </a:solidFill>
                <a:latin typeface="Aptos"/>
              </a:rPr>
              <a:t>density layer</a:t>
            </a:r>
          </a:p>
        </p:txBody>
      </p:sp>
      <p:sp>
        <p:nvSpPr>
          <p:cNvPr id="119" name="Oval 118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8F2"/>
                </a:solidFill>
                <a:latin typeface="Aptos"/>
              </a:rPr>
              <a:t>11</a:t>
            </a:r>
          </a:p>
        </p:txBody>
      </p:sp>
      <p:sp>
        <p:nvSpPr>
          <p:cNvPr id="121" name="Oval 120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8F2"/>
                </a:solidFill>
                <a:latin typeface="Aptos"/>
              </a:rPr>
              <a:t>30</a:t>
            </a:r>
          </a:p>
        </p:txBody>
      </p:sp>
      <p:sp>
        <p:nvSpPr>
          <p:cNvPr id="123" name="Oval 122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4ECDC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8F2"/>
                </a:solidFill>
                <a:latin typeface="Aptos"/>
              </a:rPr>
              <a:t>8</a:t>
            </a:r>
          </a:p>
        </p:txBody>
      </p:sp>
      <p:sp>
        <p:nvSpPr>
          <p:cNvPr id="125" name="Oval 124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8F8F2"/>
                </a:solidFill>
                <a:latin typeface="Aptos"/>
              </a:rPr>
              <a:t>81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24255"/>
                </a:solidFill>
                <a:latin typeface="Aptos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B69B65"/>
                </a:solidFill>
                <a:latin typeface="Georgia"/>
              </a:rPr>
              <a:t>STRESS DEMO 15/81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D4BF9A"/>
                </a:solidFill>
                <a:latin typeface="Georgia"/>
              </a:rPr>
              <a:t>Dark Academia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D4BF9A"/>
                </a:solidFill>
                <a:latin typeface="Georgia"/>
              </a:rPr>
              <a:t>This slide uses the Dark Academia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D4BF9A"/>
                </a:solidFill>
                <a:latin typeface="Georgia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D4BF9A"/>
                </a:solidFill>
                <a:latin typeface="Georgia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D4BF9A"/>
                </a:solidFill>
                <a:latin typeface="Georgia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B69B65"/>
                </a:solidFill>
                <a:latin typeface="Georgia"/>
              </a:rPr>
              <a:t>Layout family: command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1965960"/>
            <a:ext cx="2057400" cy="749808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Georgia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BF9A"/>
                </a:solidFill>
                <a:latin typeface="Georgia"/>
              </a:rPr>
              <a:t>objects tracked in a dense control surface.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7832" y="1965960"/>
            <a:ext cx="2057400" cy="749808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24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Georgia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BF9A"/>
                </a:solidFill>
                <a:latin typeface="Georgia"/>
              </a:rPr>
              <a:t>families tracked in a dense control surface.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1965960"/>
            <a:ext cx="2057400" cy="749808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Georgia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BF9A"/>
                </a:solidFill>
                <a:latin typeface="Georgia"/>
              </a:rPr>
              <a:t>collisions tracked in a dense control surface.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953512"/>
            <a:ext cx="2057400" cy="749808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Georgia"/>
              </a:rPr>
              <a:t>9pt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BF9A"/>
                </a:solidFill>
                <a:latin typeface="Georgia"/>
              </a:rPr>
              <a:t>floor tracked in a dense control surface.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2953512"/>
            <a:ext cx="2057400" cy="749808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24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Georgia"/>
              </a:rPr>
              <a:t>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BF9A"/>
                </a:solidFill>
                <a:latin typeface="Georgia"/>
              </a:rPr>
              <a:t>spec tracked in a dense control surface.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42432" y="2953512"/>
            <a:ext cx="2057400" cy="749808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070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Georgia"/>
              </a:rPr>
              <a:t>PPTX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BF9A"/>
                </a:solidFill>
                <a:latin typeface="Georgia"/>
              </a:rPr>
              <a:t>native tracked in a dense control surface.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1956816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4232" y="1956816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78824" y="195681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43416" y="195681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195681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72600" y="1956816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95681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01784" y="195681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66376" y="195681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30967" y="1956816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95559" y="1956816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49640" y="2121408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14232" y="212140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78824" y="212140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43416" y="2121408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08008" y="2121408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72600" y="212140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37192" y="212140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01784" y="212140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66376" y="2121408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030967" y="212140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95559" y="212140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49640" y="228600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14232" y="2286000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78824" y="228600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43416" y="2286000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08008" y="228600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72600" y="228600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37192" y="2286000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701784" y="2286000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6376" y="228600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30967" y="228600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95559" y="228600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49640" y="2450592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14232" y="2450592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78824" y="2450592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43416" y="2450592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08008" y="2450592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72600" y="2450592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37192" y="2450592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701784" y="2450592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66376" y="2450592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030967" y="2450592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95559" y="2450592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49640" y="2615184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714232" y="2615184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878824" y="2615184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43416" y="2615184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2615184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72600" y="2615184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37192" y="2615184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01784" y="2615184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66376" y="2615184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30967" y="2615184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195559" y="2615184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49640" y="2779776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14232" y="277977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878824" y="277977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43416" y="277977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08008" y="2779776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372600" y="2779776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537192" y="277977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701784" y="277977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866376" y="2779776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30967" y="2779776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195559" y="2779776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49640" y="294436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14232" y="294436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78824" y="294436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43416" y="2944368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208008" y="294436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72600" y="294436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537192" y="294436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701784" y="2944368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866376" y="2944368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30967" y="294436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195559" y="2944368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49640" y="310896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14232" y="3108960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78824" y="3108960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043416" y="310896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08008" y="310896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372600" y="310896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537192" y="3108960"/>
            <a:ext cx="118872" cy="73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01784" y="310896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66376" y="310896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030967" y="3108960"/>
            <a:ext cx="118872" cy="73700"/>
          </a:xfrm>
          <a:prstGeom prst="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195559" y="3108960"/>
            <a:ext cx="118872" cy="7370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4041648"/>
            <a:ext cx="932688" cy="932688"/>
          </a:xfrm>
          <a:prstGeom prst="rect">
            <a:avLst/>
          </a:prstGeom>
        </p:spPr>
      </p:pic>
      <p:sp>
        <p:nvSpPr>
          <p:cNvPr id="121" name="Oval 12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BF9A"/>
                </a:solidFill>
                <a:latin typeface="Georgia"/>
              </a:rPr>
              <a:t>11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4BF9A"/>
                </a:solidFill>
                <a:latin typeface="Georgia"/>
              </a:rPr>
              <a:t>profile patterns are combined with varied dense object systems.</a:t>
            </a:r>
          </a:p>
        </p:txBody>
      </p:sp>
      <p:sp>
        <p:nvSpPr>
          <p:cNvPr id="124" name="Oval 123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BF9A"/>
                </a:solidFill>
                <a:latin typeface="Georgia"/>
              </a:rPr>
              <a:t>30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4BF9A"/>
                </a:solidFill>
                <a:latin typeface="Georgia"/>
              </a:rPr>
              <a:t>style locks are combined with varied dense object systems.</a:t>
            </a:r>
          </a:p>
        </p:txBody>
      </p:sp>
      <p:sp>
        <p:nvSpPr>
          <p:cNvPr id="127" name="Oval 126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BF9A"/>
                </a:solidFill>
                <a:latin typeface="Georgia"/>
              </a:rPr>
              <a:t>8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4BF9A"/>
                </a:solidFill>
                <a:latin typeface="Georgia"/>
              </a:rPr>
              <a:t>layout families are combined with varied dense object systems.</a:t>
            </a:r>
          </a:p>
        </p:txBody>
      </p:sp>
      <p:sp>
        <p:nvSpPr>
          <p:cNvPr id="130" name="Oval 129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BF9A"/>
                </a:solidFill>
                <a:latin typeface="Georgia"/>
              </a:rPr>
              <a:t>81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4BF9A"/>
                </a:solidFill>
                <a:latin typeface="Georgia"/>
              </a:rPr>
              <a:t>dense slides are combined with varied dense object systems.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B69B65"/>
                </a:solidFill>
                <a:latin typeface="Georgia"/>
              </a:rPr>
              <a:t>density layer</a:t>
            </a:r>
          </a:p>
        </p:txBody>
      </p:sp>
      <p:sp>
        <p:nvSpPr>
          <p:cNvPr id="145" name="Oval 144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BF9A"/>
                </a:solidFill>
                <a:latin typeface="Georgia"/>
              </a:rPr>
              <a:t>11</a:t>
            </a:r>
          </a:p>
        </p:txBody>
      </p:sp>
      <p:sp>
        <p:nvSpPr>
          <p:cNvPr id="147" name="Oval 146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BF9A"/>
                </a:solidFill>
                <a:latin typeface="Georgia"/>
              </a:rPr>
              <a:t>30</a:t>
            </a:r>
          </a:p>
        </p:txBody>
      </p:sp>
      <p:sp>
        <p:nvSpPr>
          <p:cNvPr id="149" name="Oval 148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8A7340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BF9A"/>
                </a:solidFill>
                <a:latin typeface="Georgia"/>
              </a:rPr>
              <a:t>8</a:t>
            </a:r>
          </a:p>
        </p:txBody>
      </p:sp>
      <p:sp>
        <p:nvSpPr>
          <p:cNvPr id="151" name="Oval 150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BF9A"/>
                </a:solidFill>
                <a:latin typeface="Georgia"/>
              </a:rPr>
              <a:t>81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B69B65"/>
                </a:solidFill>
                <a:latin typeface="Georgia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61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FFE9FF"/>
                </a:solidFill>
                <a:latin typeface="Aptos Display"/>
              </a:rPr>
              <a:t>STRESS DEMO 16/81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 Display"/>
              </a:rPr>
              <a:t>Gradient Mesh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Display"/>
              </a:rPr>
              <a:t>This slide uses the Gradient Mesh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 Display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 Display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 Display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FFE9FF"/>
                </a:solidFill>
                <a:latin typeface="Aptos Display"/>
              </a:rPr>
              <a:t>Layout family: lane weave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01952"/>
            <a:ext cx="1005840" cy="347472"/>
          </a:xfrm>
          <a:prstGeom prst="roundRect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02082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 Display"/>
              </a:rPr>
              <a:t>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90195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202082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source handoff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190195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9352" y="202082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source handoff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90195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35240" y="190195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2450592"/>
            <a:ext cx="1005840" cy="347472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56946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 Display"/>
              </a:rPr>
              <a:t>style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245059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256946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style handoff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245059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9352" y="256946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style handoff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245059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35240" y="245059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2999232"/>
            <a:ext cx="1005840" cy="347472"/>
          </a:xfrm>
          <a:prstGeom prst="roundRect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11810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 Display"/>
              </a:rPr>
              <a:t>layout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299923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311810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layout handoff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200" y="299923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311810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layout handoff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299923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35240" y="299923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" y="3547872"/>
            <a:ext cx="1005840" cy="347472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66674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 Display"/>
              </a:rPr>
              <a:t>assets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354787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4832" y="366674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assets handoff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6200" y="354787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9352" y="366674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assets handoff 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354787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635240" y="354787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096512"/>
            <a:ext cx="1005840" cy="347472"/>
          </a:xfrm>
          <a:prstGeom prst="roundRect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21538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 Display"/>
              </a:rPr>
              <a:t>audit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11680" y="409651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84832" y="421538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audit handoff 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86200" y="409651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9352" y="421538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audit handoff 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60720" y="409651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635240" y="4096512"/>
            <a:ext cx="1417320" cy="347472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029968"/>
            <a:ext cx="960120" cy="960120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Aptos Display"/>
              </a:rPr>
              <a:t>profile patterns are combined with varied dense object systems.</a:t>
            </a:r>
          </a:p>
        </p:txBody>
      </p:sp>
      <p:sp>
        <p:nvSpPr>
          <p:cNvPr id="58" name="Oval 57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Aptos Display"/>
              </a:rPr>
              <a:t>style locks are combined with varied dense object systems.</a:t>
            </a:r>
          </a:p>
        </p:txBody>
      </p:sp>
      <p:sp>
        <p:nvSpPr>
          <p:cNvPr id="61" name="Oval 60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Aptos Display"/>
              </a:rPr>
              <a:t>layout families are combined with varied dense object systems.</a:t>
            </a:r>
          </a:p>
        </p:txBody>
      </p:sp>
      <p:sp>
        <p:nvSpPr>
          <p:cNvPr id="64" name="Oval 63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Aptos Display"/>
              </a:rPr>
              <a:t>dense slides are combined with varied dense object systems.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FE9FF"/>
                </a:solidFill>
                <a:latin typeface="Aptos Display"/>
              </a:rPr>
              <a:t>density layer</a:t>
            </a:r>
          </a:p>
        </p:txBody>
      </p:sp>
      <p:sp>
        <p:nvSpPr>
          <p:cNvPr id="79" name="Oval 78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11</a:t>
            </a:r>
          </a:p>
        </p:txBody>
      </p:sp>
      <p:sp>
        <p:nvSpPr>
          <p:cNvPr id="81" name="Oval 80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30</a:t>
            </a:r>
          </a:p>
        </p:txBody>
      </p:sp>
      <p:sp>
        <p:nvSpPr>
          <p:cNvPr id="83" name="Oval 8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85" name="Oval 84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81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FFE9FF"/>
                </a:solidFill>
                <a:latin typeface="Aptos Display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C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EDEA"/>
          </a:solidFill>
          <a:ln w="12700">
            <a:solidFill>
              <a:srgbClr val="A8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A8EDEA"/>
          </a:solidFill>
          <a:ln w="12700">
            <a:solidFill>
              <a:srgbClr val="A8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6B554E"/>
                </a:solidFill>
                <a:latin typeface="Nunito"/>
              </a:rPr>
              <a:t>STRESS DEMO 17/81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3A2A24"/>
                </a:solidFill>
                <a:latin typeface="Nunito"/>
              </a:rPr>
              <a:t>Claymorphism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3A2A24"/>
                </a:solidFill>
                <a:latin typeface="Nunito"/>
              </a:rPr>
              <a:t>This slide uses the Claymorphism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ECD2"/>
                </a:solidFill>
                <a:latin typeface="Nunito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3A2A24"/>
                </a:solidFill>
                <a:latin typeface="Nunito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FECD2"/>
          </a:solidFill>
          <a:ln w="12700">
            <a:solidFill>
              <a:srgbClr val="A8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3A2A24"/>
                </a:solidFill>
                <a:latin typeface="Nunito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6B554E"/>
                </a:solidFill>
                <a:latin typeface="Nunito"/>
              </a:rPr>
              <a:t>Layout family: editorial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29968"/>
            <a:ext cx="4800600" cy="2514600"/>
          </a:xfrm>
          <a:prstGeom prst="round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31136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A8EDEA"/>
                </a:solidFill>
                <a:latin typeface="Nunit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2194560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3A2A24"/>
                </a:solidFill>
                <a:latin typeface="Nunito"/>
              </a:rPr>
              <a:t>Palette lock is visible in native fills, borders, and accent primitives.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A8EDEA"/>
                </a:solidFill>
                <a:latin typeface="Nunit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724912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3A2A24"/>
                </a:solidFill>
                <a:latin typeface="Nunito"/>
              </a:rPr>
              <a:t>Typography and hierarchy are intentionally varied without rasterizing 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91839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A8EDEA"/>
                </a:solidFill>
                <a:latin typeface="Nunit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255263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3A2A24"/>
                </a:solidFill>
                <a:latin typeface="Nunito"/>
              </a:rPr>
              <a:t>Signature motifs remain editable while the exhibit image stays cited.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822191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A8EDEA"/>
                </a:solidFill>
                <a:latin typeface="Nunit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785615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3A2A24"/>
                </a:solidFill>
                <a:latin typeface="Nunito"/>
              </a:rPr>
              <a:t>Dense object stacks test agent repair on crowded but readable layouts.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938528"/>
            <a:ext cx="2606040" cy="2697480"/>
          </a:xfrm>
          <a:prstGeom prst="round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286000"/>
            <a:ext cx="1572768" cy="15727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53328" y="4096512"/>
            <a:ext cx="205740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FFECD2"/>
                </a:solidFill>
                <a:latin typeface="Nunito"/>
              </a:rPr>
              <a:t>GPT image infographic.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1993392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7424" y="1993392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9448" y="1993392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91472" y="1993392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83496" y="1993392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1993392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67544" y="1993392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59568" y="1993392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51592" y="1993392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218541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07424" y="2185416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99448" y="2185416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91472" y="218541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83496" y="218541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75520" y="218541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67544" y="2185416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59568" y="218541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51592" y="218541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15400" y="237744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7424" y="2377440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99448" y="237744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91472" y="237744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83496" y="2377440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0" y="2377440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67544" y="237744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59568" y="237744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51592" y="237744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15400" y="2569464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07424" y="2569464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99448" y="2569464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91472" y="2569464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83496" y="2569464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75520" y="2569464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67544" y="2569464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59568" y="2569464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51592" y="2569464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15400" y="2761488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07424" y="2761488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99448" y="2761488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91472" y="2761488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83496" y="2761488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875520" y="2761488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7544" y="2761488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59568" y="2761488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51592" y="2761488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15400" y="2953512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07424" y="2953512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99448" y="2953512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91472" y="2953512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83496" y="2953512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875520" y="2953512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067544" y="2953512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59568" y="2953512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451592" y="2953512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15400" y="314553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07424" y="3145536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99448" y="314553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91472" y="314553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683496" y="314553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875520" y="3145536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67544" y="3145536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259568" y="314553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451592" y="3145536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915400" y="3337560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07424" y="333756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99448" y="333756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491472" y="333756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683496" y="3337560"/>
            <a:ext cx="146304" cy="90708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875520" y="333756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67544" y="333756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259568" y="3337560"/>
            <a:ext cx="146304" cy="90708"/>
          </a:xfrm>
          <a:prstGeom prst="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451592" y="3337560"/>
            <a:ext cx="146304" cy="90708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ECD2"/>
                </a:solidFill>
                <a:latin typeface="Nunito"/>
              </a:rP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3A2A24"/>
                </a:solidFill>
                <a:latin typeface="Nunito"/>
              </a:rPr>
              <a:t>profile patterns are combined with varied dense object systems.</a:t>
            </a:r>
          </a:p>
        </p:txBody>
      </p:sp>
      <p:sp>
        <p:nvSpPr>
          <p:cNvPr id="101" name="Oval 100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ECD2"/>
                </a:solidFill>
                <a:latin typeface="Nunito"/>
              </a:rPr>
              <a:t>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3A2A24"/>
                </a:solidFill>
                <a:latin typeface="Nunito"/>
              </a:rPr>
              <a:t>style locks are combined with varied dense object systems.</a:t>
            </a:r>
          </a:p>
        </p:txBody>
      </p:sp>
      <p:sp>
        <p:nvSpPr>
          <p:cNvPr id="104" name="Oval 103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ECD2"/>
                </a:solidFill>
                <a:latin typeface="Nunito"/>
              </a:rPr>
              <a:t>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3A2A24"/>
                </a:solidFill>
                <a:latin typeface="Nunito"/>
              </a:rPr>
              <a:t>layout families are combined with varied dense object systems.</a:t>
            </a:r>
          </a:p>
        </p:txBody>
      </p:sp>
      <p:sp>
        <p:nvSpPr>
          <p:cNvPr id="107" name="Oval 10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ECD2"/>
                </a:solidFill>
                <a:latin typeface="Nunito"/>
              </a:rPr>
              <a:t>81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3A2A24"/>
                </a:solidFill>
                <a:latin typeface="Nunito"/>
              </a:rPr>
              <a:t>dense slides are combined with varied dense object systems.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FECD2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554E"/>
                </a:solidFill>
                <a:latin typeface="Nunito"/>
              </a:rPr>
              <a:t>density layer</a:t>
            </a:r>
          </a:p>
        </p:txBody>
      </p:sp>
      <p:sp>
        <p:nvSpPr>
          <p:cNvPr id="122" name="Oval 121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ECD2"/>
                </a:solidFill>
                <a:latin typeface="Nunito"/>
              </a:rPr>
              <a:t>11</a:t>
            </a:r>
          </a:p>
        </p:txBody>
      </p:sp>
      <p:sp>
        <p:nvSpPr>
          <p:cNvPr id="124" name="Oval 123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ECD2"/>
                </a:solidFill>
                <a:latin typeface="Nunito"/>
              </a:rPr>
              <a:t>30</a:t>
            </a:r>
          </a:p>
        </p:txBody>
      </p:sp>
      <p:sp>
        <p:nvSpPr>
          <p:cNvPr id="126" name="Oval 125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ED6E3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ECD2"/>
                </a:solidFill>
                <a:latin typeface="Nunito"/>
              </a:rPr>
              <a:t>8</a:t>
            </a:r>
          </a:p>
        </p:txBody>
      </p:sp>
      <p:sp>
        <p:nvSpPr>
          <p:cNvPr id="128" name="Oval 127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A8EDEA"/>
          </a:solidFill>
          <a:ln w="12700">
            <a:solidFill>
              <a:srgbClr val="FCB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ECD2"/>
                </a:solidFill>
                <a:latin typeface="Nunito"/>
              </a:rPr>
              <a:t>81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B554E"/>
                </a:solidFill>
                <a:latin typeface="Nunito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444444"/>
                </a:solidFill>
                <a:latin typeface="Arial"/>
              </a:rPr>
              <a:t>STRESS DEMO 18/81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Arial"/>
              </a:rPr>
              <a:t>Swiss International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rial"/>
              </a:rPr>
              <a:t>This slide uses the Swiss International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DDDDD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11111"/>
                </a:solidFill>
                <a:latin typeface="Arial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11111"/>
                </a:solidFill>
                <a:latin typeface="Arial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444444"/>
                </a:solidFill>
                <a:latin typeface="Arial"/>
              </a:rPr>
              <a:t>Layout family: bento overload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993392"/>
            <a:ext cx="2834640" cy="1170432"/>
          </a:xfrm>
          <a:prstGeom prst="roundRect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157984"/>
            <a:ext cx="254203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1">
                <a:solidFill>
                  <a:srgbClr val="FFFFFF"/>
                </a:solidFill>
                <a:latin typeface="Arial"/>
              </a:rPr>
              <a:t>Palette lock is visible in native fills, borders, and accent primitives.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1993392"/>
            <a:ext cx="19659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8184" y="2157984"/>
            <a:ext cx="1673351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111111"/>
                </a:solidFill>
                <a:latin typeface="Arial"/>
              </a:rPr>
              <a:t>Typography and hierarchy are intentionally varied without rasterizing 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1993392"/>
            <a:ext cx="2697480" cy="1874519"/>
          </a:xfrm>
          <a:prstGeom prst="roundRect">
            <a:avLst/>
          </a:prstGeom>
          <a:solidFill>
            <a:srgbClr val="DDDDD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2157984"/>
            <a:ext cx="240487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1">
                <a:solidFill>
                  <a:srgbClr val="111111"/>
                </a:solidFill>
                <a:latin typeface="Arial"/>
              </a:rPr>
              <a:t>Signature motifs remain editable while the exhibit image stays cited.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83280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547872"/>
            <a:ext cx="171907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111111"/>
                </a:solidFill>
                <a:latin typeface="Arial"/>
              </a:rPr>
              <a:t>Dense object stacks test agent repair on crowded but readable layouts.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383280"/>
            <a:ext cx="2788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35224" y="3547872"/>
            <a:ext cx="249631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111111"/>
                </a:solidFill>
                <a:latin typeface="Arial"/>
              </a:rPr>
              <a:t>Audit metadata records the design decision separately from the PPTX file.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993392"/>
            <a:ext cx="2057400" cy="2706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8824" y="2157984"/>
            <a:ext cx="176479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111111"/>
                </a:solidFill>
                <a:latin typeface="Arial"/>
              </a:rPr>
              <a:t>Palette lock is visible in native fills, borders, and accent primitives.</a:t>
            </a:r>
          </a:p>
        </p:txBody>
      </p:sp>
      <p:pic>
        <p:nvPicPr>
          <p:cNvPr id="26" name="Picture 25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816352"/>
            <a:ext cx="914400" cy="9144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111"/>
                </a:solidFill>
                <a:latin typeface="Arial"/>
              </a:rPr>
              <a:t>profile patterns are combined with varied dense object systems.</a:t>
            </a:r>
          </a:p>
        </p:txBody>
      </p:sp>
      <p:sp>
        <p:nvSpPr>
          <p:cNvPr id="30" name="Oval 29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DDDDD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111"/>
                </a:solidFill>
                <a:latin typeface="Arial"/>
              </a:rPr>
              <a:t>style locks are combined with varied dense object systems.</a:t>
            </a:r>
          </a:p>
        </p:txBody>
      </p:sp>
      <p:sp>
        <p:nvSpPr>
          <p:cNvPr id="33" name="Oval 3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111"/>
                </a:solidFill>
                <a:latin typeface="Arial"/>
              </a:rPr>
              <a:t>layout families are combined with varied dense object systems.</a:t>
            </a:r>
          </a:p>
        </p:txBody>
      </p:sp>
      <p:sp>
        <p:nvSpPr>
          <p:cNvPr id="36" name="Oval 35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DDDDD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11111"/>
                </a:solidFill>
                <a:latin typeface="Arial"/>
              </a:rPr>
              <a:t>dense slides are combined with varied dense object systems.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DDDDD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DDDDD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DDDDD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DDDDD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44444"/>
                </a:solidFill>
                <a:latin typeface="Arial"/>
              </a:rPr>
              <a:t>density layer</a:t>
            </a:r>
          </a:p>
        </p:txBody>
      </p:sp>
      <p:sp>
        <p:nvSpPr>
          <p:cNvPr id="51" name="Oval 5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53" name="Oval 52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DDDDD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55" name="Oval 54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E8000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7" name="Oval 5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DDDDDD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81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44444"/>
                </a:solidFill>
                <a:latin typeface="Arial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8CC8E8"/>
                </a:solidFill>
                <a:latin typeface="Aptos Display"/>
              </a:rPr>
              <a:t>STRESS DEMO 19/81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D0D0F0"/>
                </a:solidFill>
                <a:latin typeface="Aptos Display"/>
              </a:rPr>
              <a:t>Aurora Neon Glow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D0D0F0"/>
                </a:solidFill>
                <a:latin typeface="Aptos Display"/>
              </a:rPr>
              <a:t>This slide uses the Aurora Neon Glow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D0D0F0"/>
                </a:solidFill>
                <a:latin typeface="Aptos Display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D0D0F0"/>
                </a:solidFill>
                <a:latin typeface="Aptos Display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05051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D0D0F0"/>
                </a:solidFill>
                <a:latin typeface="Aptos Display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8CC8E8"/>
                </a:solidFill>
                <a:latin typeface="Aptos Display"/>
              </a:rPr>
              <a:t>Layout family: radial control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1664207" y="2377440"/>
            <a:ext cx="3474721" cy="896112"/>
          </a:xfrm>
          <a:prstGeom prst="line">
            <a:avLst/>
          </a:prstGeom>
          <a:ln w="1016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97280" y="2148840"/>
            <a:ext cx="1143000" cy="457200"/>
          </a:xfrm>
          <a:prstGeom prst="roundRect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229514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0D0F0"/>
                </a:solidFill>
                <a:latin typeface="Aptos Display"/>
              </a:rPr>
              <a:t>Palette lock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3447288" y="1947672"/>
            <a:ext cx="1691640" cy="1325880"/>
          </a:xfrm>
          <a:prstGeom prst="line">
            <a:avLst/>
          </a:prstGeom>
          <a:ln w="1016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1719072"/>
            <a:ext cx="1143000" cy="457200"/>
          </a:xfrm>
          <a:prstGeom prst="roundRect">
            <a:avLst/>
          </a:prstGeom>
          <a:solidFill>
            <a:srgbClr val="050510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18653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0D0F0"/>
                </a:solidFill>
                <a:latin typeface="Aptos Display"/>
              </a:rPr>
              <a:t>Typography and hierarchy are intentionally varied without rasterizing text.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138928" y="1947672"/>
            <a:ext cx="2148840" cy="1325880"/>
          </a:xfrm>
          <a:prstGeom prst="line">
            <a:avLst/>
          </a:prstGeom>
          <a:ln w="1016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0840" y="1719072"/>
            <a:ext cx="1143000" cy="457200"/>
          </a:xfrm>
          <a:prstGeom prst="roundRect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18653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0D0F0"/>
                </a:solidFill>
                <a:latin typeface="Aptos Display"/>
              </a:rPr>
              <a:t>Signature motifs remain editable while the exhibit image stays cited.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138928" y="2560320"/>
            <a:ext cx="3977639" cy="713232"/>
          </a:xfrm>
          <a:prstGeom prst="line">
            <a:avLst/>
          </a:prstGeom>
          <a:ln w="1016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49640" y="2331720"/>
            <a:ext cx="1143000" cy="457200"/>
          </a:xfrm>
          <a:prstGeom prst="roundRect">
            <a:avLst/>
          </a:prstGeom>
          <a:solidFill>
            <a:srgbClr val="050510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247802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0D0F0"/>
                </a:solidFill>
                <a:latin typeface="Aptos Display"/>
              </a:rPr>
              <a:t>Dense object stacks test agent repair on crowded but readable layouts.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38928" y="3273552"/>
            <a:ext cx="3154679" cy="1271016"/>
          </a:xfrm>
          <a:prstGeom prst="line">
            <a:avLst/>
          </a:prstGeom>
          <a:ln w="1016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26679" y="4315968"/>
            <a:ext cx="1143000" cy="457200"/>
          </a:xfrm>
          <a:prstGeom prst="roundRect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4462272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0D0F0"/>
                </a:solidFill>
                <a:latin typeface="Aptos Display"/>
              </a:rPr>
              <a:t>Audit metadata records the design decision separately from the PPTX file.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310128" y="3273552"/>
            <a:ext cx="1828800" cy="1572768"/>
          </a:xfrm>
          <a:prstGeom prst="line">
            <a:avLst/>
          </a:prstGeom>
          <a:ln w="1016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743200" y="4617720"/>
            <a:ext cx="1143000" cy="457200"/>
          </a:xfrm>
          <a:prstGeom prst="roundRect">
            <a:avLst/>
          </a:prstGeom>
          <a:solidFill>
            <a:srgbClr val="050510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476402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0D0F0"/>
                </a:solidFill>
                <a:latin typeface="Aptos Display"/>
              </a:rPr>
              <a:t>Palette lock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527048" y="3273552"/>
            <a:ext cx="3611880" cy="795528"/>
          </a:xfrm>
          <a:prstGeom prst="line">
            <a:avLst/>
          </a:prstGeom>
          <a:ln w="1016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0120" y="3840480"/>
            <a:ext cx="1143000" cy="457200"/>
          </a:xfrm>
          <a:prstGeom prst="roundRect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" y="398678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0D0F0"/>
                </a:solidFill>
                <a:latin typeface="Aptos Display"/>
              </a:rPr>
              <a:t>Typography and hierarchy are intentionally varied without rasterizing text.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2615184"/>
            <a:ext cx="1316736" cy="131673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054096"/>
            <a:ext cx="768096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50" b="1">
                <a:solidFill>
                  <a:srgbClr val="D0D0F0"/>
                </a:solidFill>
                <a:latin typeface="Aptos Display"/>
              </a:rPr>
              <a:t>style
lock</a:t>
            </a:r>
          </a:p>
        </p:txBody>
      </p:sp>
      <p:pic>
        <p:nvPicPr>
          <p:cNvPr id="37" name="Picture 36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407408"/>
            <a:ext cx="868680" cy="86868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0D0F0"/>
                </a:solidFill>
                <a:latin typeface="Aptos Display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0D0F0"/>
                </a:solidFill>
                <a:latin typeface="Aptos Display"/>
              </a:rPr>
              <a:t>profile patterns are combined with varied dense object systems.</a:t>
            </a:r>
          </a:p>
        </p:txBody>
      </p:sp>
      <p:sp>
        <p:nvSpPr>
          <p:cNvPr id="41" name="Oval 40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0D0F0"/>
                </a:solidFill>
                <a:latin typeface="Aptos Display"/>
              </a:rPr>
              <a:t>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0D0F0"/>
                </a:solidFill>
                <a:latin typeface="Aptos Display"/>
              </a:rPr>
              <a:t>style locks are combined with varied dense object systems.</a:t>
            </a:r>
          </a:p>
        </p:txBody>
      </p:sp>
      <p:sp>
        <p:nvSpPr>
          <p:cNvPr id="44" name="Oval 43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0D0F0"/>
                </a:solidFill>
                <a:latin typeface="Aptos Display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0D0F0"/>
                </a:solidFill>
                <a:latin typeface="Aptos Display"/>
              </a:rPr>
              <a:t>layout families are combined with varied dense object systems.</a:t>
            </a:r>
          </a:p>
        </p:txBody>
      </p:sp>
      <p:sp>
        <p:nvSpPr>
          <p:cNvPr id="47" name="Oval 46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0D0F0"/>
                </a:solidFill>
                <a:latin typeface="Aptos Display"/>
              </a:rPr>
              <a:t>81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0D0F0"/>
                </a:solidFill>
                <a:latin typeface="Aptos Display"/>
              </a:rPr>
              <a:t>dense slides are combined with varied dense object systems.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050510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8CC8E8"/>
                </a:solidFill>
                <a:latin typeface="Aptos Display"/>
              </a:rPr>
              <a:t>density layer</a:t>
            </a:r>
          </a:p>
        </p:txBody>
      </p:sp>
      <p:sp>
        <p:nvSpPr>
          <p:cNvPr id="62" name="Oval 61"/>
          <p:cNvSpPr/>
          <p:nvPr/>
        </p:nvSpPr>
        <p:spPr>
          <a:xfrm>
            <a:off x="4480560" y="2615184"/>
            <a:ext cx="1316736" cy="131673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4880" y="3054096"/>
            <a:ext cx="768096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50" b="1">
                <a:solidFill>
                  <a:srgbClr val="D0D0F0"/>
                </a:solidFill>
                <a:latin typeface="Aptos Display"/>
              </a:rPr>
              <a:t>style
lock</a:t>
            </a:r>
          </a:p>
        </p:txBody>
      </p:sp>
      <p:sp>
        <p:nvSpPr>
          <p:cNvPr id="64" name="Oval 63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0D0F0"/>
                </a:solidFill>
                <a:latin typeface="Aptos Display"/>
              </a:rPr>
              <a:t>11</a:t>
            </a:r>
          </a:p>
        </p:txBody>
      </p:sp>
      <p:sp>
        <p:nvSpPr>
          <p:cNvPr id="66" name="Oval 65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0D0F0"/>
                </a:solidFill>
                <a:latin typeface="Aptos Display"/>
              </a:rPr>
              <a:t>30</a:t>
            </a:r>
          </a:p>
        </p:txBody>
      </p:sp>
      <p:sp>
        <p:nvSpPr>
          <p:cNvPr id="68" name="Oval 67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7B00FF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0D0F0"/>
                </a:solidFill>
                <a:latin typeface="Aptos Display"/>
              </a:rPr>
              <a:t>8</a:t>
            </a:r>
          </a:p>
        </p:txBody>
      </p:sp>
      <p:sp>
        <p:nvSpPr>
          <p:cNvPr id="70" name="Oval 69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0D0F0"/>
                </a:solidFill>
                <a:latin typeface="Aptos Display"/>
              </a:rPr>
              <a:t>81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8CC8E8"/>
                </a:solidFill>
                <a:latin typeface="Aptos Display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D8F6FF"/>
                </a:solidFill>
                <a:latin typeface="Impact"/>
              </a:rPr>
              <a:t>STRESS DEMO 20/81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mpact"/>
              </a:rPr>
              <a:t>Retro Y2K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mpact"/>
              </a:rPr>
              <a:t>This slide uses the Retro Y2K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Impact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Impact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00008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Impact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D8F6FF"/>
                </a:solidFill>
                <a:latin typeface="Impact"/>
              </a:rPr>
              <a:t>Layout family: timeline 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029968"/>
            <a:ext cx="91440" cy="28803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" y="2011680"/>
            <a:ext cx="438912" cy="438912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30552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75688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Palette lock is visible in native fills, borders, and accent primitives.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2578608"/>
            <a:ext cx="438912" cy="438912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97480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642616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Typography and hierarchy are intentionally varied without rasterizing text.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3145536"/>
            <a:ext cx="438912" cy="438912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64408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209544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Signature motifs remain editable while the exhibit image stays cited.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3712464"/>
            <a:ext cx="438912" cy="438912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31336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3776472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Dense object stacks test agent repair on crowded but readable layouts.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" y="4279392"/>
            <a:ext cx="438912" cy="438912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98264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343400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Audit metadata records the design decision separately from the PPTX file.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96128" y="2057400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720" y="205740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25312" y="205740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9904" y="205740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54496" y="2057400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19088" y="2057400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205740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48272" y="205740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12864" y="2057400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77456" y="205740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42048" y="2057400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06640" y="205740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71232" y="2057400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35824" y="205740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96128" y="222199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720" y="222199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25312" y="222199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9904" y="2221992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54496" y="222199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19088" y="222199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0" y="222199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48272" y="2221992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12864" y="2221992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77456" y="222199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42048" y="222199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06640" y="2221992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71232" y="222199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35824" y="2221992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96128" y="238658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60720" y="2386584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25312" y="2386584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89904" y="238658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54496" y="238658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19088" y="238658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0" y="2386584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48272" y="238658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12864" y="238658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77456" y="238658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242048" y="2386584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06640" y="2386584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71232" y="238658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35824" y="238658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596128" y="255117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760720" y="2551176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25312" y="255117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89904" y="255117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54496" y="2551176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19088" y="2551176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3680" y="255117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48272" y="255117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12864" y="255117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77456" y="2551176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42048" y="255117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06640" y="255117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71232" y="255117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35824" y="2551176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596128" y="2715768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760720" y="2715768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925312" y="2715768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89904" y="2715768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54496" y="2715768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419088" y="2715768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583680" y="2715768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748272" y="2715768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12864" y="2715768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077456" y="2715768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242048" y="2715768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406640" y="2715768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71232" y="2715768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35824" y="2715768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596128" y="2880360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288036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25312" y="288036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089904" y="2880360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254496" y="288036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19088" y="2880360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83680" y="288036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748272" y="2880360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912864" y="288036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077456" y="288036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242048" y="2880360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406640" y="2880360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571232" y="288036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735824" y="2880360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596128" y="304495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760720" y="304495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25312" y="3044952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89904" y="3044952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54496" y="304495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19088" y="304495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83680" y="3044952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748272" y="304495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912864" y="3044952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077456" y="304495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242048" y="3044952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406640" y="304495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571232" y="3044952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735824" y="3044952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596128" y="320954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760720" y="3209544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925312" y="320954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089904" y="320954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254496" y="320954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419088" y="3209544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83680" y="3209544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748272" y="320954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912864" y="320954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077456" y="3209544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242048" y="320954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406640" y="3209544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571232" y="3209544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735824" y="3209544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596128" y="3374136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760720" y="337413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925312" y="337413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089904" y="337413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254496" y="3374136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419088" y="337413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583680" y="337413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748272" y="337413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912864" y="3374136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077456" y="3374136"/>
            <a:ext cx="118872" cy="7370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242048" y="337413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406640" y="337413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571232" y="3374136"/>
            <a:ext cx="118872" cy="737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735824" y="3374136"/>
            <a:ext cx="118872" cy="73700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Picture 155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2084831"/>
            <a:ext cx="1234440" cy="1234440"/>
          </a:xfrm>
          <a:prstGeom prst="rect">
            <a:avLst/>
          </a:prstGeom>
        </p:spPr>
      </p:pic>
      <p:sp>
        <p:nvSpPr>
          <p:cNvPr id="157" name="Oval 156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11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profile patterns are combined with varied dense object systems.</a:t>
            </a:r>
          </a:p>
        </p:txBody>
      </p:sp>
      <p:sp>
        <p:nvSpPr>
          <p:cNvPr id="160" name="Oval 159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30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style locks are combined with varied dense object systems.</a:t>
            </a:r>
          </a:p>
        </p:txBody>
      </p:sp>
      <p:sp>
        <p:nvSpPr>
          <p:cNvPr id="163" name="Oval 16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layout families are combined with varied dense object systems.</a:t>
            </a:r>
          </a:p>
        </p:txBody>
      </p:sp>
      <p:sp>
        <p:nvSpPr>
          <p:cNvPr id="166" name="Oval 165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dense slides are combined with varied dense object systems.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00008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D8F6FF"/>
                </a:solidFill>
                <a:latin typeface="Impact"/>
              </a:rPr>
              <a:t>density layer</a:t>
            </a:r>
          </a:p>
        </p:txBody>
      </p:sp>
      <p:sp>
        <p:nvSpPr>
          <p:cNvPr id="181" name="Oval 180"/>
          <p:cNvSpPr/>
          <p:nvPr/>
        </p:nvSpPr>
        <p:spPr>
          <a:xfrm>
            <a:off x="566928" y="2011680"/>
            <a:ext cx="438912" cy="438912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85800" y="2130552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83" name="Oval 182"/>
          <p:cNvSpPr/>
          <p:nvPr/>
        </p:nvSpPr>
        <p:spPr>
          <a:xfrm>
            <a:off x="566928" y="2578608"/>
            <a:ext cx="438912" cy="438912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85800" y="2697480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185" name="Oval 184"/>
          <p:cNvSpPr/>
          <p:nvPr/>
        </p:nvSpPr>
        <p:spPr>
          <a:xfrm>
            <a:off x="566928" y="3145536"/>
            <a:ext cx="438912" cy="438912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85800" y="3264408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187" name="Oval 186"/>
          <p:cNvSpPr/>
          <p:nvPr/>
        </p:nvSpPr>
        <p:spPr>
          <a:xfrm>
            <a:off x="566928" y="3712464"/>
            <a:ext cx="438912" cy="438912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85800" y="3831336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4</a:t>
            </a:r>
          </a:p>
        </p:txBody>
      </p:sp>
      <p:sp>
        <p:nvSpPr>
          <p:cNvPr id="189" name="Oval 188"/>
          <p:cNvSpPr/>
          <p:nvPr/>
        </p:nvSpPr>
        <p:spPr>
          <a:xfrm>
            <a:off x="566928" y="4279392"/>
            <a:ext cx="438912" cy="438912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5800" y="4398264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5</a:t>
            </a:r>
          </a:p>
        </p:txBody>
      </p:sp>
      <p:sp>
        <p:nvSpPr>
          <p:cNvPr id="191" name="Oval 19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11</a:t>
            </a:r>
          </a:p>
        </p:txBody>
      </p:sp>
      <p:sp>
        <p:nvSpPr>
          <p:cNvPr id="193" name="Oval 192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30</a:t>
            </a:r>
          </a:p>
        </p:txBody>
      </p:sp>
      <p:sp>
        <p:nvSpPr>
          <p:cNvPr id="195" name="Oval 194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00FF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</a:t>
            </a:r>
          </a:p>
        </p:txBody>
      </p:sp>
      <p:sp>
        <p:nvSpPr>
          <p:cNvPr id="197" name="Oval 19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D8F6FF"/>
                </a:solidFill>
                <a:latin typeface="Impact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CFC4"/>
          </a:solidFill>
          <a:ln w="12700">
            <a:solidFill>
              <a:srgbClr val="D9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D9CFC4"/>
          </a:solidFill>
          <a:ln w="12700">
            <a:solidFill>
              <a:srgbClr val="D9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8A7A6A"/>
                </a:solidFill>
                <a:latin typeface="Georgia"/>
              </a:rPr>
              <a:t>STRESS DEMO 21/81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3D3530"/>
                </a:solidFill>
                <a:latin typeface="Georgia"/>
              </a:rPr>
              <a:t>Nordic Minimalism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3D3530"/>
                </a:solidFill>
                <a:latin typeface="Georgia"/>
              </a:rPr>
              <a:t>This slide uses the Nordic Minimalism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4F1EC"/>
                </a:solidFill>
                <a:latin typeface="Georgia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8A7A6A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3D3530"/>
                </a:solidFill>
                <a:latin typeface="Georgia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4F1EC"/>
          </a:solidFill>
          <a:ln w="12700">
            <a:solidFill>
              <a:srgbClr val="D9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3D3530"/>
                </a:solidFill>
                <a:latin typeface="Georgia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8A7A6A"/>
                </a:solidFill>
                <a:latin typeface="Georgia"/>
              </a:rPr>
              <a:t>Layout family: layered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1965960"/>
            <a:ext cx="6217920" cy="384048"/>
          </a:xfrm>
          <a:prstGeom prst="rect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07568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4F1EC"/>
                </a:solidFill>
                <a:latin typeface="Georgia"/>
              </a:rPr>
              <a:t>Palette lock is visible in native fills, borders, and accent primitives.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" y="2468880"/>
            <a:ext cx="5870448" cy="384048"/>
          </a:xfrm>
          <a:prstGeom prst="rect">
            <a:avLst/>
          </a:prstGeom>
          <a:solidFill>
            <a:srgbClr val="F4F1EC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5" y="257860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3D3530"/>
                </a:solidFill>
                <a:latin typeface="Georgia"/>
              </a:rPr>
              <a:t>Typography and hierarchy are intentionally varied without rasterizing 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971800"/>
            <a:ext cx="5522976" cy="384048"/>
          </a:xfrm>
          <a:prstGeom prst="rect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308152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4F1EC"/>
                </a:solidFill>
                <a:latin typeface="Georgia"/>
              </a:rPr>
              <a:t>Signature motifs remain editable while the exhibit image stays cited.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82495" y="3474720"/>
            <a:ext cx="5175504" cy="384048"/>
          </a:xfrm>
          <a:prstGeom prst="rect">
            <a:avLst/>
          </a:prstGeom>
          <a:solidFill>
            <a:srgbClr val="F4F1EC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47088" y="358444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3D3530"/>
                </a:solidFill>
                <a:latin typeface="Georgia"/>
              </a:rPr>
              <a:t>Dense object stacks test agent repair on crowded but readable layouts.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3392" y="3977639"/>
            <a:ext cx="4828031" cy="384048"/>
          </a:xfrm>
          <a:prstGeom prst="rect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57984" y="408736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4F1EC"/>
                </a:solidFill>
                <a:latin typeface="Georgia"/>
              </a:rPr>
              <a:t>Audit metadata records the design decision separately from the PPTX 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54112" y="2011680"/>
            <a:ext cx="914400" cy="310896"/>
          </a:xfrm>
          <a:prstGeom prst="rect">
            <a:avLst/>
          </a:prstGeom>
          <a:solidFill>
            <a:srgbClr val="F4F1EC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2112264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3D3530"/>
                </a:solidFill>
                <a:latin typeface="Georgia"/>
              </a:rPr>
              <a:t>check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2011680"/>
            <a:ext cx="914400" cy="310896"/>
          </a:xfrm>
          <a:prstGeom prst="rect">
            <a:avLst/>
          </a:prstGeom>
          <a:solidFill>
            <a:srgbClr val="F4F1EC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112264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3D3530"/>
                </a:solidFill>
                <a:latin typeface="Georgia"/>
              </a:rPr>
              <a:t>check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2542032"/>
            <a:ext cx="914400" cy="310896"/>
          </a:xfrm>
          <a:prstGeom prst="rect">
            <a:avLst/>
          </a:prstGeom>
          <a:solidFill>
            <a:srgbClr val="F4F1EC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2642616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3D3530"/>
                </a:solidFill>
                <a:latin typeface="Georgia"/>
              </a:rPr>
              <a:t>check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9408" y="2542032"/>
            <a:ext cx="914400" cy="310896"/>
          </a:xfrm>
          <a:prstGeom prst="rect">
            <a:avLst/>
          </a:prstGeom>
          <a:solidFill>
            <a:srgbClr val="F4F1EC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642616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3D3530"/>
                </a:solidFill>
                <a:latin typeface="Georgia"/>
              </a:rPr>
              <a:t>check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4112" y="3072384"/>
            <a:ext cx="914400" cy="310896"/>
          </a:xfrm>
          <a:prstGeom prst="rect">
            <a:avLst/>
          </a:prstGeom>
          <a:solidFill>
            <a:srgbClr val="F4F1EC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3172968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3D3530"/>
                </a:solidFill>
                <a:latin typeface="Georgia"/>
              </a:rPr>
              <a:t>check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9408" y="3072384"/>
            <a:ext cx="914400" cy="310896"/>
          </a:xfrm>
          <a:prstGeom prst="rect">
            <a:avLst/>
          </a:prstGeom>
          <a:solidFill>
            <a:srgbClr val="F4F1EC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0848" y="3172968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3D3530"/>
                </a:solidFill>
                <a:latin typeface="Georgia"/>
              </a:rPr>
              <a:t>check 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54112" y="3602736"/>
            <a:ext cx="914400" cy="310896"/>
          </a:xfrm>
          <a:prstGeom prst="rect">
            <a:avLst/>
          </a:prstGeom>
          <a:solidFill>
            <a:srgbClr val="F4F1EC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3703320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3D3530"/>
                </a:solidFill>
                <a:latin typeface="Georgia"/>
              </a:rPr>
              <a:t>check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79408" y="3602736"/>
            <a:ext cx="914400" cy="310896"/>
          </a:xfrm>
          <a:prstGeom prst="rect">
            <a:avLst/>
          </a:prstGeom>
          <a:solidFill>
            <a:srgbClr val="F4F1EC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3703320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3D3530"/>
                </a:solidFill>
                <a:latin typeface="Georgia"/>
              </a:rPr>
              <a:t>check 8</a:t>
            </a:r>
          </a:p>
        </p:txBody>
      </p:sp>
      <p:pic>
        <p:nvPicPr>
          <p:cNvPr id="40" name="Picture 39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0"/>
            <a:ext cx="804672" cy="804672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8A7A6A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4F1EC"/>
                </a:solidFill>
                <a:latin typeface="Georgia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3D3530"/>
                </a:solidFill>
                <a:latin typeface="Georgia"/>
              </a:rPr>
              <a:t>profile patterns are combined with varied dense object systems.</a:t>
            </a:r>
          </a:p>
        </p:txBody>
      </p:sp>
      <p:sp>
        <p:nvSpPr>
          <p:cNvPr id="44" name="Oval 43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4F1EC"/>
                </a:solidFill>
                <a:latin typeface="Georgia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3D3530"/>
                </a:solidFill>
                <a:latin typeface="Georgia"/>
              </a:rPr>
              <a:t>style locks are combined with varied dense object systems.</a:t>
            </a:r>
          </a:p>
        </p:txBody>
      </p:sp>
      <p:sp>
        <p:nvSpPr>
          <p:cNvPr id="47" name="Oval 46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8A7A6A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4F1EC"/>
                </a:solidFill>
                <a:latin typeface="Georgia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3D3530"/>
                </a:solidFill>
                <a:latin typeface="Georgia"/>
              </a:rPr>
              <a:t>layout families are combined with varied dense object systems.</a:t>
            </a:r>
          </a:p>
        </p:txBody>
      </p:sp>
      <p:sp>
        <p:nvSpPr>
          <p:cNvPr id="50" name="Oval 49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4F1EC"/>
                </a:solidFill>
                <a:latin typeface="Georgia"/>
              </a:rPr>
              <a:t>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3D3530"/>
                </a:solidFill>
                <a:latin typeface="Georgia"/>
              </a:rPr>
              <a:t>dense slides are combined with varied dense object systems.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8A7A6A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8A7A6A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8A7A6A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8A7A6A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4F1EC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8A7A6A"/>
                </a:solidFill>
                <a:latin typeface="Georgia"/>
              </a:rPr>
              <a:t>density layer</a:t>
            </a:r>
          </a:p>
        </p:txBody>
      </p:sp>
      <p:sp>
        <p:nvSpPr>
          <p:cNvPr id="65" name="Oval 64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8A7A6A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4F1EC"/>
                </a:solidFill>
                <a:latin typeface="Georgia"/>
              </a:rPr>
              <a:t>11</a:t>
            </a:r>
          </a:p>
        </p:txBody>
      </p:sp>
      <p:sp>
        <p:nvSpPr>
          <p:cNvPr id="67" name="Oval 66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4F1EC"/>
                </a:solidFill>
                <a:latin typeface="Georgia"/>
              </a:rPr>
              <a:t>30</a:t>
            </a:r>
          </a:p>
        </p:txBody>
      </p:sp>
      <p:sp>
        <p:nvSpPr>
          <p:cNvPr id="69" name="Oval 68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8A7A6A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4F1EC"/>
                </a:solidFill>
                <a:latin typeface="Georgia"/>
              </a:rPr>
              <a:t>8</a:t>
            </a:r>
          </a:p>
        </p:txBody>
      </p:sp>
      <p:sp>
        <p:nvSpPr>
          <p:cNvPr id="71" name="Oval 70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D9CFC4"/>
          </a:solidFill>
          <a:ln w="12700">
            <a:solidFill>
              <a:srgbClr val="3D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4F1EC"/>
                </a:solidFill>
                <a:latin typeface="Georgia"/>
              </a:rPr>
              <a:t>81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8A7A6A"/>
                </a:solidFill>
                <a:latin typeface="Georgia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1A1A1A"/>
                </a:solidFill>
                <a:latin typeface="Impact"/>
              </a:rPr>
              <a:t>STRESS DEMO 22/81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Impact"/>
              </a:rPr>
              <a:t>Typographic Bold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0A0A0A"/>
                </a:solidFill>
                <a:latin typeface="Impact"/>
              </a:rPr>
              <a:t>This slide uses the Typographic Bold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EDE8"/>
                </a:solidFill>
                <a:latin typeface="Impact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A0A0A"/>
                </a:solidFill>
                <a:latin typeface="Impact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0EDE8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A0A0A"/>
                </a:solidFill>
                <a:latin typeface="Impact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1A1A1A"/>
                </a:solidFill>
                <a:latin typeface="Impact"/>
              </a:rPr>
              <a:t>Layout family: magazine collage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01952"/>
            <a:ext cx="5120640" cy="5029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2200" b="1">
                <a:solidFill>
                  <a:srgbClr val="E63030"/>
                </a:solidFill>
                <a:latin typeface="Impact"/>
              </a:rPr>
              <a:t>TYPOGRAPHIC BOLD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88920"/>
            <a:ext cx="2578608" cy="640080"/>
          </a:xfrm>
          <a:prstGeom prst="round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907791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Impact"/>
              </a:rPr>
              <a:t>Palette lock is visible in native fills, borders, and accent primitives.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21608" y="2788920"/>
            <a:ext cx="2578608" cy="640080"/>
          </a:xfrm>
          <a:prstGeom prst="round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2907791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Impact"/>
              </a:rPr>
              <a:t>Typography and hierarchy are intentionally varied without rasterizing 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685031"/>
            <a:ext cx="2578608" cy="640080"/>
          </a:xfrm>
          <a:prstGeom prst="round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03903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Impact"/>
              </a:rPr>
              <a:t>Signature motifs remain editable while the exhibit image stays cited.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21608" y="3685031"/>
            <a:ext cx="2578608" cy="640080"/>
          </a:xfrm>
          <a:prstGeom prst="round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3803903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Impact"/>
              </a:rPr>
              <a:t>Dense object stacks test agent repair on crowded but readable layouts.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901952"/>
            <a:ext cx="2057400" cy="2057400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2148840"/>
            <a:ext cx="1554480" cy="15544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372600" y="1993392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46336" y="1993392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0072" y="1993392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93808" y="1993392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67544" y="1993392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1993392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15016" y="1993392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72600" y="2167128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46336" y="2167128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20072" y="2167128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93808" y="2167128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67544" y="2167128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41280" y="2167128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15016" y="2167128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72600" y="2340864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46336" y="2340864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20072" y="2340864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93808" y="2340864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67544" y="2340864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1280" y="2340864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15016" y="2340864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72600" y="2514600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46336" y="2514600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20072" y="2514600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93808" y="2514600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67544" y="2514600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41280" y="2514600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15016" y="2514600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72600" y="2688336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46336" y="2688336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20072" y="2688336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93808" y="2688336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67544" y="2688336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241280" y="2688336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415016" y="2688336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72600" y="2862072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46336" y="2862072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20072" y="2862072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93808" y="2862072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67544" y="2862072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41280" y="2862072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415016" y="2862072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72600" y="3035808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46336" y="3035808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720072" y="3035808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93808" y="3035808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67544" y="3035808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41280" y="3035808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15016" y="3035808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72600" y="3209544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46336" y="3209544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20072" y="3209544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893808" y="3209544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67544" y="3209544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241280" y="3209544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415016" y="3209544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72600" y="3383280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46336" y="3383280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20072" y="3383280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93808" y="3383280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67544" y="3383280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241280" y="3383280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415016" y="3383280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372600" y="3557016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546336" y="3557016"/>
            <a:ext cx="128016" cy="79369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720072" y="3557016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893808" y="3557016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67544" y="3557016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241280" y="3557016"/>
            <a:ext cx="128016" cy="79369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415016" y="3557016"/>
            <a:ext cx="128016" cy="79369"/>
          </a:xfrm>
          <a:prstGeom prst="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EDE8"/>
                </a:solidFill>
                <a:latin typeface="Impact"/>
              </a:rPr>
              <a:t>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A0A0A"/>
                </a:solidFill>
                <a:latin typeface="Impact"/>
              </a:rPr>
              <a:t>profile patterns are combined with varied dense object systems.</a:t>
            </a:r>
          </a:p>
        </p:txBody>
      </p:sp>
      <p:sp>
        <p:nvSpPr>
          <p:cNvPr id="98" name="Oval 97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EDE8"/>
                </a:solidFill>
                <a:latin typeface="Impact"/>
              </a:rP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A0A0A"/>
                </a:solidFill>
                <a:latin typeface="Impact"/>
              </a:rPr>
              <a:t>style locks are combined with varied dense object systems.</a:t>
            </a:r>
          </a:p>
        </p:txBody>
      </p:sp>
      <p:sp>
        <p:nvSpPr>
          <p:cNvPr id="101" name="Oval 100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EDE8"/>
                </a:solidFill>
                <a:latin typeface="Impact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A0A0A"/>
                </a:solidFill>
                <a:latin typeface="Impact"/>
              </a:rPr>
              <a:t>layout families are combined with varied dense object systems.</a:t>
            </a:r>
          </a:p>
        </p:txBody>
      </p:sp>
      <p:sp>
        <p:nvSpPr>
          <p:cNvPr id="104" name="Oval 103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EDE8"/>
                </a:solidFill>
                <a:latin typeface="Impact"/>
              </a:rPr>
              <a:t>81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A0A0A"/>
                </a:solidFill>
                <a:latin typeface="Impact"/>
              </a:rPr>
              <a:t>dense slides are combined with varied dense object systems.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0EDE8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1A1A1A"/>
                </a:solidFill>
                <a:latin typeface="Impact"/>
              </a:rPr>
              <a:t>density layer</a:t>
            </a:r>
          </a:p>
        </p:txBody>
      </p:sp>
      <p:sp>
        <p:nvSpPr>
          <p:cNvPr id="119" name="Oval 118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EDE8"/>
                </a:solidFill>
                <a:latin typeface="Impact"/>
              </a:rPr>
              <a:t>11</a:t>
            </a:r>
          </a:p>
        </p:txBody>
      </p:sp>
      <p:sp>
        <p:nvSpPr>
          <p:cNvPr id="121" name="Oval 120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EDE8"/>
                </a:solidFill>
                <a:latin typeface="Impact"/>
              </a:rPr>
              <a:t>30</a:t>
            </a:r>
          </a:p>
        </p:txBody>
      </p:sp>
      <p:sp>
        <p:nvSpPr>
          <p:cNvPr id="123" name="Oval 122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EDE8"/>
                </a:solidFill>
                <a:latin typeface="Impact"/>
              </a:rPr>
              <a:t>8</a:t>
            </a:r>
          </a:p>
        </p:txBody>
      </p:sp>
      <p:sp>
        <p:nvSpPr>
          <p:cNvPr id="125" name="Oval 124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AAAAA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EDE8"/>
                </a:solidFill>
                <a:latin typeface="Impact"/>
              </a:rPr>
              <a:t>81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Impact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FFD8C9"/>
                </a:solidFill>
                <a:latin typeface="Aptos Display"/>
              </a:rPr>
              <a:t>STRESS DEMO 23/81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 Display"/>
              </a:rPr>
              <a:t>Duotone Color Split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Display"/>
              </a:rPr>
              <a:t>This slide uses the Duotone Color Split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 Display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 Display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 Display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FFD8C9"/>
                </a:solidFill>
                <a:latin typeface="Aptos Display"/>
              </a:rPr>
              <a:t>Layout family: command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1965960"/>
            <a:ext cx="2057400" cy="749808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4500"/>
                </a:solidFill>
                <a:latin typeface="Aptos Display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objects tracked in a dense control surface.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7832" y="1965960"/>
            <a:ext cx="2057400" cy="749808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24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4500"/>
                </a:solidFill>
                <a:latin typeface="Aptos Display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families tracked in a dense control surface.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1965960"/>
            <a:ext cx="2057400" cy="749808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4500"/>
                </a:solidFill>
                <a:latin typeface="Aptos Display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collisions tracked in a dense control surface.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953512"/>
            <a:ext cx="2057400" cy="749808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4500"/>
                </a:solidFill>
                <a:latin typeface="Aptos Display"/>
              </a:rPr>
              <a:t>9pt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floor tracked in a dense control surface.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2953512"/>
            <a:ext cx="2057400" cy="749808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24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4500"/>
                </a:solidFill>
                <a:latin typeface="Aptos Display"/>
              </a:rPr>
              <a:t>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spec tracked in a dense control surface.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42432" y="2953512"/>
            <a:ext cx="2057400" cy="749808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070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4500"/>
                </a:solidFill>
                <a:latin typeface="Aptos Display"/>
              </a:rPr>
              <a:t>PPTX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Aptos Display"/>
              </a:rPr>
              <a:t>native tracked in a dense control surface.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195681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4232" y="195681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78824" y="1956816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43416" y="195681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195681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72600" y="195681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95681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01784" y="1956816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66376" y="195681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30967" y="195681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95559" y="195681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49640" y="2121408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14232" y="212140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78824" y="212140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43416" y="212140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08008" y="212140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72600" y="2121408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37192" y="212140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01784" y="212140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66376" y="212140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030967" y="212140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95559" y="2121408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49640" y="228600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14232" y="228600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78824" y="228600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43416" y="2286000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08008" y="228600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72600" y="228600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37192" y="228600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701784" y="228600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6376" y="2286000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30967" y="228600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95559" y="228600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49640" y="2450592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14232" y="2450592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78824" y="2450592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43416" y="2450592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08008" y="2450592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72600" y="2450592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37192" y="2450592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701784" y="2450592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66376" y="2450592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030967" y="2450592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95559" y="2450592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49640" y="2615184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714232" y="2615184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878824" y="2615184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43416" y="2615184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2615184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72600" y="2615184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37192" y="2615184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01784" y="2615184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66376" y="2615184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30967" y="2615184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195559" y="2615184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49640" y="277977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14232" y="277977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878824" y="2779776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43416" y="277977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08008" y="277977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372600" y="277977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537192" y="277977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701784" y="2779776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866376" y="2779776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30967" y="277977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195559" y="2779776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49640" y="2944368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14232" y="294436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78824" y="294436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43416" y="294436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208008" y="294436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72600" y="2944368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537192" y="294436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701784" y="2944368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866376" y="294436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30967" y="2944368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195559" y="2944368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49640" y="310896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14232" y="310896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78824" y="310896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043416" y="3108960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08008" y="310896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372600" y="310896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537192" y="310896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01784" y="310896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66376" y="3108960"/>
            <a:ext cx="118872" cy="737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030967" y="3108960"/>
            <a:ext cx="118872" cy="737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195559" y="3108960"/>
            <a:ext cx="118872" cy="7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4041648"/>
            <a:ext cx="932688" cy="932688"/>
          </a:xfrm>
          <a:prstGeom prst="rect">
            <a:avLst/>
          </a:prstGeom>
        </p:spPr>
      </p:pic>
      <p:sp>
        <p:nvSpPr>
          <p:cNvPr id="121" name="Oval 12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11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Aptos Display"/>
              </a:rPr>
              <a:t>profile patterns are combined with varied dense object systems.</a:t>
            </a:r>
          </a:p>
        </p:txBody>
      </p:sp>
      <p:sp>
        <p:nvSpPr>
          <p:cNvPr id="124" name="Oval 123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30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Aptos Display"/>
              </a:rPr>
              <a:t>style locks are combined with varied dense object systems.</a:t>
            </a:r>
          </a:p>
        </p:txBody>
      </p:sp>
      <p:sp>
        <p:nvSpPr>
          <p:cNvPr id="127" name="Oval 126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Aptos Display"/>
              </a:rPr>
              <a:t>layout families are combined with varied dense object systems.</a:t>
            </a:r>
          </a:p>
        </p:txBody>
      </p:sp>
      <p:sp>
        <p:nvSpPr>
          <p:cNvPr id="130" name="Oval 129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81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Aptos Display"/>
              </a:rPr>
              <a:t>dense slides are combined with varied dense object systems.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FD8C9"/>
                </a:solidFill>
                <a:latin typeface="Aptos Display"/>
              </a:rPr>
              <a:t>density layer</a:t>
            </a:r>
          </a:p>
        </p:txBody>
      </p:sp>
      <p:sp>
        <p:nvSpPr>
          <p:cNvPr id="145" name="Oval 144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11</a:t>
            </a:r>
          </a:p>
        </p:txBody>
      </p:sp>
      <p:sp>
        <p:nvSpPr>
          <p:cNvPr id="147" name="Oval 146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30</a:t>
            </a:r>
          </a:p>
        </p:txBody>
      </p:sp>
      <p:sp>
        <p:nvSpPr>
          <p:cNvPr id="149" name="Oval 148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151" name="Oval 150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81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FFD8C9"/>
                </a:solidFill>
                <a:latin typeface="Aptos Display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888888"/>
                </a:solidFill>
                <a:latin typeface="Arial"/>
              </a:rPr>
              <a:t>STRESS DEMO 24/81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Arial"/>
              </a:rPr>
              <a:t>Monochrome Minimal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0A0A0A"/>
                </a:solidFill>
                <a:latin typeface="Arial"/>
              </a:rPr>
              <a:t>This slide uses the Monochrome Minimal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AFAFA"/>
                </a:solidFill>
                <a:latin typeface="Arial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A0A0A"/>
                </a:solidFill>
                <a:latin typeface="Arial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A0A0A"/>
                </a:solidFill>
                <a:latin typeface="Arial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888888"/>
                </a:solidFill>
                <a:latin typeface="Arial"/>
              </a:rPr>
              <a:t>Layout family: lane weave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01952"/>
            <a:ext cx="1005840" cy="347472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02082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90195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202082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Arial"/>
              </a:rPr>
              <a:t>source handoff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190195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9352" y="202082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Arial"/>
              </a:rPr>
              <a:t>source handoff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90195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35240" y="190195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2450592"/>
            <a:ext cx="1005840" cy="347472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56946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A0A0A"/>
                </a:solidFill>
                <a:latin typeface="Arial"/>
              </a:rPr>
              <a:t>style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245059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256946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Arial"/>
              </a:rPr>
              <a:t>style handoff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245059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9352" y="256946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Arial"/>
              </a:rPr>
              <a:t>style handoff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245059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35240" y="245059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2999232"/>
            <a:ext cx="1005840" cy="347472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11810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layout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299923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311810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Arial"/>
              </a:rPr>
              <a:t>layout handoff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200" y="299923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311810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Arial"/>
              </a:rPr>
              <a:t>layout handoff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299923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35240" y="299923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" y="3547872"/>
            <a:ext cx="1005840" cy="347472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66674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A0A0A"/>
                </a:solidFill>
                <a:latin typeface="Arial"/>
              </a:rPr>
              <a:t>assets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354787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4832" y="366674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Arial"/>
              </a:rPr>
              <a:t>assets handoff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6200" y="354787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9352" y="366674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Arial"/>
              </a:rPr>
              <a:t>assets handoff 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354787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635240" y="354787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096512"/>
            <a:ext cx="1005840" cy="347472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21538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audit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11680" y="409651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84832" y="421538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Arial"/>
              </a:rPr>
              <a:t>audit handoff 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86200" y="409651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9352" y="421538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A0A0A"/>
                </a:solidFill>
                <a:latin typeface="Arial"/>
              </a:rPr>
              <a:t>audit handoff 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60720" y="409651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635240" y="4096512"/>
            <a:ext cx="1417320" cy="34747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029968"/>
            <a:ext cx="960120" cy="960120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A0A0A"/>
                </a:solidFill>
                <a:latin typeface="Arial"/>
              </a:rPr>
              <a:t>profile patterns are combined with varied dense object systems.</a:t>
            </a:r>
          </a:p>
        </p:txBody>
      </p:sp>
      <p:sp>
        <p:nvSpPr>
          <p:cNvPr id="58" name="Oval 57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A0A0A"/>
                </a:solidFill>
                <a:latin typeface="Arial"/>
              </a:rPr>
              <a:t>style locks are combined with varied dense object systems.</a:t>
            </a:r>
          </a:p>
        </p:txBody>
      </p:sp>
      <p:sp>
        <p:nvSpPr>
          <p:cNvPr id="61" name="Oval 60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A0A0A"/>
                </a:solidFill>
                <a:latin typeface="Arial"/>
              </a:rPr>
              <a:t>layout families are combined with varied dense object systems.</a:t>
            </a:r>
          </a:p>
        </p:txBody>
      </p:sp>
      <p:sp>
        <p:nvSpPr>
          <p:cNvPr id="64" name="Oval 63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A0A0A"/>
                </a:solidFill>
                <a:latin typeface="Arial"/>
              </a:rPr>
              <a:t>dense slides are combined with varied dense object systems.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888888"/>
                </a:solidFill>
                <a:latin typeface="Arial"/>
              </a:rPr>
              <a:t>density layer</a:t>
            </a:r>
          </a:p>
        </p:txBody>
      </p:sp>
      <p:sp>
        <p:nvSpPr>
          <p:cNvPr id="79" name="Oval 78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11</a:t>
            </a:r>
          </a:p>
        </p:txBody>
      </p:sp>
      <p:sp>
        <p:nvSpPr>
          <p:cNvPr id="81" name="Oval 80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30</a:t>
            </a:r>
          </a:p>
        </p:txBody>
      </p:sp>
      <p:sp>
        <p:nvSpPr>
          <p:cNvPr id="83" name="Oval 8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8</a:t>
            </a:r>
          </a:p>
        </p:txBody>
      </p:sp>
      <p:sp>
        <p:nvSpPr>
          <p:cNvPr id="85" name="Oval 84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AFAFA"/>
                </a:solidFill>
                <a:latin typeface="Arial"/>
              </a:rPr>
              <a:t>81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rial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8CFCE5"/>
                </a:solidFill>
                <a:latin typeface="Consolas"/>
              </a:rPr>
              <a:t>STRESS DEMO 25/81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00FFC8"/>
                </a:solidFill>
                <a:latin typeface="Consolas"/>
              </a:rPr>
              <a:t>Cyberpunk Outline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00FFC8"/>
                </a:solidFill>
                <a:latin typeface="Consolas"/>
              </a:rPr>
              <a:t>This slide uses the Cyberpunk Outline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0FFC8"/>
                </a:solidFill>
                <a:latin typeface="Consolas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0FFC8"/>
                </a:solidFill>
                <a:latin typeface="Consolas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00FFC8"/>
                </a:solidFill>
                <a:latin typeface="Consolas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8CFCE5"/>
                </a:solidFill>
                <a:latin typeface="Consolas"/>
              </a:rPr>
              <a:t>Layout family: editorial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29968"/>
            <a:ext cx="4800600" cy="25146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31136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00FFC8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2194560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00FFC8"/>
                </a:solidFill>
                <a:latin typeface="Consolas"/>
              </a:rPr>
              <a:t>Palette lock is visible in native fills, borders, and accent primitives.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00FFC8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724912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00FFC8"/>
                </a:solidFill>
                <a:latin typeface="Consolas"/>
              </a:rPr>
              <a:t>Typography and hierarchy are intentionally varied without rasterizing 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91839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00FFC8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255263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00FFC8"/>
                </a:solidFill>
                <a:latin typeface="Consolas"/>
              </a:rPr>
              <a:t>Signature motifs remain editable while the exhibit image stays cited.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822191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00FFC8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785615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00FFC8"/>
                </a:solidFill>
                <a:latin typeface="Consolas"/>
              </a:rPr>
              <a:t>Dense object stacks test agent repair on crowded but readable layouts.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938528"/>
            <a:ext cx="2606040" cy="2697480"/>
          </a:xfrm>
          <a:prstGeom prst="round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286000"/>
            <a:ext cx="1572768" cy="15727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53328" y="4096512"/>
            <a:ext cx="205740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00FFC8"/>
                </a:solidFill>
                <a:latin typeface="Consolas"/>
              </a:rPr>
              <a:t>GPT image infographic.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1993392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7424" y="1993392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9448" y="1993392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91472" y="1993392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83496" y="1993392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1993392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67544" y="1993392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59568" y="1993392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51592" y="1993392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2185416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07424" y="2185416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99448" y="2185416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91472" y="2185416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83496" y="2185416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75520" y="2185416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67544" y="2185416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59568" y="2185416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51592" y="2185416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15400" y="2377440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7424" y="2377440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99448" y="2377440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91472" y="2377440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83496" y="2377440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0" y="2377440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67544" y="2377440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59568" y="2377440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51592" y="2377440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15400" y="2569464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07424" y="2569464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99448" y="2569464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91472" y="2569464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83496" y="2569464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75520" y="2569464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67544" y="2569464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59568" y="2569464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51592" y="2569464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15400" y="2761488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07424" y="2761488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99448" y="2761488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91472" y="2761488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83496" y="2761488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875520" y="2761488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7544" y="2761488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59568" y="2761488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51592" y="2761488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15400" y="2953512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07424" y="2953512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99448" y="2953512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91472" y="2953512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83496" y="2953512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875520" y="2953512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067544" y="2953512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59568" y="2953512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451592" y="2953512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15400" y="3145536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07424" y="3145536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99448" y="3145536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91472" y="3145536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683496" y="3145536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875520" y="3145536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67544" y="3145536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259568" y="3145536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451592" y="3145536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915400" y="3337560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07424" y="3337560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99448" y="3337560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491472" y="3337560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683496" y="3337560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875520" y="3337560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67544" y="3337560"/>
            <a:ext cx="146304" cy="90708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259568" y="3337560"/>
            <a:ext cx="146304" cy="90708"/>
          </a:xfrm>
          <a:prstGeom prst="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451592" y="3337560"/>
            <a:ext cx="146304" cy="90708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FFC8"/>
                </a:solidFill>
                <a:latin typeface="Consolas"/>
              </a:rP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0FFC8"/>
                </a:solidFill>
                <a:latin typeface="Consolas"/>
              </a:rPr>
              <a:t>profile patterns are combined with varied dense object systems.</a:t>
            </a:r>
          </a:p>
        </p:txBody>
      </p:sp>
      <p:sp>
        <p:nvSpPr>
          <p:cNvPr id="101" name="Oval 100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FFC8"/>
                </a:solidFill>
                <a:latin typeface="Consolas"/>
              </a:rPr>
              <a:t>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0FFC8"/>
                </a:solidFill>
                <a:latin typeface="Consolas"/>
              </a:rPr>
              <a:t>style locks are combined with varied dense object systems.</a:t>
            </a:r>
          </a:p>
        </p:txBody>
      </p:sp>
      <p:sp>
        <p:nvSpPr>
          <p:cNvPr id="104" name="Oval 103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FFC8"/>
                </a:solidFill>
                <a:latin typeface="Consolas"/>
              </a:rPr>
              <a:t>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0FFC8"/>
                </a:solidFill>
                <a:latin typeface="Consolas"/>
              </a:rPr>
              <a:t>layout families are combined with varied dense object systems.</a:t>
            </a:r>
          </a:p>
        </p:txBody>
      </p:sp>
      <p:sp>
        <p:nvSpPr>
          <p:cNvPr id="107" name="Oval 10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FFC8"/>
                </a:solidFill>
                <a:latin typeface="Consolas"/>
              </a:rPr>
              <a:t>81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00FFC8"/>
                </a:solidFill>
                <a:latin typeface="Consolas"/>
              </a:rPr>
              <a:t>dense slides are combined with varied dense object systems.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8CFCE5"/>
                </a:solidFill>
                <a:latin typeface="Consolas"/>
              </a:rPr>
              <a:t>density layer</a:t>
            </a:r>
          </a:p>
        </p:txBody>
      </p:sp>
      <p:sp>
        <p:nvSpPr>
          <p:cNvPr id="122" name="Oval 121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FFC8"/>
                </a:solidFill>
                <a:latin typeface="Consolas"/>
              </a:rPr>
              <a:t>11</a:t>
            </a:r>
          </a:p>
        </p:txBody>
      </p:sp>
      <p:sp>
        <p:nvSpPr>
          <p:cNvPr id="124" name="Oval 123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FFC8"/>
                </a:solidFill>
                <a:latin typeface="Consolas"/>
              </a:rPr>
              <a:t>30</a:t>
            </a:r>
          </a:p>
        </p:txBody>
      </p:sp>
      <p:sp>
        <p:nvSpPr>
          <p:cNvPr id="126" name="Oval 125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16423A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FFC8"/>
                </a:solidFill>
                <a:latin typeface="Consolas"/>
              </a:rPr>
              <a:t>8</a:t>
            </a:r>
          </a:p>
        </p:txBody>
      </p:sp>
      <p:sp>
        <p:nvSpPr>
          <p:cNvPr id="128" name="Oval 127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00FFC8"/>
          </a:solidFill>
          <a:ln w="127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00FFC8"/>
                </a:solidFill>
                <a:latin typeface="Consolas"/>
              </a:rPr>
              <a:t>81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8CFCE5"/>
                </a:solidFill>
                <a:latin typeface="Consolas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Georgia"/>
              </a:rPr>
              <a:t>STRESS DEMO 26/81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Georgia"/>
              </a:rPr>
              <a:t>Editorial Magazine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Georgia"/>
              </a:rPr>
              <a:t>This slide uses the Editorial Magazine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Georgia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BBBBBB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A1A1A"/>
                </a:solidFill>
                <a:latin typeface="Georgia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A1A1A"/>
                </a:solidFill>
                <a:latin typeface="Georgia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555555"/>
                </a:solidFill>
                <a:latin typeface="Georgia"/>
              </a:rPr>
              <a:t>Layout family: bento overload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993392"/>
            <a:ext cx="2834640" cy="1170432"/>
          </a:xfrm>
          <a:prstGeom prst="roundRect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157984"/>
            <a:ext cx="254203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1">
                <a:solidFill>
                  <a:srgbClr val="FFFFFF"/>
                </a:solidFill>
                <a:latin typeface="Georgia"/>
              </a:rPr>
              <a:t>Palette lock is visible in native fills, borders, and accent primitives.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1993392"/>
            <a:ext cx="19659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8184" y="2157984"/>
            <a:ext cx="1673351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1A1A1A"/>
                </a:solidFill>
                <a:latin typeface="Georgia"/>
              </a:rPr>
              <a:t>Typography and hierarchy are intentionally varied without rasterizing 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1993392"/>
            <a:ext cx="2697480" cy="1874519"/>
          </a:xfrm>
          <a:prstGeom prst="roundRect">
            <a:avLst/>
          </a:prstGeom>
          <a:solidFill>
            <a:srgbClr val="BBBBBB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2157984"/>
            <a:ext cx="240487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1">
                <a:solidFill>
                  <a:srgbClr val="1A1A1A"/>
                </a:solidFill>
                <a:latin typeface="Georgia"/>
              </a:rPr>
              <a:t>Signature motifs remain editable while the exhibit image stays cited.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83280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547872"/>
            <a:ext cx="171907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1A1A1A"/>
                </a:solidFill>
                <a:latin typeface="Georgia"/>
              </a:rPr>
              <a:t>Dense object stacks test agent repair on crowded but readable layouts.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383280"/>
            <a:ext cx="2788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35224" y="3547872"/>
            <a:ext cx="249631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1A1A1A"/>
                </a:solidFill>
                <a:latin typeface="Georgia"/>
              </a:rPr>
              <a:t>Audit metadata records the design decision separately from the PPTX file.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993392"/>
            <a:ext cx="2057400" cy="2706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8824" y="2157984"/>
            <a:ext cx="176479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1A1A1A"/>
                </a:solidFill>
                <a:latin typeface="Georgia"/>
              </a:rPr>
              <a:t>Palette lock is visible in native fills, borders, and accent primitives.</a:t>
            </a:r>
          </a:p>
        </p:txBody>
      </p:sp>
      <p:pic>
        <p:nvPicPr>
          <p:cNvPr id="26" name="Picture 25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816352"/>
            <a:ext cx="914400" cy="9144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Georgia"/>
              </a:rPr>
              <a:t>profile patterns are combined with varied dense object systems.</a:t>
            </a:r>
          </a:p>
        </p:txBody>
      </p:sp>
      <p:sp>
        <p:nvSpPr>
          <p:cNvPr id="30" name="Oval 29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BBBBBB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Georgia"/>
              </a:rPr>
              <a:t>style locks are combined with varied dense object systems.</a:t>
            </a:r>
          </a:p>
        </p:txBody>
      </p:sp>
      <p:sp>
        <p:nvSpPr>
          <p:cNvPr id="33" name="Oval 3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Georgia"/>
              </a:rPr>
              <a:t>layout families are combined with varied dense object systems.</a:t>
            </a:r>
          </a:p>
        </p:txBody>
      </p:sp>
      <p:sp>
        <p:nvSpPr>
          <p:cNvPr id="36" name="Oval 35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BBBBBB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Georgia"/>
              </a:rPr>
              <a:t>dense slides are combined with varied dense object systems.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BBBBBB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BBBBBB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BBBBBB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55555"/>
                </a:solidFill>
                <a:latin typeface="Georgia"/>
              </a:rPr>
              <a:t>density layer</a:t>
            </a:r>
          </a:p>
        </p:txBody>
      </p:sp>
      <p:sp>
        <p:nvSpPr>
          <p:cNvPr id="51" name="Oval 5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11</a:t>
            </a:r>
          </a:p>
        </p:txBody>
      </p:sp>
      <p:sp>
        <p:nvSpPr>
          <p:cNvPr id="53" name="Oval 52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BBBBBB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30</a:t>
            </a:r>
          </a:p>
        </p:txBody>
      </p:sp>
      <p:sp>
        <p:nvSpPr>
          <p:cNvPr id="55" name="Oval 54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57" name="Oval 5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BBBBBB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81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Georgia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6E8"/>
          </a:solidFill>
          <a:ln w="1270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F9C6E8"/>
          </a:solidFill>
          <a:ln w="1270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716B86"/>
                </a:solidFill>
                <a:latin typeface="Aptos"/>
              </a:rPr>
              <a:t>STRESS DEMO 27/81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2A2840"/>
                </a:solidFill>
                <a:latin typeface="Aptos"/>
              </a:rPr>
              <a:t>Pastel Soft UI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2A2840"/>
                </a:solidFill>
                <a:latin typeface="Aptos"/>
              </a:rPr>
              <a:t>This slide uses the Pastel Soft UI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2A2840"/>
                </a:solidFill>
                <a:latin typeface="Aptos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2A2840"/>
                </a:solidFill>
                <a:latin typeface="Aptos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7E8F5"/>
          </a:solidFill>
          <a:ln w="12700">
            <a:solidFill>
              <a:srgbClr val="F9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2A2840"/>
                </a:solidFill>
                <a:latin typeface="Aptos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716B86"/>
                </a:solidFill>
                <a:latin typeface="Aptos"/>
              </a:rPr>
              <a:t>Layout family: radial control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1664207" y="2377440"/>
            <a:ext cx="3474721" cy="896112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97280" y="2148840"/>
            <a:ext cx="1143000" cy="457200"/>
          </a:xfrm>
          <a:prstGeom prst="roundRect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229514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A2840"/>
                </a:solidFill>
                <a:latin typeface="Aptos"/>
              </a:rPr>
              <a:t>Palette lock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3447288" y="1947672"/>
            <a:ext cx="1691640" cy="132588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1719072"/>
            <a:ext cx="1143000" cy="457200"/>
          </a:xfrm>
          <a:prstGeom prst="roundRect">
            <a:avLst/>
          </a:prstGeom>
          <a:solidFill>
            <a:srgbClr val="F7E8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18653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A2840"/>
                </a:solidFill>
                <a:latin typeface="Aptos"/>
              </a:rPr>
              <a:t>Typography and hierarchy are intentionally varied without rasterizing text.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138928" y="1947672"/>
            <a:ext cx="2148840" cy="132588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0840" y="1719072"/>
            <a:ext cx="1143000" cy="457200"/>
          </a:xfrm>
          <a:prstGeom prst="roundRect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18653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A2840"/>
                </a:solidFill>
                <a:latin typeface="Aptos"/>
              </a:rPr>
              <a:t>Signature motifs remain editable while the exhibit image stays cited.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138928" y="2560320"/>
            <a:ext cx="3977639" cy="713232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49640" y="2331720"/>
            <a:ext cx="1143000" cy="457200"/>
          </a:xfrm>
          <a:prstGeom prst="roundRect">
            <a:avLst/>
          </a:prstGeom>
          <a:solidFill>
            <a:srgbClr val="F7E8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247802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A2840"/>
                </a:solidFill>
                <a:latin typeface="Aptos"/>
              </a:rPr>
              <a:t>Dense object stacks test agent repair on crowded but readable layouts.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38928" y="3273552"/>
            <a:ext cx="3154679" cy="1271016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26679" y="4315968"/>
            <a:ext cx="1143000" cy="457200"/>
          </a:xfrm>
          <a:prstGeom prst="roundRect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4462272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A2840"/>
                </a:solidFill>
                <a:latin typeface="Aptos"/>
              </a:rPr>
              <a:t>Audit metadata records the design decision separately from the PPTX file.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310128" y="3273552"/>
            <a:ext cx="1828800" cy="1572768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743200" y="4617720"/>
            <a:ext cx="1143000" cy="457200"/>
          </a:xfrm>
          <a:prstGeom prst="roundRect">
            <a:avLst/>
          </a:prstGeom>
          <a:solidFill>
            <a:srgbClr val="F7E8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476402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A2840"/>
                </a:solidFill>
                <a:latin typeface="Aptos"/>
              </a:rPr>
              <a:t>Palette lock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527048" y="3273552"/>
            <a:ext cx="3611880" cy="795528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0120" y="3840480"/>
            <a:ext cx="1143000" cy="457200"/>
          </a:xfrm>
          <a:prstGeom prst="roundRect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" y="398678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A2840"/>
                </a:solidFill>
                <a:latin typeface="Aptos"/>
              </a:rPr>
              <a:t>Typography and hierarchy are intentionally varied without rasterizing text.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2615184"/>
            <a:ext cx="1316736" cy="1316736"/>
          </a:xfrm>
          <a:prstGeom prst="ellipse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054096"/>
            <a:ext cx="768096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50" b="1">
                <a:solidFill>
                  <a:srgbClr val="2A2840"/>
                </a:solidFill>
                <a:latin typeface="Aptos"/>
              </a:rPr>
              <a:t>style
lock</a:t>
            </a:r>
          </a:p>
        </p:txBody>
      </p:sp>
      <p:pic>
        <p:nvPicPr>
          <p:cNvPr id="37" name="Picture 36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407408"/>
            <a:ext cx="868680" cy="86868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2A2840"/>
                </a:solidFill>
                <a:latin typeface="Aptos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A2840"/>
                </a:solidFill>
                <a:latin typeface="Aptos"/>
              </a:rPr>
              <a:t>profile patterns are combined with varied dense object systems.</a:t>
            </a:r>
          </a:p>
        </p:txBody>
      </p:sp>
      <p:sp>
        <p:nvSpPr>
          <p:cNvPr id="41" name="Oval 40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2A2840"/>
                </a:solidFill>
                <a:latin typeface="Aptos"/>
              </a:rPr>
              <a:t>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A2840"/>
                </a:solidFill>
                <a:latin typeface="Aptos"/>
              </a:rPr>
              <a:t>style locks are combined with varied dense object systems.</a:t>
            </a:r>
          </a:p>
        </p:txBody>
      </p:sp>
      <p:sp>
        <p:nvSpPr>
          <p:cNvPr id="44" name="Oval 43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2A2840"/>
                </a:solidFill>
                <a:latin typeface="Aptos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A2840"/>
                </a:solidFill>
                <a:latin typeface="Aptos"/>
              </a:rPr>
              <a:t>layout families are combined with varied dense object systems.</a:t>
            </a:r>
          </a:p>
        </p:txBody>
      </p:sp>
      <p:sp>
        <p:nvSpPr>
          <p:cNvPr id="47" name="Oval 46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2A2840"/>
                </a:solidFill>
                <a:latin typeface="Aptos"/>
              </a:rPr>
              <a:t>81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2A2840"/>
                </a:solidFill>
                <a:latin typeface="Aptos"/>
              </a:rPr>
              <a:t>dense slides are combined with varied dense object systems.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7E8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716B86"/>
                </a:solidFill>
                <a:latin typeface="Aptos"/>
              </a:rPr>
              <a:t>density layer</a:t>
            </a:r>
          </a:p>
        </p:txBody>
      </p:sp>
      <p:sp>
        <p:nvSpPr>
          <p:cNvPr id="62" name="Oval 61"/>
          <p:cNvSpPr/>
          <p:nvPr/>
        </p:nvSpPr>
        <p:spPr>
          <a:xfrm>
            <a:off x="4480560" y="2615184"/>
            <a:ext cx="1316736" cy="1316736"/>
          </a:xfrm>
          <a:prstGeom prst="ellipse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4880" y="3054096"/>
            <a:ext cx="768096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50" b="1">
                <a:solidFill>
                  <a:srgbClr val="2A2840"/>
                </a:solidFill>
                <a:latin typeface="Aptos"/>
              </a:rPr>
              <a:t>style
lock</a:t>
            </a:r>
          </a:p>
        </p:txBody>
      </p:sp>
      <p:sp>
        <p:nvSpPr>
          <p:cNvPr id="64" name="Oval 63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2A2840"/>
                </a:solidFill>
                <a:latin typeface="Aptos"/>
              </a:rPr>
              <a:t>11</a:t>
            </a:r>
          </a:p>
        </p:txBody>
      </p:sp>
      <p:sp>
        <p:nvSpPr>
          <p:cNvPr id="66" name="Oval 65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2A2840"/>
                </a:solidFill>
                <a:latin typeface="Aptos"/>
              </a:rPr>
              <a:t>30</a:t>
            </a:r>
          </a:p>
        </p:txBody>
      </p:sp>
      <p:sp>
        <p:nvSpPr>
          <p:cNvPr id="68" name="Oval 67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C6E8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2A2840"/>
                </a:solidFill>
                <a:latin typeface="Aptos"/>
              </a:rPr>
              <a:t>8</a:t>
            </a:r>
          </a:p>
        </p:txBody>
      </p:sp>
      <p:sp>
        <p:nvSpPr>
          <p:cNvPr id="70" name="Oval 69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F9C6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2A2840"/>
                </a:solidFill>
                <a:latin typeface="Aptos"/>
              </a:rPr>
              <a:t>81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716B86"/>
                </a:solidFill>
                <a:latin typeface="Aptos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FFC4E4"/>
                </a:solidFill>
                <a:latin typeface="Impact"/>
              </a:rPr>
              <a:t>STRESS DEMO 28/81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mpact"/>
              </a:rPr>
              <a:t>Dark Neon Miami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mpact"/>
              </a:rPr>
              <a:t>This slide uses the Dark Neon Miami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Impact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Impact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0A0014"/>
          </a:solidFill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Impact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FFC4E4"/>
                </a:solidFill>
                <a:latin typeface="Impact"/>
              </a:rPr>
              <a:t>Layout family: timeline 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029968"/>
            <a:ext cx="91440" cy="2880360"/>
          </a:xfrm>
          <a:prstGeom prst="rect">
            <a:avLst/>
          </a:prstGeom>
          <a:solidFill>
            <a:srgbClr val="FF0080"/>
          </a:solidFill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" y="2011680"/>
            <a:ext cx="438912" cy="43891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30552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75688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Palette lock is visible in native fills, borders, and accent primitives.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2578608"/>
            <a:ext cx="438912" cy="438912"/>
          </a:xfrm>
          <a:prstGeom prst="ellipse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97480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642616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Typography and hierarchy are intentionally varied without rasterizing text.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3145536"/>
            <a:ext cx="438912" cy="43891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64408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209544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Signature motifs remain editable while the exhibit image stays cited.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3712464"/>
            <a:ext cx="438912" cy="438912"/>
          </a:xfrm>
          <a:prstGeom prst="ellipse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31336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3776472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Dense object stacks test agent repair on crowded but readable layouts.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" y="4279392"/>
            <a:ext cx="438912" cy="43891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98264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343400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Audit metadata records the design decision separately from the PPTX file.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96128" y="2057400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720" y="205740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25312" y="2057400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9904" y="205740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54496" y="2057400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19088" y="205740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205740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48272" y="2057400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12864" y="2057400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77456" y="205740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42048" y="205740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06640" y="205740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71232" y="2057400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35824" y="205740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96128" y="2221992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720" y="222199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25312" y="222199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9904" y="2221992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54496" y="222199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19088" y="2221992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0" y="222199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48272" y="2221992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12864" y="222199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77456" y="222199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42048" y="2221992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06640" y="2221992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71232" y="222199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35824" y="222199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96128" y="238658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60720" y="238658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25312" y="2386584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89904" y="2386584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54496" y="238658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19088" y="238658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0" y="2386584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48272" y="238658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12864" y="2386584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77456" y="238658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242048" y="2386584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06640" y="238658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71232" y="238658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35824" y="2386584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596128" y="255117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760720" y="2551176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25312" y="255117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89904" y="255117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54496" y="255117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19088" y="2551176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3680" y="2551176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48272" y="255117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12864" y="255117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77456" y="2551176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42048" y="255117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06640" y="2551176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71232" y="255117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35824" y="2551176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596128" y="2715768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760720" y="2715768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925312" y="2715768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89904" y="2715768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54496" y="2715768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419088" y="2715768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583680" y="2715768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748272" y="2715768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12864" y="2715768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077456" y="2715768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242048" y="2715768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406640" y="2715768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71232" y="2715768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35824" y="2715768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596128" y="288036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288036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25312" y="2880360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089904" y="2880360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254496" y="288036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19088" y="288036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83680" y="288036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748272" y="2880360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912864" y="288036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077456" y="288036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242048" y="288036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406640" y="2880360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571232" y="2880360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735824" y="2880360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596128" y="3044952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760720" y="304495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25312" y="3044952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89904" y="304495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54496" y="304495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19088" y="3044952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83680" y="3044952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748272" y="304495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912864" y="304495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077456" y="304495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242048" y="3044952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406640" y="304495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571232" y="304495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735824" y="3044952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596128" y="320954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760720" y="3209544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925312" y="320954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089904" y="3209544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254496" y="320954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419088" y="3209544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83680" y="320954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748272" y="320954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912864" y="3209544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077456" y="3209544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242048" y="320954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406640" y="320954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571232" y="3209544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735824" y="3209544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596128" y="3374136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760720" y="3374136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925312" y="337413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089904" y="337413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254496" y="3374136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419088" y="337413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583680" y="3374136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748272" y="337413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912864" y="3374136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077456" y="337413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242048" y="337413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406640" y="3374136"/>
            <a:ext cx="118872" cy="7370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571232" y="3374136"/>
            <a:ext cx="118872" cy="7370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735824" y="3374136"/>
            <a:ext cx="118872" cy="73700"/>
          </a:xfrm>
          <a:prstGeom prst="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Picture 155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2084831"/>
            <a:ext cx="1234440" cy="1234440"/>
          </a:xfrm>
          <a:prstGeom prst="rect">
            <a:avLst/>
          </a:prstGeom>
        </p:spPr>
      </p:pic>
      <p:sp>
        <p:nvSpPr>
          <p:cNvPr id="157" name="Oval 156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11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profile patterns are combined with varied dense object systems.</a:t>
            </a:r>
          </a:p>
        </p:txBody>
      </p:sp>
      <p:sp>
        <p:nvSpPr>
          <p:cNvPr id="160" name="Oval 159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30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style locks are combined with varied dense object systems.</a:t>
            </a:r>
          </a:p>
        </p:txBody>
      </p:sp>
      <p:sp>
        <p:nvSpPr>
          <p:cNvPr id="163" name="Oval 16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layout families are combined with varied dense object systems.</a:t>
            </a:r>
          </a:p>
        </p:txBody>
      </p:sp>
      <p:sp>
        <p:nvSpPr>
          <p:cNvPr id="166" name="Oval 165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dense slides are combined with varied dense object systems.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0A0014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FC4E4"/>
                </a:solidFill>
                <a:latin typeface="Impact"/>
              </a:rPr>
              <a:t>density layer</a:t>
            </a:r>
          </a:p>
        </p:txBody>
      </p:sp>
      <p:sp>
        <p:nvSpPr>
          <p:cNvPr id="181" name="Oval 180"/>
          <p:cNvSpPr/>
          <p:nvPr/>
        </p:nvSpPr>
        <p:spPr>
          <a:xfrm>
            <a:off x="566928" y="2011680"/>
            <a:ext cx="438912" cy="43891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85800" y="2130552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83" name="Oval 182"/>
          <p:cNvSpPr/>
          <p:nvPr/>
        </p:nvSpPr>
        <p:spPr>
          <a:xfrm>
            <a:off x="566928" y="2578608"/>
            <a:ext cx="438912" cy="438912"/>
          </a:xfrm>
          <a:prstGeom prst="ellipse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85800" y="2697480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185" name="Oval 184"/>
          <p:cNvSpPr/>
          <p:nvPr/>
        </p:nvSpPr>
        <p:spPr>
          <a:xfrm>
            <a:off x="566928" y="3145536"/>
            <a:ext cx="438912" cy="43891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85800" y="3264408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187" name="Oval 186"/>
          <p:cNvSpPr/>
          <p:nvPr/>
        </p:nvSpPr>
        <p:spPr>
          <a:xfrm>
            <a:off x="566928" y="3712464"/>
            <a:ext cx="438912" cy="438912"/>
          </a:xfrm>
          <a:prstGeom prst="ellipse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85800" y="3831336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4</a:t>
            </a:r>
          </a:p>
        </p:txBody>
      </p:sp>
      <p:sp>
        <p:nvSpPr>
          <p:cNvPr id="189" name="Oval 188"/>
          <p:cNvSpPr/>
          <p:nvPr/>
        </p:nvSpPr>
        <p:spPr>
          <a:xfrm>
            <a:off x="566928" y="4279392"/>
            <a:ext cx="438912" cy="43891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5800" y="4398264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Impact"/>
              </a:rPr>
              <a:t>5</a:t>
            </a:r>
          </a:p>
        </p:txBody>
      </p:sp>
      <p:sp>
        <p:nvSpPr>
          <p:cNvPr id="191" name="Oval 19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11</a:t>
            </a:r>
          </a:p>
        </p:txBody>
      </p:sp>
      <p:sp>
        <p:nvSpPr>
          <p:cNvPr id="193" name="Oval 192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30</a:t>
            </a:r>
          </a:p>
        </p:txBody>
      </p:sp>
      <p:sp>
        <p:nvSpPr>
          <p:cNvPr id="195" name="Oval 194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F0080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</a:t>
            </a:r>
          </a:p>
        </p:txBody>
      </p:sp>
      <p:sp>
        <p:nvSpPr>
          <p:cNvPr id="197" name="Oval 19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9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FFC4E4"/>
                </a:solidFill>
                <a:latin typeface="Impact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A87850"/>
                </a:solidFill>
                <a:latin typeface="Georgia"/>
              </a:rPr>
              <a:t>STRESS DEMO 29/81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6B4C2A"/>
                </a:solidFill>
                <a:latin typeface="Georgia"/>
              </a:rPr>
              <a:t>Hand-crafted Organic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6B4C2A"/>
                </a:solidFill>
                <a:latin typeface="Georgia"/>
              </a:rPr>
              <a:t>This slide uses the Hand-crafted Organic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DF6EE"/>
                </a:solidFill>
                <a:latin typeface="Georgia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73915A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6B4C2A"/>
                </a:solidFill>
                <a:latin typeface="Georgia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DF6EE"/>
          </a:solidFill>
          <a:ln w="12700">
            <a:solidFill>
              <a:srgbClr val="C8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6B4C2A"/>
                </a:solidFill>
                <a:latin typeface="Georgia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A87850"/>
                </a:solidFill>
                <a:latin typeface="Georgia"/>
              </a:rPr>
              <a:t>Layout family: layered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1965960"/>
            <a:ext cx="6217920" cy="384048"/>
          </a:xfrm>
          <a:prstGeom prst="rect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07568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DF6EE"/>
                </a:solidFill>
                <a:latin typeface="Georgia"/>
              </a:rPr>
              <a:t>Palette lock is visible in native fills, borders, and accent primitives.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" y="2468880"/>
            <a:ext cx="5870448" cy="384048"/>
          </a:xfrm>
          <a:prstGeom prst="rect">
            <a:avLst/>
          </a:prstGeom>
          <a:solidFill>
            <a:srgbClr val="FDF6EE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5" y="257860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4C2A"/>
                </a:solidFill>
                <a:latin typeface="Georgia"/>
              </a:rPr>
              <a:t>Typography and hierarchy are intentionally varied without rasterizing 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971800"/>
            <a:ext cx="5522976" cy="384048"/>
          </a:xfrm>
          <a:prstGeom prst="rect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308152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DF6EE"/>
                </a:solidFill>
                <a:latin typeface="Georgia"/>
              </a:rPr>
              <a:t>Signature motifs remain editable while the exhibit image stays cited.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82495" y="3474720"/>
            <a:ext cx="5175504" cy="384048"/>
          </a:xfrm>
          <a:prstGeom prst="rect">
            <a:avLst/>
          </a:prstGeom>
          <a:solidFill>
            <a:srgbClr val="FDF6EE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47088" y="358444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4C2A"/>
                </a:solidFill>
                <a:latin typeface="Georgia"/>
              </a:rPr>
              <a:t>Dense object stacks test agent repair on crowded but readable layouts.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3392" y="3977639"/>
            <a:ext cx="4828031" cy="384048"/>
          </a:xfrm>
          <a:prstGeom prst="rect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57984" y="408736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DF6EE"/>
                </a:solidFill>
                <a:latin typeface="Georgia"/>
              </a:rPr>
              <a:t>Audit metadata records the design decision separately from the PPTX 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54112" y="2011680"/>
            <a:ext cx="914400" cy="310896"/>
          </a:xfrm>
          <a:prstGeom prst="rect">
            <a:avLst/>
          </a:prstGeom>
          <a:solidFill>
            <a:srgbClr val="FDF6EE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2112264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6B4C2A"/>
                </a:solidFill>
                <a:latin typeface="Georgia"/>
              </a:rPr>
              <a:t>check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2011680"/>
            <a:ext cx="914400" cy="310896"/>
          </a:xfrm>
          <a:prstGeom prst="rect">
            <a:avLst/>
          </a:prstGeom>
          <a:solidFill>
            <a:srgbClr val="FDF6EE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112264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6B4C2A"/>
                </a:solidFill>
                <a:latin typeface="Georgia"/>
              </a:rPr>
              <a:t>check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2542032"/>
            <a:ext cx="914400" cy="310896"/>
          </a:xfrm>
          <a:prstGeom prst="rect">
            <a:avLst/>
          </a:prstGeom>
          <a:solidFill>
            <a:srgbClr val="FDF6EE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2642616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6B4C2A"/>
                </a:solidFill>
                <a:latin typeface="Georgia"/>
              </a:rPr>
              <a:t>check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9408" y="2542032"/>
            <a:ext cx="914400" cy="310896"/>
          </a:xfrm>
          <a:prstGeom prst="rect">
            <a:avLst/>
          </a:prstGeom>
          <a:solidFill>
            <a:srgbClr val="FDF6EE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642616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6B4C2A"/>
                </a:solidFill>
                <a:latin typeface="Georgia"/>
              </a:rPr>
              <a:t>check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4112" y="3072384"/>
            <a:ext cx="914400" cy="310896"/>
          </a:xfrm>
          <a:prstGeom prst="rect">
            <a:avLst/>
          </a:prstGeom>
          <a:solidFill>
            <a:srgbClr val="FDF6EE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3172968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6B4C2A"/>
                </a:solidFill>
                <a:latin typeface="Georgia"/>
              </a:rPr>
              <a:t>check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9408" y="3072384"/>
            <a:ext cx="914400" cy="310896"/>
          </a:xfrm>
          <a:prstGeom prst="rect">
            <a:avLst/>
          </a:prstGeom>
          <a:solidFill>
            <a:srgbClr val="FDF6EE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0848" y="3172968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6B4C2A"/>
                </a:solidFill>
                <a:latin typeface="Georgia"/>
              </a:rPr>
              <a:t>check 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54112" y="3602736"/>
            <a:ext cx="914400" cy="310896"/>
          </a:xfrm>
          <a:prstGeom prst="rect">
            <a:avLst/>
          </a:prstGeom>
          <a:solidFill>
            <a:srgbClr val="FDF6EE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3703320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6B4C2A"/>
                </a:solidFill>
                <a:latin typeface="Georgia"/>
              </a:rPr>
              <a:t>check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79408" y="3602736"/>
            <a:ext cx="914400" cy="310896"/>
          </a:xfrm>
          <a:prstGeom prst="rect">
            <a:avLst/>
          </a:prstGeom>
          <a:solidFill>
            <a:srgbClr val="FDF6EE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3703320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6B4C2A"/>
                </a:solidFill>
                <a:latin typeface="Georgia"/>
              </a:rPr>
              <a:t>check 8</a:t>
            </a:r>
          </a:p>
        </p:txBody>
      </p:sp>
      <p:pic>
        <p:nvPicPr>
          <p:cNvPr id="40" name="Picture 39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0"/>
            <a:ext cx="804672" cy="804672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73915A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Georgia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6B4C2A"/>
                </a:solidFill>
                <a:latin typeface="Georgia"/>
              </a:rPr>
              <a:t>profile patterns are combined with varied dense object systems.</a:t>
            </a:r>
          </a:p>
        </p:txBody>
      </p:sp>
      <p:sp>
        <p:nvSpPr>
          <p:cNvPr id="44" name="Oval 43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Georgia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6B4C2A"/>
                </a:solidFill>
                <a:latin typeface="Georgia"/>
              </a:rPr>
              <a:t>style locks are combined with varied dense object systems.</a:t>
            </a:r>
          </a:p>
        </p:txBody>
      </p:sp>
      <p:sp>
        <p:nvSpPr>
          <p:cNvPr id="47" name="Oval 46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73915A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Georgia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6B4C2A"/>
                </a:solidFill>
                <a:latin typeface="Georgia"/>
              </a:rPr>
              <a:t>layout families are combined with varied dense object systems.</a:t>
            </a:r>
          </a:p>
        </p:txBody>
      </p:sp>
      <p:sp>
        <p:nvSpPr>
          <p:cNvPr id="50" name="Oval 49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Georgia"/>
              </a:rPr>
              <a:t>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6B4C2A"/>
                </a:solidFill>
                <a:latin typeface="Georgia"/>
              </a:rPr>
              <a:t>dense slides are combined with varied dense object systems.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73915A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73915A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73915A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DF6EE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A87850"/>
                </a:solidFill>
                <a:latin typeface="Georgia"/>
              </a:rPr>
              <a:t>density layer</a:t>
            </a:r>
          </a:p>
        </p:txBody>
      </p:sp>
      <p:sp>
        <p:nvSpPr>
          <p:cNvPr id="65" name="Oval 64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73915A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Georgia"/>
              </a:rPr>
              <a:t>11</a:t>
            </a:r>
          </a:p>
        </p:txBody>
      </p:sp>
      <p:sp>
        <p:nvSpPr>
          <p:cNvPr id="67" name="Oval 66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Georgia"/>
              </a:rPr>
              <a:t>30</a:t>
            </a:r>
          </a:p>
        </p:txBody>
      </p:sp>
      <p:sp>
        <p:nvSpPr>
          <p:cNvPr id="69" name="Oval 68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73915A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Georgia"/>
              </a:rPr>
              <a:t>8</a:t>
            </a:r>
          </a:p>
        </p:txBody>
      </p:sp>
      <p:sp>
        <p:nvSpPr>
          <p:cNvPr id="71" name="Oval 70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C8A882"/>
          </a:solidFill>
          <a:ln w="12700">
            <a:solidFill>
              <a:srgbClr val="6B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Georgia"/>
              </a:rPr>
              <a:t>81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A87850"/>
                </a:solidFill>
                <a:latin typeface="Georgia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 w="1270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7C6FFF"/>
          </a:solidFill>
          <a:ln w="1270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C9C5FF"/>
                </a:solidFill>
                <a:latin typeface="Consolas"/>
              </a:rPr>
              <a:t>STRESS DEMO 30/81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nsolas"/>
              </a:rPr>
              <a:t>Isometric 3D Flat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This slide uses the Isometric 3D Flat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Consolas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Consolas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7C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Consolas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C9C5FF"/>
                </a:solidFill>
                <a:latin typeface="Consolas"/>
              </a:rPr>
              <a:t>Layout family: magazine collage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01952"/>
            <a:ext cx="5120640" cy="5029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2200" b="1">
                <a:solidFill>
                  <a:srgbClr val="7C6FFF"/>
                </a:solidFill>
                <a:latin typeface="Consolas"/>
              </a:rPr>
              <a:t>ISOMETRIC 3D FLAT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88920"/>
            <a:ext cx="2578608" cy="6400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907791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Consolas"/>
              </a:rPr>
              <a:t>Palette lock is visible in native fills, borders, and accent primitives.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21608" y="2788920"/>
            <a:ext cx="2578608" cy="6400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2907791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Consolas"/>
              </a:rPr>
              <a:t>Typography and hierarchy are intentionally varied without rasterizing 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685031"/>
            <a:ext cx="2578608" cy="6400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03903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Consolas"/>
              </a:rPr>
              <a:t>Signature motifs remain editable while the exhibit image stays cited.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21608" y="3685031"/>
            <a:ext cx="2578608" cy="6400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3803903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Consolas"/>
              </a:rPr>
              <a:t>Dense object stacks test agent repair on crowded but readable layouts.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901952"/>
            <a:ext cx="2057400" cy="2057400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2148840"/>
            <a:ext cx="1554480" cy="15544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372600" y="1993392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46336" y="1993392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0072" y="1993392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93808" y="1993392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67544" y="1993392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1993392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15016" y="1993392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72600" y="2167128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46336" y="2167128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20072" y="2167128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93808" y="2167128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67544" y="2167128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41280" y="2167128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15016" y="2167128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72600" y="2340864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46336" y="2340864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20072" y="2340864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93808" y="2340864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67544" y="2340864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1280" y="2340864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15016" y="2340864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72600" y="2514600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46336" y="2514600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20072" y="2514600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93808" y="2514600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67544" y="2514600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41280" y="2514600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15016" y="2514600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72600" y="2688336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46336" y="2688336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20072" y="2688336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93808" y="2688336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67544" y="2688336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241280" y="2688336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415016" y="2688336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72600" y="2862072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46336" y="2862072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20072" y="2862072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93808" y="2862072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67544" y="2862072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41280" y="2862072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415016" y="2862072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72600" y="3035808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46336" y="3035808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720072" y="3035808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93808" y="3035808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67544" y="3035808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41280" y="3035808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15016" y="3035808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72600" y="3209544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46336" y="3209544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20072" y="3209544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893808" y="3209544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67544" y="3209544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241280" y="3209544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415016" y="3209544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72600" y="3383280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46336" y="3383280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20072" y="3383280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93808" y="3383280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67544" y="3383280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241280" y="3383280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415016" y="3383280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372600" y="3557016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546336" y="3557016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720072" y="3557016"/>
            <a:ext cx="128016" cy="79369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893808" y="3557016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67544" y="3557016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241280" y="3557016"/>
            <a:ext cx="128016" cy="79369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415016" y="3557016"/>
            <a:ext cx="128016" cy="79369"/>
          </a:xfrm>
          <a:prstGeom prst="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Consolas"/>
              </a:rPr>
              <a:t>profile patterns are combined with varied dense object systems.</a:t>
            </a:r>
          </a:p>
        </p:txBody>
      </p:sp>
      <p:sp>
        <p:nvSpPr>
          <p:cNvPr id="98" name="Oval 97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Consolas"/>
              </a:rPr>
              <a:t>style locks are combined with varied dense object systems.</a:t>
            </a:r>
          </a:p>
        </p:txBody>
      </p:sp>
      <p:sp>
        <p:nvSpPr>
          <p:cNvPr id="101" name="Oval 100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Consolas"/>
              </a:rPr>
              <a:t>layout families are combined with varied dense object systems.</a:t>
            </a:r>
          </a:p>
        </p:txBody>
      </p:sp>
      <p:sp>
        <p:nvSpPr>
          <p:cNvPr id="104" name="Oval 103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81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Consolas"/>
              </a:rPr>
              <a:t>dense slides are combined with varied dense object systems.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C9C5FF"/>
                </a:solidFill>
                <a:latin typeface="Consolas"/>
              </a:rPr>
              <a:t>density layer</a:t>
            </a:r>
          </a:p>
        </p:txBody>
      </p:sp>
      <p:sp>
        <p:nvSpPr>
          <p:cNvPr id="119" name="Oval 118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11</a:t>
            </a:r>
          </a:p>
        </p:txBody>
      </p:sp>
      <p:sp>
        <p:nvSpPr>
          <p:cNvPr id="121" name="Oval 120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30</a:t>
            </a:r>
          </a:p>
        </p:txBody>
      </p:sp>
      <p:sp>
        <p:nvSpPr>
          <p:cNvPr id="123" name="Oval 122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7C6F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125" name="Oval 124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A594FF"/>
          </a:solidFill>
          <a:ln w="12700">
            <a:solidFill>
              <a:srgbClr val="62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81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C9C5FF"/>
                </a:solidFill>
                <a:latin typeface="Consolas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4C8"/>
          </a:solidFill>
          <a:ln w="12700">
            <a:solidFill>
              <a:srgbClr val="FF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FF64C8"/>
          </a:solidFill>
          <a:ln w="12700">
            <a:solidFill>
              <a:srgbClr val="FF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FFD3F1"/>
                </a:solidFill>
                <a:latin typeface="Impact"/>
              </a:rPr>
              <a:t>STRESS DEMO 31/81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mpact"/>
              </a:rPr>
              <a:t>Vaporwave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mpact"/>
              </a:rPr>
              <a:t>This slide uses the Vaporwave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Impact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Impact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1A0533"/>
          </a:solidFill>
          <a:ln w="12700">
            <a:solidFill>
              <a:srgbClr val="FF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Impact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FFD3F1"/>
                </a:solidFill>
                <a:latin typeface="Impact"/>
              </a:rPr>
              <a:t>Layout family: command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1965960"/>
            <a:ext cx="2057400" cy="749808"/>
          </a:xfrm>
          <a:prstGeom prst="round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64C8"/>
                </a:solidFill>
                <a:latin typeface="Impact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objects tracked in a dense control surface.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7832" y="1965960"/>
            <a:ext cx="2057400" cy="749808"/>
          </a:xfrm>
          <a:prstGeom prst="round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24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64C8"/>
                </a:solidFill>
                <a:latin typeface="Impact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families tracked in a dense control surface.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1965960"/>
            <a:ext cx="2057400" cy="749808"/>
          </a:xfrm>
          <a:prstGeom prst="round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64C8"/>
                </a:solidFill>
                <a:latin typeface="Impact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collisions tracked in a dense control surface.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953512"/>
            <a:ext cx="2057400" cy="749808"/>
          </a:xfrm>
          <a:prstGeom prst="round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64C8"/>
                </a:solidFill>
                <a:latin typeface="Impact"/>
              </a:rPr>
              <a:t>9pt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floor tracked in a dense control surface.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2953512"/>
            <a:ext cx="2057400" cy="749808"/>
          </a:xfrm>
          <a:prstGeom prst="round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24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64C8"/>
                </a:solidFill>
                <a:latin typeface="Impact"/>
              </a:rPr>
              <a:t>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spec tracked in a dense control surface.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42432" y="2953512"/>
            <a:ext cx="2057400" cy="749808"/>
          </a:xfrm>
          <a:prstGeom prst="round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070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FF64C8"/>
                </a:solidFill>
                <a:latin typeface="Impact"/>
              </a:rPr>
              <a:t>PPTX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Impact"/>
              </a:rPr>
              <a:t>native tracked in a dense control surface.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195681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4232" y="1956816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78824" y="195681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43416" y="195681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1956816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72600" y="1956816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95681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01784" y="195681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66376" y="195681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30967" y="1956816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95559" y="195681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49640" y="2121408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14232" y="212140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78824" y="2121408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43416" y="212140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08008" y="2121408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72600" y="212140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37192" y="212140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01784" y="2121408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66376" y="2121408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030967" y="212140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95559" y="212140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49640" y="2286000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14232" y="228600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78824" y="228600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43416" y="2286000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08008" y="228600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72600" y="2286000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37192" y="228600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701784" y="2286000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6376" y="228600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30967" y="228600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95559" y="2286000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49640" y="2450592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14232" y="2450592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78824" y="2450592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43416" y="2450592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08008" y="2450592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72600" y="2450592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37192" y="2450592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701784" y="2450592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66376" y="2450592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030967" y="2450592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95559" y="2450592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49640" y="2615184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714232" y="2615184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878824" y="2615184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43416" y="2615184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2615184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72600" y="2615184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37192" y="2615184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01784" y="2615184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66376" y="2615184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30967" y="2615184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195559" y="2615184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49640" y="2779776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14232" y="277977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878824" y="277977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43416" y="277977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08008" y="2779776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372600" y="277977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537192" y="277977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701784" y="277977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866376" y="2779776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30967" y="2779776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195559" y="2779776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49640" y="294436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14232" y="294436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78824" y="2944368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43416" y="2944368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208008" y="294436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72600" y="294436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537192" y="294436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701784" y="2944368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866376" y="294436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30967" y="294436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195559" y="2944368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49640" y="3108960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14232" y="310896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78824" y="3108960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043416" y="310896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08008" y="310896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372600" y="3108960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537192" y="3108960"/>
            <a:ext cx="118872" cy="7370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01784" y="310896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66376" y="310896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030967" y="3108960"/>
            <a:ext cx="118872" cy="73700"/>
          </a:xfrm>
          <a:prstGeom prst="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195559" y="3108960"/>
            <a:ext cx="118872" cy="7370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4041648"/>
            <a:ext cx="932688" cy="932688"/>
          </a:xfrm>
          <a:prstGeom prst="rect">
            <a:avLst/>
          </a:prstGeom>
        </p:spPr>
      </p:pic>
      <p:sp>
        <p:nvSpPr>
          <p:cNvPr id="121" name="Oval 12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11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profile patterns are combined with varied dense object systems.</a:t>
            </a:r>
          </a:p>
        </p:txBody>
      </p:sp>
      <p:sp>
        <p:nvSpPr>
          <p:cNvPr id="124" name="Oval 123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30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style locks are combined with varied dense object systems.</a:t>
            </a:r>
          </a:p>
        </p:txBody>
      </p:sp>
      <p:sp>
        <p:nvSpPr>
          <p:cNvPr id="127" name="Oval 126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layout families are combined with varied dense object systems.</a:t>
            </a:r>
          </a:p>
        </p:txBody>
      </p:sp>
      <p:sp>
        <p:nvSpPr>
          <p:cNvPr id="130" name="Oval 129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Impact"/>
              </a:rPr>
              <a:t>dense slides are combined with varied dense object systems.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1A053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FD3F1"/>
                </a:solidFill>
                <a:latin typeface="Impact"/>
              </a:rPr>
              <a:t>density layer</a:t>
            </a:r>
          </a:p>
        </p:txBody>
      </p:sp>
      <p:sp>
        <p:nvSpPr>
          <p:cNvPr id="145" name="Oval 144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11</a:t>
            </a:r>
          </a:p>
        </p:txBody>
      </p:sp>
      <p:sp>
        <p:nvSpPr>
          <p:cNvPr id="147" name="Oval 146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30</a:t>
            </a:r>
          </a:p>
        </p:txBody>
      </p:sp>
      <p:sp>
        <p:nvSpPr>
          <p:cNvPr id="149" name="Oval 148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</a:t>
            </a:r>
          </a:p>
        </p:txBody>
      </p:sp>
      <p:sp>
        <p:nvSpPr>
          <p:cNvPr id="151" name="Oval 150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FF64C8"/>
          </a:solidFill>
          <a:ln w="12700">
            <a:solidFill>
              <a:srgbClr val="C4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mpact"/>
              </a:rPr>
              <a:t>81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FFD3F1"/>
                </a:solidFill>
                <a:latin typeface="Impact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A2A"/>
          </a:solidFill>
          <a:ln w="12700">
            <a:solidFill>
              <a:srgbClr val="D4A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D4AA2A"/>
          </a:solidFill>
          <a:ln w="12700">
            <a:solidFill>
              <a:srgbClr val="D4A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B8960C"/>
                </a:solidFill>
                <a:latin typeface="Georgia"/>
              </a:rPr>
              <a:t>STRESS DEMO 32/81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D4AA2A"/>
                </a:solidFill>
                <a:latin typeface="Georgia"/>
              </a:rPr>
              <a:t>Art Deco Luxe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D4AA2A"/>
                </a:solidFill>
                <a:latin typeface="Georgia"/>
              </a:rPr>
              <a:t>This slide uses the Art Deco Luxe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D4AA2A"/>
                </a:solidFill>
                <a:latin typeface="Georgia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8A7020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D4AA2A"/>
                </a:solidFill>
                <a:latin typeface="Georgia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D4A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D4AA2A"/>
                </a:solidFill>
                <a:latin typeface="Georgia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B8960C"/>
                </a:solidFill>
                <a:latin typeface="Georgia"/>
              </a:rPr>
              <a:t>Layout family: lane weave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01952"/>
            <a:ext cx="1005840" cy="347472"/>
          </a:xfrm>
          <a:prstGeom prst="roundRect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02082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4AA2A"/>
                </a:solidFill>
                <a:latin typeface="Georgia"/>
              </a:rPr>
              <a:t>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90195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202082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AA2A"/>
                </a:solidFill>
                <a:latin typeface="Georgia"/>
              </a:rPr>
              <a:t>source handoff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190195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9352" y="202082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AA2A"/>
                </a:solidFill>
                <a:latin typeface="Georgia"/>
              </a:rPr>
              <a:t>source handoff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90195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35240" y="190195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2450592"/>
            <a:ext cx="1005840" cy="347472"/>
          </a:xfrm>
          <a:prstGeom prst="roundRect">
            <a:avLst/>
          </a:prstGeom>
          <a:solidFill>
            <a:srgbClr val="8A7020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56946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4AA2A"/>
                </a:solidFill>
                <a:latin typeface="Georgia"/>
              </a:rPr>
              <a:t>style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245059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256946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AA2A"/>
                </a:solidFill>
                <a:latin typeface="Georgia"/>
              </a:rPr>
              <a:t>style handoff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245059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9352" y="256946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AA2A"/>
                </a:solidFill>
                <a:latin typeface="Georgia"/>
              </a:rPr>
              <a:t>style handoff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245059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35240" y="245059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2999232"/>
            <a:ext cx="1005840" cy="347472"/>
          </a:xfrm>
          <a:prstGeom prst="roundRect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11810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4AA2A"/>
                </a:solidFill>
                <a:latin typeface="Georgia"/>
              </a:rPr>
              <a:t>layout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299923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311810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AA2A"/>
                </a:solidFill>
                <a:latin typeface="Georgia"/>
              </a:rPr>
              <a:t>layout handoff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200" y="299923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311810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AA2A"/>
                </a:solidFill>
                <a:latin typeface="Georgia"/>
              </a:rPr>
              <a:t>layout handoff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299923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35240" y="299923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" y="3547872"/>
            <a:ext cx="1005840" cy="347472"/>
          </a:xfrm>
          <a:prstGeom prst="roundRect">
            <a:avLst/>
          </a:prstGeom>
          <a:solidFill>
            <a:srgbClr val="8A7020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66674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4AA2A"/>
                </a:solidFill>
                <a:latin typeface="Georgia"/>
              </a:rPr>
              <a:t>assets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354787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4832" y="366674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AA2A"/>
                </a:solidFill>
                <a:latin typeface="Georgia"/>
              </a:rPr>
              <a:t>assets handoff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6200" y="354787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9352" y="366674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AA2A"/>
                </a:solidFill>
                <a:latin typeface="Georgia"/>
              </a:rPr>
              <a:t>assets handoff 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354787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635240" y="354787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096512"/>
            <a:ext cx="1005840" cy="347472"/>
          </a:xfrm>
          <a:prstGeom prst="roundRect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21538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D4AA2A"/>
                </a:solidFill>
                <a:latin typeface="Georgia"/>
              </a:rPr>
              <a:t>audit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11680" y="409651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84832" y="421538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AA2A"/>
                </a:solidFill>
                <a:latin typeface="Georgia"/>
              </a:rPr>
              <a:t>audit handoff 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86200" y="409651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9352" y="421538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D4AA2A"/>
                </a:solidFill>
                <a:latin typeface="Georgia"/>
              </a:rPr>
              <a:t>audit handoff 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60720" y="409651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635240" y="4096512"/>
            <a:ext cx="1417320" cy="347472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029968"/>
            <a:ext cx="960120" cy="960120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AA2A"/>
                </a:solidFill>
                <a:latin typeface="Georgia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4AA2A"/>
                </a:solidFill>
                <a:latin typeface="Georgia"/>
              </a:rPr>
              <a:t>profile patterns are combined with varied dense object systems.</a:t>
            </a:r>
          </a:p>
        </p:txBody>
      </p:sp>
      <p:sp>
        <p:nvSpPr>
          <p:cNvPr id="58" name="Oval 57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8A7020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AA2A"/>
                </a:solidFill>
                <a:latin typeface="Georgia"/>
              </a:rPr>
              <a:t>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4AA2A"/>
                </a:solidFill>
                <a:latin typeface="Georgia"/>
              </a:rPr>
              <a:t>style locks are combined with varied dense object systems.</a:t>
            </a:r>
          </a:p>
        </p:txBody>
      </p:sp>
      <p:sp>
        <p:nvSpPr>
          <p:cNvPr id="61" name="Oval 60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AA2A"/>
                </a:solidFill>
                <a:latin typeface="Georgia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4AA2A"/>
                </a:solidFill>
                <a:latin typeface="Georgia"/>
              </a:rPr>
              <a:t>layout families are combined with varied dense object systems.</a:t>
            </a:r>
          </a:p>
        </p:txBody>
      </p:sp>
      <p:sp>
        <p:nvSpPr>
          <p:cNvPr id="64" name="Oval 63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8A7020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AA2A"/>
                </a:solidFill>
                <a:latin typeface="Georgia"/>
              </a:rPr>
              <a:t>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D4AA2A"/>
                </a:solidFill>
                <a:latin typeface="Georgia"/>
              </a:rPr>
              <a:t>dense slides are combined with varied dense object systems.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8A7020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8A7020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8A7020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0E0A05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B8960C"/>
                </a:solidFill>
                <a:latin typeface="Georgia"/>
              </a:rPr>
              <a:t>density layer</a:t>
            </a:r>
          </a:p>
        </p:txBody>
      </p:sp>
      <p:sp>
        <p:nvSpPr>
          <p:cNvPr id="79" name="Oval 78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AA2A"/>
                </a:solidFill>
                <a:latin typeface="Georgia"/>
              </a:rPr>
              <a:t>11</a:t>
            </a:r>
          </a:p>
        </p:txBody>
      </p:sp>
      <p:sp>
        <p:nvSpPr>
          <p:cNvPr id="81" name="Oval 80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8A7020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AA2A"/>
                </a:solidFill>
                <a:latin typeface="Georgia"/>
              </a:rPr>
              <a:t>30</a:t>
            </a:r>
          </a:p>
        </p:txBody>
      </p:sp>
      <p:sp>
        <p:nvSpPr>
          <p:cNvPr id="83" name="Oval 8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D4AA2A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AA2A"/>
                </a:solidFill>
                <a:latin typeface="Georgia"/>
              </a:rPr>
              <a:t>8</a:t>
            </a:r>
          </a:p>
        </p:txBody>
      </p:sp>
      <p:sp>
        <p:nvSpPr>
          <p:cNvPr id="85" name="Oval 84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8A7020"/>
          </a:solidFill>
          <a:ln w="127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D4AA2A"/>
                </a:solidFill>
                <a:latin typeface="Georgia"/>
              </a:rPr>
              <a:t>81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B8960C"/>
                </a:solidFill>
                <a:latin typeface="Georgia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3A3020"/>
                </a:solidFill>
                <a:latin typeface="Georgia"/>
              </a:rPr>
              <a:t>STRESS DEMO 33/81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A1208"/>
                </a:solidFill>
                <a:latin typeface="Georgia"/>
              </a:rPr>
              <a:t>Brutalist Newspaper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A1208"/>
                </a:solidFill>
                <a:latin typeface="Georgia"/>
              </a:rPr>
              <a:t>This slide uses the Brutalist Newspaper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2EFE8"/>
                </a:solidFill>
                <a:latin typeface="Georgia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A1208"/>
                </a:solidFill>
                <a:latin typeface="Georgia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A1208"/>
                </a:solidFill>
                <a:latin typeface="Georgia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3A3020"/>
                </a:solidFill>
                <a:latin typeface="Georgia"/>
              </a:rPr>
              <a:t>Layout family: editorial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29968"/>
            <a:ext cx="4800600" cy="2514600"/>
          </a:xfrm>
          <a:prstGeom prst="round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31136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1A1208"/>
                </a:solidFill>
                <a:latin typeface="Georgia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2194560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A1208"/>
                </a:solidFill>
                <a:latin typeface="Georgia"/>
              </a:rPr>
              <a:t>Palette lock is visible in native fills, borders, and accent primitives.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1A1208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724912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A1208"/>
                </a:solidFill>
                <a:latin typeface="Georgia"/>
              </a:rPr>
              <a:t>Typography and hierarchy are intentionally varied without rasterizing 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91839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1A1208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255263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A1208"/>
                </a:solidFill>
                <a:latin typeface="Georgia"/>
              </a:rPr>
              <a:t>Signature motifs remain editable while the exhibit image stays cited.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822191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1A1208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785615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A1208"/>
                </a:solidFill>
                <a:latin typeface="Georgia"/>
              </a:rPr>
              <a:t>Dense object stacks test agent repair on crowded but readable layouts.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938528"/>
            <a:ext cx="2606040" cy="26974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286000"/>
            <a:ext cx="1572768" cy="15727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53328" y="4096512"/>
            <a:ext cx="205740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F2EFE8"/>
                </a:solidFill>
                <a:latin typeface="Georgia"/>
              </a:rPr>
              <a:t>GPT image infographic.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199339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7424" y="199339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9448" y="1993392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91472" y="1993392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83496" y="199339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199339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67544" y="199339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59568" y="1993392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51592" y="199339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2185416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07424" y="2185416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99448" y="2185416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91472" y="2185416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83496" y="2185416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75520" y="2185416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67544" y="2185416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59568" y="2185416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51592" y="2185416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15400" y="2377440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7424" y="2377440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99448" y="2377440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91472" y="2377440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83496" y="2377440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0" y="2377440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67544" y="2377440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59568" y="2377440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51592" y="2377440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15400" y="2569464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07424" y="2569464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99448" y="2569464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91472" y="2569464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83496" y="2569464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75520" y="2569464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67544" y="2569464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59568" y="2569464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51592" y="2569464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15400" y="2761488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07424" y="2761488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99448" y="2761488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91472" y="2761488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83496" y="2761488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875520" y="2761488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7544" y="2761488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59568" y="2761488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51592" y="2761488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15400" y="295351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07424" y="295351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99448" y="2953512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91472" y="295351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83496" y="295351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875520" y="295351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067544" y="2953512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59568" y="2953512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451592" y="2953512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15400" y="3145536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07424" y="3145536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99448" y="3145536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91472" y="3145536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683496" y="3145536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875520" y="3145536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67544" y="3145536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259568" y="3145536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451592" y="3145536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915400" y="3337560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07424" y="3337560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99448" y="3337560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491472" y="3337560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683496" y="3337560"/>
            <a:ext cx="146304" cy="90708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875520" y="3337560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67544" y="3337560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259568" y="3337560"/>
            <a:ext cx="146304" cy="90708"/>
          </a:xfrm>
          <a:prstGeom prst="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451592" y="3337560"/>
            <a:ext cx="146304" cy="90708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2EFE8"/>
                </a:solidFill>
                <a:latin typeface="Georgia"/>
              </a:rP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208"/>
                </a:solidFill>
                <a:latin typeface="Georgia"/>
              </a:rPr>
              <a:t>profile patterns are combined with varied dense object systems.</a:t>
            </a:r>
          </a:p>
        </p:txBody>
      </p:sp>
      <p:sp>
        <p:nvSpPr>
          <p:cNvPr id="101" name="Oval 100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2EFE8"/>
                </a:solidFill>
                <a:latin typeface="Georgia"/>
              </a:rPr>
              <a:t>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208"/>
                </a:solidFill>
                <a:latin typeface="Georgia"/>
              </a:rPr>
              <a:t>style locks are combined with varied dense object systems.</a:t>
            </a:r>
          </a:p>
        </p:txBody>
      </p:sp>
      <p:sp>
        <p:nvSpPr>
          <p:cNvPr id="104" name="Oval 103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2EFE8"/>
                </a:solidFill>
                <a:latin typeface="Georgia"/>
              </a:rPr>
              <a:t>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208"/>
                </a:solidFill>
                <a:latin typeface="Georgia"/>
              </a:rPr>
              <a:t>layout families are combined with varied dense object systems.</a:t>
            </a:r>
          </a:p>
        </p:txBody>
      </p:sp>
      <p:sp>
        <p:nvSpPr>
          <p:cNvPr id="107" name="Oval 10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2EFE8"/>
                </a:solidFill>
                <a:latin typeface="Georgia"/>
              </a:rPr>
              <a:t>81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208"/>
                </a:solidFill>
                <a:latin typeface="Georgia"/>
              </a:rPr>
              <a:t>dense slides are combined with varied dense object systems.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2EFE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3A3020"/>
                </a:solidFill>
                <a:latin typeface="Georgia"/>
              </a:rPr>
              <a:t>density layer</a:t>
            </a:r>
          </a:p>
        </p:txBody>
      </p:sp>
      <p:sp>
        <p:nvSpPr>
          <p:cNvPr id="122" name="Oval 121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2EFE8"/>
                </a:solidFill>
                <a:latin typeface="Georgia"/>
              </a:rPr>
              <a:t>11</a:t>
            </a:r>
          </a:p>
        </p:txBody>
      </p:sp>
      <p:sp>
        <p:nvSpPr>
          <p:cNvPr id="124" name="Oval 123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2EFE8"/>
                </a:solidFill>
                <a:latin typeface="Georgia"/>
              </a:rPr>
              <a:t>30</a:t>
            </a:r>
          </a:p>
        </p:txBody>
      </p:sp>
      <p:sp>
        <p:nvSpPr>
          <p:cNvPr id="126" name="Oval 125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D8D0C2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2EFE8"/>
                </a:solidFill>
                <a:latin typeface="Georgia"/>
              </a:rPr>
              <a:t>8</a:t>
            </a:r>
          </a:p>
        </p:txBody>
      </p:sp>
      <p:sp>
        <p:nvSpPr>
          <p:cNvPr id="128" name="Oval 127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1A1208"/>
          </a:solidFill>
          <a:ln w="12700">
            <a:solidFill>
              <a:srgbClr val="1A1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2EFE8"/>
                </a:solidFill>
                <a:latin typeface="Georgia"/>
              </a:rPr>
              <a:t>81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3A3020"/>
                </a:solidFill>
                <a:latin typeface="Georgia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F5E7A0"/>
                </a:solidFill>
                <a:latin typeface="Georgia"/>
              </a:rPr>
              <a:t>STRESS DEMO 34/81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Stained Glass Mosaic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Georgia"/>
              </a:rPr>
              <a:t>This slide uses the Stained Glass Mosaic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Georgia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E63030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Georgia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Georgia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F5E7A0"/>
                </a:solidFill>
                <a:latin typeface="Georgia"/>
              </a:rPr>
              <a:t>Layout family: bento overload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993392"/>
            <a:ext cx="2834640" cy="1170432"/>
          </a:xfrm>
          <a:prstGeom prst="roundRect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157984"/>
            <a:ext cx="254203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1">
                <a:solidFill>
                  <a:srgbClr val="FFFFFF"/>
                </a:solidFill>
                <a:latin typeface="Georgia"/>
              </a:rPr>
              <a:t>Palette lock is visible in native fills, borders, and accent primitives.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1993392"/>
            <a:ext cx="1965960" cy="1170432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8184" y="2157984"/>
            <a:ext cx="1673351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FFFFFF"/>
                </a:solidFill>
                <a:latin typeface="Georgia"/>
              </a:rPr>
              <a:t>Typography and hierarchy are intentionally varied without rasterizing 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1993392"/>
            <a:ext cx="2697480" cy="1874519"/>
          </a:xfrm>
          <a:prstGeom prst="roundRect">
            <a:avLst/>
          </a:prstGeom>
          <a:solidFill>
            <a:srgbClr val="E63030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2157984"/>
            <a:ext cx="240487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1">
                <a:solidFill>
                  <a:srgbClr val="FFFFFF"/>
                </a:solidFill>
                <a:latin typeface="Georgia"/>
              </a:rPr>
              <a:t>Signature motifs remain editable while the exhibit image stays cited.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83280"/>
            <a:ext cx="2011680" cy="1325880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547872"/>
            <a:ext cx="171907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FFFFFF"/>
                </a:solidFill>
                <a:latin typeface="Georgia"/>
              </a:rPr>
              <a:t>Dense object stacks test agent repair on crowded but readable layouts.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383280"/>
            <a:ext cx="2788920" cy="1325880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35224" y="3547872"/>
            <a:ext cx="249631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FFFFFF"/>
                </a:solidFill>
                <a:latin typeface="Georgia"/>
              </a:rPr>
              <a:t>Audit metadata records the design decision separately from the PPTX file.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993392"/>
            <a:ext cx="2057400" cy="2706624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8824" y="2157984"/>
            <a:ext cx="1764792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60" b="0">
                <a:solidFill>
                  <a:srgbClr val="FFFFFF"/>
                </a:solidFill>
                <a:latin typeface="Georgia"/>
              </a:rPr>
              <a:t>Palette lock is visible in native fills, borders, and accent primitives.</a:t>
            </a:r>
          </a:p>
        </p:txBody>
      </p:sp>
      <p:pic>
        <p:nvPicPr>
          <p:cNvPr id="26" name="Picture 25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816352"/>
            <a:ext cx="914400" cy="9144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Georgia"/>
              </a:rPr>
              <a:t>profile patterns are combined with varied dense object systems.</a:t>
            </a:r>
          </a:p>
        </p:txBody>
      </p:sp>
      <p:sp>
        <p:nvSpPr>
          <p:cNvPr id="30" name="Oval 29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Georgia"/>
              </a:rPr>
              <a:t>style locks are combined with varied dense object systems.</a:t>
            </a:r>
          </a:p>
        </p:txBody>
      </p:sp>
      <p:sp>
        <p:nvSpPr>
          <p:cNvPr id="33" name="Oval 3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Georgia"/>
              </a:rPr>
              <a:t>layout families are combined with varied dense object systems.</a:t>
            </a:r>
          </a:p>
        </p:txBody>
      </p:sp>
      <p:sp>
        <p:nvSpPr>
          <p:cNvPr id="36" name="Oval 35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FFFFF"/>
                </a:solidFill>
                <a:latin typeface="Georgia"/>
              </a:rPr>
              <a:t>dense slides are combined with varied dense object systems.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5E7A0"/>
                </a:solidFill>
                <a:latin typeface="Georgia"/>
              </a:rPr>
              <a:t>density layer</a:t>
            </a:r>
          </a:p>
        </p:txBody>
      </p:sp>
      <p:sp>
        <p:nvSpPr>
          <p:cNvPr id="51" name="Oval 5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11</a:t>
            </a:r>
          </a:p>
        </p:txBody>
      </p:sp>
      <p:sp>
        <p:nvSpPr>
          <p:cNvPr id="53" name="Oval 52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30</a:t>
            </a:r>
          </a:p>
        </p:txBody>
      </p:sp>
      <p:sp>
        <p:nvSpPr>
          <p:cNvPr id="55" name="Oval 54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57" name="Oval 5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81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F5E7A0"/>
                </a:solidFill>
                <a:latin typeface="Georgia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BFEFEB"/>
                </a:solidFill>
                <a:latin typeface="Aptos Display"/>
              </a:rPr>
              <a:t>STRESS DEMO 35/81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F0FFFE"/>
                </a:solidFill>
                <a:latin typeface="Aptos Display"/>
              </a:rPr>
              <a:t>Liquid Blob Morphing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F0FFFE"/>
                </a:solidFill>
                <a:latin typeface="Aptos Display"/>
              </a:rPr>
              <a:t>This slide uses the Liquid Blob Morphing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FFE"/>
                </a:solidFill>
                <a:latin typeface="Aptos Display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FFE"/>
                </a:solidFill>
                <a:latin typeface="Aptos Display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0F2027"/>
          </a:solidFill>
          <a:ln w="1270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FFE"/>
                </a:solidFill>
                <a:latin typeface="Aptos Display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BFEFEB"/>
                </a:solidFill>
                <a:latin typeface="Aptos Display"/>
              </a:rPr>
              <a:t>Layout family: radial control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1664207" y="2377440"/>
            <a:ext cx="3474721" cy="896112"/>
          </a:xfrm>
          <a:prstGeom prst="line">
            <a:avLst/>
          </a:prstGeom>
          <a:ln w="1016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97280" y="2148840"/>
            <a:ext cx="1143000" cy="457200"/>
          </a:xfrm>
          <a:prstGeom prst="roundRect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229514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FFE"/>
                </a:solidFill>
                <a:latin typeface="Aptos Display"/>
              </a:rPr>
              <a:t>Palette lock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3447288" y="1947672"/>
            <a:ext cx="1691640" cy="1325880"/>
          </a:xfrm>
          <a:prstGeom prst="line">
            <a:avLst/>
          </a:prstGeom>
          <a:ln w="1016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1719072"/>
            <a:ext cx="1143000" cy="457200"/>
          </a:xfrm>
          <a:prstGeom prst="roundRect">
            <a:avLst/>
          </a:prstGeom>
          <a:solidFill>
            <a:srgbClr val="0F2027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18653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FFE"/>
                </a:solidFill>
                <a:latin typeface="Aptos Display"/>
              </a:rPr>
              <a:t>Typography and hierarchy are intentionally varied without rasterizing text.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138928" y="1947672"/>
            <a:ext cx="2148840" cy="1325880"/>
          </a:xfrm>
          <a:prstGeom prst="line">
            <a:avLst/>
          </a:prstGeom>
          <a:ln w="1016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0840" y="1719072"/>
            <a:ext cx="1143000" cy="457200"/>
          </a:xfrm>
          <a:prstGeom prst="roundRect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18653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FFE"/>
                </a:solidFill>
                <a:latin typeface="Aptos Display"/>
              </a:rPr>
              <a:t>Signature motifs remain editable while the exhibit image stays cited.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138928" y="2560320"/>
            <a:ext cx="3977639" cy="713232"/>
          </a:xfrm>
          <a:prstGeom prst="line">
            <a:avLst/>
          </a:prstGeom>
          <a:ln w="1016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49640" y="2331720"/>
            <a:ext cx="1143000" cy="457200"/>
          </a:xfrm>
          <a:prstGeom prst="roundRect">
            <a:avLst/>
          </a:prstGeom>
          <a:solidFill>
            <a:srgbClr val="0F2027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247802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FFE"/>
                </a:solidFill>
                <a:latin typeface="Aptos Display"/>
              </a:rPr>
              <a:t>Dense object stacks test agent repair on crowded but readable layouts.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38928" y="3273552"/>
            <a:ext cx="3154679" cy="1271016"/>
          </a:xfrm>
          <a:prstGeom prst="line">
            <a:avLst/>
          </a:prstGeom>
          <a:ln w="1016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26679" y="4315968"/>
            <a:ext cx="1143000" cy="457200"/>
          </a:xfrm>
          <a:prstGeom prst="roundRect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4462272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FFE"/>
                </a:solidFill>
                <a:latin typeface="Aptos Display"/>
              </a:rPr>
              <a:t>Audit metadata records the design decision separately from the PPTX file.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310128" y="3273552"/>
            <a:ext cx="1828800" cy="1572768"/>
          </a:xfrm>
          <a:prstGeom prst="line">
            <a:avLst/>
          </a:prstGeom>
          <a:ln w="1016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743200" y="4617720"/>
            <a:ext cx="1143000" cy="457200"/>
          </a:xfrm>
          <a:prstGeom prst="roundRect">
            <a:avLst/>
          </a:prstGeom>
          <a:solidFill>
            <a:srgbClr val="0F2027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476402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FFE"/>
                </a:solidFill>
                <a:latin typeface="Aptos Display"/>
              </a:rPr>
              <a:t>Palette lock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527048" y="3273552"/>
            <a:ext cx="3611880" cy="795528"/>
          </a:xfrm>
          <a:prstGeom prst="line">
            <a:avLst/>
          </a:prstGeom>
          <a:ln w="10160">
            <a:solidFill>
              <a:srgbClr val="00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0120" y="3840480"/>
            <a:ext cx="1143000" cy="457200"/>
          </a:xfrm>
          <a:prstGeom prst="roundRect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" y="3986784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FFE"/>
                </a:solidFill>
                <a:latin typeface="Aptos Display"/>
              </a:rPr>
              <a:t>Typography and hierarchy are intentionally varied without rasterizing text.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2615184"/>
            <a:ext cx="1316736" cy="1316736"/>
          </a:xfrm>
          <a:prstGeom prst="ellipse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054096"/>
            <a:ext cx="768096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50" b="1">
                <a:solidFill>
                  <a:srgbClr val="F0FFFE"/>
                </a:solidFill>
                <a:latin typeface="Aptos Display"/>
              </a:rPr>
              <a:t>style
lock</a:t>
            </a:r>
          </a:p>
        </p:txBody>
      </p:sp>
      <p:pic>
        <p:nvPicPr>
          <p:cNvPr id="37" name="Picture 36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407408"/>
            <a:ext cx="868680" cy="86868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FFE"/>
                </a:solidFill>
                <a:latin typeface="Aptos Display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0FFFE"/>
                </a:solidFill>
                <a:latin typeface="Aptos Display"/>
              </a:rPr>
              <a:t>profile patterns are combined with varied dense object systems.</a:t>
            </a:r>
          </a:p>
        </p:txBody>
      </p:sp>
      <p:sp>
        <p:nvSpPr>
          <p:cNvPr id="41" name="Oval 40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FFE"/>
                </a:solidFill>
                <a:latin typeface="Aptos Display"/>
              </a:rPr>
              <a:t>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0FFFE"/>
                </a:solidFill>
                <a:latin typeface="Aptos Display"/>
              </a:rPr>
              <a:t>style locks are combined with varied dense object systems.</a:t>
            </a:r>
          </a:p>
        </p:txBody>
      </p:sp>
      <p:sp>
        <p:nvSpPr>
          <p:cNvPr id="44" name="Oval 43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FFE"/>
                </a:solidFill>
                <a:latin typeface="Aptos Display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0FFFE"/>
                </a:solidFill>
                <a:latin typeface="Aptos Display"/>
              </a:rPr>
              <a:t>layout families are combined with varied dense object systems.</a:t>
            </a:r>
          </a:p>
        </p:txBody>
      </p:sp>
      <p:sp>
        <p:nvSpPr>
          <p:cNvPr id="47" name="Oval 46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FFE"/>
                </a:solidFill>
                <a:latin typeface="Aptos Display"/>
              </a:rPr>
              <a:t>81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F0FFFE"/>
                </a:solidFill>
                <a:latin typeface="Aptos Display"/>
              </a:rPr>
              <a:t>dense slides are combined with varied dense object systems.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0F2027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BFEFEB"/>
                </a:solidFill>
                <a:latin typeface="Aptos Display"/>
              </a:rPr>
              <a:t>density layer</a:t>
            </a:r>
          </a:p>
        </p:txBody>
      </p:sp>
      <p:sp>
        <p:nvSpPr>
          <p:cNvPr id="62" name="Oval 61"/>
          <p:cNvSpPr/>
          <p:nvPr/>
        </p:nvSpPr>
        <p:spPr>
          <a:xfrm>
            <a:off x="4480560" y="2615184"/>
            <a:ext cx="1316736" cy="1316736"/>
          </a:xfrm>
          <a:prstGeom prst="ellipse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4880" y="3054096"/>
            <a:ext cx="768096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50" b="1">
                <a:solidFill>
                  <a:srgbClr val="F0FFFE"/>
                </a:solidFill>
                <a:latin typeface="Aptos Display"/>
              </a:rPr>
              <a:t>style
lock</a:t>
            </a:r>
          </a:p>
        </p:txBody>
      </p:sp>
      <p:sp>
        <p:nvSpPr>
          <p:cNvPr id="64" name="Oval 63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FFE"/>
                </a:solidFill>
                <a:latin typeface="Aptos Display"/>
              </a:rPr>
              <a:t>11</a:t>
            </a:r>
          </a:p>
        </p:txBody>
      </p:sp>
      <p:sp>
        <p:nvSpPr>
          <p:cNvPr id="66" name="Oval 65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FFE"/>
                </a:solidFill>
                <a:latin typeface="Aptos Display"/>
              </a:rPr>
              <a:t>30</a:t>
            </a:r>
          </a:p>
        </p:txBody>
      </p:sp>
      <p:sp>
        <p:nvSpPr>
          <p:cNvPr id="68" name="Oval 67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7800FF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FFE"/>
                </a:solidFill>
                <a:latin typeface="Aptos Display"/>
              </a:rPr>
              <a:t>8</a:t>
            </a:r>
          </a:p>
        </p:txBody>
      </p:sp>
      <p:sp>
        <p:nvSpPr>
          <p:cNvPr id="70" name="Oval 69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00D2BE"/>
          </a:solidFill>
          <a:ln w="12700"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0FFFE"/>
                </a:solidFill>
                <a:latin typeface="Aptos Display"/>
              </a:rPr>
              <a:t>81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BFEFEB"/>
                </a:solidFill>
                <a:latin typeface="Aptos Display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344A"/>
          </a:solidFill>
          <a:ln w="12700">
            <a:solidFill>
              <a:srgbClr val="E8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E8344A"/>
          </a:solidFill>
          <a:ln w="12700">
            <a:solidFill>
              <a:srgbClr val="E8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505050"/>
                </a:solidFill>
                <a:latin typeface="Aptos Display"/>
              </a:rPr>
              <a:t>STRESS DEMO 36/81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ptos Display"/>
              </a:rPr>
              <a:t>Memphis Pop Pattern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ptos Display"/>
              </a:rPr>
              <a:t>This slide uses the Memphis Pop Pattern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FF5E0"/>
                </a:solidFill>
                <a:latin typeface="Aptos Display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A1A1A"/>
                </a:solidFill>
                <a:latin typeface="Aptos Display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FF5E0"/>
          </a:solidFill>
          <a:ln w="12700">
            <a:solidFill>
              <a:srgbClr val="E8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A1A1A"/>
                </a:solidFill>
                <a:latin typeface="Aptos Display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505050"/>
                </a:solidFill>
                <a:latin typeface="Aptos Display"/>
              </a:rPr>
              <a:t>Layout family: timeline 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029968"/>
            <a:ext cx="91440" cy="2880360"/>
          </a:xfrm>
          <a:prstGeom prst="rect">
            <a:avLst/>
          </a:prstGeom>
          <a:solidFill>
            <a:srgbClr val="E8344A"/>
          </a:solidFill>
          <a:ln w="12700">
            <a:solidFill>
              <a:srgbClr val="E8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" y="2011680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30552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A1A1A"/>
                </a:solidFill>
                <a:latin typeface="Aptos Display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75688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1A"/>
                </a:solidFill>
                <a:latin typeface="Aptos Display"/>
              </a:rPr>
              <a:t>Palette lock is visible in native fills, borders, and accent primitives.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2578608"/>
            <a:ext cx="438912" cy="438912"/>
          </a:xfrm>
          <a:prstGeom prst="ellipse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97480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A1A1A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642616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1A"/>
                </a:solidFill>
                <a:latin typeface="Aptos Display"/>
              </a:rPr>
              <a:t>Typography and hierarchy are intentionally varied without rasterizing text.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3145536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64408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A1A1A"/>
                </a:solidFill>
                <a:latin typeface="Aptos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209544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1A"/>
                </a:solidFill>
                <a:latin typeface="Aptos Display"/>
              </a:rPr>
              <a:t>Signature motifs remain editable while the exhibit image stays cited.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3712464"/>
            <a:ext cx="438912" cy="438912"/>
          </a:xfrm>
          <a:prstGeom prst="ellipse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31336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A1A1A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3776472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1A"/>
                </a:solidFill>
                <a:latin typeface="Aptos Display"/>
              </a:rPr>
              <a:t>Dense object stacks test agent repair on crowded but readable layouts.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" y="4279392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98264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A1A1A"/>
                </a:solidFill>
                <a:latin typeface="Aptos Display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343400"/>
            <a:ext cx="356616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1A"/>
                </a:solidFill>
                <a:latin typeface="Aptos Display"/>
              </a:rPr>
              <a:t>Audit metadata records the design decision separately from the PPTX file.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96128" y="2057400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720" y="205740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25312" y="205740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9904" y="205740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54496" y="2057400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19088" y="205740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205740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48272" y="205740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12864" y="2057400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77456" y="2057400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42048" y="205740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06640" y="205740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71232" y="2057400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35824" y="205740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96128" y="222199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720" y="222199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25312" y="2221992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9904" y="2221992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54496" y="222199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19088" y="222199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0" y="222199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48272" y="2221992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12864" y="222199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77456" y="222199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42048" y="222199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06640" y="2221992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71232" y="2221992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35824" y="222199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96128" y="2386584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60720" y="238658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25312" y="2386584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89904" y="238658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54496" y="238658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19088" y="2386584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0" y="2386584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48272" y="238658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12864" y="238658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77456" y="238658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242048" y="2386584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06640" y="238658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71232" y="238658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35824" y="238658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596128" y="255117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760720" y="2551176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25312" y="255117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89904" y="2551176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54496" y="255117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19088" y="2551176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3680" y="255117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48272" y="255117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12864" y="2551176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77456" y="2551176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42048" y="255117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06640" y="255117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71232" y="255117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35824" y="2551176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596128" y="2715768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760720" y="2715768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925312" y="2715768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89904" y="2715768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54496" y="2715768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419088" y="2715768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583680" y="2715768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748272" y="2715768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12864" y="2715768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077456" y="2715768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242048" y="2715768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406640" y="2715768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71232" y="2715768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35824" y="2715768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596128" y="288036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288036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25312" y="288036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089904" y="2880360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254496" y="2880360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19088" y="288036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83680" y="288036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748272" y="2880360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912864" y="288036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077456" y="2880360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242048" y="288036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406640" y="2880360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571232" y="288036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735824" y="2880360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596128" y="304495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760720" y="304495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25312" y="3044952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89904" y="304495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54496" y="304495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19088" y="304495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83680" y="3044952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748272" y="3044952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912864" y="304495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077456" y="304495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242048" y="3044952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406640" y="304495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571232" y="3044952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735824" y="3044952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596128" y="3209544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760720" y="3209544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925312" y="320954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089904" y="320954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254496" y="320954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419088" y="3209544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83680" y="320954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748272" y="320954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912864" y="320954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077456" y="3209544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242048" y="3209544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406640" y="320954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571232" y="3209544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735824" y="3209544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596128" y="3374136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760720" y="337413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925312" y="337413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089904" y="3374136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254496" y="3374136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419088" y="337413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583680" y="337413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748272" y="337413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912864" y="3374136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077456" y="337413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242048" y="337413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406640" y="3374136"/>
            <a:ext cx="118872" cy="73700"/>
          </a:xfrm>
          <a:prstGeom prst="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571232" y="3374136"/>
            <a:ext cx="118872" cy="7370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735824" y="3374136"/>
            <a:ext cx="118872" cy="7370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Picture 155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2084831"/>
            <a:ext cx="1234440" cy="1234440"/>
          </a:xfrm>
          <a:prstGeom prst="rect">
            <a:avLst/>
          </a:prstGeom>
        </p:spPr>
      </p:pic>
      <p:sp>
        <p:nvSpPr>
          <p:cNvPr id="157" name="Oval 156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5E0"/>
                </a:solidFill>
                <a:latin typeface="Aptos Display"/>
              </a:rPr>
              <a:t>11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Aptos Display"/>
              </a:rPr>
              <a:t>profile patterns are combined with varied dense object systems.</a:t>
            </a:r>
          </a:p>
        </p:txBody>
      </p:sp>
      <p:sp>
        <p:nvSpPr>
          <p:cNvPr id="160" name="Oval 159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5E0"/>
                </a:solidFill>
                <a:latin typeface="Aptos Display"/>
              </a:rPr>
              <a:t>30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Aptos Display"/>
              </a:rPr>
              <a:t>style locks are combined with varied dense object systems.</a:t>
            </a:r>
          </a:p>
        </p:txBody>
      </p:sp>
      <p:sp>
        <p:nvSpPr>
          <p:cNvPr id="163" name="Oval 16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5E0"/>
                </a:solidFill>
                <a:latin typeface="Aptos Display"/>
              </a:rPr>
              <a:t>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Aptos Display"/>
              </a:rPr>
              <a:t>layout families are combined with varied dense object systems.</a:t>
            </a:r>
          </a:p>
        </p:txBody>
      </p:sp>
      <p:sp>
        <p:nvSpPr>
          <p:cNvPr id="166" name="Oval 165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5E0"/>
                </a:solidFill>
                <a:latin typeface="Aptos Display"/>
              </a:rPr>
              <a:t>81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Aptos Display"/>
              </a:rPr>
              <a:t>dense slides are combined with varied dense object systems.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FF5E0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05050"/>
                </a:solidFill>
                <a:latin typeface="Aptos Display"/>
              </a:rPr>
              <a:t>density layer</a:t>
            </a:r>
          </a:p>
        </p:txBody>
      </p:sp>
      <p:sp>
        <p:nvSpPr>
          <p:cNvPr id="181" name="Oval 180"/>
          <p:cNvSpPr/>
          <p:nvPr/>
        </p:nvSpPr>
        <p:spPr>
          <a:xfrm>
            <a:off x="566928" y="2011680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85800" y="2130552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A1A1A"/>
                </a:solidFill>
                <a:latin typeface="Aptos Display"/>
              </a:rPr>
              <a:t>1</a:t>
            </a:r>
          </a:p>
        </p:txBody>
      </p:sp>
      <p:sp>
        <p:nvSpPr>
          <p:cNvPr id="183" name="Oval 182"/>
          <p:cNvSpPr/>
          <p:nvPr/>
        </p:nvSpPr>
        <p:spPr>
          <a:xfrm>
            <a:off x="566928" y="2578608"/>
            <a:ext cx="438912" cy="438912"/>
          </a:xfrm>
          <a:prstGeom prst="ellipse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85800" y="2697480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A1A1A"/>
                </a:solidFill>
                <a:latin typeface="Aptos Display"/>
              </a:rPr>
              <a:t>2</a:t>
            </a:r>
          </a:p>
        </p:txBody>
      </p:sp>
      <p:sp>
        <p:nvSpPr>
          <p:cNvPr id="185" name="Oval 184"/>
          <p:cNvSpPr/>
          <p:nvPr/>
        </p:nvSpPr>
        <p:spPr>
          <a:xfrm>
            <a:off x="566928" y="3145536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85800" y="3264408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A1A1A"/>
                </a:solidFill>
                <a:latin typeface="Aptos Display"/>
              </a:rPr>
              <a:t>3</a:t>
            </a:r>
          </a:p>
        </p:txBody>
      </p:sp>
      <p:sp>
        <p:nvSpPr>
          <p:cNvPr id="187" name="Oval 186"/>
          <p:cNvSpPr/>
          <p:nvPr/>
        </p:nvSpPr>
        <p:spPr>
          <a:xfrm>
            <a:off x="566928" y="3712464"/>
            <a:ext cx="438912" cy="438912"/>
          </a:xfrm>
          <a:prstGeom prst="ellipse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85800" y="3831336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A1A1A"/>
                </a:solidFill>
                <a:latin typeface="Aptos Display"/>
              </a:rPr>
              <a:t>4</a:t>
            </a:r>
          </a:p>
        </p:txBody>
      </p:sp>
      <p:sp>
        <p:nvSpPr>
          <p:cNvPr id="189" name="Oval 188"/>
          <p:cNvSpPr/>
          <p:nvPr/>
        </p:nvSpPr>
        <p:spPr>
          <a:xfrm>
            <a:off x="566928" y="4279392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5800" y="4398264"/>
            <a:ext cx="201168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A1A1A"/>
                </a:solidFill>
                <a:latin typeface="Aptos Display"/>
              </a:rPr>
              <a:t>5</a:t>
            </a:r>
          </a:p>
        </p:txBody>
      </p:sp>
      <p:sp>
        <p:nvSpPr>
          <p:cNvPr id="191" name="Oval 19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5E0"/>
                </a:solidFill>
                <a:latin typeface="Aptos Display"/>
              </a:rPr>
              <a:t>11</a:t>
            </a:r>
          </a:p>
        </p:txBody>
      </p:sp>
      <p:sp>
        <p:nvSpPr>
          <p:cNvPr id="193" name="Oval 192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5E0"/>
                </a:solidFill>
                <a:latin typeface="Aptos Display"/>
              </a:rPr>
              <a:t>30</a:t>
            </a:r>
          </a:p>
        </p:txBody>
      </p:sp>
      <p:sp>
        <p:nvSpPr>
          <p:cNvPr id="195" name="Oval 194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E8344A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5E0"/>
                </a:solidFill>
                <a:latin typeface="Aptos Display"/>
              </a:rPr>
              <a:t>8</a:t>
            </a:r>
          </a:p>
        </p:txBody>
      </p:sp>
      <p:sp>
        <p:nvSpPr>
          <p:cNvPr id="197" name="Oval 19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1E90FF"/>
          </a:solidFill>
          <a:ln w="12700">
            <a:solidFill>
              <a:srgbClr val="22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FF5E0"/>
                </a:solidFill>
                <a:latin typeface="Aptos Display"/>
              </a:rPr>
              <a:t>81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505050"/>
                </a:solidFill>
                <a:latin typeface="Aptos Display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4D20"/>
          </a:solidFill>
          <a:ln w="12700">
            <a:solidFill>
              <a:srgbClr val="0D4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0D4D20"/>
          </a:solidFill>
          <a:ln w="12700">
            <a:solidFill>
              <a:srgbClr val="0D4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B8CC80"/>
                </a:solidFill>
                <a:latin typeface="Georgia"/>
              </a:rPr>
              <a:t>STRESS DEMO 37/81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E8F4D0"/>
                </a:solidFill>
                <a:latin typeface="Georgia"/>
              </a:rPr>
              <a:t>Dark Forest Nature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E8F4D0"/>
                </a:solidFill>
                <a:latin typeface="Georgia"/>
              </a:rPr>
              <a:t>This slide uses the Dark Forest Nature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E8F4D0"/>
                </a:solidFill>
                <a:latin typeface="Georgia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D4F0B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E8F4D0"/>
                </a:solidFill>
                <a:latin typeface="Georgia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0D2B14"/>
          </a:solidFill>
          <a:ln w="12700">
            <a:solidFill>
              <a:srgbClr val="0D4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E8F4D0"/>
                </a:solidFill>
                <a:latin typeface="Georgia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B8CC80"/>
                </a:solidFill>
                <a:latin typeface="Georgia"/>
              </a:rPr>
              <a:t>Layout family: layered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1965960"/>
            <a:ext cx="6217920" cy="384048"/>
          </a:xfrm>
          <a:prstGeom prst="rect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07568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E8F4D0"/>
                </a:solidFill>
                <a:latin typeface="Georgia"/>
              </a:rPr>
              <a:t>Palette lock is visible in native fills, borders, and accent primitives.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" y="2468880"/>
            <a:ext cx="5870448" cy="384048"/>
          </a:xfrm>
          <a:prstGeom prst="rect">
            <a:avLst/>
          </a:prstGeom>
          <a:solidFill>
            <a:srgbClr val="0D2B14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5" y="257860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E8F4D0"/>
                </a:solidFill>
                <a:latin typeface="Georgia"/>
              </a:rPr>
              <a:t>Typography and hierarchy are intentionally varied without rasterizing 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971800"/>
            <a:ext cx="5522976" cy="384048"/>
          </a:xfrm>
          <a:prstGeom prst="rect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308152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E8F4D0"/>
                </a:solidFill>
                <a:latin typeface="Georgia"/>
              </a:rPr>
              <a:t>Signature motifs remain editable while the exhibit image stays cited.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82495" y="3474720"/>
            <a:ext cx="5175504" cy="384048"/>
          </a:xfrm>
          <a:prstGeom prst="rect">
            <a:avLst/>
          </a:prstGeom>
          <a:solidFill>
            <a:srgbClr val="0D2B14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47088" y="358444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E8F4D0"/>
                </a:solidFill>
                <a:latin typeface="Georgia"/>
              </a:rPr>
              <a:t>Dense object stacks test agent repair on crowded but readable layouts.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3392" y="3977639"/>
            <a:ext cx="4828031" cy="384048"/>
          </a:xfrm>
          <a:prstGeom prst="rect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57984" y="4087368"/>
            <a:ext cx="52120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E8F4D0"/>
                </a:solidFill>
                <a:latin typeface="Georgia"/>
              </a:rPr>
              <a:t>Audit metadata records the design decision separately from the PPTX 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54112" y="2011680"/>
            <a:ext cx="914400" cy="310896"/>
          </a:xfrm>
          <a:prstGeom prst="rect">
            <a:avLst/>
          </a:prstGeom>
          <a:solidFill>
            <a:srgbClr val="0D2B14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2112264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8F4D0"/>
                </a:solidFill>
                <a:latin typeface="Georgia"/>
              </a:rPr>
              <a:t>check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2011680"/>
            <a:ext cx="914400" cy="310896"/>
          </a:xfrm>
          <a:prstGeom prst="rect">
            <a:avLst/>
          </a:prstGeom>
          <a:solidFill>
            <a:srgbClr val="0D2B14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112264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8F4D0"/>
                </a:solidFill>
                <a:latin typeface="Georgia"/>
              </a:rPr>
              <a:t>check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2542032"/>
            <a:ext cx="914400" cy="310896"/>
          </a:xfrm>
          <a:prstGeom prst="rect">
            <a:avLst/>
          </a:prstGeom>
          <a:solidFill>
            <a:srgbClr val="0D2B14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2642616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8F4D0"/>
                </a:solidFill>
                <a:latin typeface="Georgia"/>
              </a:rPr>
              <a:t>check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9408" y="2542032"/>
            <a:ext cx="914400" cy="310896"/>
          </a:xfrm>
          <a:prstGeom prst="rect">
            <a:avLst/>
          </a:prstGeom>
          <a:solidFill>
            <a:srgbClr val="0D2B14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642616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8F4D0"/>
                </a:solidFill>
                <a:latin typeface="Georgia"/>
              </a:rPr>
              <a:t>check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4112" y="3072384"/>
            <a:ext cx="914400" cy="310896"/>
          </a:xfrm>
          <a:prstGeom prst="rect">
            <a:avLst/>
          </a:prstGeom>
          <a:solidFill>
            <a:srgbClr val="0D2B14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3172968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8F4D0"/>
                </a:solidFill>
                <a:latin typeface="Georgia"/>
              </a:rPr>
              <a:t>check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9408" y="3072384"/>
            <a:ext cx="914400" cy="310896"/>
          </a:xfrm>
          <a:prstGeom prst="rect">
            <a:avLst/>
          </a:prstGeom>
          <a:solidFill>
            <a:srgbClr val="0D2B14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0848" y="3172968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8F4D0"/>
                </a:solidFill>
                <a:latin typeface="Georgia"/>
              </a:rPr>
              <a:t>check 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54112" y="3602736"/>
            <a:ext cx="914400" cy="310896"/>
          </a:xfrm>
          <a:prstGeom prst="rect">
            <a:avLst/>
          </a:prstGeom>
          <a:solidFill>
            <a:srgbClr val="0D2B14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3703320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8F4D0"/>
                </a:solidFill>
                <a:latin typeface="Georgia"/>
              </a:rPr>
              <a:t>check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79408" y="3602736"/>
            <a:ext cx="914400" cy="310896"/>
          </a:xfrm>
          <a:prstGeom prst="rect">
            <a:avLst/>
          </a:prstGeom>
          <a:solidFill>
            <a:srgbClr val="0D2B14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3703320"/>
            <a:ext cx="713232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8F4D0"/>
                </a:solidFill>
                <a:latin typeface="Georgia"/>
              </a:rPr>
              <a:t>check 8</a:t>
            </a:r>
          </a:p>
        </p:txBody>
      </p:sp>
      <p:pic>
        <p:nvPicPr>
          <p:cNvPr id="40" name="Picture 39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0"/>
            <a:ext cx="804672" cy="804672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D4F0B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8F4D0"/>
                </a:solidFill>
                <a:latin typeface="Georgia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E8F4D0"/>
                </a:solidFill>
                <a:latin typeface="Georgia"/>
              </a:rPr>
              <a:t>profile patterns are combined with varied dense object systems.</a:t>
            </a:r>
          </a:p>
        </p:txBody>
      </p:sp>
      <p:sp>
        <p:nvSpPr>
          <p:cNvPr id="44" name="Oval 43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8F4D0"/>
                </a:solidFill>
                <a:latin typeface="Georgia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E8F4D0"/>
                </a:solidFill>
                <a:latin typeface="Georgia"/>
              </a:rPr>
              <a:t>style locks are combined with varied dense object systems.</a:t>
            </a:r>
          </a:p>
        </p:txBody>
      </p:sp>
      <p:sp>
        <p:nvSpPr>
          <p:cNvPr id="47" name="Oval 46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D4F0B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8F4D0"/>
                </a:solidFill>
                <a:latin typeface="Georgia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E8F4D0"/>
                </a:solidFill>
                <a:latin typeface="Georgia"/>
              </a:rPr>
              <a:t>layout families are combined with varied dense object systems.</a:t>
            </a:r>
          </a:p>
        </p:txBody>
      </p:sp>
      <p:sp>
        <p:nvSpPr>
          <p:cNvPr id="50" name="Oval 49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8F4D0"/>
                </a:solidFill>
                <a:latin typeface="Georgia"/>
              </a:rPr>
              <a:t>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E8F4D0"/>
                </a:solidFill>
                <a:latin typeface="Georgia"/>
              </a:rPr>
              <a:t>dense slides are combined with varied dense object systems.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D4F0B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D4F0B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D4F0B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0D2B14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B8CC80"/>
                </a:solidFill>
                <a:latin typeface="Georgia"/>
              </a:rPr>
              <a:t>density layer</a:t>
            </a:r>
          </a:p>
        </p:txBody>
      </p:sp>
      <p:sp>
        <p:nvSpPr>
          <p:cNvPr id="65" name="Oval 64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D4F0B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8F4D0"/>
                </a:solidFill>
                <a:latin typeface="Georgia"/>
              </a:rPr>
              <a:t>11</a:t>
            </a:r>
          </a:p>
        </p:txBody>
      </p:sp>
      <p:sp>
        <p:nvSpPr>
          <p:cNvPr id="67" name="Oval 66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8F4D0"/>
                </a:solidFill>
                <a:latin typeface="Georgia"/>
              </a:rPr>
              <a:t>30</a:t>
            </a:r>
          </a:p>
        </p:txBody>
      </p:sp>
      <p:sp>
        <p:nvSpPr>
          <p:cNvPr id="69" name="Oval 68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D4F0B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8F4D0"/>
                </a:solidFill>
                <a:latin typeface="Georgia"/>
              </a:rPr>
              <a:t>8</a:t>
            </a:r>
          </a:p>
        </p:txBody>
      </p:sp>
      <p:sp>
        <p:nvSpPr>
          <p:cNvPr id="71" name="Oval 70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0D4D20"/>
          </a:solidFill>
          <a:ln w="12700">
            <a:solidFill>
              <a:srgbClr val="B8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E8F4D0"/>
                </a:solidFill>
                <a:latin typeface="Georgia"/>
              </a:rPr>
              <a:t>81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B8CC80"/>
                </a:solidFill>
                <a:latin typeface="Georgia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4C8FF"/>
          </a:solidFill>
          <a:ln w="127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64C8FF"/>
          </a:solidFill>
          <a:ln w="127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B9E8FF"/>
                </a:solidFill>
                <a:latin typeface="Consolas"/>
              </a:rPr>
              <a:t>STRESS DEMO 38/81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96DCFF"/>
                </a:solidFill>
                <a:latin typeface="Consolas"/>
              </a:rPr>
              <a:t>Architectural Blueprint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96DCFF"/>
                </a:solidFill>
                <a:latin typeface="Consolas"/>
              </a:rPr>
              <a:t>This slide uses the Architectural Blueprint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96DCFF"/>
                </a:solidFill>
                <a:latin typeface="Consolas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96DCFF"/>
                </a:solidFill>
                <a:latin typeface="Consolas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0D2240"/>
          </a:solidFill>
          <a:ln w="127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96DCFF"/>
                </a:solidFill>
                <a:latin typeface="Consolas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B9E8FF"/>
                </a:solidFill>
                <a:latin typeface="Consolas"/>
              </a:rPr>
              <a:t>Layout family: magazine collage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01952"/>
            <a:ext cx="5120640" cy="5029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2200" b="1">
                <a:solidFill>
                  <a:srgbClr val="64C8FF"/>
                </a:solidFill>
                <a:latin typeface="Consolas"/>
              </a:rPr>
              <a:t>ARCHITECTURAL BLUE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88920"/>
            <a:ext cx="2578608" cy="640080"/>
          </a:xfrm>
          <a:prstGeom prst="round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907791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96DCFF"/>
                </a:solidFill>
                <a:latin typeface="Consolas"/>
              </a:rPr>
              <a:t>Palette lock is visible in native fills, borders, and accent primitives.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21608" y="2788920"/>
            <a:ext cx="2578608" cy="640080"/>
          </a:xfrm>
          <a:prstGeom prst="round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2907791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96DCFF"/>
                </a:solidFill>
                <a:latin typeface="Consolas"/>
              </a:rPr>
              <a:t>Typography and hierarchy are intentionally varied without rasterizing 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685031"/>
            <a:ext cx="2578608" cy="640080"/>
          </a:xfrm>
          <a:prstGeom prst="round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03903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96DCFF"/>
                </a:solidFill>
                <a:latin typeface="Consolas"/>
              </a:rPr>
              <a:t>Signature motifs remain editable while the exhibit image stays cited.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21608" y="3685031"/>
            <a:ext cx="2578608" cy="640080"/>
          </a:xfrm>
          <a:prstGeom prst="round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3803903"/>
            <a:ext cx="2267712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96DCFF"/>
                </a:solidFill>
                <a:latin typeface="Consolas"/>
              </a:rPr>
              <a:t>Dense object stacks test agent repair on crowded but readable layouts.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901952"/>
            <a:ext cx="2057400" cy="2057400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2148840"/>
            <a:ext cx="1554480" cy="15544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372600" y="1993392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46336" y="1993392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0072" y="1993392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93808" y="1993392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67544" y="1993392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1993392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15016" y="1993392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72600" y="2167128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46336" y="2167128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20072" y="2167128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93808" y="2167128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67544" y="2167128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41280" y="2167128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15016" y="2167128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72600" y="2340864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46336" y="2340864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20072" y="2340864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93808" y="2340864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67544" y="2340864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1280" y="2340864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15016" y="2340864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72600" y="2514600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46336" y="2514600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20072" y="2514600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93808" y="2514600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67544" y="2514600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41280" y="2514600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15016" y="2514600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72600" y="2688336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46336" y="2688336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20072" y="2688336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93808" y="2688336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67544" y="2688336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241280" y="2688336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415016" y="2688336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72600" y="2862072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46336" y="2862072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20072" y="2862072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93808" y="2862072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67544" y="2862072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41280" y="2862072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415016" y="2862072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72600" y="3035808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46336" y="3035808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720072" y="3035808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93808" y="3035808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67544" y="3035808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41280" y="3035808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15016" y="3035808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72600" y="3209544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46336" y="3209544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20072" y="3209544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893808" y="3209544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67544" y="3209544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241280" y="3209544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415016" y="3209544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72600" y="3383280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46336" y="3383280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20072" y="3383280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93808" y="3383280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67544" y="3383280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241280" y="3383280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415016" y="3383280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372600" y="3557016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546336" y="3557016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720072" y="3557016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893808" y="3557016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67544" y="3557016"/>
            <a:ext cx="128016" cy="79369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241280" y="3557016"/>
            <a:ext cx="128016" cy="79369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415016" y="3557016"/>
            <a:ext cx="128016" cy="79369"/>
          </a:xfrm>
          <a:prstGeom prst="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96DCFF"/>
                </a:solidFill>
                <a:latin typeface="Consolas"/>
              </a:rPr>
              <a:t>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4712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96DCFF"/>
                </a:solidFill>
                <a:latin typeface="Consolas"/>
              </a:rPr>
              <a:t>profile patterns are combined with varied dense object systems.</a:t>
            </a:r>
          </a:p>
        </p:txBody>
      </p:sp>
      <p:sp>
        <p:nvSpPr>
          <p:cNvPr id="98" name="Oval 97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96DCFF"/>
                </a:solidFill>
                <a:latin typeface="Consolas"/>
              </a:rP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04488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96DCFF"/>
                </a:solidFill>
                <a:latin typeface="Consolas"/>
              </a:rPr>
              <a:t>style locks are combined with varied dense object systems.</a:t>
            </a:r>
          </a:p>
        </p:txBody>
      </p:sp>
      <p:sp>
        <p:nvSpPr>
          <p:cNvPr id="101" name="Oval 100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96DCFF"/>
                </a:solidFill>
                <a:latin typeface="Consolas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84264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96DCFF"/>
                </a:solidFill>
                <a:latin typeface="Consolas"/>
              </a:rPr>
              <a:t>layout families are combined with varied dense object systems.</a:t>
            </a:r>
          </a:p>
        </p:txBody>
      </p:sp>
      <p:sp>
        <p:nvSpPr>
          <p:cNvPr id="104" name="Oval 103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96DCFF"/>
                </a:solidFill>
                <a:latin typeface="Consolas"/>
              </a:rPr>
              <a:t>81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64040" y="5577840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96DCFF"/>
                </a:solidFill>
                <a:latin typeface="Consolas"/>
              </a:rPr>
              <a:t>dense slides are combined with varied dense object systems.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0D2240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B9E8FF"/>
                </a:solidFill>
                <a:latin typeface="Consolas"/>
              </a:rPr>
              <a:t>density layer</a:t>
            </a:r>
          </a:p>
        </p:txBody>
      </p:sp>
      <p:sp>
        <p:nvSpPr>
          <p:cNvPr id="119" name="Oval 118"/>
          <p:cNvSpPr/>
          <p:nvPr/>
        </p:nvSpPr>
        <p:spPr>
          <a:xfrm>
            <a:off x="621792" y="5605272"/>
            <a:ext cx="384048" cy="384048"/>
          </a:xfrm>
          <a:prstGeom prst="ellipse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96DCFF"/>
                </a:solidFill>
                <a:latin typeface="Consolas"/>
              </a:rPr>
              <a:t>11</a:t>
            </a:r>
          </a:p>
        </p:txBody>
      </p:sp>
      <p:sp>
        <p:nvSpPr>
          <p:cNvPr id="121" name="Oval 120"/>
          <p:cNvSpPr/>
          <p:nvPr/>
        </p:nvSpPr>
        <p:spPr>
          <a:xfrm>
            <a:off x="3401568" y="5605272"/>
            <a:ext cx="384048" cy="384048"/>
          </a:xfrm>
          <a:prstGeom prst="ellipse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465576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96DCFF"/>
                </a:solidFill>
                <a:latin typeface="Consolas"/>
              </a:rPr>
              <a:t>30</a:t>
            </a:r>
          </a:p>
        </p:txBody>
      </p:sp>
      <p:sp>
        <p:nvSpPr>
          <p:cNvPr id="123" name="Oval 122"/>
          <p:cNvSpPr/>
          <p:nvPr/>
        </p:nvSpPr>
        <p:spPr>
          <a:xfrm>
            <a:off x="6181344" y="5605272"/>
            <a:ext cx="384048" cy="384048"/>
          </a:xfrm>
          <a:prstGeom prst="ellipse">
            <a:avLst/>
          </a:prstGeom>
          <a:solidFill>
            <a:srgbClr val="64C8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45352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96DCFF"/>
                </a:solidFill>
                <a:latin typeface="Consolas"/>
              </a:rPr>
              <a:t>8</a:t>
            </a:r>
          </a:p>
        </p:txBody>
      </p:sp>
      <p:sp>
        <p:nvSpPr>
          <p:cNvPr id="125" name="Oval 124"/>
          <p:cNvSpPr/>
          <p:nvPr/>
        </p:nvSpPr>
        <p:spPr>
          <a:xfrm>
            <a:off x="8961120" y="5605272"/>
            <a:ext cx="384048" cy="384048"/>
          </a:xfrm>
          <a:prstGeom prst="ellipse">
            <a:avLst/>
          </a:prstGeom>
          <a:solidFill>
            <a:srgbClr val="64B4FF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25128" y="5669279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96DCFF"/>
                </a:solidFill>
                <a:latin typeface="Consolas"/>
              </a:rPr>
              <a:t>81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B9E8FF"/>
                </a:solidFill>
                <a:latin typeface="Consolas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D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3030"/>
          </a:solidFill>
          <a:ln w="12700">
            <a:solidFill>
              <a:srgbClr val="E8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E83030"/>
          </a:solidFill>
          <a:ln w="12700">
            <a:solidFill>
              <a:srgbClr val="E8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5D5148"/>
                </a:solidFill>
                <a:latin typeface="Impact"/>
              </a:rPr>
              <a:t>STRESS DEMO 39/81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Impact"/>
              </a:rPr>
              <a:t>Maximalist Collage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Impact"/>
              </a:rPr>
              <a:t>This slide uses the Maximalist Collage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A1A1A"/>
                </a:solidFill>
                <a:latin typeface="Impact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A1A1A"/>
                </a:solidFill>
                <a:latin typeface="Impact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E8DDD0"/>
          </a:solidFill>
          <a:ln w="12700">
            <a:solidFill>
              <a:srgbClr val="E8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A1A1A"/>
                </a:solidFill>
                <a:latin typeface="Impact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5D5148"/>
                </a:solidFill>
                <a:latin typeface="Impact"/>
              </a:rPr>
              <a:t>Layout family: command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1965960"/>
            <a:ext cx="2057400" cy="749808"/>
          </a:xfrm>
          <a:prstGeom prst="round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E83030"/>
                </a:solidFill>
                <a:latin typeface="Impact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1A"/>
                </a:solidFill>
                <a:latin typeface="Impact"/>
              </a:rPr>
              <a:t>objects tracked in a dense control surface.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7832" y="1965960"/>
            <a:ext cx="2057400" cy="749808"/>
          </a:xfrm>
          <a:prstGeom prst="round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24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E83030"/>
                </a:solidFill>
                <a:latin typeface="Impact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1A"/>
                </a:solidFill>
                <a:latin typeface="Impact"/>
              </a:rPr>
              <a:t>families tracked in a dense control surface.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1965960"/>
            <a:ext cx="2057400" cy="749808"/>
          </a:xfrm>
          <a:prstGeom prst="round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213055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E83030"/>
                </a:solidFill>
                <a:latin typeface="Impact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39696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1A"/>
                </a:solidFill>
                <a:latin typeface="Impact"/>
              </a:rPr>
              <a:t>collisions tracked in a dense control surface.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953512"/>
            <a:ext cx="2057400" cy="749808"/>
          </a:xfrm>
          <a:prstGeom prst="round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E83030"/>
                </a:solidFill>
                <a:latin typeface="Impact"/>
              </a:rPr>
              <a:t>9pt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1A"/>
                </a:solidFill>
                <a:latin typeface="Impact"/>
              </a:rPr>
              <a:t>floor tracked in a dense control surface.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2953512"/>
            <a:ext cx="2057400" cy="749808"/>
          </a:xfrm>
          <a:prstGeom prst="round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24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E83030"/>
                </a:solidFill>
                <a:latin typeface="Impact"/>
              </a:rPr>
              <a:t>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1A"/>
                </a:solidFill>
                <a:latin typeface="Impact"/>
              </a:rPr>
              <a:t>spec tracked in a dense control surface.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42432" y="2953512"/>
            <a:ext cx="2057400" cy="749808"/>
          </a:xfrm>
          <a:prstGeom prst="round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07024" y="3118104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400" b="1">
                <a:solidFill>
                  <a:srgbClr val="E83030"/>
                </a:solidFill>
                <a:latin typeface="Impact"/>
              </a:rPr>
              <a:t>PPTX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127248"/>
            <a:ext cx="9144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A1A1A"/>
                </a:solidFill>
                <a:latin typeface="Impact"/>
              </a:rPr>
              <a:t>native tracked in a dense control surface.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195681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4232" y="1956816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78824" y="195681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43416" y="195681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195681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72600" y="1956816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1956816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01784" y="195681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66376" y="195681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30967" y="1956816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95559" y="195681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49640" y="2121408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14232" y="212140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78824" y="212140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43416" y="212140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08008" y="2121408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72600" y="212140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37192" y="212140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01784" y="212140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66376" y="2121408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030967" y="2121408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95559" y="212140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49640" y="228600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14232" y="228600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78824" y="2286000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43416" y="2286000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08008" y="228600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72600" y="228600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37192" y="228600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701784" y="2286000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6376" y="228600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30967" y="228600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95559" y="228600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49640" y="2450592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14232" y="2450592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78824" y="2450592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43416" y="2450592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08008" y="2450592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72600" y="2450592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37192" y="2450592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701784" y="2450592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66376" y="2450592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030967" y="2450592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95559" y="2450592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49640" y="2615184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714232" y="2615184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878824" y="2615184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43416" y="2615184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2615184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72600" y="2615184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37192" y="2615184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01784" y="2615184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66376" y="2615184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30967" y="2615184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195559" y="2615184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49640" y="2779776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14232" y="2779776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878824" y="277977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43416" y="277977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08008" y="2779776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372600" y="277977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537192" y="2779776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701784" y="277977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866376" y="2779776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30967" y="277977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195559" y="2779776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49640" y="294436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14232" y="294436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78824" y="294436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43416" y="2944368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208008" y="2944368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72600" y="294436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537192" y="294436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701784" y="2944368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866376" y="294436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30967" y="2944368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195559" y="2944368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49640" y="310896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14232" y="310896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78824" y="3108960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043416" y="310896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08008" y="310896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372600" y="310896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537192" y="3108960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01784" y="3108960"/>
            <a:ext cx="118872" cy="7370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66376" y="310896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030967" y="3108960"/>
            <a:ext cx="118872" cy="73700"/>
          </a:xfrm>
          <a:prstGeom prst="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195559" y="3108960"/>
            <a:ext cx="118872" cy="7370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4041648"/>
            <a:ext cx="932688" cy="932688"/>
          </a:xfrm>
          <a:prstGeom prst="rect">
            <a:avLst/>
          </a:prstGeom>
        </p:spPr>
      </p:pic>
      <p:sp>
        <p:nvSpPr>
          <p:cNvPr id="121" name="Oval 120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mpact"/>
              </a:rPr>
              <a:t>11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Impact"/>
              </a:rPr>
              <a:t>profile patterns are combined with varied dense object systems.</a:t>
            </a:r>
          </a:p>
        </p:txBody>
      </p:sp>
      <p:sp>
        <p:nvSpPr>
          <p:cNvPr id="124" name="Oval 123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mpact"/>
              </a:rPr>
              <a:t>30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Impact"/>
              </a:rPr>
              <a:t>style locks are combined with varied dense object systems.</a:t>
            </a:r>
          </a:p>
        </p:txBody>
      </p:sp>
      <p:sp>
        <p:nvSpPr>
          <p:cNvPr id="127" name="Oval 126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mpact"/>
              </a:rPr>
              <a:t>8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Impact"/>
              </a:rPr>
              <a:t>layout families are combined with varied dense object systems.</a:t>
            </a:r>
          </a:p>
        </p:txBody>
      </p:sp>
      <p:sp>
        <p:nvSpPr>
          <p:cNvPr id="130" name="Oval 129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mpact"/>
              </a:rPr>
              <a:t>81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A1A1A"/>
                </a:solidFill>
                <a:latin typeface="Impact"/>
              </a:rPr>
              <a:t>dense slides are combined with varied dense object systems.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E8DDD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D5148"/>
                </a:solidFill>
                <a:latin typeface="Impact"/>
              </a:rPr>
              <a:t>density layer</a:t>
            </a:r>
          </a:p>
        </p:txBody>
      </p:sp>
      <p:sp>
        <p:nvSpPr>
          <p:cNvPr id="145" name="Oval 144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mpact"/>
              </a:rPr>
              <a:t>11</a:t>
            </a:r>
          </a:p>
        </p:txBody>
      </p:sp>
      <p:sp>
        <p:nvSpPr>
          <p:cNvPr id="147" name="Oval 146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mpact"/>
              </a:rPr>
              <a:t>30</a:t>
            </a:r>
          </a:p>
        </p:txBody>
      </p:sp>
      <p:sp>
        <p:nvSpPr>
          <p:cNvPr id="149" name="Oval 148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F5D02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mpact"/>
              </a:rPr>
              <a:t>8</a:t>
            </a:r>
          </a:p>
        </p:txBody>
      </p:sp>
      <p:sp>
        <p:nvSpPr>
          <p:cNvPr id="151" name="Oval 150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E83030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mpact"/>
              </a:rPr>
              <a:t>81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5D5148"/>
                </a:solidFill>
                <a:latin typeface="Impact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5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66DFFF"/>
                </a:solidFill>
                <a:latin typeface="Consolas"/>
              </a:rPr>
              <a:t>STRESS DEMO 40/81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B9F1FF"/>
                </a:solidFill>
                <a:latin typeface="Consolas"/>
              </a:rPr>
              <a:t>SciFi Holographic Data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B9F1FF"/>
                </a:solidFill>
                <a:latin typeface="Consolas"/>
              </a:rPr>
              <a:t>This slide uses the SciFi Holographic Data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B9F1FF"/>
                </a:solidFill>
                <a:latin typeface="Consolas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083B4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B9F1FF"/>
                </a:solidFill>
                <a:latin typeface="Consolas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B9F1FF"/>
                </a:solidFill>
                <a:latin typeface="Consolas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66DFFF"/>
                </a:solidFill>
                <a:latin typeface="Consolas"/>
              </a:rPr>
              <a:t>Layout family: lane weave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01952"/>
            <a:ext cx="1005840" cy="347472"/>
          </a:xfrm>
          <a:prstGeom prst="round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02082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B9F1FF"/>
                </a:solidFill>
                <a:latin typeface="Consolas"/>
              </a:rPr>
              <a:t>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90195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202082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B9F1FF"/>
                </a:solidFill>
                <a:latin typeface="Consolas"/>
              </a:rPr>
              <a:t>source handoff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190195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9352" y="202082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B9F1FF"/>
                </a:solidFill>
                <a:latin typeface="Consolas"/>
              </a:rPr>
              <a:t>source handoff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90195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35240" y="190195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2450592"/>
            <a:ext cx="1005840" cy="347472"/>
          </a:xfrm>
          <a:prstGeom prst="roundRect">
            <a:avLst/>
          </a:prstGeom>
          <a:solidFill>
            <a:srgbClr val="083B4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56946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B9F1FF"/>
                </a:solidFill>
                <a:latin typeface="Consolas"/>
              </a:rPr>
              <a:t>style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245059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256946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B9F1FF"/>
                </a:solidFill>
                <a:latin typeface="Consolas"/>
              </a:rPr>
              <a:t>style handoff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245059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9352" y="256946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B9F1FF"/>
                </a:solidFill>
                <a:latin typeface="Consolas"/>
              </a:rPr>
              <a:t>style handoff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245059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35240" y="245059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2999232"/>
            <a:ext cx="1005840" cy="347472"/>
          </a:xfrm>
          <a:prstGeom prst="round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11810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B9F1FF"/>
                </a:solidFill>
                <a:latin typeface="Consolas"/>
              </a:rPr>
              <a:t>layout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299923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311810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B9F1FF"/>
                </a:solidFill>
                <a:latin typeface="Consolas"/>
              </a:rPr>
              <a:t>layout handoff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200" y="299923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311810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B9F1FF"/>
                </a:solidFill>
                <a:latin typeface="Consolas"/>
              </a:rPr>
              <a:t>layout handoff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299923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35240" y="299923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" y="3547872"/>
            <a:ext cx="1005840" cy="347472"/>
          </a:xfrm>
          <a:prstGeom prst="roundRect">
            <a:avLst/>
          </a:prstGeom>
          <a:solidFill>
            <a:srgbClr val="083B4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66674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B9F1FF"/>
                </a:solidFill>
                <a:latin typeface="Consolas"/>
              </a:rPr>
              <a:t>assets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354787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4832" y="366674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B9F1FF"/>
                </a:solidFill>
                <a:latin typeface="Consolas"/>
              </a:rPr>
              <a:t>assets handoff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6200" y="354787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9352" y="366674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B9F1FF"/>
                </a:solidFill>
                <a:latin typeface="Consolas"/>
              </a:rPr>
              <a:t>assets handoff 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354787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635240" y="354787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096512"/>
            <a:ext cx="1005840" cy="347472"/>
          </a:xfrm>
          <a:prstGeom prst="round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215384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B9F1FF"/>
                </a:solidFill>
                <a:latin typeface="Consolas"/>
              </a:rPr>
              <a:t>audit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11680" y="409651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84832" y="421538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B9F1FF"/>
                </a:solidFill>
                <a:latin typeface="Consolas"/>
              </a:rPr>
              <a:t>audit handoff 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86200" y="409651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9352" y="4215384"/>
            <a:ext cx="124358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B9F1FF"/>
                </a:solidFill>
                <a:latin typeface="Consolas"/>
              </a:rPr>
              <a:t>audit handoff 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60720" y="409651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635240" y="4096512"/>
            <a:ext cx="1417320" cy="347472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029968"/>
            <a:ext cx="960120" cy="960120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B9F1FF"/>
                </a:solidFill>
                <a:latin typeface="Consolas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B9F1FF"/>
                </a:solidFill>
                <a:latin typeface="Consolas"/>
              </a:rPr>
              <a:t>profile patterns are combined with varied dense object systems.</a:t>
            </a:r>
          </a:p>
        </p:txBody>
      </p:sp>
      <p:sp>
        <p:nvSpPr>
          <p:cNvPr id="58" name="Oval 57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083B4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B9F1FF"/>
                </a:solidFill>
                <a:latin typeface="Consolas"/>
              </a:rPr>
              <a:t>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B9F1FF"/>
                </a:solidFill>
                <a:latin typeface="Consolas"/>
              </a:rPr>
              <a:t>style locks are combined with varied dense object systems.</a:t>
            </a:r>
          </a:p>
        </p:txBody>
      </p:sp>
      <p:sp>
        <p:nvSpPr>
          <p:cNvPr id="61" name="Oval 60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B9F1FF"/>
                </a:solidFill>
                <a:latin typeface="Consolas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B9F1FF"/>
                </a:solidFill>
                <a:latin typeface="Consolas"/>
              </a:rPr>
              <a:t>layout families are combined with varied dense object systems.</a:t>
            </a:r>
          </a:p>
        </p:txBody>
      </p:sp>
      <p:sp>
        <p:nvSpPr>
          <p:cNvPr id="64" name="Oval 63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083B4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B9F1FF"/>
                </a:solidFill>
                <a:latin typeface="Consolas"/>
              </a:rPr>
              <a:t>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B9F1FF"/>
                </a:solidFill>
                <a:latin typeface="Consolas"/>
              </a:rPr>
              <a:t>dense slides are combined with varied dense object systems.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083B4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083B4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083B4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0305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6DFFF"/>
                </a:solidFill>
                <a:latin typeface="Consolas"/>
              </a:rPr>
              <a:t>density layer</a:t>
            </a:r>
          </a:p>
        </p:txBody>
      </p:sp>
      <p:sp>
        <p:nvSpPr>
          <p:cNvPr id="79" name="Oval 78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B9F1FF"/>
                </a:solidFill>
                <a:latin typeface="Consolas"/>
              </a:rPr>
              <a:t>11</a:t>
            </a:r>
          </a:p>
        </p:txBody>
      </p:sp>
      <p:sp>
        <p:nvSpPr>
          <p:cNvPr id="81" name="Oval 80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083B4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B9F1FF"/>
                </a:solidFill>
                <a:latin typeface="Consolas"/>
              </a:rPr>
              <a:t>30</a:t>
            </a:r>
          </a:p>
        </p:txBody>
      </p:sp>
      <p:sp>
        <p:nvSpPr>
          <p:cNvPr id="83" name="Oval 82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B9F1FF"/>
                </a:solidFill>
                <a:latin typeface="Consolas"/>
              </a:rPr>
              <a:t>8</a:t>
            </a:r>
          </a:p>
        </p:txBody>
      </p:sp>
      <p:sp>
        <p:nvSpPr>
          <p:cNvPr id="85" name="Oval 84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083B4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B9F1FF"/>
                </a:solidFill>
                <a:latin typeface="Consolas"/>
              </a:rPr>
              <a:t>81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6DFFF"/>
                </a:solidFill>
                <a:latin typeface="Consolas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344A"/>
          </a:solidFill>
          <a:ln w="12700">
            <a:solidFill>
              <a:srgbClr val="E8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56032"/>
            <a:ext cx="1828800" cy="73152"/>
          </a:xfrm>
          <a:prstGeom prst="rect">
            <a:avLst/>
          </a:prstGeom>
          <a:solidFill>
            <a:srgbClr val="E8344A"/>
          </a:solidFill>
          <a:ln w="12700">
            <a:solidFill>
              <a:srgbClr val="E8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72600" y="219456"/>
            <a:ext cx="214884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r"/>
            <a:r>
              <a:rPr sz="900" b="1">
                <a:solidFill>
                  <a:srgbClr val="4C5460"/>
                </a:solidFill>
                <a:latin typeface="Impact"/>
              </a:rPr>
              <a:t>STRESS DEMO 41/81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5496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600" b="1">
                <a:solidFill>
                  <a:srgbClr val="17324A"/>
                </a:solidFill>
                <a:latin typeface="Impact"/>
              </a:rPr>
              <a:t>Risograph Print stress-tests editable infographic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24128"/>
            <a:ext cx="5943600" cy="530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00" b="0">
                <a:solidFill>
                  <a:srgbClr val="17324A"/>
                </a:solidFill>
                <a:latin typeface="Impact"/>
              </a:rPr>
              <a:t>This slide uses the Risograph Print style template to demonstrate a concrete .agent capability. The layout combines explanatory copy, web-sourced imagery, native infographic primitives, and audit-ready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969264"/>
            <a:ext cx="1234440" cy="402336"/>
          </a:xfrm>
          <a:prstGeom prst="round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078992"/>
            <a:ext cx="1024128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7F2E8"/>
                </a:solidFill>
                <a:latin typeface="Impact"/>
              </a:rPr>
              <a:t>source-backed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969264"/>
            <a:ext cx="1234440" cy="402336"/>
          </a:xfrm>
          <a:prstGeom prst="round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078992"/>
            <a:ext cx="100584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7324A"/>
                </a:solidFill>
                <a:latin typeface="Impact"/>
              </a:rPr>
              <a:t>web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969264"/>
            <a:ext cx="1234440" cy="402336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E8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1078992"/>
            <a:ext cx="914400" cy="11887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7324A"/>
                </a:solidFill>
                <a:latin typeface="Impact"/>
              </a:rPr>
              <a:t>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44752"/>
            <a:ext cx="420624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60" b="1">
                <a:solidFill>
                  <a:srgbClr val="4C5460"/>
                </a:solidFill>
                <a:latin typeface="Impact"/>
              </a:rPr>
              <a:t>Layout family: editorial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29968"/>
            <a:ext cx="4800600" cy="2514600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31136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E8344A"/>
                </a:solidFill>
                <a:latin typeface="Impact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2194560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7324A"/>
                </a:solidFill>
                <a:latin typeface="Impact"/>
              </a:rPr>
              <a:t>Palette lock is visible in native fills, borders, and accent primitives.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E8344A"/>
                </a:solidFill>
                <a:latin typeface="Impact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724912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7324A"/>
                </a:solidFill>
                <a:latin typeface="Impact"/>
              </a:rPr>
              <a:t>Typography and hierarchy are intentionally varied without rasterizing 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91839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E8344A"/>
                </a:solidFill>
                <a:latin typeface="Impac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255263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7324A"/>
                </a:solidFill>
                <a:latin typeface="Impact"/>
              </a:rPr>
              <a:t>Signature motifs remain editable while the exhibit image stays cited.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822191"/>
            <a:ext cx="384048" cy="14935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050" b="1">
                <a:solidFill>
                  <a:srgbClr val="E8344A"/>
                </a:solidFill>
                <a:latin typeface="Impact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785615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90" b="0">
                <a:solidFill>
                  <a:srgbClr val="17324A"/>
                </a:solidFill>
                <a:latin typeface="Impact"/>
              </a:rPr>
              <a:t>Dense object stacks test agent repair on crowded but readable layouts.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938528"/>
            <a:ext cx="2606040" cy="2697480"/>
          </a:xfrm>
          <a:prstGeom prst="round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286000"/>
            <a:ext cx="1572768" cy="15727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53328" y="4096512"/>
            <a:ext cx="205740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F7F2E8"/>
                </a:solidFill>
                <a:latin typeface="Impact"/>
              </a:rPr>
              <a:t>GPT image infographic.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199339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7424" y="199339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9448" y="199339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91472" y="1993392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83496" y="1993392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199339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67544" y="199339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59568" y="1993392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51592" y="199339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2185416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07424" y="2185416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99448" y="2185416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91472" y="2185416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83496" y="2185416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75520" y="2185416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67544" y="2185416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59568" y="2185416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51592" y="2185416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15400" y="2377440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7424" y="2377440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99448" y="2377440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91472" y="2377440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83496" y="2377440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0" y="2377440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67544" y="2377440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59568" y="2377440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51592" y="2377440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15400" y="2569464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07424" y="2569464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99448" y="2569464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91472" y="2569464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83496" y="2569464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75520" y="2569464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67544" y="2569464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59568" y="2569464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51592" y="2569464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15400" y="2761488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07424" y="2761488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99448" y="2761488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91472" y="2761488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83496" y="2761488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875520" y="2761488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7544" y="2761488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59568" y="2761488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51592" y="2761488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15400" y="295351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07424" y="295351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99448" y="2953512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91472" y="295351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83496" y="2953512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875520" y="295351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067544" y="2953512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59568" y="295351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451592" y="2953512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15400" y="3145536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07424" y="3145536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99448" y="3145536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91472" y="3145536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683496" y="3145536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875520" y="3145536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67544" y="3145536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259568" y="3145536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451592" y="3145536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915400" y="3337560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07424" y="3337560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99448" y="3337560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491472" y="3337560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683496" y="3337560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875520" y="3337560"/>
            <a:ext cx="146304" cy="90708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67544" y="3337560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259568" y="3337560"/>
            <a:ext cx="146304" cy="90708"/>
          </a:xfrm>
          <a:prstGeom prst="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451592" y="3337560"/>
            <a:ext cx="146304" cy="90708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2E8"/>
                </a:solidFill>
                <a:latin typeface="Impact"/>
              </a:rP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4712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7324A"/>
                </a:solidFill>
                <a:latin typeface="Impact"/>
              </a:rPr>
              <a:t>profile patterns are combined with varied dense object systems.</a:t>
            </a:r>
          </a:p>
        </p:txBody>
      </p:sp>
      <p:sp>
        <p:nvSpPr>
          <p:cNvPr id="101" name="Oval 100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2E8"/>
                </a:solidFill>
                <a:latin typeface="Impact"/>
              </a:rPr>
              <a:t>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04488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7324A"/>
                </a:solidFill>
                <a:latin typeface="Impact"/>
              </a:rPr>
              <a:t>style locks are combined with varied dense object systems.</a:t>
            </a:r>
          </a:p>
        </p:txBody>
      </p:sp>
      <p:sp>
        <p:nvSpPr>
          <p:cNvPr id="104" name="Oval 103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2E8"/>
                </a:solidFill>
                <a:latin typeface="Impact"/>
              </a:rPr>
              <a:t>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84264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7324A"/>
                </a:solidFill>
                <a:latin typeface="Impact"/>
              </a:rPr>
              <a:t>layout families are combined with varied dense object systems.</a:t>
            </a:r>
          </a:p>
        </p:txBody>
      </p:sp>
      <p:sp>
        <p:nvSpPr>
          <p:cNvPr id="107" name="Oval 106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2E8"/>
                </a:solidFill>
                <a:latin typeface="Impact"/>
              </a:rPr>
              <a:t>81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64040" y="5285232"/>
            <a:ext cx="2084831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30" b="0">
                <a:solidFill>
                  <a:srgbClr val="17324A"/>
                </a:solidFill>
                <a:latin typeface="Impact"/>
              </a:rPr>
              <a:t>dense slides are combined with varied dense object systems.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631168" y="153619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795760" y="153619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631168" y="171907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795760" y="171907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631168" y="190195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795760" y="190195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31168" y="208483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795760" y="208483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631168" y="226771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795760" y="2267712"/>
            <a:ext cx="91440" cy="91440"/>
          </a:xfrm>
          <a:prstGeom prst="rect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098280" y="6053328"/>
            <a:ext cx="2212848" cy="310896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71432" y="6126480"/>
            <a:ext cx="2066543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C5460"/>
                </a:solidFill>
                <a:latin typeface="Impact"/>
              </a:rPr>
              <a:t>density layer</a:t>
            </a:r>
          </a:p>
        </p:txBody>
      </p:sp>
      <p:sp>
        <p:nvSpPr>
          <p:cNvPr id="122" name="Oval 121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5800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2E8"/>
                </a:solidFill>
                <a:latin typeface="Impact"/>
              </a:rPr>
              <a:t>11</a:t>
            </a:r>
          </a:p>
        </p:txBody>
      </p:sp>
      <p:sp>
        <p:nvSpPr>
          <p:cNvPr id="124" name="Oval 123"/>
          <p:cNvSpPr/>
          <p:nvPr/>
        </p:nvSpPr>
        <p:spPr>
          <a:xfrm>
            <a:off x="3401568" y="5312664"/>
            <a:ext cx="384048" cy="384048"/>
          </a:xfrm>
          <a:prstGeom prst="ellipse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2E8"/>
                </a:solidFill>
                <a:latin typeface="Impact"/>
              </a:rPr>
              <a:t>30</a:t>
            </a:r>
          </a:p>
        </p:txBody>
      </p:sp>
      <p:sp>
        <p:nvSpPr>
          <p:cNvPr id="126" name="Oval 125"/>
          <p:cNvSpPr/>
          <p:nvPr/>
        </p:nvSpPr>
        <p:spPr>
          <a:xfrm>
            <a:off x="6181344" y="5312664"/>
            <a:ext cx="384048" cy="38404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45352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2E8"/>
                </a:solidFill>
                <a:latin typeface="Impact"/>
              </a:rPr>
              <a:t>8</a:t>
            </a:r>
          </a:p>
        </p:txBody>
      </p:sp>
      <p:sp>
        <p:nvSpPr>
          <p:cNvPr id="128" name="Oval 127"/>
          <p:cNvSpPr/>
          <p:nvPr/>
        </p:nvSpPr>
        <p:spPr>
          <a:xfrm>
            <a:off x="8961120" y="5312664"/>
            <a:ext cx="384048" cy="384048"/>
          </a:xfrm>
          <a:prstGeom prst="ellipse">
            <a:avLst/>
          </a:prstGeom>
          <a:solidFill>
            <a:srgbClr val="E8344A"/>
          </a:solidFill>
          <a:ln w="12700">
            <a:solidFill>
              <a:srgbClr val="F5D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025128" y="5376672"/>
            <a:ext cx="237744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000" b="1">
                <a:solidFill>
                  <a:srgbClr val="F7F2E8"/>
                </a:solidFill>
                <a:latin typeface="Impact"/>
              </a:rPr>
              <a:t>81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30352" y="6428232"/>
            <a:ext cx="70408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C5460"/>
                </a:solidFill>
                <a:latin typeface="Impact"/>
              </a:rPr>
              <a:t>Generated from .agent context with OpenMoji web images and native infographic primitives.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16161"/>
                </a:solidFill>
                <a:latin typeface="Segoe UI"/>
              </a:rPr>
              <a:t>LAYOUT VARIANT 1 / 42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242424"/>
                </a:solidFill>
                <a:latin typeface="Segoe UI"/>
              </a:rPr>
              <a:t>Overview map converts the .agent toolkit into a navigable production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3931920" cy="48006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554480"/>
            <a:ext cx="283464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4617720"/>
            <a:ext cx="27889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GPT image infographic.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170432"/>
            <a:ext cx="6217920" cy="749808"/>
          </a:xfrm>
          <a:prstGeom prst="round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1768" y="1335024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1">
                <a:solidFill>
                  <a:srgbClr val="FAFAFA"/>
                </a:solidFill>
                <a:latin typeface="Segoe UI"/>
              </a:rPr>
              <a:t>The image is a visible exhibit, not a replacement for editable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249424"/>
            <a:ext cx="6217920" cy="74980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414016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242424"/>
                </a:solidFill>
                <a:latin typeface="Segoe UI"/>
              </a:rPr>
              <a:t>The right column keeps full-sentence claims in separate text frames.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3328415"/>
            <a:ext cx="6217920" cy="74980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3493008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242424"/>
                </a:solidFill>
                <a:latin typeface="Segoe UI"/>
              </a:rPr>
              <a:t>The JSON spec records coordinates, source, license, and audit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4407408"/>
            <a:ext cx="6217920" cy="74980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4572000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242424"/>
                </a:solidFill>
                <a:latin typeface="Segoe UI"/>
              </a:rPr>
              <a:t>The layout variant uses a wide split instead of the default grid.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16161"/>
                </a:solidFill>
                <a:latin typeface="Segoe UI"/>
              </a:rPr>
              <a:t>density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0032" y="4343400"/>
            <a:ext cx="1783080" cy="102412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64624" y="4919472"/>
            <a:ext cx="146304" cy="22860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38944" y="4736592"/>
            <a:ext cx="146304" cy="41148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13263" y="4855464"/>
            <a:ext cx="146304" cy="292608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87584" y="4581144"/>
            <a:ext cx="146304" cy="566928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1903" y="4690872"/>
            <a:ext cx="146304" cy="45720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37192" y="5166360"/>
            <a:ext cx="1463040" cy="0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37192" y="4507992"/>
            <a:ext cx="0" cy="658368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64624" y="439826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16161"/>
                </a:solidFill>
                <a:latin typeface="Segoe UI"/>
              </a:rPr>
              <a:t>micro KPI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65207" y="3392424"/>
            <a:ext cx="502921" cy="18288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168128" y="3392424"/>
            <a:ext cx="502919" cy="18288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68128" y="3575304"/>
            <a:ext cx="0" cy="41148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168128" y="3922776"/>
            <a:ext cx="731519" cy="64008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671047" y="3392424"/>
            <a:ext cx="228600" cy="530352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65207" y="3392424"/>
            <a:ext cx="502921" cy="59436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564624" y="3291840"/>
            <a:ext cx="201168" cy="20116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67544" y="3474720"/>
            <a:ext cx="201168" cy="201168"/>
          </a:xfrm>
          <a:prstGeom prst="ellipse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70463" y="3291840"/>
            <a:ext cx="201168" cy="20116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67544" y="3886200"/>
            <a:ext cx="201168" cy="201168"/>
          </a:xfrm>
          <a:prstGeom prst="ellipse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99063" y="3822191"/>
            <a:ext cx="201168" cy="20116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187952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18319" y="4187952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4187952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84080" y="4187952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66960" y="4187952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4334256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18319" y="4334256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01200" y="4334256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4334256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334256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448056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18319" y="448056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01200" y="4480560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84080" y="4480560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66960" y="448056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9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source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style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spec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render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audit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16161"/>
                </a:solidFill>
                <a:latin typeface="Segoe UI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Aptos"/>
              </a:rPr>
              <a:t>LAYOUT VARIANT 2 / 43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72554"/>
                </a:solidFill>
                <a:latin typeface="Aptos"/>
              </a:rPr>
              <a:t>Split image exhibit separates visual evidence from editable slide logic.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2450592" y="1764792"/>
            <a:ext cx="3264408" cy="1481328"/>
          </a:xfrm>
          <a:prstGeom prst="line">
            <a:avLst/>
          </a:prstGeom>
          <a:ln w="1397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0" y="1508760"/>
            <a:ext cx="1234440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952" y="1645919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72554"/>
                </a:solidFill>
                <a:latin typeface="Aptos"/>
              </a:rPr>
              <a:t>sources is explicit.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5376672" y="1554480"/>
            <a:ext cx="338328" cy="1691640"/>
          </a:xfrm>
          <a:prstGeom prst="line">
            <a:avLst/>
          </a:prstGeom>
          <a:ln w="1397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54880" y="1298448"/>
            <a:ext cx="1234440" cy="512064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8032" y="1435607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72554"/>
                </a:solidFill>
                <a:latin typeface="Aptos"/>
              </a:rPr>
              <a:t>design is explicit.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715000" y="1810512"/>
            <a:ext cx="2496312" cy="1435608"/>
          </a:xfrm>
          <a:prstGeom prst="line">
            <a:avLst/>
          </a:prstGeom>
          <a:ln w="1397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89520" y="1554480"/>
            <a:ext cx="1234440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691639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72554"/>
                </a:solidFill>
                <a:latin typeface="Aptos"/>
              </a:rPr>
              <a:t>assets is explicit.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3246120"/>
            <a:ext cx="3547872" cy="1261872"/>
          </a:xfrm>
          <a:prstGeom prst="line">
            <a:avLst/>
          </a:prstGeom>
          <a:ln w="1397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41080" y="4251960"/>
            <a:ext cx="1234440" cy="512064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4389120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72554"/>
                </a:solidFill>
                <a:latin typeface="Aptos"/>
              </a:rPr>
              <a:t>render is explicit.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3246120"/>
            <a:ext cx="118872" cy="2359152"/>
          </a:xfrm>
          <a:prstGeom prst="line">
            <a:avLst/>
          </a:prstGeom>
          <a:ln w="1397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5349240"/>
            <a:ext cx="1234440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5486400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72554"/>
                </a:solidFill>
                <a:latin typeface="Aptos"/>
              </a:rPr>
              <a:t>audit is explicit.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542032" y="3246120"/>
            <a:ext cx="3172968" cy="1536192"/>
          </a:xfrm>
          <a:prstGeom prst="line">
            <a:avLst/>
          </a:prstGeom>
          <a:ln w="1397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920240" y="4526280"/>
            <a:ext cx="1234440" cy="512064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4663440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172554"/>
                </a:solidFill>
                <a:latin typeface="Aptos"/>
              </a:rPr>
              <a:t>repair is explicit.</a:t>
            </a:r>
          </a:p>
        </p:txBody>
      </p:sp>
      <p:sp>
        <p:nvSpPr>
          <p:cNvPr id="22" name="Oval 21"/>
          <p:cNvSpPr/>
          <p:nvPr/>
        </p:nvSpPr>
        <p:spPr>
          <a:xfrm>
            <a:off x="4937760" y="2468879"/>
            <a:ext cx="1554480" cy="1554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017520"/>
            <a:ext cx="10058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200" b="1">
                <a:solidFill>
                  <a:srgbClr val="EFF6FF"/>
                </a:solidFill>
                <a:latin typeface="Aptos"/>
              </a:rPr>
              <a:t>.agent
spec</a:t>
            </a:r>
          </a:p>
        </p:txBody>
      </p:sp>
      <p:pic>
        <p:nvPicPr>
          <p:cNvPr id="24" name="Picture 23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892040"/>
            <a:ext cx="777240" cy="77724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Aptos"/>
              </a:rPr>
              <a:t>density layer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8048" y="960120"/>
            <a:ext cx="1783080" cy="10241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536192"/>
            <a:ext cx="146304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66960" y="1353312"/>
            <a:ext cx="146304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1472184"/>
            <a:ext cx="146304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0" y="1197864"/>
            <a:ext cx="14630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89919" y="1307592"/>
            <a:ext cx="14630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665208" y="1783080"/>
            <a:ext cx="1463040" cy="0"/>
          </a:xfrm>
          <a:prstGeom prst="line">
            <a:avLst/>
          </a:prstGeom>
          <a:ln w="1016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65208" y="1124712"/>
            <a:ext cx="0" cy="658368"/>
          </a:xfrm>
          <a:prstGeom prst="line">
            <a:avLst/>
          </a:prstGeom>
          <a:ln w="1016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692640" y="101498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Aptos"/>
              </a:rPr>
              <a:t>micro KPI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93224" y="2267712"/>
            <a:ext cx="502920" cy="1828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296144" y="2267712"/>
            <a:ext cx="502919" cy="1828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96144" y="2450592"/>
            <a:ext cx="0" cy="4114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296144" y="2798064"/>
            <a:ext cx="731519" cy="64008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799063" y="2267712"/>
            <a:ext cx="228600" cy="530352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93224" y="2267712"/>
            <a:ext cx="502920" cy="59436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692640" y="2167128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195560" y="23500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98480" y="2167128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95560" y="276148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27080" y="269748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63456" y="3063240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46336" y="3063240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29216" y="306324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12096" y="306324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94976" y="3063240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63456" y="3209544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46336" y="3209544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29216" y="3209544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12096" y="3209544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94976" y="3209544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63456" y="3355848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46336" y="3355848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29216" y="3355848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912096" y="3355848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94976" y="3355848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source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style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spec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render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audit</a:t>
            </a:r>
          </a:p>
        </p:txBody>
      </p:sp>
      <p:sp>
        <p:nvSpPr>
          <p:cNvPr id="133" name="Oval 132"/>
          <p:cNvSpPr/>
          <p:nvPr/>
        </p:nvSpPr>
        <p:spPr>
          <a:xfrm>
            <a:off x="4937760" y="2468879"/>
            <a:ext cx="1554480" cy="1554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212080" y="3017520"/>
            <a:ext cx="10058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200" b="1">
                <a:solidFill>
                  <a:srgbClr val="EFF6FF"/>
                </a:solidFill>
                <a:latin typeface="Aptos"/>
              </a:rPr>
              <a:t>.agent
spec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8B949E"/>
                </a:solidFill>
                <a:latin typeface="Arial"/>
              </a:rPr>
              <a:t>LAYOUT VARIANT 3 / 44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F0F6FC"/>
                </a:solidFill>
                <a:latin typeface="Arial"/>
              </a:rPr>
              <a:t>Radial workflow shows how skills, plugins, and design context orbit the deck spec.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109728" cy="475488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475488" cy="47548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62456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98448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F0F6FC"/>
                </a:solidFill>
                <a:latin typeface="Arial"/>
              </a:rPr>
              <a:t>Intake becomes a visible checkpoint with its own editable text frame.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984248"/>
            <a:ext cx="475488" cy="47548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12264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48255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F0F6FC"/>
                </a:solidFill>
                <a:latin typeface="Arial"/>
              </a:rPr>
              <a:t>Source becomes a visible checkpoint with its own editable text frame.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734056"/>
            <a:ext cx="475488" cy="47548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862072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98064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F0F6FC"/>
                </a:solidFill>
                <a:latin typeface="Arial"/>
              </a:rPr>
              <a:t>Design Lock becomes a visible checkpoint with its own editable text frame.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483864"/>
            <a:ext cx="475488" cy="47548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611880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47872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F0F6FC"/>
                </a:solidFill>
                <a:latin typeface="Arial"/>
              </a:rPr>
              <a:t>Layout Tree becomes a visible checkpoint with its own editable text frame.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233672"/>
            <a:ext cx="475488" cy="47548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361688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97680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F0F6FC"/>
                </a:solidFill>
                <a:latin typeface="Arial"/>
              </a:rPr>
              <a:t>Pptx Build becomes a visible checkpoint with its own editable text frame.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4983479"/>
            <a:ext cx="475488" cy="47548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111495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47488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F0F6FC"/>
                </a:solidFill>
                <a:latin typeface="Arial"/>
              </a:rPr>
              <a:t>Audit Repair becomes a visible checkpoint with its own editable text frame.</a:t>
            </a:r>
          </a:p>
        </p:txBody>
      </p:sp>
      <p:pic>
        <p:nvPicPr>
          <p:cNvPr id="23" name="Picture 22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2057400" cy="2057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0" y="3794760"/>
            <a:ext cx="301752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900" b="0">
                <a:solidFill>
                  <a:srgbClr val="8B949E"/>
                </a:solidFill>
                <a:latin typeface="Arial"/>
              </a:rPr>
              <a:t>The right exhibit area stays visually separate from the process rail.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8B949E"/>
                </a:solidFill>
                <a:latin typeface="Arial"/>
              </a:rPr>
              <a:t>density layer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1234440"/>
            <a:ext cx="1783080" cy="102412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79992" y="1810512"/>
            <a:ext cx="146304" cy="22860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54312" y="1627632"/>
            <a:ext cx="14630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28632" y="1746504"/>
            <a:ext cx="146304" cy="292608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02952" y="1472184"/>
            <a:ext cx="146304" cy="566928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77272" y="1581912"/>
            <a:ext cx="146304" cy="45720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052560" y="2057400"/>
            <a:ext cx="1463040" cy="0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52560" y="1399032"/>
            <a:ext cx="0" cy="658368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79992" y="128930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8B949E"/>
                </a:solidFill>
                <a:latin typeface="Arial"/>
              </a:rPr>
              <a:t>micro KPI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80576" y="2542032"/>
            <a:ext cx="502920" cy="18288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683496" y="2542032"/>
            <a:ext cx="502919" cy="18288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683496" y="2724912"/>
            <a:ext cx="0" cy="411479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683496" y="3072384"/>
            <a:ext cx="731519" cy="64007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186415" y="2542032"/>
            <a:ext cx="228600" cy="530352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80576" y="2542032"/>
            <a:ext cx="502920" cy="594359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079992" y="2441448"/>
            <a:ext cx="201168" cy="20116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82912" y="2624328"/>
            <a:ext cx="201168" cy="20116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85832" y="2441448"/>
            <a:ext cx="201168" cy="20116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82912" y="3035808"/>
            <a:ext cx="201168" cy="20116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314432" y="2971800"/>
            <a:ext cx="201168" cy="20116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50808" y="3337560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33688" y="3337560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16568" y="3337560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99448" y="3337560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82328" y="3337560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50808" y="3483864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33688" y="3483864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16568" y="3483864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99448" y="3483864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82328" y="3483864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50808" y="3630168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33688" y="3630168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16568" y="3630168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99448" y="3630168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82328" y="3630168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9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D1117"/>
                </a:solidFill>
                <a:latin typeface="Arial"/>
              </a:rPr>
              <a:t>source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style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D1117"/>
                </a:solidFill>
                <a:latin typeface="Arial"/>
              </a:rPr>
              <a:t>spec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render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D1117"/>
                </a:solidFill>
                <a:latin typeface="Arial"/>
              </a:rPr>
              <a:t>audit</a:t>
            </a:r>
          </a:p>
        </p:txBody>
      </p:sp>
      <p:sp>
        <p:nvSpPr>
          <p:cNvPr id="133" name="Oval 132"/>
          <p:cNvSpPr/>
          <p:nvPr/>
        </p:nvSpPr>
        <p:spPr>
          <a:xfrm>
            <a:off x="502920" y="1234440"/>
            <a:ext cx="475488" cy="47548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21792" y="1362456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1</a:t>
            </a:r>
          </a:p>
        </p:txBody>
      </p:sp>
      <p:sp>
        <p:nvSpPr>
          <p:cNvPr id="135" name="Oval 134"/>
          <p:cNvSpPr/>
          <p:nvPr/>
        </p:nvSpPr>
        <p:spPr>
          <a:xfrm>
            <a:off x="502920" y="1984248"/>
            <a:ext cx="475488" cy="47548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21792" y="2112264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2</a:t>
            </a:r>
          </a:p>
        </p:txBody>
      </p:sp>
      <p:sp>
        <p:nvSpPr>
          <p:cNvPr id="137" name="Oval 136"/>
          <p:cNvSpPr/>
          <p:nvPr/>
        </p:nvSpPr>
        <p:spPr>
          <a:xfrm>
            <a:off x="502920" y="2734056"/>
            <a:ext cx="475488" cy="47548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21792" y="2862072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3</a:t>
            </a:r>
          </a:p>
        </p:txBody>
      </p:sp>
      <p:sp>
        <p:nvSpPr>
          <p:cNvPr id="139" name="Oval 138"/>
          <p:cNvSpPr/>
          <p:nvPr/>
        </p:nvSpPr>
        <p:spPr>
          <a:xfrm>
            <a:off x="502920" y="3483864"/>
            <a:ext cx="475488" cy="47548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21792" y="3611880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4</a:t>
            </a:r>
          </a:p>
        </p:txBody>
      </p:sp>
      <p:sp>
        <p:nvSpPr>
          <p:cNvPr id="141" name="Oval 140"/>
          <p:cNvSpPr/>
          <p:nvPr/>
        </p:nvSpPr>
        <p:spPr>
          <a:xfrm>
            <a:off x="502920" y="4233672"/>
            <a:ext cx="475488" cy="47548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1792" y="4361688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5</a:t>
            </a:r>
          </a:p>
        </p:txBody>
      </p:sp>
      <p:sp>
        <p:nvSpPr>
          <p:cNvPr id="143" name="Oval 142"/>
          <p:cNvSpPr/>
          <p:nvPr/>
        </p:nvSpPr>
        <p:spPr>
          <a:xfrm>
            <a:off x="502920" y="4983479"/>
            <a:ext cx="475488" cy="47548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21792" y="5111495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F0F6FC"/>
                </a:solidFill>
                <a:latin typeface="Arial"/>
              </a:rP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8B949E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B5563"/>
                </a:solidFill>
                <a:latin typeface="Arial"/>
              </a:rPr>
              <a:t>LAYOUT VARIANT 4 / 45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Decision matrix tests consulting-style action titles and dense native tables.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70432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353312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1389888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slides are checked as part of the generated stress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170432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353312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8112" y="1389888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layout variants are checked as part of the generated stress deck.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170432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353312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1" y="1389888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profile patterns are checked as part of the generated stress deck.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468880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651760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2688336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style templates are checked as part of the generated stress deck.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468880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2651760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2688336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web images are checked as part of the generated stress deck.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468880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2651760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1" y="2688336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audit collisions are checked as part of the generated stress deck.</a:t>
            </a:r>
          </a:p>
        </p:txBody>
      </p:sp>
      <p:pic>
        <p:nvPicPr>
          <p:cNvPr id="22" name="Picture 21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800600"/>
            <a:ext cx="822960" cy="8229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Arial"/>
              </a:rPr>
              <a:t>density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315968"/>
            <a:ext cx="17830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00032" y="4892040"/>
            <a:ext cx="146304" cy="2286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74352" y="4709159"/>
            <a:ext cx="146304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48672" y="4828031"/>
            <a:ext cx="146304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22992" y="4553712"/>
            <a:ext cx="146304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97311" y="4663440"/>
            <a:ext cx="146304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372600" y="5138928"/>
            <a:ext cx="1463040" cy="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72600" y="4480559"/>
            <a:ext cx="0" cy="658369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400032" y="4370831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Arial"/>
              </a:rPr>
              <a:t>micro KPI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00615" y="3364991"/>
            <a:ext cx="502921" cy="182881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003536" y="3364991"/>
            <a:ext cx="502919" cy="182881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003536" y="3547872"/>
            <a:ext cx="0" cy="41148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003536" y="3895344"/>
            <a:ext cx="731519" cy="64008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506455" y="3364991"/>
            <a:ext cx="228600" cy="530353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500615" y="3364991"/>
            <a:ext cx="502921" cy="594361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400032" y="3264408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02952" y="3447288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05872" y="3264408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02952" y="3858768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34472" y="3794759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70848" y="4160520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53728" y="4160520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36608" y="4160520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19488" y="4160520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02368" y="4160520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70848" y="4306824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53728" y="4306824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36608" y="4306824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19488" y="4306824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02368" y="4306824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70848" y="4453128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53728" y="4453128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36608" y="4453128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19488" y="4453128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02368" y="4453128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9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Arial"/>
              </a:rPr>
              <a:t>style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spec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Arial"/>
              </a:rPr>
              <a:t>render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audit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Aptos"/>
              </a:rPr>
              <a:t>LAYOUT VARIANT 5 / 46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F2937"/>
                </a:solidFill>
                <a:latin typeface="Aptos"/>
              </a:rPr>
              <a:t>Stage gate roadmap turns source ingestion into a controlled delivery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1828800" cy="71323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99616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FFF7ED"/>
                </a:solidFill>
                <a:latin typeface="Aptos"/>
              </a:rPr>
              <a:t>Agent skills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261872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39903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Agent skills item 1 is placed on a separate lane 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9" y="1261872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19" y="139903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Agent skills item 2 is placed on a separate lane card.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261872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39903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Agent skills item 3 is placed on a separate lane card.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13432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551176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1F2937"/>
                </a:solidFill>
                <a:latin typeface="Aptos"/>
              </a:rPr>
              <a:t>Design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313432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45059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Design profiles item 1 is placed on a separate lane card.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2313432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19" y="245059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Design profiles item 2 is placed on a separate lane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313432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45059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Design profiles item 3 is placed on a separate lane card.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64991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602735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1F2937"/>
                </a:solidFill>
                <a:latin typeface="Aptos"/>
              </a:rPr>
              <a:t>Image assets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364991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350215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Image assets item 1 is placed on a separate lane card.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3364991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19" y="350215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Image assets item 2 is placed on a separate lane card.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3364991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350215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Image assets item 3 is placed on a separate lane card.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416552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654296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1F2937"/>
                </a:solidFill>
                <a:latin typeface="Aptos"/>
              </a:rPr>
              <a:t>Quality gates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4416552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4553712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Quality gates item 1 is placed on a separate lane card.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79" y="4416552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19" y="4553712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Quality gates item 2 is placed on a separate lane card.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416552"/>
            <a:ext cx="182880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4553712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Aptos"/>
              </a:rPr>
              <a:t>Quality gates item 3 is placed on a separate lane card.</a:t>
            </a:r>
          </a:p>
        </p:txBody>
      </p:sp>
      <p:pic>
        <p:nvPicPr>
          <p:cNvPr id="36" name="Picture 35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1417320"/>
            <a:ext cx="868680" cy="86868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7280"/>
                </a:solidFill>
                <a:latin typeface="Aptos"/>
              </a:rPr>
              <a:t>density layer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57232" y="2331720"/>
            <a:ext cx="1783080" cy="102412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21824" y="2907791"/>
            <a:ext cx="146304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96144" y="2724911"/>
            <a:ext cx="146304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70463" y="2843784"/>
            <a:ext cx="146304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844784" y="2569463"/>
            <a:ext cx="146304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19103" y="2679191"/>
            <a:ext cx="146304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9994392" y="3154679"/>
            <a:ext cx="1463040" cy="0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994392" y="2496312"/>
            <a:ext cx="0" cy="658367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021824" y="238658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7280"/>
                </a:solidFill>
                <a:latin typeface="Aptos"/>
              </a:rPr>
              <a:t>micro KPI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122407" y="3639312"/>
            <a:ext cx="502921" cy="1828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625328" y="3639312"/>
            <a:ext cx="502919" cy="1828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625328" y="3822192"/>
            <a:ext cx="0" cy="4114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625328" y="4169664"/>
            <a:ext cx="731519" cy="64008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128247" y="3639312"/>
            <a:ext cx="228600" cy="530352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122407" y="3639312"/>
            <a:ext cx="502921" cy="59436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021824" y="3538728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24744" y="3721608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7663" y="3538728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24744" y="4133088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256263" y="406908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92640" y="4434840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19" y="4434840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58400" y="4434840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241280" y="4434840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424160" y="4434840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92640" y="4581144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875519" y="4581144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58400" y="4581144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241280" y="4581144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24160" y="4581144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92640" y="4727448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75519" y="4727448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58400" y="4727448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41280" y="4727448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24160" y="4727448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9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source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style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spec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render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audit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CBD5E1"/>
                </a:solidFill>
                <a:latin typeface="Aptos"/>
              </a:rPr>
              <a:t>LAYOUT VARIANT 6 / 47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F9FAFB"/>
                </a:solidFill>
                <a:latin typeface="Aptos"/>
              </a:rPr>
              <a:t>Brand lock canvas checks palette, tone, typography, and editable-frame discipline.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9848" y="114300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53895" y="114300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37943" y="1143000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21991" y="1143000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114300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14300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114300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58183" y="1143000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42231" y="114300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43560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848" y="1435608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53895" y="143560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37943" y="1435608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21991" y="143560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143560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0088" y="1435608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74136" y="1435608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58183" y="143560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42231" y="143560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1728216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9848" y="1728216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53895" y="1728216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37943" y="1728216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21991" y="1728216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06040" y="1728216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1728216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74136" y="1728216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58183" y="1728216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42231" y="1728216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2020824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9848" y="2020824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53895" y="2020824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37943" y="2020824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21991" y="2020824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06040" y="2020824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90088" y="2020824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74136" y="2020824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58183" y="2020824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42231" y="2020824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2313432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9848" y="2313432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53895" y="2313432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37943" y="2313432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21991" y="2313432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06040" y="2313432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90088" y="2313432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74136" y="2313432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58183" y="2313432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42231" y="2313432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5800" y="260604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69848" y="260604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453895" y="260604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37943" y="2606040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221991" y="260604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06040" y="260604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90088" y="260604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74136" y="2606040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758183" y="2606040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42231" y="2606040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5800" y="289864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9848" y="2898648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53895" y="2898648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837943" y="289864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21991" y="289864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06040" y="289864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90088" y="2898648"/>
            <a:ext cx="29260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374136" y="289864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758183" y="289864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42231" y="2898648"/>
            <a:ext cx="292608" cy="201168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532120" y="1115568"/>
            <a:ext cx="804672" cy="329184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77840" y="1225295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brief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17720" y="1874519"/>
            <a:ext cx="804672" cy="32918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63440" y="198424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source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46520" y="1874519"/>
            <a:ext cx="804672" cy="32918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92240" y="198424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design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69080" y="2651760"/>
            <a:ext cx="804672" cy="32918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0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spec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166360" y="2651760"/>
            <a:ext cx="804672" cy="32918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12080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asset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63640" y="2651760"/>
            <a:ext cx="804672" cy="32918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09359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audit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60920" y="2651760"/>
            <a:ext cx="804672" cy="32918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0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ship</a:t>
            </a:r>
          </a:p>
        </p:txBody>
      </p:sp>
      <p:cxnSp>
        <p:nvCxnSpPr>
          <p:cNvPr id="88" name="Connector 87"/>
          <p:cNvCxnSpPr/>
          <p:nvPr/>
        </p:nvCxnSpPr>
        <p:spPr>
          <a:xfrm flipH="1">
            <a:off x="5020056" y="1444752"/>
            <a:ext cx="914400" cy="429767"/>
          </a:xfrm>
          <a:prstGeom prst="line">
            <a:avLst/>
          </a:prstGeom>
          <a:ln w="889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934456" y="1444752"/>
            <a:ext cx="914400" cy="429767"/>
          </a:xfrm>
          <a:prstGeom prst="line">
            <a:avLst/>
          </a:prstGeom>
          <a:ln w="889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4471416" y="2203703"/>
            <a:ext cx="548640" cy="448057"/>
          </a:xfrm>
          <a:prstGeom prst="line">
            <a:avLst/>
          </a:prstGeom>
          <a:ln w="889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020056" y="2203703"/>
            <a:ext cx="548640" cy="448057"/>
          </a:xfrm>
          <a:prstGeom prst="line">
            <a:avLst/>
          </a:prstGeom>
          <a:ln w="889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6665976" y="2203703"/>
            <a:ext cx="182880" cy="448057"/>
          </a:xfrm>
          <a:prstGeom prst="line">
            <a:avLst/>
          </a:prstGeom>
          <a:ln w="889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848856" y="2203703"/>
            <a:ext cx="914400" cy="448057"/>
          </a:xfrm>
          <a:prstGeom prst="line">
            <a:avLst/>
          </a:prstGeom>
          <a:ln w="889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4" name="Picture 93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325880"/>
            <a:ext cx="1600200" cy="1600200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CBD5E1"/>
                </a:solidFill>
                <a:latin typeface="Aptos"/>
              </a:rPr>
              <a:t>density layer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CBD5E1"/>
                </a:solidFill>
                <a:latin typeface="Aptos"/>
              </a:rPr>
              <a:t>micro KPI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6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7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8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9</a:t>
            </a:r>
          </a:p>
        </p:txBody>
      </p:sp>
      <p:cxnSp>
        <p:nvCxnSpPr>
          <p:cNvPr id="151" name="Connector 15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01828"/>
                </a:solidFill>
                <a:latin typeface="Aptos"/>
              </a:rPr>
              <a:t>source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style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01828"/>
                </a:solidFill>
                <a:latin typeface="Aptos"/>
              </a:rPr>
              <a:t>spec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ectangle 19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render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ectangle 20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01828"/>
                </a:solidFill>
                <a:latin typeface="Aptos"/>
              </a:rPr>
              <a:t>audit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Consolas"/>
              </a:rPr>
              <a:t>LAYOUT VARIANT 7 / 48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Consolas"/>
              </a:rPr>
              <a:t>Primitive stack validates manual cards, lines, text, and image composition.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325880" cy="42062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143000"/>
            <a:ext cx="1325880" cy="42062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normalize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143000"/>
            <a:ext cx="1325880" cy="42062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79" y="1143000"/>
            <a:ext cx="1325880" cy="42062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19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143000"/>
            <a:ext cx="1325880" cy="42062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validate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1874519"/>
            <a:ext cx="868680" cy="164593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749039" y="1746503"/>
            <a:ext cx="868681" cy="12801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15000" y="1874519"/>
            <a:ext cx="868679" cy="164593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80959" y="1746503"/>
            <a:ext cx="868681" cy="12801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1737360"/>
            <a:ext cx="475488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01367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75569"/>
                </a:solidFill>
                <a:latin typeface="Consolas"/>
              </a:rPr>
              <a:t>path 1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783080" y="2249423"/>
            <a:ext cx="868680" cy="128016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49039" y="2377439"/>
            <a:ext cx="868681" cy="164593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715000" y="2249423"/>
            <a:ext cx="868679" cy="128016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9" y="2377439"/>
            <a:ext cx="868681" cy="164593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22960" y="2240279"/>
            <a:ext cx="475488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304287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75569"/>
                </a:solidFill>
                <a:latin typeface="Consolas"/>
              </a:rPr>
              <a:t>path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83080" y="2880360"/>
            <a:ext cx="868680" cy="164592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49039" y="2752344"/>
            <a:ext cx="868681" cy="12801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15000" y="2880360"/>
            <a:ext cx="868679" cy="164592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80959" y="2752344"/>
            <a:ext cx="868681" cy="12801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22960" y="2743200"/>
            <a:ext cx="475488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2807208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75569"/>
                </a:solidFill>
                <a:latin typeface="Consolas"/>
              </a:rPr>
              <a:t>path 3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783080" y="3255264"/>
            <a:ext cx="868680" cy="128016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49039" y="3383280"/>
            <a:ext cx="868681" cy="164592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715000" y="3255264"/>
            <a:ext cx="868679" cy="128016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9" y="3383280"/>
            <a:ext cx="868681" cy="164592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22960" y="3246120"/>
            <a:ext cx="475488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3310128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75569"/>
                </a:solidFill>
                <a:latin typeface="Consolas"/>
              </a:rPr>
              <a:t>path 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83080" y="3886200"/>
            <a:ext cx="868680" cy="164591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749039" y="3758184"/>
            <a:ext cx="868681" cy="12801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715000" y="3886200"/>
            <a:ext cx="868679" cy="164591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680959" y="3758184"/>
            <a:ext cx="868681" cy="12801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22960" y="3749039"/>
            <a:ext cx="475488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3813048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75569"/>
                </a:solidFill>
                <a:latin typeface="Consolas"/>
              </a:rPr>
              <a:t>path 5</a:t>
            </a:r>
          </a:p>
        </p:txBody>
      </p:sp>
      <p:pic>
        <p:nvPicPr>
          <p:cNvPr id="44" name="Picture 43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834640"/>
            <a:ext cx="960120" cy="96012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Consolas"/>
              </a:rPr>
              <a:t>density layer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Consolas"/>
              </a:rPr>
              <a:t>micro KPI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9</a:t>
            </a:r>
          </a:p>
        </p:txBody>
      </p:sp>
      <p:cxnSp>
        <p:nvCxnSpPr>
          <p:cNvPr id="101" name="Connector 10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source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style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spec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render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audit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onsola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B5A46"/>
                </a:solidFill>
                <a:latin typeface="Georgia"/>
              </a:rPr>
              <a:t>LAYOUT VARIANT 8 / 49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2E2418"/>
                </a:solidFill>
                <a:latin typeface="Georgia"/>
              </a:rPr>
              <a:t>Narrative gate board keeps evidence, decision, owner, and deadline visible.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115568" cy="310896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9112" y="1078992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2424" y="1078992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style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5736" y="1078992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asset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1078992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078992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8936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554480"/>
            <a:ext cx="1115568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br-ag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9112" y="15544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12264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br-so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2424" y="15544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5576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br-st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45736" y="15544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br-as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9048" y="15544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br-au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1554480"/>
            <a:ext cx="1115568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2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br-ow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20116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sp-ag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39112" y="20116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12264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sp-so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92424" y="20116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65576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sp-st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45736" y="20116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sp-as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9048" y="2011680"/>
            <a:ext cx="1115568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sp-au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20116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sp-ow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24688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pp-ag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39112" y="24688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12264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pp-so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92424" y="24688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5576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pp-st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45736" y="2468880"/>
            <a:ext cx="1115568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18888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pp-as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9048" y="24688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pp-au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24688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25512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pp-ow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29260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re-ag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39112" y="29260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12264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re-so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92424" y="2926080"/>
            <a:ext cx="1115568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65576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re-st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45736" y="29260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18888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re-as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9048" y="29260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200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re-au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52360" y="29260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25512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re-ow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" y="33832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952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sh-ag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39112" y="3383280"/>
            <a:ext cx="1115568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12264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sh-so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92424" y="33832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65576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sh-st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45736" y="33832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18888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sh-as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9048" y="33832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sh-au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52360" y="3383280"/>
            <a:ext cx="111556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25512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sh-ow</a:t>
            </a:r>
          </a:p>
        </p:txBody>
      </p:sp>
      <p:pic>
        <p:nvPicPr>
          <p:cNvPr id="76" name="Picture 75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280160"/>
            <a:ext cx="1417320" cy="1417320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5A46"/>
                </a:solidFill>
                <a:latin typeface="Georgia"/>
              </a:rPr>
              <a:t>density layer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5A46"/>
                </a:solidFill>
                <a:latin typeface="Georgia"/>
              </a:rPr>
              <a:t>micro KPI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9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source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style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spec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render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audit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B5A46"/>
                </a:solidFill>
                <a:latin typeface="Georgia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555555"/>
                </a:solidFill>
                <a:latin typeface="Arial"/>
              </a:rPr>
              <a:t>LAYOUT VARIANT 9 / 50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11111"/>
                </a:solidFill>
                <a:latin typeface="Arial"/>
              </a:rPr>
              <a:t>Style selector wall demonstrates a broader design-pattern chooser beyond Corazzon.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143000"/>
            <a:ext cx="6309360" cy="347472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26187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AFAFA"/>
                </a:solidFill>
                <a:latin typeface="Arial"/>
              </a:rPr>
              <a:t>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645920"/>
            <a:ext cx="6144768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76479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111111"/>
                </a:solidFill>
                <a:latin typeface="Arial"/>
              </a:rPr>
              <a:t>source corpus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304" y="2148840"/>
            <a:ext cx="5980176" cy="347472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72184" y="226771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AFAFA"/>
                </a:solidFill>
                <a:latin typeface="Arial"/>
              </a:rPr>
              <a:t>design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3896" y="2651760"/>
            <a:ext cx="581558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36776" y="277063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111111"/>
                </a:solidFill>
                <a:latin typeface="Arial"/>
              </a:rPr>
              <a:t>layout tree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8488" y="3154680"/>
            <a:ext cx="5650992" cy="347472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1368" y="327355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AFAFA"/>
                </a:solidFill>
                <a:latin typeface="Arial"/>
              </a:rPr>
              <a:t>pptx package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657600"/>
            <a:ext cx="548640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377647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111111"/>
                </a:solidFill>
                <a:latin typeface="Arial"/>
              </a:rPr>
              <a:t>audit report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1234440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53312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59" y="1234440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353312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1801368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920240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59" y="1801368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920240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2368296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487168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59" y="2368296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487168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2935224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054096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59" y="2935224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054096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8</a:t>
            </a:r>
          </a:p>
        </p:txBody>
      </p:sp>
      <p:pic>
        <p:nvPicPr>
          <p:cNvPr id="32" name="Picture 31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749039"/>
            <a:ext cx="868680" cy="86868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55555"/>
                </a:solidFill>
                <a:latin typeface="Arial"/>
              </a:rPr>
              <a:t>density layer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55555"/>
                </a:solidFill>
                <a:latin typeface="Arial"/>
              </a:rPr>
              <a:t>micro KPI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9</a:t>
            </a:r>
          </a:p>
        </p:txBody>
      </p:sp>
      <p:cxnSp>
        <p:nvCxnSpPr>
          <p:cNvPr id="89" name="Connector 88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source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style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spec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render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audit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Aptos"/>
              </a:rPr>
              <a:t>LAYOUT VARIANT 10 / 51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F2937"/>
                </a:solidFill>
                <a:latin typeface="Aptos"/>
              </a:rPr>
              <a:t>Source ingestion funnel turns documents, URLs, and notes into a deck-ready corpus.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2194560" y="1325880"/>
            <a:ext cx="1097280" cy="1188720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084831" y="1216152"/>
            <a:ext cx="219456" cy="21945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3291840" y="1325880"/>
            <a:ext cx="1097280" cy="1188720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279392" y="1216152"/>
            <a:ext cx="219456" cy="21945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291840" y="2514600"/>
            <a:ext cx="1600200" cy="91440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782312" y="2496312"/>
            <a:ext cx="219456" cy="21945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291840" y="2514600"/>
            <a:ext cx="822960" cy="1234439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005072" y="3639311"/>
            <a:ext cx="219456" cy="21945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2423160" y="2514600"/>
            <a:ext cx="868680" cy="1234439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313432" y="3639311"/>
            <a:ext cx="219456" cy="21945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1691640" y="2514600"/>
            <a:ext cx="1600200" cy="91440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81912" y="2496312"/>
            <a:ext cx="219456" cy="21945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194560" y="1325880"/>
            <a:ext cx="2194560" cy="0"/>
          </a:xfrm>
          <a:prstGeom prst="line">
            <a:avLst/>
          </a:prstGeom>
          <a:ln w="1143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89120" y="1325880"/>
            <a:ext cx="502920" cy="1280160"/>
          </a:xfrm>
          <a:prstGeom prst="line">
            <a:avLst/>
          </a:prstGeom>
          <a:ln w="1143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114800" y="2606040"/>
            <a:ext cx="777240" cy="1142999"/>
          </a:xfrm>
          <a:prstGeom prst="line">
            <a:avLst/>
          </a:prstGeom>
          <a:ln w="1143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423160" y="3749039"/>
            <a:ext cx="1691640" cy="0"/>
          </a:xfrm>
          <a:prstGeom prst="line">
            <a:avLst/>
          </a:prstGeom>
          <a:ln w="1143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691640" y="2606040"/>
            <a:ext cx="731520" cy="1142999"/>
          </a:xfrm>
          <a:prstGeom prst="line">
            <a:avLst/>
          </a:prstGeom>
          <a:ln w="1143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91640" y="1325880"/>
            <a:ext cx="502920" cy="1280160"/>
          </a:xfrm>
          <a:prstGeom prst="line">
            <a:avLst/>
          </a:prstGeom>
          <a:ln w="1143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1234440"/>
            <a:ext cx="256032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84848" y="1234440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68896" y="1234440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1234440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6992" y="1234440"/>
            <a:ext cx="256032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234440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527048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84848" y="1527048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68896" y="1527048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52944" y="1527048"/>
            <a:ext cx="256032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36992" y="1527048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1527048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819656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84848" y="1819656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68896" y="1819656"/>
            <a:ext cx="256032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52944" y="1819656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36992" y="1819656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0" y="1819656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2112264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84848" y="2112264"/>
            <a:ext cx="256032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68896" y="2112264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52944" y="2112264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36992" y="2112264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21040" y="2112264"/>
            <a:ext cx="256032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2404872"/>
            <a:ext cx="256032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84848" y="2404872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68896" y="2404872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52944" y="2404872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36992" y="2404872"/>
            <a:ext cx="256032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21040" y="2404872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2697480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84848" y="2697480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68896" y="2697480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52944" y="2697480"/>
            <a:ext cx="256032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36992" y="2697480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21040" y="2697480"/>
            <a:ext cx="256032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7280"/>
                </a:solidFill>
                <a:latin typeface="Aptos"/>
              </a:rPr>
              <a:t>density layer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7280"/>
                </a:solidFill>
                <a:latin typeface="Aptos"/>
              </a:rPr>
              <a:t>micro KPI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9</a:t>
            </a:r>
          </a:p>
        </p:txBody>
      </p:sp>
      <p:cxnSp>
        <p:nvCxnSpPr>
          <p:cNvPr id="114" name="Connector 113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source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style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spec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render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audit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57606A"/>
                </a:solidFill>
                <a:latin typeface="Arial"/>
              </a:rPr>
              <a:t>LAYOUT VARIANT 11 / 52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F2328"/>
                </a:solidFill>
                <a:latin typeface="Arial"/>
              </a:rPr>
              <a:t>RAPTOR summary tree shows how long sources become clustered slide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600200" cy="329184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6F8FA"/>
                </a:solidFill>
                <a:latin typeface="Arial"/>
              </a:rPr>
              <a:t>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todo card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93392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todo card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86584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todo card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79776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todo card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097280"/>
            <a:ext cx="1600200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328"/>
                </a:solidFill>
                <a:latin typeface="Arial"/>
              </a:rPr>
              <a:t>doing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600200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doing card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993392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doing card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386584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24912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doing card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779776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24912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doing card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1097280"/>
            <a:ext cx="1600200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328"/>
                </a:solidFill>
                <a:latin typeface="Arial"/>
              </a:rPr>
              <a:t>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1600200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review card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1993392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review card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2386584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review card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2779776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review card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79" y="1097280"/>
            <a:ext cx="1600200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1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328"/>
                </a:solidFill>
                <a:latin typeface="Arial"/>
              </a:rPr>
              <a:t>done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79" y="1600200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1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done card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79" y="1993392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1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done card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79" y="2386584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1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done card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79" y="2779776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1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done card 4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8732520" y="3611880"/>
            <a:ext cx="347472" cy="137160"/>
          </a:xfrm>
          <a:prstGeom prst="line">
            <a:avLst/>
          </a:prstGeom>
          <a:ln w="1524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79992" y="3511296"/>
            <a:ext cx="347472" cy="100584"/>
          </a:xfrm>
          <a:prstGeom prst="line">
            <a:avLst/>
          </a:prstGeom>
          <a:ln w="1524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427464" y="3364992"/>
            <a:ext cx="347472" cy="146304"/>
          </a:xfrm>
          <a:prstGeom prst="line">
            <a:avLst/>
          </a:prstGeom>
          <a:ln w="1524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774936" y="3218688"/>
            <a:ext cx="347472" cy="146304"/>
          </a:xfrm>
          <a:prstGeom prst="line">
            <a:avLst/>
          </a:prstGeom>
          <a:ln w="1524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122408" y="3136392"/>
            <a:ext cx="347472" cy="82296"/>
          </a:xfrm>
          <a:prstGeom prst="line">
            <a:avLst/>
          </a:prstGeom>
          <a:ln w="1524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7606A"/>
                </a:solidFill>
                <a:latin typeface="Arial"/>
              </a:rPr>
              <a:t>density layer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7606A"/>
                </a:solidFill>
                <a:latin typeface="Arial"/>
              </a:rPr>
              <a:t>micro KPI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9</a:t>
            </a:r>
          </a:p>
        </p:txBody>
      </p:sp>
      <p:cxnSp>
        <p:nvCxnSpPr>
          <p:cNvPr id="105" name="Connector 104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6F8FA"/>
                </a:solidFill>
                <a:latin typeface="Arial"/>
              </a:rPr>
              <a:t>source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328"/>
                </a:solidFill>
                <a:latin typeface="Arial"/>
              </a:rPr>
              <a:t>style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6F8FA"/>
                </a:solidFill>
                <a:latin typeface="Arial"/>
              </a:rPr>
              <a:t>spec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328"/>
                </a:solidFill>
                <a:latin typeface="Arial"/>
              </a:rPr>
              <a:t>render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6F8FA"/>
                </a:solidFill>
                <a:latin typeface="Arial"/>
              </a:rPr>
              <a:t>audit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57606A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16161"/>
                </a:solidFill>
                <a:latin typeface="Segoe UI"/>
              </a:rPr>
              <a:t>LAYOUT VARIANT 12 / 53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242424"/>
                </a:solidFill>
                <a:latin typeface="Segoe UI"/>
              </a:rPr>
              <a:t>Design token ledger records color, spacing, type, and source attribution.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1234440" cy="53035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module 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1499616"/>
            <a:ext cx="59436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97480" y="1234440"/>
            <a:ext cx="1234440" cy="53035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15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module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1499616"/>
            <a:ext cx="59436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26280" y="1234440"/>
            <a:ext cx="1234440" cy="53035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module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1499616"/>
            <a:ext cx="59436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55080" y="1234440"/>
            <a:ext cx="1234440" cy="53035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15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module 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0" y="1499616"/>
            <a:ext cx="594359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83879" y="1234440"/>
            <a:ext cx="1234440" cy="53035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module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77440"/>
            <a:ext cx="1234440" cy="53035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15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module 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2642616"/>
            <a:ext cx="59436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697480" y="2377440"/>
            <a:ext cx="1234440" cy="53035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module 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31920" y="2642616"/>
            <a:ext cx="59436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26280" y="2377440"/>
            <a:ext cx="1234440" cy="53035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15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module 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60720" y="2642616"/>
            <a:ext cx="59436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2377440"/>
            <a:ext cx="1234440" cy="53035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module 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0" y="2642616"/>
            <a:ext cx="594359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83879" y="2377440"/>
            <a:ext cx="1234440" cy="53035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15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module 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06908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7008" y="406908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99616" y="406908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92224" y="406908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84832" y="406908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77440" y="406908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70048" y="406908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62656" y="406908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55264" y="406908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47872" y="406908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425196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425196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99616" y="425196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92224" y="425196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84832" y="425196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77440" y="425196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70048" y="425196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62656" y="425196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55264" y="425196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47872" y="425196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400" y="443484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07008" y="443484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99616" y="443484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92224" y="443484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84832" y="443484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77440" y="443484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70048" y="443484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62656" y="443484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55264" y="443484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47872" y="443484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" y="461772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207008" y="461772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99616" y="461772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792224" y="461772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084832" y="461772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377440" y="461772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70048" y="461772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62656" y="461772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55264" y="461772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47872" y="461772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4400" y="480060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207008" y="480060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499616" y="480060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792224" y="480060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084832" y="480060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377440" y="480060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70048" y="480060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962656" y="480060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55264" y="4800600"/>
            <a:ext cx="16459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47872" y="4800600"/>
            <a:ext cx="16459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371600"/>
            <a:ext cx="960120" cy="960120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16161"/>
                </a:solidFill>
                <a:latin typeface="Segoe UI"/>
              </a:rPr>
              <a:t>density layer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16161"/>
                </a:solidFill>
                <a:latin typeface="Segoe UI"/>
              </a:rPr>
              <a:t>micro KPI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9</a:t>
            </a:r>
          </a:p>
        </p:txBody>
      </p:sp>
      <p:cxnSp>
        <p:nvCxnSpPr>
          <p:cNvPr id="139" name="Connector 138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source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style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spec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 185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render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ectangle 188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audit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16161"/>
                </a:solidFill>
                <a:latin typeface="Segoe UI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Aptos"/>
              </a:rPr>
              <a:t>LAYOUT VARIANT 1 / 54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72554"/>
                </a:solidFill>
                <a:latin typeface="Aptos"/>
              </a:rPr>
              <a:t>Image provider ladder separates web images, GPT images, SVG wrappers, and manifests.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3931920" cy="4800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554480"/>
            <a:ext cx="283464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4617720"/>
            <a:ext cx="27889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GPT image infographic.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170432"/>
            <a:ext cx="6217920" cy="7498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1768" y="1335024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1">
                <a:solidFill>
                  <a:srgbClr val="EFF6FF"/>
                </a:solidFill>
                <a:latin typeface="Aptos"/>
              </a:rPr>
              <a:t>The image is a visible exhibit, not a replacement for editable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249424"/>
            <a:ext cx="6217920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414016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172554"/>
                </a:solidFill>
                <a:latin typeface="Aptos"/>
              </a:rPr>
              <a:t>The right column keeps full-sentence claims in separate text frames.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3328415"/>
            <a:ext cx="6217920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3493008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172554"/>
                </a:solidFill>
                <a:latin typeface="Aptos"/>
              </a:rPr>
              <a:t>The JSON spec records coordinates, source, license, and audit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4407408"/>
            <a:ext cx="6217920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4572000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172554"/>
                </a:solidFill>
                <a:latin typeface="Aptos"/>
              </a:rPr>
              <a:t>The layout variant uses a wide split instead of the default grid.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Aptos"/>
              </a:rPr>
              <a:t>density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0032" y="4343400"/>
            <a:ext cx="1783080" cy="10241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64624" y="4919472"/>
            <a:ext cx="146304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38944" y="4736592"/>
            <a:ext cx="146304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13263" y="4855464"/>
            <a:ext cx="146304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87584" y="4581144"/>
            <a:ext cx="14630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1903" y="4690872"/>
            <a:ext cx="14630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37192" y="5166360"/>
            <a:ext cx="1463040" cy="0"/>
          </a:xfrm>
          <a:prstGeom prst="line">
            <a:avLst/>
          </a:prstGeom>
          <a:ln w="1016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37192" y="4507992"/>
            <a:ext cx="0" cy="658368"/>
          </a:xfrm>
          <a:prstGeom prst="line">
            <a:avLst/>
          </a:prstGeom>
          <a:ln w="1016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64624" y="439826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Aptos"/>
              </a:rPr>
              <a:t>micro KPI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65207" y="3392424"/>
            <a:ext cx="502921" cy="1828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168128" y="3392424"/>
            <a:ext cx="502919" cy="1828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68128" y="3575304"/>
            <a:ext cx="0" cy="4114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168128" y="3922776"/>
            <a:ext cx="731519" cy="64008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671047" y="3392424"/>
            <a:ext cx="228600" cy="530352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65207" y="3392424"/>
            <a:ext cx="502921" cy="59436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564624" y="329184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67544" y="347472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70463" y="329184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67544" y="38862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99063" y="3822191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187952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18319" y="4187952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4187952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84080" y="4187952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66960" y="4187952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4334256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18319" y="4334256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01200" y="4334256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4334256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334256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448056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18319" y="448056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01200" y="4480560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84080" y="4480560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66960" y="448056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source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style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spec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render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audit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8B949E"/>
                </a:solidFill>
                <a:latin typeface="Arial"/>
              </a:rPr>
              <a:t>LAYOUT VARIANT 2 / 55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F0F6FC"/>
                </a:solidFill>
                <a:latin typeface="Arial"/>
              </a:rPr>
              <a:t>Audit repair loop makes collision findings, font findings, and rebuild decisions visible.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2450592" y="1764792"/>
            <a:ext cx="3264408" cy="1481328"/>
          </a:xfrm>
          <a:prstGeom prst="line">
            <a:avLst/>
          </a:prstGeom>
          <a:ln w="1397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0" y="1508760"/>
            <a:ext cx="1234440" cy="512064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952" y="1645919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6FC"/>
                </a:solidFill>
                <a:latin typeface="Arial"/>
              </a:rPr>
              <a:t>sources is explicit.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5376672" y="1554480"/>
            <a:ext cx="338328" cy="1691640"/>
          </a:xfrm>
          <a:prstGeom prst="line">
            <a:avLst/>
          </a:prstGeom>
          <a:ln w="1397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54880" y="1298448"/>
            <a:ext cx="1234440" cy="512064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8032" y="1435607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6FC"/>
                </a:solidFill>
                <a:latin typeface="Arial"/>
              </a:rPr>
              <a:t>design is explicit.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715000" y="1810512"/>
            <a:ext cx="2496312" cy="1435608"/>
          </a:xfrm>
          <a:prstGeom prst="line">
            <a:avLst/>
          </a:prstGeom>
          <a:ln w="1397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89520" y="1554480"/>
            <a:ext cx="1234440" cy="512064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691639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6FC"/>
                </a:solidFill>
                <a:latin typeface="Arial"/>
              </a:rPr>
              <a:t>assets is explicit.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3246120"/>
            <a:ext cx="3547872" cy="1261872"/>
          </a:xfrm>
          <a:prstGeom prst="line">
            <a:avLst/>
          </a:prstGeom>
          <a:ln w="1397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41080" y="4251960"/>
            <a:ext cx="1234440" cy="512064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4389120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6FC"/>
                </a:solidFill>
                <a:latin typeface="Arial"/>
              </a:rPr>
              <a:t>render is explicit.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3246120"/>
            <a:ext cx="118872" cy="2359152"/>
          </a:xfrm>
          <a:prstGeom prst="line">
            <a:avLst/>
          </a:prstGeom>
          <a:ln w="1397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5349240"/>
            <a:ext cx="1234440" cy="512064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5486400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6FC"/>
                </a:solidFill>
                <a:latin typeface="Arial"/>
              </a:rPr>
              <a:t>audit is explicit.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542032" y="3246120"/>
            <a:ext cx="3172968" cy="1536192"/>
          </a:xfrm>
          <a:prstGeom prst="line">
            <a:avLst/>
          </a:prstGeom>
          <a:ln w="1397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920240" y="4526280"/>
            <a:ext cx="1234440" cy="512064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4663440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0F6FC"/>
                </a:solidFill>
                <a:latin typeface="Arial"/>
              </a:rPr>
              <a:t>repair is explicit.</a:t>
            </a:r>
          </a:p>
        </p:txBody>
      </p:sp>
      <p:sp>
        <p:nvSpPr>
          <p:cNvPr id="22" name="Oval 21"/>
          <p:cNvSpPr/>
          <p:nvPr/>
        </p:nvSpPr>
        <p:spPr>
          <a:xfrm>
            <a:off x="4937760" y="2468879"/>
            <a:ext cx="1554480" cy="1554480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017520"/>
            <a:ext cx="10058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200" b="1">
                <a:solidFill>
                  <a:srgbClr val="F0F6FC"/>
                </a:solidFill>
                <a:latin typeface="Arial"/>
              </a:rPr>
              <a:t>.agent
spec</a:t>
            </a:r>
          </a:p>
        </p:txBody>
      </p:sp>
      <p:pic>
        <p:nvPicPr>
          <p:cNvPr id="24" name="Picture 23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892040"/>
            <a:ext cx="777240" cy="77724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8B949E"/>
                </a:solidFill>
                <a:latin typeface="Arial"/>
              </a:rPr>
              <a:t>density layer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8048" y="960120"/>
            <a:ext cx="1783080" cy="102412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536192"/>
            <a:ext cx="146304" cy="22860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66960" y="1353312"/>
            <a:ext cx="14630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1472184"/>
            <a:ext cx="146304" cy="292608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0" y="1197864"/>
            <a:ext cx="146304" cy="566928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89919" y="1307592"/>
            <a:ext cx="146304" cy="45720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665208" y="1783080"/>
            <a:ext cx="1463040" cy="0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65208" y="1124712"/>
            <a:ext cx="0" cy="658368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692640" y="101498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8B949E"/>
                </a:solidFill>
                <a:latin typeface="Arial"/>
              </a:rPr>
              <a:t>micro KPI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93224" y="2267712"/>
            <a:ext cx="502920" cy="18288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296144" y="2267712"/>
            <a:ext cx="502919" cy="18288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96144" y="2450592"/>
            <a:ext cx="0" cy="41148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296144" y="2798064"/>
            <a:ext cx="731519" cy="64008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799063" y="2267712"/>
            <a:ext cx="228600" cy="530352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93224" y="2267712"/>
            <a:ext cx="502920" cy="59436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692640" y="2167128"/>
            <a:ext cx="201168" cy="20116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195560" y="2350008"/>
            <a:ext cx="201168" cy="20116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98480" y="2167128"/>
            <a:ext cx="201168" cy="20116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95560" y="2761488"/>
            <a:ext cx="201168" cy="20116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27080" y="2697480"/>
            <a:ext cx="201168" cy="20116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63456" y="3063240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46336" y="3063240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29216" y="3063240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12096" y="3063240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94976" y="3063240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63456" y="3209544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46336" y="3209544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29216" y="3209544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12096" y="3209544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94976" y="3209544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63456" y="3355848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46336" y="3355848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29216" y="3355848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912096" y="3355848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94976" y="3355848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9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D1117"/>
                </a:solidFill>
                <a:latin typeface="Arial"/>
              </a:rPr>
              <a:t>source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style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D1117"/>
                </a:solidFill>
                <a:latin typeface="Arial"/>
              </a:rPr>
              <a:t>spec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render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D1117"/>
                </a:solidFill>
                <a:latin typeface="Arial"/>
              </a:rPr>
              <a:t>audit</a:t>
            </a:r>
          </a:p>
        </p:txBody>
      </p:sp>
      <p:sp>
        <p:nvSpPr>
          <p:cNvPr id="133" name="Oval 132"/>
          <p:cNvSpPr/>
          <p:nvPr/>
        </p:nvSpPr>
        <p:spPr>
          <a:xfrm>
            <a:off x="4937760" y="2468879"/>
            <a:ext cx="1554480" cy="1554480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212080" y="3017520"/>
            <a:ext cx="10058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200" b="1">
                <a:solidFill>
                  <a:srgbClr val="F0F6FC"/>
                </a:solidFill>
                <a:latin typeface="Arial"/>
              </a:rPr>
              <a:t>.agent
spec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8B949E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Consolas"/>
              </a:rPr>
              <a:t>LAYOUT VARIANT 3 / 56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Consolas"/>
              </a:rPr>
              <a:t>Coordinate contract map demonstrates bboxes, z order, roles, and content classification.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109728" cy="4754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62456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98448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nsolas"/>
              </a:rPr>
              <a:t>Intake becomes a visible checkpoint with its own editable text frame.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984248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12264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48255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nsolas"/>
              </a:rPr>
              <a:t>Source becomes a visible checkpoint with its own editable text frame.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734056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862072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98064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nsolas"/>
              </a:rPr>
              <a:t>Design Lock becomes a visible checkpoint with its own editable text frame.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483864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611880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47872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nsolas"/>
              </a:rPr>
              <a:t>Layout Tree becomes a visible checkpoint with its own editable text frame.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23367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361688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97680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nsolas"/>
              </a:rPr>
              <a:t>Pptx Build becomes a visible checkpoint with its own editable text frame.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4983479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111495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47488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Consolas"/>
              </a:rPr>
              <a:t>Audit Repair becomes a visible checkpoint with its own editable text frame.</a:t>
            </a:r>
          </a:p>
        </p:txBody>
      </p:sp>
      <p:pic>
        <p:nvPicPr>
          <p:cNvPr id="23" name="Picture 22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2057400" cy="2057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0" y="3794760"/>
            <a:ext cx="301752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Consolas"/>
              </a:rPr>
              <a:t>The right exhibit area stays visually separate from the process rail.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Consolas"/>
              </a:rPr>
              <a:t>density layer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1234440"/>
            <a:ext cx="178308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79992" y="1810512"/>
            <a:ext cx="146304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54312" y="1627632"/>
            <a:ext cx="146304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28632" y="1746504"/>
            <a:ext cx="14630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02952" y="1472184"/>
            <a:ext cx="146304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77272" y="1581912"/>
            <a:ext cx="14630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052560" y="2057400"/>
            <a:ext cx="14630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52560" y="1399032"/>
            <a:ext cx="0" cy="658368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79992" y="128930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Consolas"/>
              </a:rPr>
              <a:t>micro KPI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80576" y="2542032"/>
            <a:ext cx="502920" cy="18288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683496" y="2542032"/>
            <a:ext cx="502919" cy="18288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683496" y="2724912"/>
            <a:ext cx="0" cy="411479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683496" y="3072384"/>
            <a:ext cx="731519" cy="64007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186415" y="2542032"/>
            <a:ext cx="228600" cy="530352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80576" y="2542032"/>
            <a:ext cx="502920" cy="594359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079992" y="244144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82912" y="262432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85832" y="244144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82912" y="303580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314432" y="297180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50808" y="3337560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33688" y="3337560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16568" y="3337560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99448" y="3337560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82328" y="3337560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50808" y="3483864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33688" y="3483864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16568" y="3483864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99448" y="3483864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82328" y="3483864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50808" y="3630168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33688" y="3630168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16568" y="3630168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99448" y="3630168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82328" y="3630168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9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source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style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spec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render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audit</a:t>
            </a:r>
          </a:p>
        </p:txBody>
      </p:sp>
      <p:sp>
        <p:nvSpPr>
          <p:cNvPr id="133" name="Oval 132"/>
          <p:cNvSpPr/>
          <p:nvPr/>
        </p:nvSpPr>
        <p:spPr>
          <a:xfrm>
            <a:off x="502920" y="123444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21792" y="1362456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1</a:t>
            </a:r>
          </a:p>
        </p:txBody>
      </p:sp>
      <p:sp>
        <p:nvSpPr>
          <p:cNvPr id="135" name="Oval 134"/>
          <p:cNvSpPr/>
          <p:nvPr/>
        </p:nvSpPr>
        <p:spPr>
          <a:xfrm>
            <a:off x="502920" y="1984248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21792" y="2112264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2</a:t>
            </a:r>
          </a:p>
        </p:txBody>
      </p:sp>
      <p:sp>
        <p:nvSpPr>
          <p:cNvPr id="137" name="Oval 136"/>
          <p:cNvSpPr/>
          <p:nvPr/>
        </p:nvSpPr>
        <p:spPr>
          <a:xfrm>
            <a:off x="502920" y="2734056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21792" y="2862072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3</a:t>
            </a:r>
          </a:p>
        </p:txBody>
      </p:sp>
      <p:sp>
        <p:nvSpPr>
          <p:cNvPr id="139" name="Oval 138"/>
          <p:cNvSpPr/>
          <p:nvPr/>
        </p:nvSpPr>
        <p:spPr>
          <a:xfrm>
            <a:off x="502920" y="3483864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21792" y="3611880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4</a:t>
            </a:r>
          </a:p>
        </p:txBody>
      </p:sp>
      <p:sp>
        <p:nvSpPr>
          <p:cNvPr id="141" name="Oval 140"/>
          <p:cNvSpPr/>
          <p:nvPr/>
        </p:nvSpPr>
        <p:spPr>
          <a:xfrm>
            <a:off x="502920" y="423367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1792" y="4361688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5</a:t>
            </a:r>
          </a:p>
        </p:txBody>
      </p:sp>
      <p:sp>
        <p:nvSpPr>
          <p:cNvPr id="143" name="Oval 142"/>
          <p:cNvSpPr/>
          <p:nvPr/>
        </p:nvSpPr>
        <p:spPr>
          <a:xfrm>
            <a:off x="502920" y="4983479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21792" y="5111495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onsolas"/>
              </a:rP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onsola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B5563"/>
                </a:solidFill>
                <a:latin typeface="Arial"/>
              </a:rPr>
              <a:t>LAYOUT VARIANT 4 / 57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Quality gate scorecard keeps production-readiness checks in a dashboard layout.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70432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353312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1389888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slides are checked as part of the generated stress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170432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353312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8112" y="1389888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layout variants are checked as part of the generated stress deck.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170432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353312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1" y="1389888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profile patterns are checked as part of the generated stress deck.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468880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651760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2688336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style templates are checked as part of the generated stress deck.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468880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2651760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2688336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web images are checked as part of the generated stress deck.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468880"/>
            <a:ext cx="30175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2651760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1" y="2688336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827"/>
                </a:solidFill>
                <a:latin typeface="Arial"/>
              </a:rPr>
              <a:t>audit collisions are checked as part of the generated stress deck.</a:t>
            </a:r>
          </a:p>
        </p:txBody>
      </p:sp>
      <p:pic>
        <p:nvPicPr>
          <p:cNvPr id="22" name="Picture 21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800600"/>
            <a:ext cx="822960" cy="8229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Arial"/>
              </a:rPr>
              <a:t>density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315968"/>
            <a:ext cx="17830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00032" y="4892040"/>
            <a:ext cx="146304" cy="2286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74352" y="4709159"/>
            <a:ext cx="146304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48672" y="4828031"/>
            <a:ext cx="146304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22992" y="4553712"/>
            <a:ext cx="146304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97311" y="4663440"/>
            <a:ext cx="146304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372600" y="5138928"/>
            <a:ext cx="1463040" cy="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72600" y="4480559"/>
            <a:ext cx="0" cy="658369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400032" y="4370831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Arial"/>
              </a:rPr>
              <a:t>micro KPI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00615" y="3364991"/>
            <a:ext cx="502921" cy="182881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003536" y="3364991"/>
            <a:ext cx="502919" cy="182881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003536" y="3547872"/>
            <a:ext cx="0" cy="41148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003536" y="3895344"/>
            <a:ext cx="731519" cy="64008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506455" y="3364991"/>
            <a:ext cx="228600" cy="530353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500615" y="3364991"/>
            <a:ext cx="502921" cy="594361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400032" y="3264408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02952" y="3447288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05872" y="3264408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02952" y="3858768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34472" y="3794759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70848" y="4160520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53728" y="4160520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36608" y="4160520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19488" y="4160520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02368" y="4160520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70848" y="4306824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53728" y="4306824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36608" y="4306824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19488" y="4306824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02368" y="4306824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70848" y="4453128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53728" y="4453128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36608" y="4453128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19488" y="4453128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02368" y="4453128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9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Arial"/>
              </a:rPr>
              <a:t>style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spec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Arial"/>
              </a:rPr>
              <a:t>render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audit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CBD5E1"/>
                </a:solidFill>
                <a:latin typeface="Aptos"/>
              </a:rPr>
              <a:t>LAYOUT VARIANT 5 / 58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F9FAFB"/>
                </a:solidFill>
                <a:latin typeface="Aptos"/>
              </a:rPr>
              <a:t>Reference deck extraction separates style facts from copied binary templates.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1828800" cy="713232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99616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F9FAFB"/>
                </a:solidFill>
                <a:latin typeface="Aptos"/>
              </a:rPr>
              <a:t>Agent skills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261872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39903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Agent skills item 1 is placed on a separate lane 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9" y="1261872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19" y="139903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Agent skills item 2 is placed on a separate lane card.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261872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39903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Agent skills item 3 is placed on a separate lane card.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13432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551176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F9FAFB"/>
                </a:solidFill>
                <a:latin typeface="Aptos"/>
              </a:rPr>
              <a:t>Design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313432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45059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Design profiles item 1 is placed on a separate lane card.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2313432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19" y="245059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Design profiles item 2 is placed on a separate lane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313432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45059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Design profiles item 3 is placed on a separate lane card.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64991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602735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F9FAFB"/>
                </a:solidFill>
                <a:latin typeface="Aptos"/>
              </a:rPr>
              <a:t>Image assets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364991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350215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Image assets item 1 is placed on a separate lane card.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3364991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19" y="350215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Image assets item 2 is placed on a separate lane card.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3364991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350215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Image assets item 3 is placed on a separate lane card.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416552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654296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F9FAFB"/>
                </a:solidFill>
                <a:latin typeface="Aptos"/>
              </a:rPr>
              <a:t>Quality gates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4416552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4553712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Quality gates item 1 is placed on a separate lane card.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79" y="4416552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19" y="4553712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Quality gates item 2 is placed on a separate lane card.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416552"/>
            <a:ext cx="1828800" cy="71323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4553712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F9FAFB"/>
                </a:solidFill>
                <a:latin typeface="Aptos"/>
              </a:rPr>
              <a:t>Quality gates item 3 is placed on a separate lane card.</a:t>
            </a:r>
          </a:p>
        </p:txBody>
      </p:sp>
      <p:pic>
        <p:nvPicPr>
          <p:cNvPr id="36" name="Picture 35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1417320"/>
            <a:ext cx="868680" cy="86868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CBD5E1"/>
                </a:solidFill>
                <a:latin typeface="Aptos"/>
              </a:rPr>
              <a:t>density layer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57232" y="2331720"/>
            <a:ext cx="1783080" cy="102412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21824" y="2907791"/>
            <a:ext cx="146304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96144" y="2724911"/>
            <a:ext cx="14630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70463" y="2843784"/>
            <a:ext cx="146304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844784" y="2569463"/>
            <a:ext cx="14630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19103" y="2679191"/>
            <a:ext cx="1463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9994392" y="3154679"/>
            <a:ext cx="146304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994392" y="2496312"/>
            <a:ext cx="0" cy="658367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021824" y="238658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CBD5E1"/>
                </a:solidFill>
                <a:latin typeface="Aptos"/>
              </a:rPr>
              <a:t>micro KPI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122407" y="3639312"/>
            <a:ext cx="502921" cy="18288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625328" y="3639312"/>
            <a:ext cx="502919" cy="18288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625328" y="3822192"/>
            <a:ext cx="0" cy="41148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625328" y="4169664"/>
            <a:ext cx="731519" cy="64008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128247" y="3639312"/>
            <a:ext cx="228600" cy="530352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122407" y="3639312"/>
            <a:ext cx="502921" cy="59436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021824" y="35387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24744" y="3721608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7663" y="35387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24744" y="4133088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256263" y="40690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92640" y="4434840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19" y="4434840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58400" y="4434840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241280" y="4434840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424160" y="4434840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92640" y="4581144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875519" y="4581144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58400" y="4581144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241280" y="4581144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24160" y="4581144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92640" y="4727448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75519" y="4727448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58400" y="4727448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41280" y="4727448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24160" y="4727448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9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01828"/>
                </a:solidFill>
                <a:latin typeface="Aptos"/>
              </a:rPr>
              <a:t>source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style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01828"/>
                </a:solidFill>
                <a:latin typeface="Aptos"/>
              </a:rPr>
              <a:t>spec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render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01828"/>
                </a:solidFill>
                <a:latin typeface="Aptos"/>
              </a:rPr>
              <a:t>audit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Aptos"/>
              </a:rPr>
              <a:t>LAYOUT VARIANT 6 / 59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72554"/>
                </a:solidFill>
                <a:latin typeface="Aptos"/>
              </a:rPr>
              <a:t>Hidden appendix flow documents generated raster and SVG evidence without crowding slides.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9848" y="1143000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53895" y="1143000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37943" y="1143000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21991" y="1143000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1143000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143000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1143000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58183" y="1143000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42231" y="1143000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43560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848" y="143560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53895" y="143560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37943" y="1435608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21991" y="1435608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143560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0088" y="143560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74136" y="1435608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58183" y="143560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42231" y="1435608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1728216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9848" y="1728216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53895" y="1728216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37943" y="1728216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21991" y="1728216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06040" y="1728216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1728216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74136" y="1728216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58183" y="1728216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42231" y="1728216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2020824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9848" y="2020824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53895" y="2020824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37943" y="2020824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21991" y="2020824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06040" y="2020824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90088" y="2020824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74136" y="2020824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58183" y="2020824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42231" y="2020824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2313432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9848" y="2313432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53895" y="2313432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37943" y="2313432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21991" y="2313432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06040" y="2313432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90088" y="2313432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74136" y="2313432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58183" y="2313432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42231" y="2313432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5800" y="2606040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69848" y="2606040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453895" y="2606040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37943" y="2606040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221991" y="2606040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06040" y="2606040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90088" y="2606040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74136" y="2606040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758183" y="2606040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42231" y="2606040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5800" y="289864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9848" y="289864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53895" y="2898648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837943" y="289864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21991" y="2898648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06040" y="289864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90088" y="2898648"/>
            <a:ext cx="29260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374136" y="289864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758183" y="2898648"/>
            <a:ext cx="29260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42231" y="2898648"/>
            <a:ext cx="2926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532120" y="1115568"/>
            <a:ext cx="80467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77840" y="1225295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brief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17720" y="1874519"/>
            <a:ext cx="804672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63440" y="198424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source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46520" y="1874519"/>
            <a:ext cx="804672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92240" y="198424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design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69080" y="2651760"/>
            <a:ext cx="804672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0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spec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166360" y="2651760"/>
            <a:ext cx="804672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12080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asset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63640" y="2651760"/>
            <a:ext cx="804672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09359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audit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60920" y="2651760"/>
            <a:ext cx="804672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0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ship</a:t>
            </a:r>
          </a:p>
        </p:txBody>
      </p:sp>
      <p:cxnSp>
        <p:nvCxnSpPr>
          <p:cNvPr id="88" name="Connector 87"/>
          <p:cNvCxnSpPr/>
          <p:nvPr/>
        </p:nvCxnSpPr>
        <p:spPr>
          <a:xfrm flipH="1">
            <a:off x="5020056" y="1444752"/>
            <a:ext cx="914400" cy="429767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934456" y="1444752"/>
            <a:ext cx="914400" cy="429767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4471416" y="2203703"/>
            <a:ext cx="548640" cy="448057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020056" y="2203703"/>
            <a:ext cx="548640" cy="448057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6665976" y="2203703"/>
            <a:ext cx="182880" cy="448057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848856" y="2203703"/>
            <a:ext cx="914400" cy="448057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4" name="Picture 93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325880"/>
            <a:ext cx="1600200" cy="1600200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Aptos"/>
              </a:rPr>
              <a:t>density layer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Aptos"/>
              </a:rPr>
              <a:t>micro KPI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cxnSp>
        <p:nvCxnSpPr>
          <p:cNvPr id="151" name="Connector 15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source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style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spec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ectangle 19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render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ectangle 20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audit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16161"/>
                </a:solidFill>
                <a:latin typeface="Segoe UI"/>
              </a:rPr>
              <a:t>LAYOUT VARIANT 7 / 60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242424"/>
                </a:solidFill>
                <a:latin typeface="Segoe UI"/>
              </a:rPr>
              <a:t>Accessibility contrast grid stress-tests readable labels across dark and light layouts.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325880" cy="420624"/>
          </a:xfrm>
          <a:prstGeom prst="round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143000"/>
            <a:ext cx="1325880" cy="420624"/>
          </a:xfrm>
          <a:prstGeom prst="round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normalize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143000"/>
            <a:ext cx="1325880" cy="420624"/>
          </a:xfrm>
          <a:prstGeom prst="round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79" y="1143000"/>
            <a:ext cx="1325880" cy="420624"/>
          </a:xfrm>
          <a:prstGeom prst="round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19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render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143000"/>
            <a:ext cx="1325880" cy="420624"/>
          </a:xfrm>
          <a:prstGeom prst="round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validate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1874519"/>
            <a:ext cx="868680" cy="164593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749039" y="1746503"/>
            <a:ext cx="868681" cy="128016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15000" y="1874519"/>
            <a:ext cx="868679" cy="164593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80959" y="1746503"/>
            <a:ext cx="868681" cy="128016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1737360"/>
            <a:ext cx="475488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01367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616161"/>
                </a:solidFill>
                <a:latin typeface="Segoe UI"/>
              </a:rPr>
              <a:t>path 1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783080" y="2249423"/>
            <a:ext cx="868680" cy="128016"/>
          </a:xfrm>
          <a:prstGeom prst="line">
            <a:avLst/>
          </a:prstGeom>
          <a:ln w="1778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49039" y="2377439"/>
            <a:ext cx="868681" cy="164593"/>
          </a:xfrm>
          <a:prstGeom prst="line">
            <a:avLst/>
          </a:prstGeom>
          <a:ln w="1778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715000" y="2249423"/>
            <a:ext cx="868679" cy="128016"/>
          </a:xfrm>
          <a:prstGeom prst="line">
            <a:avLst/>
          </a:prstGeom>
          <a:ln w="1778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9" y="2377439"/>
            <a:ext cx="868681" cy="164593"/>
          </a:xfrm>
          <a:prstGeom prst="line">
            <a:avLst/>
          </a:prstGeom>
          <a:ln w="1778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22960" y="2240279"/>
            <a:ext cx="475488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304287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616161"/>
                </a:solidFill>
                <a:latin typeface="Segoe UI"/>
              </a:rPr>
              <a:t>path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83080" y="2880360"/>
            <a:ext cx="868680" cy="164592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49039" y="2752344"/>
            <a:ext cx="868681" cy="128016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15000" y="2880360"/>
            <a:ext cx="868679" cy="164592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80959" y="2752344"/>
            <a:ext cx="868681" cy="128016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22960" y="2743200"/>
            <a:ext cx="475488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2807208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616161"/>
                </a:solidFill>
                <a:latin typeface="Segoe UI"/>
              </a:rPr>
              <a:t>path 3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783080" y="3255264"/>
            <a:ext cx="868680" cy="128016"/>
          </a:xfrm>
          <a:prstGeom prst="line">
            <a:avLst/>
          </a:prstGeom>
          <a:ln w="1778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49039" y="3383280"/>
            <a:ext cx="868681" cy="164592"/>
          </a:xfrm>
          <a:prstGeom prst="line">
            <a:avLst/>
          </a:prstGeom>
          <a:ln w="1778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715000" y="3255264"/>
            <a:ext cx="868679" cy="128016"/>
          </a:xfrm>
          <a:prstGeom prst="line">
            <a:avLst/>
          </a:prstGeom>
          <a:ln w="1778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9" y="3383280"/>
            <a:ext cx="868681" cy="164592"/>
          </a:xfrm>
          <a:prstGeom prst="line">
            <a:avLst/>
          </a:prstGeom>
          <a:ln w="1778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22960" y="3246120"/>
            <a:ext cx="475488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3310128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616161"/>
                </a:solidFill>
                <a:latin typeface="Segoe UI"/>
              </a:rPr>
              <a:t>path 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83080" y="3886200"/>
            <a:ext cx="868680" cy="164591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749039" y="3758184"/>
            <a:ext cx="868681" cy="128016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715000" y="3886200"/>
            <a:ext cx="868679" cy="164591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680959" y="3758184"/>
            <a:ext cx="868681" cy="128016"/>
          </a:xfrm>
          <a:prstGeom prst="line">
            <a:avLst/>
          </a:prstGeom>
          <a:ln w="1778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22960" y="3749039"/>
            <a:ext cx="475488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3813048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616161"/>
                </a:solidFill>
                <a:latin typeface="Segoe UI"/>
              </a:rPr>
              <a:t>path 5</a:t>
            </a:r>
          </a:p>
        </p:txBody>
      </p:sp>
      <p:pic>
        <p:nvPicPr>
          <p:cNvPr id="44" name="Picture 43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834640"/>
            <a:ext cx="960120" cy="96012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16161"/>
                </a:solidFill>
                <a:latin typeface="Segoe UI"/>
              </a:rPr>
              <a:t>density layer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16161"/>
                </a:solidFill>
                <a:latin typeface="Segoe UI"/>
              </a:rPr>
              <a:t>micro KPI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16161"/>
                </a:solidFill>
                <a:latin typeface="Segoe UI"/>
              </a:rPr>
              <a:t>9</a:t>
            </a:r>
          </a:p>
        </p:txBody>
      </p:sp>
      <p:cxnSp>
        <p:nvCxnSpPr>
          <p:cNvPr id="101" name="Connector 10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0F6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source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style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spec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15EA3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2424"/>
                </a:solidFill>
                <a:latin typeface="Segoe UI"/>
              </a:rPr>
              <a:t>render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0F6CBD"/>
          </a:solidFill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Segoe UI"/>
              </a:rPr>
              <a:t>audit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16161"/>
                </a:solidFill>
                <a:latin typeface="Segoe UI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E625C"/>
                </a:solidFill>
                <a:latin typeface="Aptos"/>
              </a:rPr>
              <a:t>LAYOUT VARIANT 8 / 61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241F21"/>
                </a:solidFill>
                <a:latin typeface="Aptos"/>
              </a:rPr>
              <a:t>Agent skill map shows how local skills cover ingestion, design, rendering, and gates.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115568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7F4EF"/>
                </a:solidFill>
                <a:latin typeface="Aptos"/>
              </a:rPr>
              <a:t>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9112" y="1078992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2424" y="1078992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style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5736" y="1078992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asset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1078992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078992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8936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554480"/>
            <a:ext cx="1115568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br-ag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9112" y="15544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12264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br-so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2424" y="15544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5576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br-st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45736" y="15544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br-as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9048" y="15544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br-au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1554480"/>
            <a:ext cx="1115568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2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br-ow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20116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sp-ag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39112" y="20116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12264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sp-so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92424" y="20116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65576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sp-st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45736" y="20116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sp-as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9048" y="2011680"/>
            <a:ext cx="1115568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sp-au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20116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sp-ow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24688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pp-ag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39112" y="24688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12264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pp-so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92424" y="24688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5576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pp-st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45736" y="2468880"/>
            <a:ext cx="1115568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18888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pp-as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9048" y="24688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pp-au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24688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25512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pp-ow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29260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re-ag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39112" y="29260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12264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re-so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92424" y="2926080"/>
            <a:ext cx="1115568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65576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re-st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45736" y="29260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18888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re-as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9048" y="29260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200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re-au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52360" y="29260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25512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re-ow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" y="33832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952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sh-ag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39112" y="3383280"/>
            <a:ext cx="1115568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12264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sh-so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92424" y="33832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65576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sh-st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45736" y="33832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18888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sh-as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9048" y="33832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sh-au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52360" y="3383280"/>
            <a:ext cx="1115568" cy="310896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25512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sh-ow</a:t>
            </a:r>
          </a:p>
        </p:txBody>
      </p:sp>
      <p:pic>
        <p:nvPicPr>
          <p:cNvPr id="76" name="Picture 75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280160"/>
            <a:ext cx="1417320" cy="1417320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E625C"/>
                </a:solidFill>
                <a:latin typeface="Aptos"/>
              </a:rPr>
              <a:t>density layer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E625C"/>
                </a:solidFill>
                <a:latin typeface="Aptos"/>
              </a:rPr>
              <a:t>micro KPI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9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7F4EF"/>
                </a:solidFill>
                <a:latin typeface="Aptos"/>
              </a:rPr>
              <a:t>source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style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7F4EF"/>
                </a:solidFill>
                <a:latin typeface="Aptos"/>
              </a:rPr>
              <a:t>spec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render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7F4EF"/>
                </a:solidFill>
                <a:latin typeface="Aptos"/>
              </a:rPr>
              <a:t>audit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E625C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555555"/>
                </a:solidFill>
                <a:latin typeface="Arial"/>
              </a:rPr>
              <a:t>LAYOUT VARIANT 9 / 62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11111"/>
                </a:solidFill>
                <a:latin typeface="Arial"/>
              </a:rPr>
              <a:t>Style lock board prevents accidental mixing of palette, type, and motif choices.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143000"/>
            <a:ext cx="6309360" cy="347472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26187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AFAFA"/>
                </a:solidFill>
                <a:latin typeface="Arial"/>
              </a:rPr>
              <a:t>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645920"/>
            <a:ext cx="6144768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76479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111111"/>
                </a:solidFill>
                <a:latin typeface="Arial"/>
              </a:rPr>
              <a:t>source corpus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304" y="2148840"/>
            <a:ext cx="5980176" cy="347472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72184" y="226771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AFAFA"/>
                </a:solidFill>
                <a:latin typeface="Arial"/>
              </a:rPr>
              <a:t>design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3896" y="2651760"/>
            <a:ext cx="581558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36776" y="277063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111111"/>
                </a:solidFill>
                <a:latin typeface="Arial"/>
              </a:rPr>
              <a:t>layout tree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8488" y="3154680"/>
            <a:ext cx="5650992" cy="347472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1368" y="327355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AFAFA"/>
                </a:solidFill>
                <a:latin typeface="Arial"/>
              </a:rPr>
              <a:t>pptx package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657600"/>
            <a:ext cx="548640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377647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111111"/>
                </a:solidFill>
                <a:latin typeface="Arial"/>
              </a:rPr>
              <a:t>audit report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1234440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53312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59" y="1234440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353312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1801368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920240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59" y="1801368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920240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2368296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487168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59" y="2368296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487168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2935224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054096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59" y="2935224"/>
            <a:ext cx="960120" cy="329184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054096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check 8</a:t>
            </a:r>
          </a:p>
        </p:txBody>
      </p:sp>
      <p:pic>
        <p:nvPicPr>
          <p:cNvPr id="32" name="Picture 31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749039"/>
            <a:ext cx="868680" cy="86868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55555"/>
                </a:solidFill>
                <a:latin typeface="Arial"/>
              </a:rPr>
              <a:t>density layer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55555"/>
                </a:solidFill>
                <a:latin typeface="Arial"/>
              </a:rPr>
              <a:t>micro KPI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9</a:t>
            </a:r>
          </a:p>
        </p:txBody>
      </p:sp>
      <p:cxnSp>
        <p:nvCxnSpPr>
          <p:cNvPr id="89" name="Connector 88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source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style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spec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render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audit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B5563"/>
                </a:solidFill>
                <a:latin typeface="Arial"/>
              </a:rPr>
              <a:t>LAYOUT VARIANT 10 / 63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Source attribution table keeps licenses and URLs visible for every adapted context.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2194560" y="1325880"/>
            <a:ext cx="1097280" cy="118872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084831" y="1216152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3291840" y="1325880"/>
            <a:ext cx="1097280" cy="118872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279392" y="1216152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291840" y="2514600"/>
            <a:ext cx="1600200" cy="9144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782312" y="2496312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291840" y="2514600"/>
            <a:ext cx="822960" cy="1234439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005072" y="3639311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2423160" y="2514600"/>
            <a:ext cx="868680" cy="1234439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313432" y="3639311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1691640" y="2514600"/>
            <a:ext cx="1600200" cy="9144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81912" y="2496312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194560" y="1325880"/>
            <a:ext cx="219456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89120" y="1325880"/>
            <a:ext cx="502920" cy="128016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114800" y="2606040"/>
            <a:ext cx="777240" cy="1142999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423160" y="3749039"/>
            <a:ext cx="169164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691640" y="2606040"/>
            <a:ext cx="731520" cy="1142999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91640" y="1325880"/>
            <a:ext cx="502920" cy="128016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1234440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84848" y="123444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68896" y="123444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123444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6992" y="1234440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23444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527048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84848" y="1527048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68896" y="1527048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52944" y="1527048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36992" y="1527048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1527048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819656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84848" y="1819656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68896" y="1819656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52944" y="1819656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36992" y="1819656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0" y="1819656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2112264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84848" y="2112264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68896" y="2112264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52944" y="2112264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36992" y="2112264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21040" y="2112264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2404872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84848" y="2404872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68896" y="2404872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52944" y="2404872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36992" y="2404872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21040" y="2404872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269748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84848" y="269748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68896" y="269748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52944" y="2697480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36992" y="269748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21040" y="269748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Arial"/>
              </a:rPr>
              <a:t>density layer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Arial"/>
              </a:rPr>
              <a:t>micro KPI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9</a:t>
            </a:r>
          </a:p>
        </p:txBody>
      </p:sp>
      <p:cxnSp>
        <p:nvCxnSpPr>
          <p:cNvPr id="114" name="Connector 113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Arial"/>
              </a:rPr>
              <a:t>style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spec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Arial"/>
              </a:rPr>
              <a:t>render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audit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Consolas"/>
              </a:rPr>
              <a:t>LAYOUT VARIANT 11 / 64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Consolas"/>
              </a:rPr>
              <a:t>Editable object taxonomy compares text, shape, image, line, and table primitives.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6002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todo card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93392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todo card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86584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todo card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79776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todo card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097280"/>
            <a:ext cx="16002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doing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600200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doing card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993392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doing card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386584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24912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doing card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779776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24912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doing card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1097280"/>
            <a:ext cx="16002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1600200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review card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1993392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review card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2386584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review card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2779776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review card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79" y="1097280"/>
            <a:ext cx="16002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1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done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79" y="1600200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1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done card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79" y="1993392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1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done card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79" y="2386584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1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done card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79" y="2779776"/>
            <a:ext cx="1600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1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Consolas"/>
              </a:rPr>
              <a:t>done card 4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8732520" y="3611880"/>
            <a:ext cx="347472" cy="137160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79992" y="3511296"/>
            <a:ext cx="347472" cy="100584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427464" y="3364992"/>
            <a:ext cx="347472" cy="146304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774936" y="3218688"/>
            <a:ext cx="347472" cy="146304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122408" y="3136392"/>
            <a:ext cx="347472" cy="82296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Consolas"/>
              </a:rPr>
              <a:t>density layer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Consolas"/>
              </a:rPr>
              <a:t>micro KPI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9</a:t>
            </a:r>
          </a:p>
        </p:txBody>
      </p:sp>
      <p:cxnSp>
        <p:nvCxnSpPr>
          <p:cNvPr id="105" name="Connector 104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source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style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spec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render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audit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onsola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Aptos"/>
              </a:rPr>
              <a:t>LAYOUT VARIANT 12 / 65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F2937"/>
                </a:solidFill>
                <a:latin typeface="Aptos"/>
              </a:rPr>
              <a:t>Workflow command strip shows the exact sequence from prompt to audit artifact.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123444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module 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1499616"/>
            <a:ext cx="594360" cy="0"/>
          </a:xfrm>
          <a:prstGeom prst="line">
            <a:avLst/>
          </a:prstGeom>
          <a:ln w="889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97480" y="1234440"/>
            <a:ext cx="123444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module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1499616"/>
            <a:ext cx="594360" cy="0"/>
          </a:xfrm>
          <a:prstGeom prst="line">
            <a:avLst/>
          </a:prstGeom>
          <a:ln w="889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26280" y="1234440"/>
            <a:ext cx="123444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module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1499616"/>
            <a:ext cx="594360" cy="0"/>
          </a:xfrm>
          <a:prstGeom prst="line">
            <a:avLst/>
          </a:prstGeom>
          <a:ln w="889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55080" y="1234440"/>
            <a:ext cx="123444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module 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0" y="1499616"/>
            <a:ext cx="594359" cy="0"/>
          </a:xfrm>
          <a:prstGeom prst="line">
            <a:avLst/>
          </a:prstGeom>
          <a:ln w="889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83879" y="1234440"/>
            <a:ext cx="123444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module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77440"/>
            <a:ext cx="123444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module 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2642616"/>
            <a:ext cx="594360" cy="0"/>
          </a:xfrm>
          <a:prstGeom prst="line">
            <a:avLst/>
          </a:prstGeom>
          <a:ln w="889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697480" y="2377440"/>
            <a:ext cx="123444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module 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31920" y="2642616"/>
            <a:ext cx="594360" cy="0"/>
          </a:xfrm>
          <a:prstGeom prst="line">
            <a:avLst/>
          </a:prstGeom>
          <a:ln w="889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26280" y="2377440"/>
            <a:ext cx="123444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module 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60720" y="2642616"/>
            <a:ext cx="594360" cy="0"/>
          </a:xfrm>
          <a:prstGeom prst="line">
            <a:avLst/>
          </a:prstGeom>
          <a:ln w="889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2377440"/>
            <a:ext cx="123444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module 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0" y="2642616"/>
            <a:ext cx="594359" cy="0"/>
          </a:xfrm>
          <a:prstGeom prst="line">
            <a:avLst/>
          </a:prstGeom>
          <a:ln w="889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83879" y="2377440"/>
            <a:ext cx="123444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module 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06908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7008" y="406908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99616" y="406908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92224" y="406908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84832" y="406908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77440" y="406908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70048" y="406908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62656" y="406908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55264" y="406908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47872" y="406908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425196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425196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99616" y="425196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92224" y="425196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84832" y="425196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77440" y="425196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70048" y="425196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62656" y="425196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55264" y="425196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47872" y="425196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400" y="443484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07008" y="443484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99616" y="443484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92224" y="443484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84832" y="443484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77440" y="443484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70048" y="443484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62656" y="443484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55264" y="443484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47872" y="443484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" y="461772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207008" y="461772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99616" y="461772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792224" y="461772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084832" y="461772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377440" y="461772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70048" y="461772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62656" y="461772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55264" y="461772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47872" y="461772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4400" y="480060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207008" y="480060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499616" y="480060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792224" y="480060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084832" y="480060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377440" y="480060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70048" y="480060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962656" y="480060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55264" y="480060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47872" y="4800600"/>
            <a:ext cx="16459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371600"/>
            <a:ext cx="960120" cy="960120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7280"/>
                </a:solidFill>
                <a:latin typeface="Aptos"/>
              </a:rPr>
              <a:t>density layer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7280"/>
                </a:solidFill>
                <a:latin typeface="Aptos"/>
              </a:rPr>
              <a:t>micro KPI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9</a:t>
            </a:r>
          </a:p>
        </p:txBody>
      </p:sp>
      <p:cxnSp>
        <p:nvCxnSpPr>
          <p:cNvPr id="139" name="Connector 138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source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style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spec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 185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render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ectangle 188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audit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B5A46"/>
                </a:solidFill>
                <a:latin typeface="Georgia"/>
              </a:rPr>
              <a:t>LAYOUT VARIANT 1 / 66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2E2418"/>
                </a:solidFill>
                <a:latin typeface="Georgia"/>
              </a:rPr>
              <a:t>Visual density test keeps dense copy readable with separated cards and lanes.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3931920" cy="4800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554480"/>
            <a:ext cx="283464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4617720"/>
            <a:ext cx="27889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GPT image infographic.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170432"/>
            <a:ext cx="6217920" cy="749808"/>
          </a:xfrm>
          <a:prstGeom prst="round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1768" y="1335024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1">
                <a:solidFill>
                  <a:srgbClr val="FFFBEB"/>
                </a:solidFill>
                <a:latin typeface="Georgia"/>
              </a:rPr>
              <a:t>The image is a visible exhibit, not a replacement for editable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249424"/>
            <a:ext cx="6217920" cy="7498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414016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2E2418"/>
                </a:solidFill>
                <a:latin typeface="Georgia"/>
              </a:rPr>
              <a:t>The right column keeps full-sentence claims in separate text frames.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3328415"/>
            <a:ext cx="6217920" cy="7498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3493008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2E2418"/>
                </a:solidFill>
                <a:latin typeface="Georgia"/>
              </a:rPr>
              <a:t>The JSON spec records coordinates, source, license, and audit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4407408"/>
            <a:ext cx="6217920" cy="7498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4572000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2E2418"/>
                </a:solidFill>
                <a:latin typeface="Georgia"/>
              </a:rPr>
              <a:t>The layout variant uses a wide split instead of the default grid.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5A46"/>
                </a:solidFill>
                <a:latin typeface="Georgia"/>
              </a:rPr>
              <a:t>density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0032" y="4343400"/>
            <a:ext cx="1783080" cy="102412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64624" y="4919472"/>
            <a:ext cx="146304" cy="22860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38944" y="4736592"/>
            <a:ext cx="146304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13263" y="4855464"/>
            <a:ext cx="146304" cy="292608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87584" y="4581144"/>
            <a:ext cx="146304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1903" y="4690872"/>
            <a:ext cx="146304" cy="45720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37192" y="5166360"/>
            <a:ext cx="1463040" cy="0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37192" y="4507992"/>
            <a:ext cx="0" cy="658368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64624" y="439826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5A46"/>
                </a:solidFill>
                <a:latin typeface="Georgia"/>
              </a:rPr>
              <a:t>micro KPI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65207" y="3392424"/>
            <a:ext cx="502921" cy="1828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168128" y="3392424"/>
            <a:ext cx="502919" cy="1828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68128" y="3575304"/>
            <a:ext cx="0" cy="4114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168128" y="3922776"/>
            <a:ext cx="731519" cy="64008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671047" y="3392424"/>
            <a:ext cx="228600" cy="530352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65207" y="3392424"/>
            <a:ext cx="502921" cy="59436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564624" y="3291840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67544" y="3474720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70463" y="3291840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67544" y="3886200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99063" y="3822191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187952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18319" y="4187952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4187952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84080" y="4187952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66960" y="4187952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4334256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18319" y="4334256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01200" y="4334256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4334256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334256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4480560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18319" y="4480560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01200" y="4480560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84080" y="4480560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66960" y="4480560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9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source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style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spec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render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audit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B5A46"/>
                </a:solidFill>
                <a:latin typeface="Georgia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CBD5E1"/>
                </a:solidFill>
                <a:latin typeface="Aptos"/>
              </a:rPr>
              <a:t>LAYOUT VARIANT 2 / 67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F9FAFB"/>
                </a:solidFill>
                <a:latin typeface="Aptos"/>
              </a:rPr>
              <a:t>Brand system sandbox compares chosen palette, neutral scale, tone, and type rules.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2450592" y="1764792"/>
            <a:ext cx="3264408" cy="1481328"/>
          </a:xfrm>
          <a:prstGeom prst="line">
            <a:avLst/>
          </a:prstGeom>
          <a:ln w="139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0" y="1508760"/>
            <a:ext cx="1234440" cy="51206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952" y="1645919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9FAFB"/>
                </a:solidFill>
                <a:latin typeface="Aptos"/>
              </a:rPr>
              <a:t>sources is explicit.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5376672" y="1554480"/>
            <a:ext cx="338328" cy="1691640"/>
          </a:xfrm>
          <a:prstGeom prst="line">
            <a:avLst/>
          </a:prstGeom>
          <a:ln w="139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54880" y="1298448"/>
            <a:ext cx="1234440" cy="5120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8032" y="1435607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9FAFB"/>
                </a:solidFill>
                <a:latin typeface="Aptos"/>
              </a:rPr>
              <a:t>design is explicit.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715000" y="1810512"/>
            <a:ext cx="2496312" cy="1435608"/>
          </a:xfrm>
          <a:prstGeom prst="line">
            <a:avLst/>
          </a:prstGeom>
          <a:ln w="139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89520" y="1554480"/>
            <a:ext cx="1234440" cy="51206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691639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9FAFB"/>
                </a:solidFill>
                <a:latin typeface="Aptos"/>
              </a:rPr>
              <a:t>assets is explicit.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3246120"/>
            <a:ext cx="3547872" cy="1261872"/>
          </a:xfrm>
          <a:prstGeom prst="line">
            <a:avLst/>
          </a:prstGeom>
          <a:ln w="139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41080" y="4251960"/>
            <a:ext cx="1234440" cy="5120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4389120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9FAFB"/>
                </a:solidFill>
                <a:latin typeface="Aptos"/>
              </a:rPr>
              <a:t>render is explicit.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3246120"/>
            <a:ext cx="118872" cy="2359152"/>
          </a:xfrm>
          <a:prstGeom prst="line">
            <a:avLst/>
          </a:prstGeom>
          <a:ln w="139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5349240"/>
            <a:ext cx="1234440" cy="51206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5486400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9FAFB"/>
                </a:solidFill>
                <a:latin typeface="Aptos"/>
              </a:rPr>
              <a:t>audit is explicit.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542032" y="3246120"/>
            <a:ext cx="3172968" cy="1536192"/>
          </a:xfrm>
          <a:prstGeom prst="line">
            <a:avLst/>
          </a:prstGeom>
          <a:ln w="139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920240" y="4526280"/>
            <a:ext cx="1234440" cy="51206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4663440"/>
            <a:ext cx="1060704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19" b="1">
                <a:solidFill>
                  <a:srgbClr val="F9FAFB"/>
                </a:solidFill>
                <a:latin typeface="Aptos"/>
              </a:rPr>
              <a:t>repair is explicit.</a:t>
            </a:r>
          </a:p>
        </p:txBody>
      </p:sp>
      <p:sp>
        <p:nvSpPr>
          <p:cNvPr id="22" name="Oval 21"/>
          <p:cNvSpPr/>
          <p:nvPr/>
        </p:nvSpPr>
        <p:spPr>
          <a:xfrm>
            <a:off x="4937760" y="2468879"/>
            <a:ext cx="1554480" cy="1554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017520"/>
            <a:ext cx="10058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200" b="1">
                <a:solidFill>
                  <a:srgbClr val="F9FAFB"/>
                </a:solidFill>
                <a:latin typeface="Aptos"/>
              </a:rPr>
              <a:t>.agent
spec</a:t>
            </a:r>
          </a:p>
        </p:txBody>
      </p:sp>
      <p:pic>
        <p:nvPicPr>
          <p:cNvPr id="24" name="Picture 23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892040"/>
            <a:ext cx="777240" cy="77724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CBD5E1"/>
                </a:solidFill>
                <a:latin typeface="Aptos"/>
              </a:rPr>
              <a:t>density layer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8048" y="960120"/>
            <a:ext cx="1783080" cy="102412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536192"/>
            <a:ext cx="146304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66960" y="1353312"/>
            <a:ext cx="14630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1472184"/>
            <a:ext cx="146304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0" y="1197864"/>
            <a:ext cx="14630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89919" y="1307592"/>
            <a:ext cx="1463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665208" y="1783080"/>
            <a:ext cx="1463040" cy="0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65208" y="1124712"/>
            <a:ext cx="0" cy="658368"/>
          </a:xfrm>
          <a:prstGeom prst="line">
            <a:avLst/>
          </a:prstGeom>
          <a:ln w="1016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692640" y="101498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CBD5E1"/>
                </a:solidFill>
                <a:latin typeface="Aptos"/>
              </a:rPr>
              <a:t>micro KPI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93224" y="2267712"/>
            <a:ext cx="502920" cy="18288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296144" y="2267712"/>
            <a:ext cx="502919" cy="18288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96144" y="2450592"/>
            <a:ext cx="0" cy="41148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296144" y="2798064"/>
            <a:ext cx="731519" cy="64008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799063" y="2267712"/>
            <a:ext cx="228600" cy="530352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93224" y="2267712"/>
            <a:ext cx="502920" cy="59436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692640" y="21671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195560" y="2350008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98480" y="21671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95560" y="2761488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27080" y="26974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63456" y="3063240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46336" y="3063240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29216" y="3063240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12096" y="3063240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94976" y="3063240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63456" y="3209544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46336" y="3209544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29216" y="3209544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12096" y="3209544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94976" y="3209544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63456" y="3355848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46336" y="3355848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29216" y="3355848"/>
            <a:ext cx="11887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912096" y="3355848"/>
            <a:ext cx="1188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94976" y="3355848"/>
            <a:ext cx="118872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CBD5E1"/>
                </a:solidFill>
                <a:latin typeface="Aptos"/>
              </a:rPr>
              <a:t>9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01828"/>
                </a:solidFill>
                <a:latin typeface="Aptos"/>
              </a:rPr>
              <a:t>source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style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01828"/>
                </a:solidFill>
                <a:latin typeface="Aptos"/>
              </a:rPr>
              <a:t>spec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9FAFB"/>
                </a:solidFill>
                <a:latin typeface="Aptos"/>
              </a:rPr>
              <a:t>render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01828"/>
                </a:solidFill>
                <a:latin typeface="Aptos"/>
              </a:rPr>
              <a:t>audit</a:t>
            </a:r>
          </a:p>
        </p:txBody>
      </p:sp>
      <p:sp>
        <p:nvSpPr>
          <p:cNvPr id="133" name="Oval 132"/>
          <p:cNvSpPr/>
          <p:nvPr/>
        </p:nvSpPr>
        <p:spPr>
          <a:xfrm>
            <a:off x="4937760" y="2468879"/>
            <a:ext cx="1554480" cy="1554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212080" y="3017520"/>
            <a:ext cx="1005840" cy="4114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200" b="1">
                <a:solidFill>
                  <a:srgbClr val="F9FAFB"/>
                </a:solidFill>
                <a:latin typeface="Aptos"/>
              </a:rPr>
              <a:t>.agent
spec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Aptos"/>
              </a:rPr>
              <a:t>LAYOUT VARIANT 3 / 68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72554"/>
                </a:solidFill>
                <a:latin typeface="Aptos"/>
              </a:rPr>
              <a:t>Asset manifest dashboard tracks web images, generated attempts, and local paths.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109728" cy="4754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62456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98448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172554"/>
                </a:solidFill>
                <a:latin typeface="Aptos"/>
              </a:rPr>
              <a:t>Intake becomes a visible checkpoint with its own editable text frame.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984248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12264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48255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172554"/>
                </a:solidFill>
                <a:latin typeface="Aptos"/>
              </a:rPr>
              <a:t>Source becomes a visible checkpoint with its own editable text frame.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73405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862072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98064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172554"/>
                </a:solidFill>
                <a:latin typeface="Aptos"/>
              </a:rPr>
              <a:t>Design Lock becomes a visible checkpoint with its own editable text frame.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483864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611880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47872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172554"/>
                </a:solidFill>
                <a:latin typeface="Aptos"/>
              </a:rPr>
              <a:t>Layout Tree becomes a visible checkpoint with its own editable text frame.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233672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361688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97680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172554"/>
                </a:solidFill>
                <a:latin typeface="Aptos"/>
              </a:rPr>
              <a:t>Pptx Build becomes a visible checkpoint with its own editable text frame.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4983479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111495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47488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172554"/>
                </a:solidFill>
                <a:latin typeface="Aptos"/>
              </a:rPr>
              <a:t>Audit Repair becomes a visible checkpoint with its own editable text frame.</a:t>
            </a:r>
          </a:p>
        </p:txBody>
      </p:sp>
      <p:pic>
        <p:nvPicPr>
          <p:cNvPr id="23" name="Picture 22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2057400" cy="2057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0" y="3794760"/>
            <a:ext cx="301752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The right exhibit area stays visually separate from the process rail.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Aptos"/>
              </a:rPr>
              <a:t>density layer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1234440"/>
            <a:ext cx="1783080" cy="10241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79992" y="1810512"/>
            <a:ext cx="146304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54312" y="1627632"/>
            <a:ext cx="146304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28632" y="1746504"/>
            <a:ext cx="146304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02952" y="1472184"/>
            <a:ext cx="14630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77272" y="1581912"/>
            <a:ext cx="14630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052560" y="2057400"/>
            <a:ext cx="1463040" cy="0"/>
          </a:xfrm>
          <a:prstGeom prst="line">
            <a:avLst/>
          </a:prstGeom>
          <a:ln w="1016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52560" y="1399032"/>
            <a:ext cx="0" cy="658368"/>
          </a:xfrm>
          <a:prstGeom prst="line">
            <a:avLst/>
          </a:prstGeom>
          <a:ln w="1016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79992" y="128930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Aptos"/>
              </a:rPr>
              <a:t>micro KPI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80576" y="2542032"/>
            <a:ext cx="502920" cy="1828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683496" y="2542032"/>
            <a:ext cx="502919" cy="1828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683496" y="2724912"/>
            <a:ext cx="0" cy="411479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683496" y="3072384"/>
            <a:ext cx="731519" cy="64007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186415" y="2542032"/>
            <a:ext cx="228600" cy="530352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80576" y="2542032"/>
            <a:ext cx="502920" cy="594359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079992" y="2441448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82912" y="262432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85832" y="2441448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82912" y="30358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314432" y="297180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50808" y="3337560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33688" y="3337560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16568" y="333756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99448" y="333756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82328" y="3337560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50808" y="3483864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33688" y="3483864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16568" y="3483864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99448" y="3483864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82328" y="3483864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50808" y="3630168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33688" y="3630168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16568" y="3630168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99448" y="3630168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82328" y="3630168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source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style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spec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render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audit</a:t>
            </a:r>
          </a:p>
        </p:txBody>
      </p:sp>
      <p:sp>
        <p:nvSpPr>
          <p:cNvPr id="133" name="Oval 132"/>
          <p:cNvSpPr/>
          <p:nvPr/>
        </p:nvSpPr>
        <p:spPr>
          <a:xfrm>
            <a:off x="502920" y="12344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21792" y="1362456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1</a:t>
            </a:r>
          </a:p>
        </p:txBody>
      </p:sp>
      <p:sp>
        <p:nvSpPr>
          <p:cNvPr id="135" name="Oval 134"/>
          <p:cNvSpPr/>
          <p:nvPr/>
        </p:nvSpPr>
        <p:spPr>
          <a:xfrm>
            <a:off x="502920" y="1984248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21792" y="2112264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2</a:t>
            </a:r>
          </a:p>
        </p:txBody>
      </p:sp>
      <p:sp>
        <p:nvSpPr>
          <p:cNvPr id="137" name="Oval 136"/>
          <p:cNvSpPr/>
          <p:nvPr/>
        </p:nvSpPr>
        <p:spPr>
          <a:xfrm>
            <a:off x="502920" y="273405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21792" y="2862072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3</a:t>
            </a:r>
          </a:p>
        </p:txBody>
      </p:sp>
      <p:sp>
        <p:nvSpPr>
          <p:cNvPr id="139" name="Oval 138"/>
          <p:cNvSpPr/>
          <p:nvPr/>
        </p:nvSpPr>
        <p:spPr>
          <a:xfrm>
            <a:off x="502920" y="3483864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21792" y="3611880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4</a:t>
            </a:r>
          </a:p>
        </p:txBody>
      </p:sp>
      <p:sp>
        <p:nvSpPr>
          <p:cNvPr id="141" name="Oval 140"/>
          <p:cNvSpPr/>
          <p:nvPr/>
        </p:nvSpPr>
        <p:spPr>
          <a:xfrm>
            <a:off x="502920" y="4233672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1792" y="4361688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5</a:t>
            </a:r>
          </a:p>
        </p:txBody>
      </p:sp>
      <p:sp>
        <p:nvSpPr>
          <p:cNvPr id="143" name="Oval 142"/>
          <p:cNvSpPr/>
          <p:nvPr/>
        </p:nvSpPr>
        <p:spPr>
          <a:xfrm>
            <a:off x="502920" y="4983479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21792" y="5111495"/>
            <a:ext cx="219456" cy="1209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850" b="1">
                <a:solidFill>
                  <a:srgbClr val="172554"/>
                </a:solidFill>
                <a:latin typeface="Aptos"/>
              </a:rP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555555"/>
                </a:solidFill>
                <a:latin typeface="Arial"/>
              </a:rPr>
              <a:t>LAYOUT VARIANT 4 / 69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11111"/>
                </a:solidFill>
                <a:latin typeface="Arial"/>
              </a:rPr>
              <a:t>Layout family gallery demonstrates split, radial, timeline, dashboard, and lane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70432"/>
            <a:ext cx="3017520" cy="9326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353312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E63030"/>
                </a:solidFill>
                <a:latin typeface="Arial"/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1389888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111"/>
                </a:solidFill>
                <a:latin typeface="Arial"/>
              </a:rPr>
              <a:t>slides are checked as part of the generated stress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170432"/>
            <a:ext cx="3017520" cy="9326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353312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E63030"/>
                </a:solidFill>
                <a:latin typeface="Arial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8112" y="1389888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111"/>
                </a:solidFill>
                <a:latin typeface="Arial"/>
              </a:rPr>
              <a:t>layout variants are checked as part of the generated stress deck.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170432"/>
            <a:ext cx="3017520" cy="9326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353312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E63030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1" y="1389888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111"/>
                </a:solidFill>
                <a:latin typeface="Arial"/>
              </a:rPr>
              <a:t>profile patterns are checked as part of the generated stress deck.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468880"/>
            <a:ext cx="3017520" cy="9326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651760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E63030"/>
                </a:solidFill>
                <a:latin typeface="Arial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2688336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111"/>
                </a:solidFill>
                <a:latin typeface="Arial"/>
              </a:rPr>
              <a:t>style templates are checked as part of the generated stress deck.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468880"/>
            <a:ext cx="3017520" cy="9326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2651760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E63030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2688336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111"/>
                </a:solidFill>
                <a:latin typeface="Arial"/>
              </a:rPr>
              <a:t>web images are checked as part of the generated stress deck.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468880"/>
            <a:ext cx="3017520" cy="9326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2651760"/>
            <a:ext cx="777240" cy="32918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900" b="1">
                <a:solidFill>
                  <a:srgbClr val="E63030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1" y="2688336"/>
            <a:ext cx="1691640" cy="29260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19" b="0">
                <a:solidFill>
                  <a:srgbClr val="111111"/>
                </a:solidFill>
                <a:latin typeface="Arial"/>
              </a:rPr>
              <a:t>audit collisions are checked as part of the generated stress deck.</a:t>
            </a:r>
          </a:p>
        </p:txBody>
      </p:sp>
      <p:pic>
        <p:nvPicPr>
          <p:cNvPr id="22" name="Picture 21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800600"/>
            <a:ext cx="822960" cy="8229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55555"/>
                </a:solidFill>
                <a:latin typeface="Arial"/>
              </a:rPr>
              <a:t>density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315968"/>
            <a:ext cx="1783080" cy="102412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00032" y="4892040"/>
            <a:ext cx="146304" cy="22860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74352" y="4709159"/>
            <a:ext cx="146304" cy="41148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48672" y="4828031"/>
            <a:ext cx="146304" cy="292608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22992" y="4553712"/>
            <a:ext cx="146304" cy="566928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97311" y="4663440"/>
            <a:ext cx="146304" cy="45720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372600" y="5138928"/>
            <a:ext cx="1463040" cy="0"/>
          </a:xfrm>
          <a:prstGeom prst="line">
            <a:avLst/>
          </a:prstGeom>
          <a:ln w="1016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72600" y="4480559"/>
            <a:ext cx="0" cy="658369"/>
          </a:xfrm>
          <a:prstGeom prst="line">
            <a:avLst/>
          </a:prstGeom>
          <a:ln w="1016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400032" y="4370831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55555"/>
                </a:solidFill>
                <a:latin typeface="Arial"/>
              </a:rPr>
              <a:t>micro KPI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00615" y="3364991"/>
            <a:ext cx="502921" cy="182881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003536" y="3364991"/>
            <a:ext cx="502919" cy="182881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003536" y="3547872"/>
            <a:ext cx="0" cy="41148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003536" y="3895344"/>
            <a:ext cx="731519" cy="64008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506455" y="3364991"/>
            <a:ext cx="228600" cy="530353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500615" y="3364991"/>
            <a:ext cx="502921" cy="594361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400032" y="3264408"/>
            <a:ext cx="201168" cy="20116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02952" y="3447288"/>
            <a:ext cx="201168" cy="20116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05872" y="3264408"/>
            <a:ext cx="201168" cy="20116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02952" y="3858768"/>
            <a:ext cx="201168" cy="201168"/>
          </a:xfrm>
          <a:prstGeom prst="ellipse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34472" y="3794759"/>
            <a:ext cx="201168" cy="20116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70848" y="4160520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53728" y="4160520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36608" y="416052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19488" y="4160520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02368" y="4160520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70848" y="4306824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53728" y="4306824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36608" y="4306824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19488" y="4306824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02368" y="4306824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70848" y="4453128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53728" y="4453128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36608" y="4453128"/>
            <a:ext cx="118872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19488" y="4453128"/>
            <a:ext cx="118872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02368" y="4453128"/>
            <a:ext cx="118872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55555"/>
                </a:solidFill>
                <a:latin typeface="Arial"/>
              </a:rPr>
              <a:t>9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E6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E63030"/>
          </a:solidFill>
          <a:ln w="12700">
            <a:solidFill>
              <a:srgbClr val="E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source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style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spec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D5C9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111"/>
                </a:solidFill>
                <a:latin typeface="Arial"/>
              </a:rPr>
              <a:t>render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E6303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AFAFA"/>
                </a:solidFill>
                <a:latin typeface="Arial"/>
              </a:rPr>
              <a:t>audit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B5A46"/>
                </a:solidFill>
                <a:latin typeface="Georgia"/>
              </a:rPr>
              <a:t>LAYOUT VARIANT 5 / 70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2E2418"/>
                </a:solidFill>
                <a:latin typeface="Georgia"/>
              </a:rPr>
              <a:t>Decision owner rail connects evidence, decision, deadline, and owner into one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1828800" cy="713232"/>
          </a:xfrm>
          <a:prstGeom prst="round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99616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FFFBEB"/>
                </a:solidFill>
                <a:latin typeface="Georgia"/>
              </a:rPr>
              <a:t>Agent skills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261872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39903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Agent skills item 1 is placed on a separate lane 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9" y="1261872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19" y="139903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Agent skills item 2 is placed on a separate lane card.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261872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39903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Agent skills item 3 is placed on a separate lane card.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13432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551176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2E2418"/>
                </a:solidFill>
                <a:latin typeface="Georgia"/>
              </a:rPr>
              <a:t>Design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313432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45059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Design profiles item 1 is placed on a separate lane card.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2313432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19" y="245059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Design profiles item 2 is placed on a separate lane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313432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45059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Design profiles item 3 is placed on a separate lane card.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64991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602735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2E2418"/>
                </a:solidFill>
                <a:latin typeface="Georgia"/>
              </a:rPr>
              <a:t>Image assets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364991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350215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Image assets item 1 is placed on a separate lane card.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3364991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19" y="350215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Image assets item 2 is placed on a separate lane card.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3364991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3502151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Image assets item 3 is placed on a separate lane card.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416552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654296"/>
            <a:ext cx="1417320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80" b="1">
                <a:solidFill>
                  <a:srgbClr val="2E2418"/>
                </a:solidFill>
                <a:latin typeface="Georgia"/>
              </a:rPr>
              <a:t>Quality gates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4416552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4553712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Quality gates item 1 is placed on a separate lane card.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79" y="4416552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19" y="4553712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Quality gates item 2 is placed on a separate lane card.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416552"/>
            <a:ext cx="182880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4553712"/>
            <a:ext cx="160020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80" b="0">
                <a:solidFill>
                  <a:srgbClr val="2E2418"/>
                </a:solidFill>
                <a:latin typeface="Georgia"/>
              </a:rPr>
              <a:t>Quality gates item 3 is placed on a separate lane card.</a:t>
            </a:r>
          </a:p>
        </p:txBody>
      </p:sp>
      <p:pic>
        <p:nvPicPr>
          <p:cNvPr id="36" name="Picture 35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1417320"/>
            <a:ext cx="868680" cy="86868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5A46"/>
                </a:solidFill>
                <a:latin typeface="Georgia"/>
              </a:rPr>
              <a:t>density layer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57232" y="2331720"/>
            <a:ext cx="1783080" cy="102412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21824" y="2907791"/>
            <a:ext cx="146304" cy="22860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96144" y="2724911"/>
            <a:ext cx="146304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70463" y="2843784"/>
            <a:ext cx="146304" cy="292608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844784" y="2569463"/>
            <a:ext cx="146304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19103" y="2679191"/>
            <a:ext cx="146304" cy="45720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9994392" y="3154679"/>
            <a:ext cx="1463040" cy="0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994392" y="2496312"/>
            <a:ext cx="0" cy="658367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021824" y="238658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5A46"/>
                </a:solidFill>
                <a:latin typeface="Georgia"/>
              </a:rPr>
              <a:t>micro KPI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122407" y="3639312"/>
            <a:ext cx="502921" cy="1828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625328" y="3639312"/>
            <a:ext cx="502919" cy="1828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625328" y="3822192"/>
            <a:ext cx="0" cy="4114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625328" y="4169664"/>
            <a:ext cx="731519" cy="64008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128247" y="3639312"/>
            <a:ext cx="228600" cy="530352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122407" y="3639312"/>
            <a:ext cx="502921" cy="59436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021824" y="3538728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24744" y="3721608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7663" y="3538728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24744" y="4133088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256263" y="4069080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92640" y="4434840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19" y="4434840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58400" y="4434840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241280" y="4434840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424160" y="4434840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92640" y="4581144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875519" y="4581144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58400" y="4581144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241280" y="4581144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24160" y="4581144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92640" y="4727448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75519" y="4727448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58400" y="4727448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41280" y="4727448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24160" y="4727448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9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source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style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spec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render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audit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B5A46"/>
                </a:solidFill>
                <a:latin typeface="Georgia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E625C"/>
                </a:solidFill>
                <a:latin typeface="Aptos"/>
              </a:rPr>
              <a:t>LAYOUT VARIANT 6 / 71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241F21"/>
                </a:solidFill>
                <a:latin typeface="Aptos"/>
              </a:rPr>
              <a:t>Plugin boundary map clarifies what helper scripts do versus what the renderer must 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9848" y="114300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53895" y="114300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37943" y="114300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21991" y="1143000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114300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14300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114300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58183" y="1143000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42231" y="1143000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43560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848" y="143560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53895" y="1435608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37943" y="1435608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21991" y="143560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143560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0088" y="143560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74136" y="1435608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58183" y="143560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42231" y="143560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1728216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9848" y="1728216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53895" y="1728216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37943" y="1728216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21991" y="1728216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06040" y="1728216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1728216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74136" y="1728216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58183" y="1728216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42231" y="1728216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2020824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9848" y="2020824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53895" y="2020824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37943" y="2020824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21991" y="2020824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06040" y="2020824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90088" y="2020824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74136" y="2020824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58183" y="2020824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42231" y="2020824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2313432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9848" y="2313432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53895" y="2313432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37943" y="2313432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21991" y="2313432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06040" y="2313432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90088" y="2313432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74136" y="2313432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58183" y="2313432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42231" y="2313432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5800" y="260604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69848" y="260604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453895" y="260604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37943" y="2606040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221991" y="2606040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06040" y="260604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90088" y="260604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74136" y="2606040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758183" y="2606040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42231" y="2606040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5800" y="289864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9848" y="289864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53895" y="2898648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837943" y="289864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21991" y="289864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06040" y="289864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90088" y="2898648"/>
            <a:ext cx="2926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374136" y="2898648"/>
            <a:ext cx="2926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758183" y="289864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42231" y="2898648"/>
            <a:ext cx="292608" cy="201168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532120" y="1115568"/>
            <a:ext cx="80467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77840" y="1225295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7F4EF"/>
                </a:solidFill>
                <a:latin typeface="Aptos"/>
              </a:rPr>
              <a:t>brief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17720" y="1874519"/>
            <a:ext cx="804672" cy="329184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63440" y="198424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source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46520" y="1874519"/>
            <a:ext cx="804672" cy="329184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92240" y="198424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design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69080" y="2651760"/>
            <a:ext cx="804672" cy="329184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0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spec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166360" y="2651760"/>
            <a:ext cx="804672" cy="329184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12080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asset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63640" y="2651760"/>
            <a:ext cx="804672" cy="329184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09359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audit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60920" y="2651760"/>
            <a:ext cx="804672" cy="329184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0" y="2761488"/>
            <a:ext cx="65836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ship</a:t>
            </a:r>
          </a:p>
        </p:txBody>
      </p:sp>
      <p:cxnSp>
        <p:nvCxnSpPr>
          <p:cNvPr id="88" name="Connector 87"/>
          <p:cNvCxnSpPr/>
          <p:nvPr/>
        </p:nvCxnSpPr>
        <p:spPr>
          <a:xfrm flipH="1">
            <a:off x="5020056" y="1444752"/>
            <a:ext cx="914400" cy="429767"/>
          </a:xfrm>
          <a:prstGeom prst="line">
            <a:avLst/>
          </a:prstGeom>
          <a:ln w="889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934456" y="1444752"/>
            <a:ext cx="914400" cy="429767"/>
          </a:xfrm>
          <a:prstGeom prst="line">
            <a:avLst/>
          </a:prstGeom>
          <a:ln w="889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4471416" y="2203703"/>
            <a:ext cx="548640" cy="448057"/>
          </a:xfrm>
          <a:prstGeom prst="line">
            <a:avLst/>
          </a:prstGeom>
          <a:ln w="889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020056" y="2203703"/>
            <a:ext cx="548640" cy="448057"/>
          </a:xfrm>
          <a:prstGeom prst="line">
            <a:avLst/>
          </a:prstGeom>
          <a:ln w="889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6665976" y="2203703"/>
            <a:ext cx="182880" cy="448057"/>
          </a:xfrm>
          <a:prstGeom prst="line">
            <a:avLst/>
          </a:prstGeom>
          <a:ln w="889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848856" y="2203703"/>
            <a:ext cx="914400" cy="448057"/>
          </a:xfrm>
          <a:prstGeom prst="line">
            <a:avLst/>
          </a:prstGeom>
          <a:ln w="889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4" name="Picture 93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325880"/>
            <a:ext cx="1600200" cy="1600200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E625C"/>
                </a:solidFill>
                <a:latin typeface="Aptos"/>
              </a:rPr>
              <a:t>density layer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E625C"/>
                </a:solidFill>
                <a:latin typeface="Aptos"/>
              </a:rPr>
              <a:t>micro KPI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6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7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8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E625C"/>
                </a:solidFill>
                <a:latin typeface="Aptos"/>
              </a:rPr>
              <a:t>9</a:t>
            </a:r>
          </a:p>
        </p:txBody>
      </p:sp>
      <p:cxnSp>
        <p:nvCxnSpPr>
          <p:cNvPr id="151" name="Connector 15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7F4EF"/>
                </a:solidFill>
                <a:latin typeface="Aptos"/>
              </a:rPr>
              <a:t>source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style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7F4EF"/>
                </a:solidFill>
                <a:latin typeface="Aptos"/>
              </a:rPr>
              <a:t>spec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ectangle 19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41F21"/>
                </a:solidFill>
                <a:latin typeface="Aptos"/>
              </a:rPr>
              <a:t>render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6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ectangle 20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D6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7F4EF"/>
                </a:solidFill>
                <a:latin typeface="Aptos"/>
              </a:rPr>
              <a:t>audit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E625C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Aptos"/>
              </a:rPr>
              <a:t>LAYOUT VARIANT 7 / 72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F2937"/>
                </a:solidFill>
                <a:latin typeface="Aptos"/>
              </a:rPr>
              <a:t>Rendering fallback plan shows direct python-pptx serialization when core pptify is absent.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325880" cy="420624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143000"/>
            <a:ext cx="1325880" cy="420624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normalize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143000"/>
            <a:ext cx="1325880" cy="420624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79" y="1143000"/>
            <a:ext cx="1325880" cy="420624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19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render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143000"/>
            <a:ext cx="1325880" cy="420624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289304"/>
            <a:ext cx="10972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validate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1874519"/>
            <a:ext cx="868680" cy="164593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749039" y="1746503"/>
            <a:ext cx="868681" cy="128016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15000" y="1874519"/>
            <a:ext cx="868679" cy="164593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80959" y="1746503"/>
            <a:ext cx="868681" cy="128016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1737360"/>
            <a:ext cx="475488" cy="201168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1801367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6B7280"/>
                </a:solidFill>
                <a:latin typeface="Aptos"/>
              </a:rPr>
              <a:t>path 1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783080" y="2249423"/>
            <a:ext cx="868680" cy="128016"/>
          </a:xfrm>
          <a:prstGeom prst="line">
            <a:avLst/>
          </a:prstGeom>
          <a:ln w="1778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49039" y="2377439"/>
            <a:ext cx="868681" cy="164593"/>
          </a:xfrm>
          <a:prstGeom prst="line">
            <a:avLst/>
          </a:prstGeom>
          <a:ln w="1778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715000" y="2249423"/>
            <a:ext cx="868679" cy="128016"/>
          </a:xfrm>
          <a:prstGeom prst="line">
            <a:avLst/>
          </a:prstGeom>
          <a:ln w="1778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59" y="2377439"/>
            <a:ext cx="868681" cy="164593"/>
          </a:xfrm>
          <a:prstGeom prst="line">
            <a:avLst/>
          </a:prstGeom>
          <a:ln w="1778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22960" y="2240279"/>
            <a:ext cx="475488" cy="201168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304287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6B7280"/>
                </a:solidFill>
                <a:latin typeface="Aptos"/>
              </a:rPr>
              <a:t>path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83080" y="2880360"/>
            <a:ext cx="868680" cy="164592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49039" y="2752344"/>
            <a:ext cx="868681" cy="128016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15000" y="2880360"/>
            <a:ext cx="868679" cy="164592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80959" y="2752344"/>
            <a:ext cx="868681" cy="128016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22960" y="2743200"/>
            <a:ext cx="475488" cy="201168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2807208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6B7280"/>
                </a:solidFill>
                <a:latin typeface="Aptos"/>
              </a:rPr>
              <a:t>path 3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783080" y="3255264"/>
            <a:ext cx="868680" cy="128016"/>
          </a:xfrm>
          <a:prstGeom prst="line">
            <a:avLst/>
          </a:prstGeom>
          <a:ln w="1778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49039" y="3383280"/>
            <a:ext cx="868681" cy="164592"/>
          </a:xfrm>
          <a:prstGeom prst="line">
            <a:avLst/>
          </a:prstGeom>
          <a:ln w="1778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715000" y="3255264"/>
            <a:ext cx="868679" cy="128016"/>
          </a:xfrm>
          <a:prstGeom prst="line">
            <a:avLst/>
          </a:prstGeom>
          <a:ln w="1778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9" y="3383280"/>
            <a:ext cx="868681" cy="164592"/>
          </a:xfrm>
          <a:prstGeom prst="line">
            <a:avLst/>
          </a:prstGeom>
          <a:ln w="1778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22960" y="3246120"/>
            <a:ext cx="475488" cy="201168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3310128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6B7280"/>
                </a:solidFill>
                <a:latin typeface="Aptos"/>
              </a:rPr>
              <a:t>path 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83080" y="3886200"/>
            <a:ext cx="868680" cy="164591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749039" y="3758184"/>
            <a:ext cx="868681" cy="128016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715000" y="3886200"/>
            <a:ext cx="868679" cy="164591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680959" y="3758184"/>
            <a:ext cx="868681" cy="128016"/>
          </a:xfrm>
          <a:prstGeom prst="line">
            <a:avLst/>
          </a:prstGeom>
          <a:ln w="1778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22960" y="3749039"/>
            <a:ext cx="475488" cy="201168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3813048"/>
            <a:ext cx="402336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6B7280"/>
                </a:solidFill>
                <a:latin typeface="Aptos"/>
              </a:rPr>
              <a:t>path 5</a:t>
            </a:r>
          </a:p>
        </p:txBody>
      </p:sp>
      <p:pic>
        <p:nvPicPr>
          <p:cNvPr id="44" name="Picture 43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834640"/>
            <a:ext cx="960120" cy="96012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7280"/>
                </a:solidFill>
                <a:latin typeface="Aptos"/>
              </a:rPr>
              <a:t>density layer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7280"/>
                </a:solidFill>
                <a:latin typeface="Aptos"/>
              </a:rPr>
              <a:t>micro KPI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7280"/>
                </a:solidFill>
                <a:latin typeface="Aptos"/>
              </a:rPr>
              <a:t>9</a:t>
            </a:r>
          </a:p>
        </p:txBody>
      </p:sp>
      <p:cxnSp>
        <p:nvCxnSpPr>
          <p:cNvPr id="101" name="Connector 10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source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style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spec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EA5E9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Aptos"/>
              </a:rPr>
              <a:t>render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7ED"/>
                </a:solidFill>
                <a:latin typeface="Aptos"/>
              </a:rPr>
              <a:t>audit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Consolas"/>
              </a:rPr>
              <a:t>LAYOUT VARIANT 8 / 73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Consolas"/>
              </a:rPr>
              <a:t>Infographic composition board combines image evidence with editable surrounding primitives.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115568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9112" y="1078992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2424" y="1078992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style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5736" y="1078992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asset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1078992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078992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8936" y="1188720"/>
            <a:ext cx="10058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554480"/>
            <a:ext cx="1115568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br-ag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9112" y="15544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12264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br-so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2424" y="15544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5576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br-st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45736" y="15544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br-as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9048" y="15544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br-au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1554480"/>
            <a:ext cx="1115568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2" y="1664207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br-ow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20116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sp-ag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39112" y="20116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12264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sp-so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92424" y="20116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65576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sp-st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45736" y="20116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sp-as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9048" y="2011680"/>
            <a:ext cx="1115568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sp-au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20116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21214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sp-ow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24688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pp-ag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39112" y="24688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12264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pp-so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92424" y="24688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5576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pp-st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45736" y="2468880"/>
            <a:ext cx="1115568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18888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pp-as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9048" y="24688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pp-au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24688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25512" y="25786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pp-ow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29260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re-ag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39112" y="29260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12264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re-so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92424" y="2926080"/>
            <a:ext cx="1115568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65576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re-st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45736" y="29260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18888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re-as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9048" y="29260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200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re-au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52360" y="29260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25512" y="30358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re-ow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" y="33832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952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sh-ag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39112" y="3383280"/>
            <a:ext cx="1115568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12264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sh-so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92424" y="33832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65576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sh-st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45736" y="33832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18888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sh-as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9048" y="33832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sh-au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52360" y="3383280"/>
            <a:ext cx="111556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25512" y="3493008"/>
            <a:ext cx="9326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sh-ow</a:t>
            </a:r>
          </a:p>
        </p:txBody>
      </p:sp>
      <p:pic>
        <p:nvPicPr>
          <p:cNvPr id="76" name="Picture 75" descr="gpt-image-agent-toolkit-infographi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280160"/>
            <a:ext cx="1417320" cy="1417320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Consolas"/>
              </a:rPr>
              <a:t>density layer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Consolas"/>
              </a:rPr>
              <a:t>micro KPI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Consolas"/>
              </a:rPr>
              <a:t>9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source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style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spec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F172A"/>
                </a:solidFill>
                <a:latin typeface="Consolas"/>
              </a:rPr>
              <a:t>render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8FAFC"/>
                </a:solidFill>
                <a:latin typeface="Consolas"/>
              </a:rPr>
              <a:t>audit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onsola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8B949E"/>
                </a:solidFill>
                <a:latin typeface="Arial"/>
              </a:rPr>
              <a:t>LAYOUT VARIANT 9 / 74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F0F6FC"/>
                </a:solidFill>
                <a:latin typeface="Arial"/>
              </a:rPr>
              <a:t>Preflight critique wall converts design review into concrete repair 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143000"/>
            <a:ext cx="6309360" cy="347472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26187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0D1117"/>
                </a:solidFill>
                <a:latin typeface="Arial"/>
              </a:rPr>
              <a:t>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645920"/>
            <a:ext cx="614476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76479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0F6FC"/>
                </a:solidFill>
                <a:latin typeface="Arial"/>
              </a:rPr>
              <a:t>source corpus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304" y="2148840"/>
            <a:ext cx="5980176" cy="347472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72184" y="226771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0D1117"/>
                </a:solidFill>
                <a:latin typeface="Arial"/>
              </a:rPr>
              <a:t>design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3896" y="2651760"/>
            <a:ext cx="5815584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36776" y="277063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0F6FC"/>
                </a:solidFill>
                <a:latin typeface="Arial"/>
              </a:rPr>
              <a:t>layout tree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8488" y="3154680"/>
            <a:ext cx="5650992" cy="347472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1368" y="327355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0D1117"/>
                </a:solidFill>
                <a:latin typeface="Arial"/>
              </a:rPr>
              <a:t>pptx package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657600"/>
            <a:ext cx="54864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3776472"/>
            <a:ext cx="17373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F0F6FC"/>
                </a:solidFill>
                <a:latin typeface="Arial"/>
              </a:rPr>
              <a:t>audit report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1234440"/>
            <a:ext cx="9601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53312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check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59" y="1234440"/>
            <a:ext cx="9601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353312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check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1801368"/>
            <a:ext cx="9601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920240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check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59" y="1801368"/>
            <a:ext cx="9601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920240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check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2368296"/>
            <a:ext cx="9601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487168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check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59" y="2368296"/>
            <a:ext cx="9601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487168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check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2935224"/>
            <a:ext cx="9601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054096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check 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59" y="2935224"/>
            <a:ext cx="9601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054096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check 8</a:t>
            </a:r>
          </a:p>
        </p:txBody>
      </p:sp>
      <p:pic>
        <p:nvPicPr>
          <p:cNvPr id="32" name="Picture 31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749039"/>
            <a:ext cx="868680" cy="86868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8B949E"/>
                </a:solidFill>
                <a:latin typeface="Arial"/>
              </a:rPr>
              <a:t>density layer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8B949E"/>
                </a:solidFill>
                <a:latin typeface="Arial"/>
              </a:rPr>
              <a:t>micro KPI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8B949E"/>
                </a:solidFill>
                <a:latin typeface="Arial"/>
              </a:rPr>
              <a:t>9</a:t>
            </a:r>
          </a:p>
        </p:txBody>
      </p:sp>
      <p:cxnSp>
        <p:nvCxnSpPr>
          <p:cNvPr id="89" name="Connector 88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A37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D1117"/>
                </a:solidFill>
                <a:latin typeface="Arial"/>
              </a:rPr>
              <a:t>source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style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D1117"/>
                </a:solidFill>
                <a:latin typeface="Arial"/>
              </a:rPr>
              <a:t>spec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0F6FC"/>
                </a:solidFill>
                <a:latin typeface="Arial"/>
              </a:rPr>
              <a:t>render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A371F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0D1117"/>
                </a:solidFill>
                <a:latin typeface="Arial"/>
              </a:rPr>
              <a:t>audit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8B949E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B5563"/>
                </a:solidFill>
                <a:latin typeface="Arial"/>
              </a:rPr>
              <a:t>LAYOUT VARIANT 10 / 75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Executive action title grid tests conclusion-led headings across dense pages.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2194560" y="1325880"/>
            <a:ext cx="1097280" cy="118872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084831" y="1216152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3291840" y="1325880"/>
            <a:ext cx="1097280" cy="118872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279392" y="1216152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291840" y="2514600"/>
            <a:ext cx="1600200" cy="9144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782312" y="2496312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291840" y="2514600"/>
            <a:ext cx="822960" cy="1234439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005072" y="3639311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2423160" y="2514600"/>
            <a:ext cx="868680" cy="1234439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313432" y="3639311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1691640" y="2514600"/>
            <a:ext cx="1600200" cy="9144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81912" y="2496312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194560" y="1325880"/>
            <a:ext cx="219456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89120" y="1325880"/>
            <a:ext cx="502920" cy="128016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114800" y="2606040"/>
            <a:ext cx="777240" cy="1142999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423160" y="3749039"/>
            <a:ext cx="169164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691640" y="2606040"/>
            <a:ext cx="731520" cy="1142999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91640" y="1325880"/>
            <a:ext cx="502920" cy="128016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1234440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84848" y="123444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68896" y="123444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123444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6992" y="1234440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23444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527048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84848" y="1527048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68896" y="1527048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52944" y="1527048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36992" y="1527048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1527048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819656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84848" y="1819656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68896" y="1819656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52944" y="1819656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36992" y="1819656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0" y="1819656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2112264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84848" y="2112264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68896" y="2112264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52944" y="2112264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36992" y="2112264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21040" y="2112264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2404872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84848" y="2404872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68896" y="2404872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52944" y="2404872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36992" y="2404872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21040" y="2404872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269748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84848" y="269748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68896" y="269748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52944" y="2697480"/>
            <a:ext cx="256032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36992" y="269748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21040" y="2697480"/>
            <a:ext cx="2560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Arial"/>
              </a:rPr>
              <a:t>density layer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Arial"/>
              </a:rPr>
              <a:t>micro KPI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B5563"/>
                </a:solidFill>
                <a:latin typeface="Arial"/>
              </a:rPr>
              <a:t>9</a:t>
            </a:r>
          </a:p>
        </p:txBody>
      </p:sp>
      <p:cxnSp>
        <p:nvCxnSpPr>
          <p:cNvPr id="114" name="Connector 113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Arial"/>
              </a:rPr>
              <a:t>style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spec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F293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Arial"/>
              </a:rPr>
              <a:t>render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audit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57606A"/>
                </a:solidFill>
                <a:latin typeface="Arial"/>
              </a:rPr>
              <a:t>LAYOUT VARIANT 11 / 76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F2328"/>
                </a:solidFill>
                <a:latin typeface="Arial"/>
              </a:rPr>
              <a:t>Multi-source evidence map keeps corpus, summary, source count, and URLs traceable.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600200" cy="329184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6F8FA"/>
                </a:solidFill>
                <a:latin typeface="Arial"/>
              </a:rPr>
              <a:t>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todo card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93392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todo card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86584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todo card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79776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todo card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097280"/>
            <a:ext cx="1600200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328"/>
                </a:solidFill>
                <a:latin typeface="Arial"/>
              </a:rPr>
              <a:t>doing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600200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doing card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993392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doing card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386584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24912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doing card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779776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24912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doing card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1097280"/>
            <a:ext cx="1600200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328"/>
                </a:solidFill>
                <a:latin typeface="Arial"/>
              </a:rPr>
              <a:t>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1600200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review card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1993392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review card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2386584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review card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2779776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review card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79" y="1097280"/>
            <a:ext cx="1600200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1" y="1207008"/>
            <a:ext cx="138988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328"/>
                </a:solidFill>
                <a:latin typeface="Arial"/>
              </a:rPr>
              <a:t>done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79" y="1600200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1" y="1691640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done card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79" y="1993392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1" y="2084832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done card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79" y="2386584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1" y="2478024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done card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79" y="2779776"/>
            <a:ext cx="16002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1" y="2871216"/>
            <a:ext cx="132588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F2328"/>
                </a:solidFill>
                <a:latin typeface="Arial"/>
              </a:rPr>
              <a:t>done card 4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8732520" y="3611880"/>
            <a:ext cx="347472" cy="137160"/>
          </a:xfrm>
          <a:prstGeom prst="line">
            <a:avLst/>
          </a:prstGeom>
          <a:ln w="1524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79992" y="3511296"/>
            <a:ext cx="347472" cy="100584"/>
          </a:xfrm>
          <a:prstGeom prst="line">
            <a:avLst/>
          </a:prstGeom>
          <a:ln w="1524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427464" y="3364992"/>
            <a:ext cx="347472" cy="146304"/>
          </a:xfrm>
          <a:prstGeom prst="line">
            <a:avLst/>
          </a:prstGeom>
          <a:ln w="1524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774936" y="3218688"/>
            <a:ext cx="347472" cy="146304"/>
          </a:xfrm>
          <a:prstGeom prst="line">
            <a:avLst/>
          </a:prstGeom>
          <a:ln w="1524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122408" y="3136392"/>
            <a:ext cx="347472" cy="82296"/>
          </a:xfrm>
          <a:prstGeom prst="line">
            <a:avLst/>
          </a:prstGeom>
          <a:ln w="1524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7606A"/>
                </a:solidFill>
                <a:latin typeface="Arial"/>
              </a:rPr>
              <a:t>density layer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57606A"/>
                </a:solidFill>
                <a:latin typeface="Arial"/>
              </a:rPr>
              <a:t>micro KPI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57606A"/>
                </a:solidFill>
                <a:latin typeface="Arial"/>
              </a:rPr>
              <a:t>9</a:t>
            </a:r>
          </a:p>
        </p:txBody>
      </p:sp>
      <p:cxnSp>
        <p:nvCxnSpPr>
          <p:cNvPr id="105" name="Connector 104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6F8FA"/>
                </a:solidFill>
                <a:latin typeface="Arial"/>
              </a:rPr>
              <a:t>source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328"/>
                </a:solidFill>
                <a:latin typeface="Arial"/>
              </a:rPr>
              <a:t>style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6F8FA"/>
                </a:solidFill>
                <a:latin typeface="Arial"/>
              </a:rPr>
              <a:t>spec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1A7F37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F2328"/>
                </a:solidFill>
                <a:latin typeface="Arial"/>
              </a:rPr>
              <a:t>render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0969D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6F8FA"/>
                </a:solidFill>
                <a:latin typeface="Arial"/>
              </a:rPr>
              <a:t>audit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57606A"/>
                </a:solidFill>
                <a:latin typeface="Arial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475569"/>
                </a:solidFill>
                <a:latin typeface="Aptos"/>
              </a:rPr>
              <a:t>LAYOUT VARIANT 12 / 77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172554"/>
                </a:solidFill>
                <a:latin typeface="Aptos"/>
              </a:rPr>
              <a:t>Image generation sequence records prompt, provider, endpoint, deployment, and attempt state.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123444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module 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1499616"/>
            <a:ext cx="594360" cy="0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97480" y="1234440"/>
            <a:ext cx="123444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module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1499616"/>
            <a:ext cx="594360" cy="0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26280" y="1234440"/>
            <a:ext cx="123444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module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1499616"/>
            <a:ext cx="594360" cy="0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55080" y="1234440"/>
            <a:ext cx="123444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module 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0" y="1499616"/>
            <a:ext cx="594359" cy="0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83879" y="1234440"/>
            <a:ext cx="123444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408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module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77440"/>
            <a:ext cx="123444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module 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2642616"/>
            <a:ext cx="594360" cy="0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697480" y="2377440"/>
            <a:ext cx="123444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module 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31920" y="2642616"/>
            <a:ext cx="594360" cy="0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26280" y="2377440"/>
            <a:ext cx="123444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module 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60720" y="2642616"/>
            <a:ext cx="594360" cy="0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2377440"/>
            <a:ext cx="123444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module 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0" y="2642616"/>
            <a:ext cx="594359" cy="0"/>
          </a:xfrm>
          <a:prstGeom prst="line">
            <a:avLst/>
          </a:prstGeom>
          <a:ln w="889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83879" y="2377440"/>
            <a:ext cx="123444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2551176"/>
            <a:ext cx="96012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module 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06908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7008" y="406908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99616" y="406908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92224" y="406908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84832" y="406908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77440" y="406908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70048" y="406908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62656" y="406908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55264" y="406908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47872" y="406908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425196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425196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99616" y="425196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92224" y="425196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84832" y="425196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77440" y="425196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70048" y="425196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62656" y="425196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55264" y="425196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47872" y="425196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400" y="443484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07008" y="443484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99616" y="443484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92224" y="443484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84832" y="443484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77440" y="443484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70048" y="443484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62656" y="443484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55264" y="443484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47872" y="443484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" y="461772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207008" y="461772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99616" y="461772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792224" y="461772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084832" y="461772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377440" y="461772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70048" y="461772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62656" y="461772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55264" y="461772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47872" y="461772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4400" y="480060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207008" y="480060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499616" y="480060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792224" y="480060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084832" y="480060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377440" y="480060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70048" y="480060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962656" y="480060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55264" y="4800600"/>
            <a:ext cx="16459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47872" y="4800600"/>
            <a:ext cx="16459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gpt-image-agent-toolkit-infographi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371600"/>
            <a:ext cx="960120" cy="960120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Aptos"/>
              </a:rPr>
              <a:t>density layer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372600" y="4297680"/>
            <a:ext cx="1783080" cy="10241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537192" y="4873752"/>
            <a:ext cx="146304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811512" y="4690872"/>
            <a:ext cx="146304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85832" y="4809744"/>
            <a:ext cx="146304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360152" y="4535424"/>
            <a:ext cx="14630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34472" y="4645152"/>
            <a:ext cx="14630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9509760" y="5120640"/>
            <a:ext cx="1463040" cy="0"/>
          </a:xfrm>
          <a:prstGeom prst="line">
            <a:avLst/>
          </a:prstGeom>
          <a:ln w="1016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509760" y="4462272"/>
            <a:ext cx="0" cy="658368"/>
          </a:xfrm>
          <a:prstGeom prst="line">
            <a:avLst/>
          </a:prstGeom>
          <a:ln w="1016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537192" y="435254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75569"/>
                </a:solidFill>
                <a:latin typeface="Aptos"/>
              </a:rPr>
              <a:t>micro KPI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637776" y="3346704"/>
            <a:ext cx="502920" cy="1828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140696" y="3346704"/>
            <a:ext cx="502919" cy="1828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140696" y="3529584"/>
            <a:ext cx="0" cy="41148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140696" y="3877056"/>
            <a:ext cx="731519" cy="64008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643615" y="3346704"/>
            <a:ext cx="228600" cy="530352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637776" y="3346704"/>
            <a:ext cx="502920" cy="59436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9537192" y="324612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040112" y="34290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543032" y="324612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040112" y="384048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771632" y="377647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08008" y="4142232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90888" y="4142232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573768" y="4142232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756648" y="4142232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939528" y="4142232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08008" y="4288536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90888" y="4288536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73768" y="4288536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6648" y="4288536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939528" y="4288536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208008" y="443484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390888" y="443484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573768" y="4434840"/>
            <a:ext cx="11887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756648" y="4434840"/>
            <a:ext cx="118872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939528" y="4434840"/>
            <a:ext cx="118872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cxnSp>
        <p:nvCxnSpPr>
          <p:cNvPr id="139" name="Connector 138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source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style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spec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 185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72554"/>
                </a:solidFill>
                <a:latin typeface="Aptos"/>
              </a:rPr>
              <a:t>render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ectangle 188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EFF6FF"/>
                </a:solidFill>
                <a:latin typeface="Aptos"/>
              </a:rPr>
              <a:t>audit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6B5A46"/>
                </a:solidFill>
                <a:latin typeface="Georgia"/>
              </a:rPr>
              <a:t>LAYOUT VARIANT 1 / 78 OF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8595360" cy="38404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1550" b="1">
                <a:solidFill>
                  <a:srgbClr val="2E2418"/>
                </a:solidFill>
                <a:latin typeface="Georgia"/>
              </a:rPr>
              <a:t>Final delivery checklist proves the PPTX, spec, audit, assets, and QA files are aligned.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3931920" cy="4800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pt-image-agent-toolkit-infographi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554480"/>
            <a:ext cx="283464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4617720"/>
            <a:ext cx="2788920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GPT image infographic.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170432"/>
            <a:ext cx="6217920" cy="749808"/>
          </a:xfrm>
          <a:prstGeom prst="round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1768" y="1335024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1">
                <a:solidFill>
                  <a:srgbClr val="FFFBEB"/>
                </a:solidFill>
                <a:latin typeface="Georgia"/>
              </a:rPr>
              <a:t>The image is a visible exhibit, not a replacement for editable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249424"/>
            <a:ext cx="6217920" cy="7498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414016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2E2418"/>
                </a:solidFill>
                <a:latin typeface="Georgia"/>
              </a:rPr>
              <a:t>The right column keeps full-sentence claims in separate text frames.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3328415"/>
            <a:ext cx="6217920" cy="7498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3493008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2E2418"/>
                </a:solidFill>
                <a:latin typeface="Georgia"/>
              </a:rPr>
              <a:t>The JSON spec records coordinates, source, license, and audit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4407408"/>
            <a:ext cx="6217920" cy="7498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4572000"/>
            <a:ext cx="5760720" cy="31089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900" b="0">
                <a:solidFill>
                  <a:srgbClr val="2E2418"/>
                </a:solidFill>
                <a:latin typeface="Georgia"/>
              </a:rPr>
              <a:t>The layout variant uses a wide split instead of the default grid.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5760720"/>
            <a:ext cx="2880360" cy="47548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5833872"/>
            <a:ext cx="2734056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5A46"/>
                </a:solidFill>
                <a:latin typeface="Georgia"/>
              </a:rPr>
              <a:t>density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0032" y="4343400"/>
            <a:ext cx="1783080" cy="102412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64624" y="4919472"/>
            <a:ext cx="146304" cy="22860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38944" y="4736592"/>
            <a:ext cx="146304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13263" y="4855464"/>
            <a:ext cx="146304" cy="292608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87584" y="4581144"/>
            <a:ext cx="146304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1903" y="4690872"/>
            <a:ext cx="146304" cy="45720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37192" y="5166360"/>
            <a:ext cx="1463040" cy="0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37192" y="4507992"/>
            <a:ext cx="0" cy="658368"/>
          </a:xfrm>
          <a:prstGeom prst="line">
            <a:avLst/>
          </a:prstGeom>
          <a:ln w="1016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64624" y="4398264"/>
            <a:ext cx="7772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6B5A46"/>
                </a:solidFill>
                <a:latin typeface="Georgia"/>
              </a:rPr>
              <a:t>micro KPI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65207" y="3392424"/>
            <a:ext cx="502921" cy="1828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168128" y="3392424"/>
            <a:ext cx="502919" cy="1828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68128" y="3575304"/>
            <a:ext cx="0" cy="41148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168128" y="3922776"/>
            <a:ext cx="731519" cy="64008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671047" y="3392424"/>
            <a:ext cx="228600" cy="530352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65207" y="3392424"/>
            <a:ext cx="502921" cy="59436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564624" y="3291840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67544" y="3474720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70463" y="3291840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67544" y="3886200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99063" y="3822191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187952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18319" y="4187952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4187952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84080" y="4187952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66960" y="4187952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4334256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18319" y="4334256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01200" y="4334256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4334256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334256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4480560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18319" y="4480560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01200" y="4480560"/>
            <a:ext cx="118872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84080" y="4480560"/>
            <a:ext cx="11887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66960" y="4480560"/>
            <a:ext cx="118872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58368" y="5102352"/>
            <a:ext cx="6995160" cy="87782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59" y="5568696"/>
            <a:ext cx="201168" cy="22860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5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36192" y="5394959"/>
            <a:ext cx="201168" cy="402336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2704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49424" y="5513832"/>
            <a:ext cx="201168" cy="28346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4028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62656" y="5230368"/>
            <a:ext cx="201168" cy="566928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5351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75887" y="5449824"/>
            <a:ext cx="201168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66744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89120" y="5157216"/>
            <a:ext cx="201168" cy="64008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79976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02352" y="5349240"/>
            <a:ext cx="201168" cy="448056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93208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15583" y="5276088"/>
            <a:ext cx="201168" cy="521207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06440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28816" y="5477256"/>
            <a:ext cx="201168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19672" y="5833872"/>
            <a:ext cx="237744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0">
                <a:solidFill>
                  <a:srgbClr val="6B5A46"/>
                </a:solidFill>
                <a:latin typeface="Georgia"/>
              </a:rPr>
              <a:t>9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4361688" y="5486400"/>
            <a:ext cx="347471" cy="146304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709159" y="5486400"/>
            <a:ext cx="347472" cy="9144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056631" y="5358384"/>
            <a:ext cx="347473" cy="219456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404104" y="5358384"/>
            <a:ext cx="347471" cy="64008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751575" y="5239512"/>
            <a:ext cx="347473" cy="18288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099048" y="5239512"/>
            <a:ext cx="347472" cy="228600"/>
          </a:xfrm>
          <a:prstGeom prst="line">
            <a:avLst/>
          </a:prstGeom>
          <a:ln w="10160">
            <a:solidFill>
              <a:srgbClr val="9240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4325112" y="5596128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72583" y="5449824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020055" y="5541264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67528" y="5321808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714999" y="538581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062472" y="520293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409944" y="5431536"/>
            <a:ext cx="73152" cy="731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90488" y="525780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36792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483096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629400" y="525780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775703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22007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68312" y="525780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214616" y="5257800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90488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336792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83096" y="5422392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629400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75703" y="5422392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922007" y="5422392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068312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214616" y="5422392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190488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336792" y="5586984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83096" y="5586984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29400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775703" y="5586984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922007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068312" y="5586984"/>
            <a:ext cx="91440" cy="91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214616" y="5586984"/>
            <a:ext cx="91440" cy="91440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818120" y="4937760"/>
            <a:ext cx="3456432" cy="65836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982712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001000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source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8421624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8604504" y="5102352"/>
            <a:ext cx="438912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22792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style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043416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9226296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244584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spec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665208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9848088" y="5102352"/>
            <a:ext cx="438912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866376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2E2418"/>
                </a:solidFill>
                <a:latin typeface="Georgia"/>
              </a:rPr>
              <a:t>render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0287000" y="5221224"/>
            <a:ext cx="182880" cy="0"/>
          </a:xfrm>
          <a:prstGeom prst="line">
            <a:avLst/>
          </a:prstGeom>
          <a:ln w="7620">
            <a:solidFill>
              <a:srgbClr val="D6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10469880" y="5102352"/>
            <a:ext cx="438912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D6B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488168" y="5184648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FFFBEB"/>
                </a:solidFill>
                <a:latin typeface="Georgia"/>
              </a:rPr>
              <a:t>audit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0">
                <a:solidFill>
                  <a:srgbClr val="6B5A46"/>
                </a:solidFill>
                <a:latin typeface="Georgia"/>
              </a:rPr>
              <a:t>Layout variant deck: title, evidence, and body regions use different coordinate systems.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1567160" cy="530352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2697480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00" b="1">
                <a:solidFill>
                  <a:srgbClr val="4B5563"/>
                </a:solidFill>
                <a:latin typeface="Yu Gothic"/>
              </a:rPr>
              <a:t>参考様式: ポンチ絵 / SLIDE 79 OF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83464"/>
            <a:ext cx="694944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930" b="1">
                <a:solidFill>
                  <a:srgbClr val="111827"/>
                </a:solidFill>
                <a:latin typeface="Yu Gothic"/>
              </a:rPr>
              <a:t>ポンチ絵 style policy map compresses purpose, actors, tools, and outcomes into one dense page.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29260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621792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111827"/>
                </a:solidFill>
                <a:latin typeface="Yu Gothic"/>
              </a:rPr>
              <a:t>現状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033272"/>
            <a:ext cx="1874519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資料・設計・監査が分断し、再利用できる根拠が残りにくい。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292608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621792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111827"/>
                </a:solidFill>
                <a:latin typeface="Yu Gothic"/>
              </a:rPr>
              <a:t>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47672"/>
            <a:ext cx="1874519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画像、Web根拠、レイアウト座標、品質確認が別々に管理される。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292608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880360"/>
            <a:ext cx="621792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111827"/>
                </a:solidFill>
                <a:latin typeface="Yu Gothic"/>
              </a:rPr>
              <a:t>対応方針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62072"/>
            <a:ext cx="1874519" cy="25603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.agent 配下のスキル、設計文脈、プラグイン、監査を一体運用する。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932688"/>
            <a:ext cx="10789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1069848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Source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572768"/>
            <a:ext cx="10789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1709928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212848"/>
            <a:ext cx="10789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3448" y="2350008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Spec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852928"/>
            <a:ext cx="10789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2990088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PPTX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3493008"/>
            <a:ext cx="10789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78808" y="3630168"/>
            <a:ext cx="82296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960120"/>
            <a:ext cx="306324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1051560"/>
            <a:ext cx="640080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Yu Gothic"/>
              </a:rPr>
              <a:t>効果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1042416"/>
            <a:ext cx="18288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根拠つきで再生成できる。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49640" y="1874519"/>
            <a:ext cx="306324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1965960"/>
            <a:ext cx="640080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Yu Gothic"/>
              </a:rPr>
              <a:t>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1956815"/>
            <a:ext cx="18288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衝突・小フォントを機械確認する。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2788920"/>
            <a:ext cx="306324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2880360"/>
            <a:ext cx="640080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Yu Gothic"/>
              </a:rPr>
              <a:t>展開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871215"/>
            <a:ext cx="1828800" cy="219456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設計パターンを横展開する。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04120" y="4142232"/>
            <a:ext cx="109728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305288" y="4297680"/>
            <a:ext cx="109728" cy="228600"/>
          </a:xfrm>
          <a:prstGeom prst="rect">
            <a:avLst/>
          </a:prstGeom>
          <a:solidFill>
            <a:srgbClr val="1D4ED8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506456" y="4014216"/>
            <a:ext cx="10972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707624" y="4215384"/>
            <a:ext cx="1097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08792" y="3904488"/>
            <a:ext cx="109728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109960" y="4087368"/>
            <a:ext cx="10972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4663440"/>
            <a:ext cx="1417320" cy="10972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Yu Gothic"/>
              </a:rPr>
              <a:t>小計・KPI</a:t>
            </a:r>
          </a:p>
        </p:txBody>
      </p:sp>
      <p:sp>
        <p:nvSpPr>
          <p:cNvPr id="40" name="Oval 39"/>
          <p:cNvSpPr/>
          <p:nvPr/>
        </p:nvSpPr>
        <p:spPr>
          <a:xfrm>
            <a:off x="4251960" y="45262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4443984" y="4626864"/>
            <a:ext cx="374904" cy="201167"/>
          </a:xfrm>
          <a:prstGeom prst="line">
            <a:avLst/>
          </a:prstGeom>
          <a:ln w="889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818888" y="472744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5010912" y="4626864"/>
            <a:ext cx="374904" cy="201167"/>
          </a:xfrm>
          <a:prstGeom prst="line">
            <a:avLst/>
          </a:prstGeom>
          <a:ln w="889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385816" y="45262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577840" y="4626864"/>
            <a:ext cx="374904" cy="201167"/>
          </a:xfrm>
          <a:prstGeom prst="line">
            <a:avLst/>
          </a:prstGeom>
          <a:ln w="889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952744" y="472744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5080" y="4462272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74536" y="4462272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93992" y="4462272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13448" y="4462272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4626864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74536" y="4626864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93992" y="4626864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13448" y="4626864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5080" y="4791456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74536" y="4791456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793992" y="4791456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13448" y="4791456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7240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96695" y="4864608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16152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35607" y="4864608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655064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874519" y="4864608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093976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7240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6695" y="5010912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16152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35607" y="5010912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55064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874519" y="5010912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93976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77240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96695" y="5157216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16152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435607" y="5157216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55064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874519" y="5157216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093976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60920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97496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制度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4152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10727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予算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87384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23960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実装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00616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37192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監査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13848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50424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展開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3231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根拠: slide spec に明記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87168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60320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対象: slide spec に明記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334256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07408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手順: slide spec に明記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1344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54496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確認: slide spec に明記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28431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01583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留意点: slide spec に明記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875519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48672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次アクション: slide spec に明記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6272784"/>
            <a:ext cx="987552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ポンチ絵風: 多数の小見出し、箱、矢印、主体、効果、留意点を一枚に圧縮する日本の行政資料風レイアウト。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1567160" cy="530352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2697480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00" b="1">
                <a:solidFill>
                  <a:srgbClr val="4B5563"/>
                </a:solidFill>
                <a:latin typeface="Yu Gothic"/>
              </a:rPr>
              <a:t>参考様式: ポンチ絵 / SLIDE 80 OF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83464"/>
            <a:ext cx="694944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930" b="1">
                <a:solidFill>
                  <a:srgbClr val="111827"/>
                </a:solidFill>
                <a:latin typeface="Yu Gothic"/>
              </a:rPr>
              <a:t>ポンチ絵 style program scheme uses ministries, vendors, users, and audit gates as box-and-arrow blocks.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251460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2267712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Yu Gothic"/>
              </a:rPr>
              <a:t>所管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932688"/>
            <a:ext cx="251460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1051560"/>
            <a:ext cx="2267712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Yu Gothic"/>
              </a:rPr>
              <a:t>実施主体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932688"/>
            <a:ext cx="251460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1051560"/>
            <a:ext cx="2267712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Yu Gothic"/>
              </a:rPr>
              <a:t>利用者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932688"/>
            <a:ext cx="251460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051560"/>
            <a:ext cx="2267712" cy="110947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80" b="1">
                <a:solidFill>
                  <a:srgbClr val="111827"/>
                </a:solidFill>
                <a:latin typeface="Yu Gothic"/>
              </a:rPr>
              <a:t>成果物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81328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554480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方針定義を所管の観点で確認し、次工程へ渡す。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481328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554480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方針定義を実施主体の観点で確認し、次工程へ渡す。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81328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方針定義を利用者の観点で確認し、次工程へ渡す。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481328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554480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方針定義を成果物の観点で確認し、次工程へ渡す。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76272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249424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設計ロックを所管の観点で確認し、次工程へ渡す。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176272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2249424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設計ロックを実施主体の観点で確認し、次工程へ渡す。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176272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249424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設計ロックを利用者の観点で確認し、次工程へ渡す。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176272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2249424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設計ロックを成果物の観点で確認し、次工程へ渡す。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871216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944368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画像・素材を所管の観点で確認し、次工程へ渡す。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2871216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2944368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画像・素材を実施主体の観点で確認し、次工程へ渡す。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871216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944368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画像・素材を利用者の観点で確認し、次工程へ渡す。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2871216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2944368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画像・素材を成果物の観点で確認し、次工程へ渡す。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639312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監査・修正を所管の観点で確認し、次工程へ渡す。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356616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3639312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監査・修正を実施主体の観点で確認し、次工程へ渡す。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56616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639312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監査・修正を利用者の観点で確認し、次工程へ渡す。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6840" y="356616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3639312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監査・修正を成果物の観点で確認し、次工程へ渡す。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261104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4334256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納品確認を所管の観点で確認し、次工程へ渡す。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37560" y="4261104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9000" y="4334256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納品確認を実施主体の観点で確認し、次工程へ渡す。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4261104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4334256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納品確認を利用者の観点で確認し、次工程へ渡す。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4261104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4334256"/>
            <a:ext cx="2267712" cy="16459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納品確認を成果物の観点で確認し、次工程へ渡す。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04120" y="4142232"/>
            <a:ext cx="109728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305288" y="4297680"/>
            <a:ext cx="109728" cy="228600"/>
          </a:xfrm>
          <a:prstGeom prst="rect">
            <a:avLst/>
          </a:prstGeom>
          <a:solidFill>
            <a:srgbClr val="1D4ED8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506456" y="4014216"/>
            <a:ext cx="10972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707624" y="4215384"/>
            <a:ext cx="1097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908792" y="3904488"/>
            <a:ext cx="109728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109960" y="4087368"/>
            <a:ext cx="10972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12680" y="4663440"/>
            <a:ext cx="1417320" cy="10972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Yu Gothic"/>
              </a:rPr>
              <a:t>小計・KPI</a:t>
            </a:r>
          </a:p>
        </p:txBody>
      </p:sp>
      <p:sp>
        <p:nvSpPr>
          <p:cNvPr id="60" name="Oval 59"/>
          <p:cNvSpPr/>
          <p:nvPr/>
        </p:nvSpPr>
        <p:spPr>
          <a:xfrm>
            <a:off x="4251960" y="45262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4443984" y="4626864"/>
            <a:ext cx="374904" cy="201167"/>
          </a:xfrm>
          <a:prstGeom prst="line">
            <a:avLst/>
          </a:prstGeom>
          <a:ln w="889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4818888" y="472744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5010912" y="4626864"/>
            <a:ext cx="374904" cy="201167"/>
          </a:xfrm>
          <a:prstGeom prst="line">
            <a:avLst/>
          </a:prstGeom>
          <a:ln w="889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385816" y="45262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5577840" y="4626864"/>
            <a:ext cx="374904" cy="201167"/>
          </a:xfrm>
          <a:prstGeom prst="line">
            <a:avLst/>
          </a:prstGeom>
          <a:ln w="889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5952744" y="472744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55080" y="4462272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74536" y="4462272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793992" y="4462272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013448" y="4462272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55080" y="4626864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74536" y="4626864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93992" y="4626864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013448" y="4626864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5080" y="4791456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74536" y="4791456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93992" y="4791456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3448" y="4791456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77240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96695" y="4864608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216152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435607" y="4864608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655064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74519" y="4864608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093976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96695" y="5010912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216152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435607" y="5010912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655064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874519" y="5010912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093976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7240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96695" y="5157216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216152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35607" y="5157216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655064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874519" y="5157216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093976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360920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97496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制度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74152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110727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予算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787384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823960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実装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500616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537192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監査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213848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50424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展開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3231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根拠: slide spec に明記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560320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対象: slide spec に明記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34256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407408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手順: slide spec に明記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181344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254496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確認: slide spec に明記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028431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101583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留意点: slide spec に明記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875519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948672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次アクション: slide spec に明記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2920" y="6272784"/>
            <a:ext cx="987552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ポンチ絵風: 多数の小見出し、箱、矢印、主体、効果、留意点を一枚に圧縮する日本の行政資料風レイアウト。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1567160" cy="530352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2697480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00" b="1">
                <a:solidFill>
                  <a:srgbClr val="4B5563"/>
                </a:solidFill>
                <a:latin typeface="Yu Gothic"/>
              </a:rPr>
              <a:t>参考様式: ポンチ絵 / SLIDE 81 OF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83464"/>
            <a:ext cx="694944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930" b="1">
                <a:solidFill>
                  <a:srgbClr val="111827"/>
                </a:solidFill>
                <a:latin typeface="Yu Gothic"/>
              </a:rPr>
              <a:t>ポンチ絵 style before-after page contrasts legacy deck work with the .agent production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5166360" cy="37947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960120"/>
            <a:ext cx="5166360" cy="3794760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43000"/>
            <a:ext cx="2286000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991B1B"/>
                </a:solidFill>
                <a:latin typeface="Yu Gothic"/>
              </a:rPr>
              <a:t>Before: 手作業中心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93408" y="1143000"/>
            <a:ext cx="2286000" cy="146304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850" b="1">
                <a:solidFill>
                  <a:srgbClr val="166534"/>
                </a:solidFill>
                <a:latin typeface="Yu Gothic"/>
              </a:rPr>
              <a:t>After: .agent 中心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27632"/>
            <a:ext cx="4434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19072"/>
            <a:ext cx="3977639" cy="10972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構成案が文書外に散在する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67712"/>
            <a:ext cx="4434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59152"/>
            <a:ext cx="3977639" cy="10972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画像出典とプロンプトが残らない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907791"/>
            <a:ext cx="4434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999232"/>
            <a:ext cx="3977639" cy="10972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レイアウト調整が属人化する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47872"/>
            <a:ext cx="4434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639312"/>
            <a:ext cx="3977639" cy="10972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監査結果が納品物と分離する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627632"/>
            <a:ext cx="4434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1719072"/>
            <a:ext cx="3977639" cy="10972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設計文脈を spec に保持する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267712"/>
            <a:ext cx="4434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6872" y="2359152"/>
            <a:ext cx="3977639" cy="10972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画像・出典・試行結果を保存する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907791"/>
            <a:ext cx="4434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2999232"/>
            <a:ext cx="3977639" cy="10972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座標明示で再修正できる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3547872"/>
            <a:ext cx="4434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6872" y="3639312"/>
            <a:ext cx="3977639" cy="10972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Yu Gothic"/>
              </a:rPr>
              <a:t>PPTX・spec・audit を一括確認する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2670048"/>
            <a:ext cx="502920" cy="27432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Yu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4142232"/>
            <a:ext cx="109728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05288" y="4297680"/>
            <a:ext cx="109728" cy="228600"/>
          </a:xfrm>
          <a:prstGeom prst="rect">
            <a:avLst/>
          </a:prstGeom>
          <a:solidFill>
            <a:srgbClr val="1D4ED8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06456" y="4014216"/>
            <a:ext cx="10972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707624" y="4215384"/>
            <a:ext cx="10972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08792" y="3904488"/>
            <a:ext cx="109728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09960" y="4087368"/>
            <a:ext cx="10972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4663440"/>
            <a:ext cx="1417320" cy="109728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1">
                <a:solidFill>
                  <a:srgbClr val="4B5563"/>
                </a:solidFill>
                <a:latin typeface="Yu Gothic"/>
              </a:rPr>
              <a:t>小計・KPI</a:t>
            </a:r>
          </a:p>
        </p:txBody>
      </p:sp>
      <p:sp>
        <p:nvSpPr>
          <p:cNvPr id="33" name="Oval 32"/>
          <p:cNvSpPr/>
          <p:nvPr/>
        </p:nvSpPr>
        <p:spPr>
          <a:xfrm>
            <a:off x="4251960" y="45262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443984" y="4626864"/>
            <a:ext cx="374904" cy="201167"/>
          </a:xfrm>
          <a:prstGeom prst="line">
            <a:avLst/>
          </a:prstGeom>
          <a:ln w="889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818888" y="472744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010912" y="4626864"/>
            <a:ext cx="374904" cy="201167"/>
          </a:xfrm>
          <a:prstGeom prst="line">
            <a:avLst/>
          </a:prstGeom>
          <a:ln w="889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385816" y="45262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5577840" y="4626864"/>
            <a:ext cx="374904" cy="201167"/>
          </a:xfrm>
          <a:prstGeom prst="line">
            <a:avLst/>
          </a:prstGeom>
          <a:ln w="889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952744" y="472744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4462272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74536" y="4462272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93992" y="4462272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13448" y="4462272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4626864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74536" y="4626864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93992" y="4626864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13448" y="4626864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4791456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74536" y="4791456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93992" y="4791456"/>
            <a:ext cx="13716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013448" y="4791456"/>
            <a:ext cx="137160" cy="91440"/>
          </a:xfrm>
          <a:prstGeom prst="rect">
            <a:avLst/>
          </a:prstGeom>
          <a:solidFill>
            <a:srgbClr val="FEF3C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6695" y="4864608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216152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435607" y="4864608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655064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74519" y="4864608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093976" y="4864608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7240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96695" y="5010912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16152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35607" y="5010912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655064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874519" y="5010912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093976" y="5010912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7240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6695" y="5157216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16152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35607" y="5157216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55064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874519" y="5157216"/>
            <a:ext cx="128016" cy="82296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93976" y="5157216"/>
            <a:ext cx="128016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60920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97496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制度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74152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10727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予算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87384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23960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実装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00616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537192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監査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213848" y="4846320"/>
            <a:ext cx="4754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250424" y="4919472"/>
            <a:ext cx="384048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ctr"/>
            <a:r>
              <a:rPr sz="720" b="1">
                <a:solidFill>
                  <a:srgbClr val="111827"/>
                </a:solidFill>
                <a:latin typeface="Yu Gothic"/>
              </a:rPr>
              <a:t>展開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3231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根拠: slide spec に明記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87168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560320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対象: slide spec に明記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334256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07408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手順: slide spec に明記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81344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54496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確認: slide spec に明記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028431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101583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留意点: slide spec に明記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875519" y="5559552"/>
            <a:ext cx="1417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948672" y="5660136"/>
            <a:ext cx="1234440" cy="102412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次アクション: slide spec に明記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6272784"/>
            <a:ext cx="9875520" cy="182880"/>
          </a:xfrm>
          <a:prstGeom prst="rect">
            <a:avLst/>
          </a:prstGeom>
          <a:noFill/>
        </p:spPr>
        <p:txBody>
          <a:bodyPr wrap="square" anchor="t" lIns="27432" rIns="27432" tIns="0" bIns="0">
            <a:noAutofit/>
          </a:bodyPr>
          <a:lstStyle/>
          <a:p>
            <a:pPr algn="l"/>
            <a:r>
              <a:rPr sz="720" b="0">
                <a:solidFill>
                  <a:srgbClr val="4B5563"/>
                </a:solidFill>
                <a:latin typeface="Yu Gothic"/>
              </a:rPr>
              <a:t>ポンチ絵風: 多数の小見出し、箱、矢印、主体、効果、留意点を一枚に圧縮する日本の行政資料風レイアウト。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